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78" r:id="rId4"/>
    <p:sldId id="279" r:id="rId5"/>
    <p:sldId id="280" r:id="rId6"/>
    <p:sldId id="281" r:id="rId7"/>
    <p:sldId id="282" r:id="rId8"/>
    <p:sldId id="283" r:id="rId9"/>
    <p:sldId id="284" r:id="rId10"/>
    <p:sldId id="285" r:id="rId11"/>
    <p:sldId id="287" r:id="rId12"/>
    <p:sldId id="286" r:id="rId13"/>
    <p:sldId id="288" r:id="rId14"/>
    <p:sldId id="291" r:id="rId15"/>
    <p:sldId id="289" r:id="rId16"/>
    <p:sldId id="290" r:id="rId1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990"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4/2/2021</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a:t>Click to edit Master title style</a:t>
            </a:r>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4/2/2021</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a:solidFill>
                  <a:srgbClr val="C00000"/>
                </a:solidFill>
                <a:latin typeface="Times New Roman" pitchFamily="18" charset="0"/>
                <a:cs typeface="Times New Roman" pitchFamily="18" charset="0"/>
              </a:rPr>
              <a:t>Software Engineering Design: Theory and Practice</a:t>
            </a:r>
            <a:r>
              <a:rPr lang="en-US" i="1" dirty="0">
                <a:solidFill>
                  <a:srgbClr val="C00000"/>
                </a:solidFill>
                <a:latin typeface="Times New Roman" pitchFamily="18" charset="0"/>
                <a:cs typeface="Times New Roman" pitchFamily="18" charset="0"/>
              </a:rPr>
              <a:t> </a:t>
            </a:r>
          </a:p>
          <a:p>
            <a:r>
              <a:rPr lang="en-US" sz="1600" b="0" dirty="0">
                <a:latin typeface="Times New Roman" pitchFamily="18" charset="0"/>
                <a:cs typeface="Times New Roman" pitchFamily="18" charset="0"/>
              </a:rPr>
              <a:t>by Carlos</a:t>
            </a:r>
            <a:r>
              <a:rPr lang="en-US" sz="1600" b="0" baseline="0" dirty="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2012</a:t>
            </a:r>
            <a:r>
              <a:rPr lang="en-US" sz="1800" dirty="0">
                <a:latin typeface="Times New Roman" pitchFamily="18" charset="0"/>
                <a:cs typeface="Times New Roman" pitchFamily="18" charset="0"/>
              </a:rPr>
              <a:t> </a:t>
            </a:r>
            <a:r>
              <a:rPr lang="en-US" sz="1200" b="1" dirty="0">
                <a:latin typeface="Times New Roman" pitchFamily="18" charset="0"/>
                <a:cs typeface="Times New Roman" pitchFamily="18" charset="0"/>
              </a:rPr>
              <a:t>by 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only for student use when used in conjunction with </a:t>
            </a:r>
            <a:r>
              <a:rPr lang="en-US" sz="1200" i="1" dirty="0">
                <a:latin typeface="Times New Roman" pitchFamily="18" charset="0"/>
                <a:cs typeface="Times New Roman" pitchFamily="18" charset="0"/>
              </a:rPr>
              <a:t>Software 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must appear 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4/2/2021</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a:t>Software Engineering Design: Theory and Practice</a:t>
            </a:r>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4/2/2021</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a:t>Software Engineering Design: Theory and Practice</a:t>
            </a:r>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4/2/2021</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a:t>Software Engineering Design: Theory and Practice</a:t>
            </a:r>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4/2/2021</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a:t>Software Engineering Design: Theory and Practice</a:t>
            </a:r>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4/2/2021</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a:t>Software Engineering Design: Theory and Practice</a:t>
            </a:r>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4/2/2021</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a:t>Software Engineering Design: Theory and Practice</a:t>
            </a:r>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4/2/2021</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a:t>Software Engineering Design: Theory and Practice</a:t>
            </a:r>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4/2/2021</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a:t>Software Engineering Design: Theory and Practice</a:t>
            </a:r>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4/2/2021</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a:t>Software Engineering Design: Theory and Practice</a:t>
            </a:r>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4/2/2021</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a:t>Software Engineering Design: Theory and Practice</a:t>
            </a:r>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4/2/2021</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 Id="rId4" Type="http://schemas.openxmlformats.org/officeDocument/2006/relationships/image" Target="../media/image4.wmf"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5.png" /><Relationship Id="rId1" Type="http://schemas.openxmlformats.org/officeDocument/2006/relationships/slideLayout" Target="../slideLayouts/slideLayout2.xml" /><Relationship Id="rId5" Type="http://schemas.openxmlformats.org/officeDocument/2006/relationships/image" Target="../media/image4.wmf"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7.emf" /><Relationship Id="rId2" Type="http://schemas.openxmlformats.org/officeDocument/2006/relationships/image" Target="../media/image6.emf" /><Relationship Id="rId1" Type="http://schemas.openxmlformats.org/officeDocument/2006/relationships/slideLayout" Target="../slideLayouts/slideLayout2.xml" /><Relationship Id="rId5" Type="http://schemas.openxmlformats.org/officeDocument/2006/relationships/image" Target="../media/image9.emf" /><Relationship Id="rId4" Type="http://schemas.openxmlformats.org/officeDocument/2006/relationships/image" Target="../media/image8.emf" /></Relationships>
</file>

<file path=ppt/slides/_rels/slide9.xml.rels><?xml version="1.0" encoding="UTF-8" standalone="yes"?>
<Relationships xmlns="http://schemas.openxmlformats.org/package/2006/relationships"><Relationship Id="rId8" Type="http://schemas.openxmlformats.org/officeDocument/2006/relationships/image" Target="../media/image16.emf" /><Relationship Id="rId3" Type="http://schemas.openxmlformats.org/officeDocument/2006/relationships/image" Target="../media/image11.emf" /><Relationship Id="rId7" Type="http://schemas.openxmlformats.org/officeDocument/2006/relationships/image" Target="../media/image15.emf" /><Relationship Id="rId2" Type="http://schemas.openxmlformats.org/officeDocument/2006/relationships/image" Target="../media/image10.png" /><Relationship Id="rId1" Type="http://schemas.openxmlformats.org/officeDocument/2006/relationships/slideLayout" Target="../slideLayouts/slideLayout2.xml" /><Relationship Id="rId6" Type="http://schemas.openxmlformats.org/officeDocument/2006/relationships/image" Target="../media/image14.emf" /><Relationship Id="rId5" Type="http://schemas.openxmlformats.org/officeDocument/2006/relationships/image" Target="../media/image13.emf" /><Relationship Id="rId10" Type="http://schemas.openxmlformats.org/officeDocument/2006/relationships/image" Target="../media/image18.emf" /><Relationship Id="rId4" Type="http://schemas.openxmlformats.org/officeDocument/2006/relationships/image" Target="../media/image12.emf" /><Relationship Id="rId9" Type="http://schemas.openxmlformats.org/officeDocument/2006/relationships/image" Target="../media/image17.emf"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20.emf" /><Relationship Id="rId2" Type="http://schemas.openxmlformats.org/officeDocument/2006/relationships/image" Target="../media/image19.emf" /><Relationship Id="rId1" Type="http://schemas.openxmlformats.org/officeDocument/2006/relationships/slideLayout" Target="../slideLayouts/slideLayout2.xml" /><Relationship Id="rId6" Type="http://schemas.openxmlformats.org/officeDocument/2006/relationships/image" Target="../media/image23.emf" /><Relationship Id="rId5" Type="http://schemas.openxmlformats.org/officeDocument/2006/relationships/image" Target="../media/image22.emf" /><Relationship Id="rId4" Type="http://schemas.openxmlformats.org/officeDocument/2006/relationships/image" Target="../media/image21.emf" /></Relationships>
</file>

<file path=ppt/slides/_rels/slide12.xml.rels><?xml version="1.0" encoding="UTF-8" standalone="yes"?>
<Relationships xmlns="http://schemas.openxmlformats.org/package/2006/relationships"><Relationship Id="rId3" Type="http://schemas.openxmlformats.org/officeDocument/2006/relationships/image" Target="../media/image25.emf" /><Relationship Id="rId2" Type="http://schemas.openxmlformats.org/officeDocument/2006/relationships/image" Target="../media/image24.emf" /><Relationship Id="rId1" Type="http://schemas.openxmlformats.org/officeDocument/2006/relationships/slideLayout" Target="../slideLayouts/slideLayout2.xml" /><Relationship Id="rId5" Type="http://schemas.openxmlformats.org/officeDocument/2006/relationships/image" Target="../media/image27.emf" /><Relationship Id="rId4" Type="http://schemas.openxmlformats.org/officeDocument/2006/relationships/image" Target="../media/image26.emf"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Chapter 2: Software Design with the</a:t>
            </a:r>
            <a:br>
              <a:rPr lang="en-US" dirty="0"/>
            </a:br>
            <a:r>
              <a:rPr lang="en-US" dirty="0"/>
              <a:t>Unified Modeling Language</a:t>
            </a:r>
            <a:br>
              <a:rPr lang="en-US" dirty="0"/>
            </a:br>
            <a:endParaRPr lang="en-US" dirty="0"/>
          </a:p>
        </p:txBody>
      </p:sp>
      <p:sp>
        <p:nvSpPr>
          <p:cNvPr id="3" name="Subtitle 2"/>
          <p:cNvSpPr>
            <a:spLocks noGrp="1"/>
          </p:cNvSpPr>
          <p:nvPr>
            <p:ph type="subTitle" idx="1"/>
          </p:nvPr>
        </p:nvSpPr>
        <p:spPr/>
        <p:txBody>
          <a:bodyPr>
            <a:normAutofit/>
          </a:bodyPr>
          <a:lstStyle/>
          <a:p>
            <a:r>
              <a:rPr lang="en-US" dirty="0"/>
              <a:t>Session I: UML Fundamentals</a:t>
            </a:r>
          </a:p>
        </p:txBody>
      </p:sp>
      <p:sp>
        <p:nvSpPr>
          <p:cNvPr id="4" name="Date Placeholder 3"/>
          <p:cNvSpPr>
            <a:spLocks noGrp="1"/>
          </p:cNvSpPr>
          <p:nvPr>
            <p:ph type="dt" sz="half" idx="10"/>
          </p:nvPr>
        </p:nvSpPr>
        <p:spPr/>
        <p:txBody>
          <a:bodyPr/>
          <a:lstStyle/>
          <a:p>
            <a:fld id="{EFE05638-2204-47C5-8D02-0990D6B01040}" type="datetime1">
              <a:rPr lang="en-US" smtClean="0"/>
              <a:pPr/>
              <a:t>4/2/2021</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a:t>Software Engineering Design: Theory and Practice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Session’s Agenda</a:t>
            </a:r>
          </a:p>
        </p:txBody>
      </p:sp>
      <p:sp>
        <p:nvSpPr>
          <p:cNvPr id="3" name="Content Placeholder 2"/>
          <p:cNvSpPr>
            <a:spLocks noGrp="1"/>
          </p:cNvSpPr>
          <p:nvPr>
            <p:ph idx="1"/>
          </p:nvPr>
        </p:nvSpPr>
        <p:spPr>
          <a:xfrm>
            <a:off x="457200" y="1371601"/>
            <a:ext cx="8229600" cy="4876799"/>
          </a:xfrm>
        </p:spPr>
        <p:txBody>
          <a:bodyPr>
            <a:normAutofit/>
          </a:bodyPr>
          <a:lstStyle/>
          <a:p>
            <a:r>
              <a:rPr lang="en-US" dirty="0"/>
              <a:t>UML Fundamentals</a:t>
            </a:r>
          </a:p>
          <a:p>
            <a:pPr lvl="1"/>
            <a:r>
              <a:rPr lang="en-US" dirty="0"/>
              <a:t>History, goals, etc.</a:t>
            </a:r>
          </a:p>
          <a:p>
            <a:pPr lvl="1"/>
            <a:r>
              <a:rPr lang="en-US" dirty="0"/>
              <a:t>Classifiers</a:t>
            </a:r>
          </a:p>
          <a:p>
            <a:pPr lvl="1"/>
            <a:r>
              <a:rPr lang="en-US" dirty="0"/>
              <a:t>Relationships</a:t>
            </a:r>
          </a:p>
          <a:p>
            <a:pPr lvl="1"/>
            <a:r>
              <a:rPr lang="en-US" dirty="0"/>
              <a:t>Enhancing features</a:t>
            </a:r>
          </a:p>
          <a:p>
            <a:pPr lvl="1">
              <a:buNone/>
            </a:pPr>
            <a:endParaRPr lang="en-US" dirty="0"/>
          </a:p>
          <a:p>
            <a:r>
              <a:rPr lang="en-US" dirty="0"/>
              <a:t>UML Diagrams</a:t>
            </a:r>
          </a:p>
          <a:p>
            <a:pPr lvl="1"/>
            <a:r>
              <a:rPr lang="en-US" dirty="0"/>
              <a:t>Structural diagrams</a:t>
            </a:r>
          </a:p>
          <a:p>
            <a:pPr lvl="1"/>
            <a:r>
              <a:rPr lang="en-US" dirty="0"/>
              <a:t>Behavioral diagrams</a:t>
            </a:r>
          </a:p>
          <a:p>
            <a:pPr lvl="1"/>
            <a:endParaRPr lang="en-US" dirty="0"/>
          </a:p>
          <a:p>
            <a:r>
              <a:rPr lang="en-US" dirty="0"/>
              <a:t>UML Summary</a:t>
            </a:r>
          </a:p>
          <a:p>
            <a:pPr lvl="1"/>
            <a:r>
              <a:rPr lang="en-US" dirty="0"/>
              <a:t>What’s next…</a:t>
            </a:r>
          </a:p>
          <a:p>
            <a:pPr lvl="1"/>
            <a:endParaRPr lang="en-US" dirty="0"/>
          </a:p>
          <a:p>
            <a:endParaRPr lang="en-US" dirty="0"/>
          </a:p>
          <a:p>
            <a:pPr lvl="1">
              <a:buNone/>
            </a:pPr>
            <a:endParaRPr lang="en-US" dirty="0"/>
          </a:p>
          <a:p>
            <a:pPr>
              <a:buNone/>
            </a:pPr>
            <a:endParaRPr lang="en-US" dirty="0"/>
          </a:p>
          <a:p>
            <a:endParaRPr lang="en-US" dirty="0"/>
          </a:p>
          <a:p>
            <a:pPr lvl="1">
              <a:buNone/>
            </a:pPr>
            <a:endParaRPr lang="en-US" dirty="0"/>
          </a:p>
          <a:p>
            <a:pPr>
              <a:buNone/>
            </a:pPr>
            <a:endParaRPr lang="en-US" dirty="0"/>
          </a:p>
          <a:p>
            <a:pPr lvl="1"/>
            <a:endParaRPr lang="en-US" dirty="0"/>
          </a:p>
        </p:txBody>
      </p:sp>
      <p:sp>
        <p:nvSpPr>
          <p:cNvPr id="4" name="Date Placeholder 3"/>
          <p:cNvSpPr>
            <a:spLocks noGrp="1"/>
          </p:cNvSpPr>
          <p:nvPr>
            <p:ph type="dt" sz="half" idx="10"/>
          </p:nvPr>
        </p:nvSpPr>
        <p:spPr/>
        <p:txBody>
          <a:bodyPr/>
          <a:lstStyle/>
          <a:p>
            <a:fld id="{3F2E7354-941D-4A10-A419-5D3E5FF7573C}" type="datetime1">
              <a:rPr lang="en-US" smtClean="0"/>
              <a:pPr/>
              <a:t>4/2/2021</a:t>
            </a:fld>
            <a:endParaRPr lang="en-US"/>
          </a:p>
        </p:txBody>
      </p:sp>
      <p:sp>
        <p:nvSpPr>
          <p:cNvPr id="5" name="Footer Placeholder 4"/>
          <p:cNvSpPr>
            <a:spLocks noGrp="1"/>
          </p:cNvSpPr>
          <p:nvPr>
            <p:ph type="ftr" sz="quarter" idx="11"/>
          </p:nvPr>
        </p:nvSpPr>
        <p:spPr/>
        <p:txBody>
          <a:bodyPr/>
          <a:lstStyle/>
          <a:p>
            <a:r>
              <a:rPr lang="en-US" dirty="0"/>
              <a:t>Software Engineering Design: Theory and Practice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Unified Modeling Language Fundamentals</a:t>
            </a:r>
          </a:p>
        </p:txBody>
      </p:sp>
      <p:sp>
        <p:nvSpPr>
          <p:cNvPr id="3" name="Content Placeholder 2"/>
          <p:cNvSpPr>
            <a:spLocks noGrp="1"/>
          </p:cNvSpPr>
          <p:nvPr>
            <p:ph idx="1"/>
          </p:nvPr>
        </p:nvSpPr>
        <p:spPr/>
        <p:txBody>
          <a:bodyPr/>
          <a:lstStyle/>
          <a:p>
            <a:r>
              <a:rPr lang="en-US" b="1" dirty="0">
                <a:solidFill>
                  <a:srgbClr val="FF0000"/>
                </a:solidFill>
              </a:rPr>
              <a:t>Communication</a:t>
            </a:r>
            <a:r>
              <a:rPr lang="en-US" dirty="0"/>
              <a:t> is an essential, critical skill for engineers.</a:t>
            </a:r>
          </a:p>
          <a:p>
            <a:pPr lvl="1"/>
            <a:r>
              <a:rPr lang="en-US" dirty="0"/>
              <a:t>Throughout a project’s life-cycle, designers spent a great deal of time and effort communicating with other members of the project.</a:t>
            </a:r>
          </a:p>
          <a:p>
            <a:pPr lvl="2"/>
            <a:r>
              <a:rPr lang="en-US" dirty="0"/>
              <a:t>Oral</a:t>
            </a:r>
          </a:p>
          <a:p>
            <a:pPr lvl="2"/>
            <a:r>
              <a:rPr lang="en-US" dirty="0"/>
              <a:t>Written</a:t>
            </a:r>
          </a:p>
          <a:p>
            <a:pPr lvl="1"/>
            <a:r>
              <a:rPr lang="en-US" dirty="0"/>
              <a:t>In previous sessions, we discussed the importance of managing design influences.  </a:t>
            </a:r>
          </a:p>
          <a:p>
            <a:pPr lvl="2"/>
            <a:r>
              <a:rPr lang="en-US" dirty="0"/>
              <a:t>Imagine, if stakeholders used different                                                             languages for communication.</a:t>
            </a:r>
          </a:p>
          <a:p>
            <a:pPr lvl="2"/>
            <a:endParaRPr lang="en-US" dirty="0"/>
          </a:p>
          <a:p>
            <a:pPr lvl="1"/>
            <a:r>
              <a:rPr lang="en-US" dirty="0"/>
              <a:t>Different languages of                                                                                                 communication would                                                                                         decrease efficiency and                                                                                        effectiveness.</a:t>
            </a:r>
          </a:p>
          <a:p>
            <a:pPr lvl="3">
              <a:buNone/>
            </a:pPr>
            <a:endParaRPr lang="en-US" dirty="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9" name="Slide Number Placeholder 5"/>
          <p:cNvSpPr txBox="1">
            <a:spLocks/>
          </p:cNvSpPr>
          <p:nvPr/>
        </p:nvSpPr>
        <p:spPr>
          <a:xfrm>
            <a:off x="7543800" y="6553200"/>
            <a:ext cx="1143000" cy="304800"/>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000" b="0" i="1" u="none" strike="noStrike" kern="1200" cap="none" spc="0" normalizeH="0" baseline="0" noProof="0" smtClean="0">
                <a:ln>
                  <a:noFill/>
                </a:ln>
                <a:solidFill>
                  <a:srgbClr val="333333"/>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1" u="none" strike="noStrike" kern="1200" cap="none" spc="0" normalizeH="0" baseline="0" noProof="0">
              <a:ln>
                <a:noFill/>
              </a:ln>
              <a:solidFill>
                <a:srgbClr val="333333"/>
              </a:solidFill>
              <a:effectLst/>
              <a:uLnTx/>
              <a:uFillTx/>
              <a:latin typeface="Times New Roman" pitchFamily="18" charset="0"/>
              <a:ea typeface="+mn-ea"/>
              <a:cs typeface="Times New Roman" pitchFamily="18" charset="0"/>
            </a:endParaRPr>
          </a:p>
        </p:txBody>
      </p:sp>
      <p:sp>
        <p:nvSpPr>
          <p:cNvPr id="10" name="Rectangle 9"/>
          <p:cNvSpPr/>
          <p:nvPr/>
        </p:nvSpPr>
        <p:spPr>
          <a:xfrm>
            <a:off x="3810000" y="4546315"/>
            <a:ext cx="3124200" cy="129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7"/>
          <p:cNvPicPr>
            <a:picLocks noChangeAspect="1" noChangeArrowheads="1"/>
          </p:cNvPicPr>
          <p:nvPr/>
        </p:nvPicPr>
        <p:blipFill>
          <a:blip r:embed="rId2" cstate="print"/>
          <a:srcRect/>
          <a:stretch>
            <a:fillRect/>
          </a:stretch>
        </p:blipFill>
        <p:spPr bwMode="auto">
          <a:xfrm flipH="1">
            <a:off x="7543800" y="4546315"/>
            <a:ext cx="1066800" cy="1638300"/>
          </a:xfrm>
          <a:prstGeom prst="rect">
            <a:avLst/>
          </a:prstGeom>
          <a:noFill/>
          <a:ln w="9525">
            <a:noFill/>
            <a:miter lim="800000"/>
            <a:headEnd/>
            <a:tailEnd/>
          </a:ln>
        </p:spPr>
      </p:pic>
      <p:pic>
        <p:nvPicPr>
          <p:cNvPr id="12" name="Picture 7"/>
          <p:cNvPicPr>
            <a:picLocks noChangeAspect="1" noChangeArrowheads="1"/>
          </p:cNvPicPr>
          <p:nvPr/>
        </p:nvPicPr>
        <p:blipFill>
          <a:blip r:embed="rId3" cstate="print"/>
          <a:srcRect/>
          <a:stretch>
            <a:fillRect/>
          </a:stretch>
        </p:blipFill>
        <p:spPr bwMode="auto">
          <a:xfrm>
            <a:off x="5734050" y="4127215"/>
            <a:ext cx="648260" cy="990600"/>
          </a:xfrm>
          <a:prstGeom prst="rect">
            <a:avLst/>
          </a:prstGeom>
          <a:noFill/>
          <a:ln w="9525">
            <a:noFill/>
            <a:miter lim="800000"/>
            <a:headEnd/>
            <a:tailEnd/>
          </a:ln>
        </p:spPr>
      </p:pic>
      <p:pic>
        <p:nvPicPr>
          <p:cNvPr id="13" name="Picture 3" descr="C:\Users\cotero\AppData\Local\Microsoft\Windows\Temporary Internet Files\Content.IE5\6QQ1AAQV\MC900048773[1].wmf"/>
          <p:cNvPicPr>
            <a:picLocks noChangeAspect="1" noChangeArrowheads="1"/>
          </p:cNvPicPr>
          <p:nvPr/>
        </p:nvPicPr>
        <p:blipFill>
          <a:blip r:embed="rId4" cstate="print"/>
          <a:srcRect/>
          <a:stretch>
            <a:fillRect/>
          </a:stretch>
        </p:blipFill>
        <p:spPr bwMode="auto">
          <a:xfrm>
            <a:off x="6324600" y="5257800"/>
            <a:ext cx="685800" cy="609600"/>
          </a:xfrm>
          <a:prstGeom prst="rect">
            <a:avLst/>
          </a:prstGeom>
          <a:noFill/>
        </p:spPr>
      </p:pic>
      <p:sp>
        <p:nvSpPr>
          <p:cNvPr id="14" name="Cloud Callout 13"/>
          <p:cNvSpPr/>
          <p:nvPr/>
        </p:nvSpPr>
        <p:spPr>
          <a:xfrm>
            <a:off x="6553200" y="4648200"/>
            <a:ext cx="1143000" cy="457200"/>
          </a:xfrm>
          <a:prstGeom prst="cloudCallout">
            <a:avLst>
              <a:gd name="adj1" fmla="val -35968"/>
              <a:gd name="adj2" fmla="val 6868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6705600" y="4648200"/>
            <a:ext cx="914400" cy="461665"/>
          </a:xfrm>
          <a:prstGeom prst="rect">
            <a:avLst/>
          </a:prstGeom>
          <a:noFill/>
        </p:spPr>
        <p:txBody>
          <a:bodyPr wrap="square" rtlCol="0">
            <a:spAutoFit/>
          </a:bodyPr>
          <a:lstStyle/>
          <a:p>
            <a:r>
              <a:rPr lang="en-US" sz="1200" dirty="0"/>
              <a:t>A wants …</a:t>
            </a:r>
          </a:p>
          <a:p>
            <a:r>
              <a:rPr lang="en-US" sz="1200" dirty="0"/>
              <a:t>B wants …</a:t>
            </a:r>
          </a:p>
        </p:txBody>
      </p:sp>
      <p:pic>
        <p:nvPicPr>
          <p:cNvPr id="16" name="Picture 7"/>
          <p:cNvPicPr>
            <a:picLocks noChangeAspect="1" noChangeArrowheads="1"/>
          </p:cNvPicPr>
          <p:nvPr/>
        </p:nvPicPr>
        <p:blipFill>
          <a:blip r:embed="rId2" cstate="print"/>
          <a:srcRect/>
          <a:stretch>
            <a:fillRect/>
          </a:stretch>
        </p:blipFill>
        <p:spPr bwMode="auto">
          <a:xfrm>
            <a:off x="4953000" y="4927315"/>
            <a:ext cx="914400" cy="1397285"/>
          </a:xfrm>
          <a:prstGeom prst="rect">
            <a:avLst/>
          </a:prstGeom>
          <a:noFill/>
          <a:ln w="9525">
            <a:noFill/>
            <a:miter lim="800000"/>
            <a:headEnd/>
            <a:tailEnd/>
          </a:ln>
        </p:spPr>
      </p:pic>
      <p:sp>
        <p:nvSpPr>
          <p:cNvPr id="17" name="Cloud Callout 16"/>
          <p:cNvSpPr/>
          <p:nvPr/>
        </p:nvSpPr>
        <p:spPr>
          <a:xfrm>
            <a:off x="5943600" y="3479515"/>
            <a:ext cx="1447800" cy="685800"/>
          </a:xfrm>
          <a:prstGeom prst="cloudCallout">
            <a:avLst>
              <a:gd name="adj1" fmla="val -35968"/>
              <a:gd name="adj2" fmla="val 6868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6096000" y="3631915"/>
            <a:ext cx="1219200" cy="276999"/>
          </a:xfrm>
          <a:prstGeom prst="rect">
            <a:avLst/>
          </a:prstGeom>
          <a:noFill/>
        </p:spPr>
        <p:txBody>
          <a:bodyPr wrap="square" rtlCol="0">
            <a:spAutoFit/>
          </a:bodyPr>
          <a:lstStyle/>
          <a:p>
            <a:r>
              <a:rPr lang="zh-TW" altLang="en-US" sz="1200" dirty="0"/>
              <a:t>我想表現！</a:t>
            </a:r>
            <a:endParaRPr lang="en-US" sz="1200" dirty="0"/>
          </a:p>
        </p:txBody>
      </p:sp>
      <p:sp>
        <p:nvSpPr>
          <p:cNvPr id="19" name="Cloud Callout 18"/>
          <p:cNvSpPr/>
          <p:nvPr/>
        </p:nvSpPr>
        <p:spPr>
          <a:xfrm>
            <a:off x="4219575" y="4393915"/>
            <a:ext cx="1447800" cy="533400"/>
          </a:xfrm>
          <a:prstGeom prst="cloudCallout">
            <a:avLst>
              <a:gd name="adj1" fmla="val 16006"/>
              <a:gd name="adj2" fmla="val 7226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4295775" y="4497916"/>
            <a:ext cx="1219200" cy="276999"/>
          </a:xfrm>
          <a:prstGeom prst="rect">
            <a:avLst/>
          </a:prstGeom>
          <a:noFill/>
        </p:spPr>
        <p:txBody>
          <a:bodyPr wrap="square" rtlCol="0">
            <a:spAutoFit/>
          </a:bodyPr>
          <a:lstStyle/>
          <a:p>
            <a:r>
              <a:rPr lang="en-US" sz="1200" dirty="0"/>
              <a:t>I want Security!</a:t>
            </a:r>
          </a:p>
        </p:txBody>
      </p:sp>
      <p:sp>
        <p:nvSpPr>
          <p:cNvPr id="21" name="TextBox 20"/>
          <p:cNvSpPr txBox="1"/>
          <p:nvPr/>
        </p:nvSpPr>
        <p:spPr>
          <a:xfrm>
            <a:off x="7439025" y="3812890"/>
            <a:ext cx="1219200" cy="461665"/>
          </a:xfrm>
          <a:prstGeom prst="rect">
            <a:avLst/>
          </a:prstGeom>
          <a:noFill/>
        </p:spPr>
        <p:txBody>
          <a:bodyPr wrap="square" rtlCol="0">
            <a:spAutoFit/>
          </a:bodyPr>
          <a:lstStyle/>
          <a:p>
            <a:r>
              <a:rPr lang="en-US" sz="1200" dirty="0"/>
              <a:t>Quiero facilidad de uso!</a:t>
            </a:r>
          </a:p>
        </p:txBody>
      </p:sp>
      <p:sp>
        <p:nvSpPr>
          <p:cNvPr id="22" name="Cloud Callout 21"/>
          <p:cNvSpPr/>
          <p:nvPr/>
        </p:nvSpPr>
        <p:spPr>
          <a:xfrm>
            <a:off x="7315200" y="3784315"/>
            <a:ext cx="1447800" cy="533400"/>
          </a:xfrm>
          <a:prstGeom prst="cloudCallout">
            <a:avLst>
              <a:gd name="adj1" fmla="val 216"/>
              <a:gd name="adj2" fmla="val 9726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Up-Down Arrow 22"/>
          <p:cNvSpPr/>
          <p:nvPr/>
        </p:nvSpPr>
        <p:spPr>
          <a:xfrm rot="5400000">
            <a:off x="5680329" y="5492496"/>
            <a:ext cx="240792" cy="533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Up-Down Arrow 23"/>
          <p:cNvSpPr/>
          <p:nvPr/>
        </p:nvSpPr>
        <p:spPr>
          <a:xfrm rot="9736413">
            <a:off x="6171485" y="4700405"/>
            <a:ext cx="240792" cy="533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Up-Down Arrow 24"/>
          <p:cNvSpPr/>
          <p:nvPr/>
        </p:nvSpPr>
        <p:spPr>
          <a:xfrm rot="5400000">
            <a:off x="7232904" y="5340096"/>
            <a:ext cx="240792" cy="533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Unified Modeling Language Fundamentals</a:t>
            </a:r>
          </a:p>
        </p:txBody>
      </p:sp>
      <p:sp>
        <p:nvSpPr>
          <p:cNvPr id="3" name="Content Placeholder 2"/>
          <p:cNvSpPr>
            <a:spLocks noGrp="1"/>
          </p:cNvSpPr>
          <p:nvPr>
            <p:ph idx="1"/>
          </p:nvPr>
        </p:nvSpPr>
        <p:spPr>
          <a:xfrm>
            <a:off x="457200" y="1371601"/>
            <a:ext cx="8382000" cy="4648199"/>
          </a:xfrm>
        </p:spPr>
        <p:txBody>
          <a:bodyPr>
            <a:normAutofit fontScale="85000" lnSpcReduction="10000"/>
          </a:bodyPr>
          <a:lstStyle/>
          <a:p>
            <a:r>
              <a:rPr lang="en-US" dirty="0"/>
              <a:t>The UML is the result of years of collaborative work spent in devising a unified approach for modeling systems.</a:t>
            </a:r>
          </a:p>
          <a:p>
            <a:pPr lvl="1"/>
            <a:r>
              <a:rPr lang="en-US" dirty="0"/>
              <a:t>The first efforts focused on </a:t>
            </a:r>
            <a:r>
              <a:rPr lang="en-US" dirty="0">
                <a:solidFill>
                  <a:srgbClr val="FF0000"/>
                </a:solidFill>
              </a:rPr>
              <a:t>unifying three popular modeling methods</a:t>
            </a:r>
            <a:r>
              <a:rPr lang="en-US" dirty="0"/>
              <a:t>:</a:t>
            </a:r>
          </a:p>
          <a:p>
            <a:pPr lvl="2"/>
            <a:r>
              <a:rPr lang="en-US" dirty="0"/>
              <a:t>The </a:t>
            </a:r>
            <a:r>
              <a:rPr lang="en-US" dirty="0" err="1"/>
              <a:t>Booch</a:t>
            </a:r>
            <a:r>
              <a:rPr lang="en-US" dirty="0"/>
              <a:t> method, by Grady </a:t>
            </a:r>
            <a:r>
              <a:rPr lang="en-US" dirty="0" err="1"/>
              <a:t>Booch</a:t>
            </a:r>
            <a:endParaRPr lang="en-US" dirty="0"/>
          </a:p>
          <a:p>
            <a:pPr lvl="2"/>
            <a:r>
              <a:rPr lang="en-US" dirty="0"/>
              <a:t>The object-oriented software engineering method (OOSE), by </a:t>
            </a:r>
            <a:r>
              <a:rPr lang="en-US" dirty="0" err="1"/>
              <a:t>Ivar</a:t>
            </a:r>
            <a:r>
              <a:rPr lang="en-US" dirty="0"/>
              <a:t> Jacobson</a:t>
            </a:r>
          </a:p>
          <a:p>
            <a:pPr lvl="2"/>
            <a:r>
              <a:rPr lang="en-US" dirty="0"/>
              <a:t>The object modeling technique (OMT) by James </a:t>
            </a:r>
            <a:r>
              <a:rPr lang="en-US" dirty="0" err="1"/>
              <a:t>Rumbaugh</a:t>
            </a:r>
            <a:endParaRPr lang="en-US" dirty="0"/>
          </a:p>
          <a:p>
            <a:pPr lvl="2"/>
            <a:endParaRPr lang="en-US" dirty="0"/>
          </a:p>
          <a:p>
            <a:r>
              <a:rPr lang="en-US" dirty="0"/>
              <a:t>The goals of the unification project were specified by </a:t>
            </a:r>
            <a:r>
              <a:rPr lang="en-US" dirty="0" err="1"/>
              <a:t>Booch</a:t>
            </a:r>
            <a:r>
              <a:rPr lang="en-US" dirty="0"/>
              <a:t>, </a:t>
            </a:r>
            <a:r>
              <a:rPr lang="en-US" dirty="0" err="1"/>
              <a:t>Rumbaugh</a:t>
            </a:r>
            <a:r>
              <a:rPr lang="en-US" dirty="0"/>
              <a:t>, and Jacobson as follows:</a:t>
            </a:r>
          </a:p>
          <a:p>
            <a:pPr marL="800100" lvl="1" indent="-342900">
              <a:buFont typeface="+mj-lt"/>
              <a:buAutoNum type="arabicPeriod"/>
            </a:pPr>
            <a:r>
              <a:rPr lang="en-US" dirty="0"/>
              <a:t>To model systems, from concept to executable artifact, using object-oriented techniques.</a:t>
            </a:r>
          </a:p>
          <a:p>
            <a:pPr marL="800100" lvl="1" indent="-342900">
              <a:buFont typeface="+mj-lt"/>
              <a:buAutoNum type="arabicPeriod"/>
            </a:pPr>
            <a:r>
              <a:rPr lang="en-US" dirty="0"/>
              <a:t>To address the issues of scale inherent in complex, mission-critical systems.</a:t>
            </a:r>
          </a:p>
          <a:p>
            <a:pPr marL="800100" lvl="1" indent="-342900">
              <a:buFont typeface="+mj-lt"/>
              <a:buAutoNum type="arabicPeriod"/>
            </a:pPr>
            <a:r>
              <a:rPr lang="en-US" dirty="0"/>
              <a:t>To create a modeling language usable by both humans and machines.</a:t>
            </a:r>
          </a:p>
          <a:p>
            <a:pPr lvl="1"/>
            <a:endParaRPr lang="en-US" dirty="0"/>
          </a:p>
          <a:p>
            <a:r>
              <a:rPr lang="en-US" dirty="0"/>
              <a:t>The development of early UML versions generated interest among numerous influential organizations.</a:t>
            </a:r>
          </a:p>
          <a:p>
            <a:pPr lvl="1"/>
            <a:r>
              <a:rPr lang="en-US" dirty="0"/>
              <a:t>Microsoft, Oracle, IBM, Rational, etc.  This collaborative effort resulted in UML 1.0.</a:t>
            </a:r>
          </a:p>
          <a:p>
            <a:pPr lvl="1"/>
            <a:r>
              <a:rPr lang="en-US" dirty="0"/>
              <a:t>After revisions, it was accepted by the OMG as UML 1.1.</a:t>
            </a:r>
          </a:p>
          <a:p>
            <a:pPr lvl="1"/>
            <a:r>
              <a:rPr lang="en-US" dirty="0"/>
              <a:t>Since then, UML has evolved and accepted heavily in industry.</a:t>
            </a:r>
          </a:p>
          <a:p>
            <a:pPr lvl="1"/>
            <a:endParaRPr lang="en-US" dirty="0"/>
          </a:p>
          <a:p>
            <a:pPr lvl="2"/>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324600" y="4191000"/>
            <a:ext cx="1143000" cy="929014"/>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Unified Modeling Language Fundamentals</a:t>
            </a:r>
          </a:p>
        </p:txBody>
      </p:sp>
      <p:sp>
        <p:nvSpPr>
          <p:cNvPr id="3" name="Content Placeholder 2"/>
          <p:cNvSpPr>
            <a:spLocks noGrp="1"/>
          </p:cNvSpPr>
          <p:nvPr>
            <p:ph idx="1"/>
          </p:nvPr>
        </p:nvSpPr>
        <p:spPr>
          <a:xfrm>
            <a:off x="457200" y="1371601"/>
            <a:ext cx="8229600" cy="5029199"/>
          </a:xfrm>
        </p:spPr>
        <p:txBody>
          <a:bodyPr>
            <a:normAutofit/>
          </a:bodyPr>
          <a:lstStyle/>
          <a:p>
            <a:r>
              <a:rPr lang="en-US" dirty="0"/>
              <a:t>Formally, UML can be defined as </a:t>
            </a:r>
            <a:r>
              <a:rPr lang="en-US" dirty="0">
                <a:solidFill>
                  <a:srgbClr val="FF0000"/>
                </a:solidFill>
              </a:rPr>
              <a:t>a visual language for specifying</a:t>
            </a:r>
            <a:r>
              <a:rPr lang="en-US" dirty="0"/>
              <a:t>, </a:t>
            </a:r>
            <a:r>
              <a:rPr lang="en-US" dirty="0">
                <a:solidFill>
                  <a:srgbClr val="FF0000"/>
                </a:solidFill>
              </a:rPr>
              <a:t>analyzing</a:t>
            </a:r>
            <a:r>
              <a:rPr lang="en-US" dirty="0"/>
              <a:t>, and </a:t>
            </a:r>
            <a:r>
              <a:rPr lang="en-US" dirty="0">
                <a:solidFill>
                  <a:srgbClr val="FF0000"/>
                </a:solidFill>
              </a:rPr>
              <a:t>documenting</a:t>
            </a:r>
            <a:r>
              <a:rPr lang="en-US" dirty="0"/>
              <a:t> design elements essential for modeling the </a:t>
            </a:r>
            <a:r>
              <a:rPr lang="en-US" dirty="0">
                <a:solidFill>
                  <a:srgbClr val="FF0000"/>
                </a:solidFill>
              </a:rPr>
              <a:t>dynamic</a:t>
            </a:r>
            <a:r>
              <a:rPr lang="en-US" dirty="0"/>
              <a:t> and </a:t>
            </a:r>
            <a:r>
              <a:rPr lang="en-US" dirty="0">
                <a:solidFill>
                  <a:srgbClr val="FF0000"/>
                </a:solidFill>
              </a:rPr>
              <a:t>static</a:t>
            </a:r>
            <a:r>
              <a:rPr lang="en-US" dirty="0"/>
              <a:t> aspects of software systems before construction. </a:t>
            </a:r>
          </a:p>
          <a:p>
            <a:endParaRPr lang="en-US" dirty="0"/>
          </a:p>
          <a:p>
            <a:r>
              <a:rPr lang="en-US" dirty="0"/>
              <a:t>UML 2.3 provides 14 types of diagrams that can                                                be used for modeling both</a:t>
            </a:r>
          </a:p>
          <a:p>
            <a:pPr lvl="1"/>
            <a:r>
              <a:rPr lang="en-US" dirty="0"/>
              <a:t>Structural</a:t>
            </a:r>
          </a:p>
          <a:p>
            <a:pPr lvl="1"/>
            <a:r>
              <a:rPr lang="en-US" dirty="0"/>
              <a:t>Behavioral</a:t>
            </a:r>
          </a:p>
          <a:p>
            <a:pPr lvl="1"/>
            <a:endParaRPr lang="en-US" dirty="0"/>
          </a:p>
          <a:p>
            <a:r>
              <a:rPr lang="en-US" dirty="0"/>
              <a:t>Because projects vary drastically, not                                                             all diagrams are used in every project.</a:t>
            </a:r>
          </a:p>
          <a:p>
            <a:pPr lvl="1"/>
            <a:r>
              <a:rPr lang="en-US" dirty="0"/>
              <a:t>Designers select the ones that can help                                                                      them effectively model the system. </a:t>
            </a:r>
          </a:p>
          <a:p>
            <a:pPr lvl="1"/>
            <a:endParaRPr lang="en-US" dirty="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a:xfrm>
            <a:off x="7543800" y="5893085"/>
            <a:ext cx="1143000" cy="304800"/>
          </a:xfrm>
        </p:spPr>
        <p:txBody>
          <a:bodyPr/>
          <a:lstStyle/>
          <a:p>
            <a:fld id="{B6F15528-21DE-4FAA-801E-634DDDAF4B2B}" type="slidenum">
              <a:rPr lang="en-US" smtClean="0"/>
              <a:pPr/>
              <a:t>5</a:t>
            </a:fld>
            <a:endParaRPr lang="en-US"/>
          </a:p>
        </p:txBody>
      </p:sp>
      <p:pic>
        <p:nvPicPr>
          <p:cNvPr id="8" name="Picture 7"/>
          <p:cNvPicPr>
            <a:picLocks noChangeAspect="1" noChangeArrowheads="1"/>
          </p:cNvPicPr>
          <p:nvPr/>
        </p:nvPicPr>
        <p:blipFill>
          <a:blip r:embed="rId3" cstate="print"/>
          <a:srcRect/>
          <a:stretch>
            <a:fillRect/>
          </a:stretch>
        </p:blipFill>
        <p:spPr bwMode="auto">
          <a:xfrm flipH="1">
            <a:off x="7543800" y="3886200"/>
            <a:ext cx="1066800" cy="1638300"/>
          </a:xfrm>
          <a:prstGeom prst="rect">
            <a:avLst/>
          </a:prstGeom>
          <a:noFill/>
          <a:ln w="9525">
            <a:noFill/>
            <a:miter lim="800000"/>
            <a:headEnd/>
            <a:tailEnd/>
          </a:ln>
        </p:spPr>
      </p:pic>
      <p:pic>
        <p:nvPicPr>
          <p:cNvPr id="9" name="Picture 7"/>
          <p:cNvPicPr>
            <a:picLocks noChangeAspect="1" noChangeArrowheads="1"/>
          </p:cNvPicPr>
          <p:nvPr/>
        </p:nvPicPr>
        <p:blipFill>
          <a:blip r:embed="rId4" cstate="print"/>
          <a:srcRect/>
          <a:stretch>
            <a:fillRect/>
          </a:stretch>
        </p:blipFill>
        <p:spPr bwMode="auto">
          <a:xfrm>
            <a:off x="5734050" y="3467100"/>
            <a:ext cx="648260" cy="990600"/>
          </a:xfrm>
          <a:prstGeom prst="rect">
            <a:avLst/>
          </a:prstGeom>
          <a:noFill/>
          <a:ln w="9525">
            <a:noFill/>
            <a:miter lim="800000"/>
            <a:headEnd/>
            <a:tailEnd/>
          </a:ln>
        </p:spPr>
      </p:pic>
      <p:pic>
        <p:nvPicPr>
          <p:cNvPr id="10" name="Picture 3" descr="C:\Users\cotero\AppData\Local\Microsoft\Windows\Temporary Internet Files\Content.IE5\6QQ1AAQV\MC900048773[1].wmf"/>
          <p:cNvPicPr>
            <a:picLocks noChangeAspect="1" noChangeArrowheads="1"/>
          </p:cNvPicPr>
          <p:nvPr/>
        </p:nvPicPr>
        <p:blipFill>
          <a:blip r:embed="rId5" cstate="print"/>
          <a:srcRect/>
          <a:stretch>
            <a:fillRect/>
          </a:stretch>
        </p:blipFill>
        <p:spPr bwMode="auto">
          <a:xfrm>
            <a:off x="6324600" y="5791200"/>
            <a:ext cx="685800" cy="609600"/>
          </a:xfrm>
          <a:prstGeom prst="rect">
            <a:avLst/>
          </a:prstGeom>
          <a:noFill/>
        </p:spPr>
      </p:pic>
      <p:sp>
        <p:nvSpPr>
          <p:cNvPr id="11" name="Cloud Callout 10"/>
          <p:cNvSpPr/>
          <p:nvPr/>
        </p:nvSpPr>
        <p:spPr>
          <a:xfrm>
            <a:off x="7086600" y="5562600"/>
            <a:ext cx="1295400" cy="533400"/>
          </a:xfrm>
          <a:prstGeom prst="cloudCallout">
            <a:avLst>
              <a:gd name="adj1" fmla="val -68468"/>
              <a:gd name="adj2" fmla="val 410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7153275" y="5591175"/>
            <a:ext cx="1143000" cy="461665"/>
          </a:xfrm>
          <a:prstGeom prst="rect">
            <a:avLst/>
          </a:prstGeom>
          <a:noFill/>
        </p:spPr>
        <p:txBody>
          <a:bodyPr wrap="square" rtlCol="0">
            <a:spAutoFit/>
          </a:bodyPr>
          <a:lstStyle/>
          <a:p>
            <a:pPr algn="ctr"/>
            <a:r>
              <a:rPr lang="en-US" sz="1200" dirty="0"/>
              <a:t>I see…            We all agree…</a:t>
            </a:r>
          </a:p>
        </p:txBody>
      </p:sp>
      <p:pic>
        <p:nvPicPr>
          <p:cNvPr id="13" name="Picture 7"/>
          <p:cNvPicPr>
            <a:picLocks noChangeAspect="1" noChangeArrowheads="1"/>
          </p:cNvPicPr>
          <p:nvPr/>
        </p:nvPicPr>
        <p:blipFill>
          <a:blip r:embed="rId3" cstate="print"/>
          <a:srcRect/>
          <a:stretch>
            <a:fillRect/>
          </a:stretch>
        </p:blipFill>
        <p:spPr bwMode="auto">
          <a:xfrm>
            <a:off x="4953000" y="4267200"/>
            <a:ext cx="914400" cy="1397285"/>
          </a:xfrm>
          <a:prstGeom prst="rect">
            <a:avLst/>
          </a:prstGeom>
          <a:noFill/>
          <a:ln w="9525">
            <a:noFill/>
            <a:miter lim="800000"/>
            <a:headEnd/>
            <a:tailEnd/>
          </a:ln>
        </p:spPr>
      </p:pic>
      <p:sp>
        <p:nvSpPr>
          <p:cNvPr id="14" name="Cloud Callout 13"/>
          <p:cNvSpPr/>
          <p:nvPr/>
        </p:nvSpPr>
        <p:spPr>
          <a:xfrm>
            <a:off x="5943600" y="2819400"/>
            <a:ext cx="1447800" cy="685800"/>
          </a:xfrm>
          <a:prstGeom prst="cloudCallout">
            <a:avLst>
              <a:gd name="adj1" fmla="val -35968"/>
              <a:gd name="adj2" fmla="val 6868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6172200" y="2999601"/>
            <a:ext cx="1219200" cy="276999"/>
          </a:xfrm>
          <a:prstGeom prst="rect">
            <a:avLst/>
          </a:prstGeom>
          <a:noFill/>
        </p:spPr>
        <p:txBody>
          <a:bodyPr wrap="square" rtlCol="0">
            <a:spAutoFit/>
          </a:bodyPr>
          <a:lstStyle/>
          <a:p>
            <a:r>
              <a:rPr lang="zh-TW" altLang="en-US" sz="1200" dirty="0"/>
              <a:t>我想表現！</a:t>
            </a:r>
            <a:endParaRPr lang="en-US" sz="1200" dirty="0"/>
          </a:p>
        </p:txBody>
      </p:sp>
      <p:sp>
        <p:nvSpPr>
          <p:cNvPr id="16" name="Cloud Callout 15"/>
          <p:cNvSpPr/>
          <p:nvPr/>
        </p:nvSpPr>
        <p:spPr>
          <a:xfrm>
            <a:off x="4219575" y="3733800"/>
            <a:ext cx="1447800" cy="533400"/>
          </a:xfrm>
          <a:prstGeom prst="cloudCallout">
            <a:avLst>
              <a:gd name="adj1" fmla="val 16006"/>
              <a:gd name="adj2" fmla="val 7226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295775" y="3837801"/>
            <a:ext cx="1219200" cy="276999"/>
          </a:xfrm>
          <a:prstGeom prst="rect">
            <a:avLst/>
          </a:prstGeom>
          <a:noFill/>
        </p:spPr>
        <p:txBody>
          <a:bodyPr wrap="square" rtlCol="0">
            <a:spAutoFit/>
          </a:bodyPr>
          <a:lstStyle/>
          <a:p>
            <a:r>
              <a:rPr lang="en-US" sz="1200" dirty="0"/>
              <a:t>I want Security!</a:t>
            </a:r>
          </a:p>
        </p:txBody>
      </p:sp>
      <p:sp>
        <p:nvSpPr>
          <p:cNvPr id="18" name="TextBox 17"/>
          <p:cNvSpPr txBox="1"/>
          <p:nvPr/>
        </p:nvSpPr>
        <p:spPr>
          <a:xfrm>
            <a:off x="7439025" y="3152775"/>
            <a:ext cx="1219200" cy="461665"/>
          </a:xfrm>
          <a:prstGeom prst="rect">
            <a:avLst/>
          </a:prstGeom>
          <a:noFill/>
        </p:spPr>
        <p:txBody>
          <a:bodyPr wrap="square" rtlCol="0">
            <a:spAutoFit/>
          </a:bodyPr>
          <a:lstStyle/>
          <a:p>
            <a:r>
              <a:rPr lang="en-US" sz="1200" dirty="0"/>
              <a:t>Quiero facilidad de uso!</a:t>
            </a:r>
          </a:p>
        </p:txBody>
      </p:sp>
      <p:sp>
        <p:nvSpPr>
          <p:cNvPr id="19" name="Cloud Callout 18"/>
          <p:cNvSpPr/>
          <p:nvPr/>
        </p:nvSpPr>
        <p:spPr>
          <a:xfrm>
            <a:off x="7315200" y="3124200"/>
            <a:ext cx="1447800" cy="533400"/>
          </a:xfrm>
          <a:prstGeom prst="cloudCallout">
            <a:avLst>
              <a:gd name="adj1" fmla="val 216"/>
              <a:gd name="adj2" fmla="val 9726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Up-Down Arrow 19"/>
          <p:cNvSpPr/>
          <p:nvPr/>
        </p:nvSpPr>
        <p:spPr>
          <a:xfrm rot="5400000">
            <a:off x="6013704" y="4730496"/>
            <a:ext cx="240792" cy="533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Up-Down Arrow 20"/>
          <p:cNvSpPr/>
          <p:nvPr/>
        </p:nvSpPr>
        <p:spPr>
          <a:xfrm rot="8129960">
            <a:off x="6477010" y="3665510"/>
            <a:ext cx="240792" cy="533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Up-Down Arrow 21"/>
          <p:cNvSpPr/>
          <p:nvPr/>
        </p:nvSpPr>
        <p:spPr>
          <a:xfrm rot="5400000">
            <a:off x="7537704" y="4654296"/>
            <a:ext cx="240792" cy="533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Up-Down Arrow 23"/>
          <p:cNvSpPr/>
          <p:nvPr/>
        </p:nvSpPr>
        <p:spPr>
          <a:xfrm rot="10800000">
            <a:off x="6705600" y="5181600"/>
            <a:ext cx="240792" cy="533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Unified Modeling Language Fundamentals</a:t>
            </a:r>
          </a:p>
        </p:txBody>
      </p:sp>
      <p:sp>
        <p:nvSpPr>
          <p:cNvPr id="3" name="Content Placeholder 2"/>
          <p:cNvSpPr>
            <a:spLocks noGrp="1"/>
          </p:cNvSpPr>
          <p:nvPr>
            <p:ph idx="1"/>
          </p:nvPr>
        </p:nvSpPr>
        <p:spPr/>
        <p:txBody>
          <a:bodyPr/>
          <a:lstStyle/>
          <a:p>
            <a:r>
              <a:rPr lang="en-US" dirty="0"/>
              <a:t>Officially, </a:t>
            </a:r>
            <a:r>
              <a:rPr lang="en-US" dirty="0">
                <a:solidFill>
                  <a:srgbClr val="FF0000"/>
                </a:solidFill>
              </a:rPr>
              <a:t>UML Structural Diagrams</a:t>
            </a:r>
          </a:p>
          <a:p>
            <a:pPr lvl="1"/>
            <a:r>
              <a:rPr lang="en-US" dirty="0"/>
              <a:t>Concerned with capturing and specifying </a:t>
            </a:r>
            <a:r>
              <a:rPr lang="en-US" dirty="0">
                <a:solidFill>
                  <a:srgbClr val="FF0000"/>
                </a:solidFill>
              </a:rPr>
              <a:t>static elements </a:t>
            </a:r>
            <a:r>
              <a:rPr lang="en-US" dirty="0"/>
              <a:t>and their interrelationships required for supporting the solution to a given problem, within a given context.</a:t>
            </a:r>
          </a:p>
          <a:p>
            <a:pPr lvl="1"/>
            <a:endParaRPr lang="en-US" dirty="0"/>
          </a:p>
          <a:p>
            <a:r>
              <a:rPr lang="en-US" dirty="0">
                <a:solidFill>
                  <a:srgbClr val="FF0000"/>
                </a:solidFill>
              </a:rPr>
              <a:t>Behavioral Diagrams</a:t>
            </a:r>
          </a:p>
          <a:p>
            <a:pPr lvl="1"/>
            <a:r>
              <a:rPr lang="en-US" dirty="0"/>
              <a:t>Concerned with capturing and specifying the </a:t>
            </a:r>
            <a:r>
              <a:rPr lang="en-US" dirty="0">
                <a:solidFill>
                  <a:srgbClr val="FF0000"/>
                </a:solidFill>
              </a:rPr>
              <a:t>dynamic behavior </a:t>
            </a:r>
            <a:r>
              <a:rPr lang="en-US" dirty="0"/>
              <a:t>and the inherent complexities present in the behavioral aspects of software systems.</a:t>
            </a:r>
          </a:p>
          <a:p>
            <a:pPr lvl="1"/>
            <a:endParaRPr lang="en-US" dirty="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Unified Modeling Language Fundamentals</a:t>
            </a:r>
          </a:p>
        </p:txBody>
      </p:sp>
      <p:sp>
        <p:nvSpPr>
          <p:cNvPr id="3" name="Content Placeholder 2"/>
          <p:cNvSpPr>
            <a:spLocks noGrp="1"/>
          </p:cNvSpPr>
          <p:nvPr>
            <p:ph idx="1"/>
          </p:nvPr>
        </p:nvSpPr>
        <p:spPr>
          <a:xfrm>
            <a:off x="457200" y="1371601"/>
            <a:ext cx="8229600" cy="5181599"/>
          </a:xfrm>
        </p:spPr>
        <p:txBody>
          <a:bodyPr>
            <a:normAutofit fontScale="92500" lnSpcReduction="10000"/>
          </a:bodyPr>
          <a:lstStyle/>
          <a:p>
            <a:r>
              <a:rPr lang="en-US" dirty="0"/>
              <a:t>To model almost any aspect of today’s modern system, UML was developed with flexibility and extensibility in mind.</a:t>
            </a:r>
          </a:p>
          <a:p>
            <a:pPr lvl="1"/>
            <a:r>
              <a:rPr lang="en-US" dirty="0"/>
              <a:t>However, the fundamental building blocks are well defined and must be understood before applying UML effectively.</a:t>
            </a:r>
          </a:p>
          <a:p>
            <a:pPr lvl="1"/>
            <a:endParaRPr lang="en-US" dirty="0"/>
          </a:p>
          <a:p>
            <a:r>
              <a:rPr lang="en-US" dirty="0"/>
              <a:t>UML’s building blocks are grouped into:</a:t>
            </a:r>
          </a:p>
          <a:p>
            <a:pPr lvl="1"/>
            <a:r>
              <a:rPr lang="en-US" dirty="0">
                <a:solidFill>
                  <a:srgbClr val="FF0000"/>
                </a:solidFill>
              </a:rPr>
              <a:t>Classifiers </a:t>
            </a:r>
          </a:p>
          <a:p>
            <a:pPr lvl="2"/>
            <a:r>
              <a:rPr lang="en-US" dirty="0"/>
              <a:t>Structural things that represent conceptual or physical elements of a model.</a:t>
            </a:r>
          </a:p>
          <a:p>
            <a:pPr lvl="2"/>
            <a:r>
              <a:rPr lang="en-US" dirty="0"/>
              <a:t>They are typically the main elements in UML diagrams.</a:t>
            </a:r>
          </a:p>
          <a:p>
            <a:pPr lvl="2"/>
            <a:r>
              <a:rPr lang="en-US" dirty="0"/>
              <a:t>Each type of UML diagram, uses specific type of classifiers, so that not all classifiers are relevant to all UML diagrams.</a:t>
            </a:r>
          </a:p>
          <a:p>
            <a:pPr lvl="1"/>
            <a:r>
              <a:rPr lang="en-US" dirty="0">
                <a:solidFill>
                  <a:srgbClr val="FF0000"/>
                </a:solidFill>
              </a:rPr>
              <a:t>Relationships</a:t>
            </a:r>
          </a:p>
          <a:p>
            <a:pPr lvl="2"/>
            <a:r>
              <a:rPr lang="en-US" dirty="0"/>
              <a:t>Defines and provides visualization of the interconnections that exists among classifiers.</a:t>
            </a:r>
          </a:p>
          <a:p>
            <a:pPr lvl="1"/>
            <a:r>
              <a:rPr lang="en-US" dirty="0">
                <a:solidFill>
                  <a:srgbClr val="FF0000"/>
                </a:solidFill>
              </a:rPr>
              <a:t>Enhancing features</a:t>
            </a:r>
          </a:p>
          <a:p>
            <a:pPr lvl="2"/>
            <a:r>
              <a:rPr lang="en-US" dirty="0"/>
              <a:t>Provides flexibility that allow designers to enhance and evolve modeling capabilities so that they become appropriate for particular systems.</a:t>
            </a:r>
          </a:p>
          <a:p>
            <a:pPr lvl="2">
              <a:buNone/>
            </a:pPr>
            <a:endParaRPr lang="en-US" dirty="0"/>
          </a:p>
          <a:p>
            <a:r>
              <a:rPr lang="en-US" dirty="0"/>
              <a:t>Let’s cover the building blocks in more detail…</a:t>
            </a:r>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2.3 Classifiers</a:t>
            </a:r>
          </a:p>
        </p:txBody>
      </p:sp>
      <p:sp>
        <p:nvSpPr>
          <p:cNvPr id="3" name="Content Placeholder 2"/>
          <p:cNvSpPr>
            <a:spLocks noGrp="1"/>
          </p:cNvSpPr>
          <p:nvPr>
            <p:ph idx="1"/>
          </p:nvPr>
        </p:nvSpPr>
        <p:spPr>
          <a:xfrm>
            <a:off x="457200" y="1371601"/>
            <a:ext cx="8229600" cy="4190999"/>
          </a:xfrm>
        </p:spPr>
        <p:txBody>
          <a:bodyPr>
            <a:normAutofit fontScale="92500" lnSpcReduction="20000"/>
          </a:bodyPr>
          <a:lstStyle/>
          <a:p>
            <a:r>
              <a:rPr lang="en-US" dirty="0"/>
              <a:t>UML 2.3 classifiers include:</a:t>
            </a:r>
          </a:p>
          <a:p>
            <a:pPr lvl="1"/>
            <a:r>
              <a:rPr lang="en-US" dirty="0"/>
              <a:t>Use Case</a:t>
            </a:r>
          </a:p>
          <a:p>
            <a:pPr lvl="2"/>
            <a:r>
              <a:rPr lang="en-US" dirty="0"/>
              <a:t>Classifier used to model a single required system behavior; represented with icons of elliptical shape.</a:t>
            </a:r>
          </a:p>
          <a:p>
            <a:pPr lvl="2"/>
            <a:endParaRPr lang="en-US" dirty="0"/>
          </a:p>
          <a:p>
            <a:pPr lvl="2"/>
            <a:endParaRPr lang="en-US" dirty="0"/>
          </a:p>
          <a:p>
            <a:pPr lvl="1"/>
            <a:endParaRPr lang="en-US" dirty="0"/>
          </a:p>
          <a:p>
            <a:pPr lvl="1"/>
            <a:r>
              <a:rPr lang="en-US" dirty="0"/>
              <a:t>Component</a:t>
            </a:r>
          </a:p>
          <a:p>
            <a:pPr lvl="2"/>
            <a:r>
              <a:rPr lang="en-US" dirty="0"/>
              <a:t>Classifier used to represent a modular and replaceable part of the system; modeled using a box with the keyword &lt;&lt;component&gt;&gt; and optional component icon on the top right corner.</a:t>
            </a:r>
          </a:p>
          <a:p>
            <a:pPr lvl="2"/>
            <a:endParaRPr lang="en-US" dirty="0"/>
          </a:p>
          <a:p>
            <a:pPr lvl="2"/>
            <a:endParaRPr lang="en-US" dirty="0"/>
          </a:p>
          <a:p>
            <a:pPr lvl="2"/>
            <a:endParaRPr lang="en-US" dirty="0"/>
          </a:p>
          <a:p>
            <a:pPr lvl="1"/>
            <a:r>
              <a:rPr lang="en-US" dirty="0"/>
              <a:t>Class</a:t>
            </a:r>
          </a:p>
          <a:p>
            <a:pPr lvl="2"/>
            <a:r>
              <a:rPr lang="en-US" dirty="0"/>
              <a:t>Classifier used to model a type in terms of operations, attributes, relationships, and other semantics; modeled using a rectangular box.  Typically, a class is split into compartments for attributes and operations.</a:t>
            </a:r>
          </a:p>
          <a:p>
            <a:pPr lvl="2"/>
            <a:endParaRPr lang="en-US" dirty="0"/>
          </a:p>
          <a:p>
            <a:pPr lvl="2"/>
            <a:endParaRPr lang="en-US" dirty="0"/>
          </a:p>
          <a:p>
            <a:pPr lvl="2">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2059" name="Picture 11"/>
          <p:cNvPicPr>
            <a:picLocks noChangeAspect="1" noChangeArrowheads="1"/>
          </p:cNvPicPr>
          <p:nvPr/>
        </p:nvPicPr>
        <p:blipFill>
          <a:blip r:embed="rId2" cstate="print"/>
          <a:srcRect/>
          <a:stretch>
            <a:fillRect/>
          </a:stretch>
        </p:blipFill>
        <p:spPr bwMode="auto">
          <a:xfrm>
            <a:off x="1524000" y="2209800"/>
            <a:ext cx="1657350" cy="800100"/>
          </a:xfrm>
          <a:prstGeom prst="rect">
            <a:avLst/>
          </a:prstGeom>
          <a:noFill/>
          <a:ln w="9525">
            <a:noFill/>
            <a:miter lim="800000"/>
            <a:headEnd/>
            <a:tailEnd/>
          </a:ln>
          <a:effectLst/>
        </p:spPr>
      </p:pic>
      <p:pic>
        <p:nvPicPr>
          <p:cNvPr id="2060" name="Picture 12"/>
          <p:cNvPicPr>
            <a:picLocks noChangeAspect="1" noChangeArrowheads="1"/>
          </p:cNvPicPr>
          <p:nvPr/>
        </p:nvPicPr>
        <p:blipFill>
          <a:blip r:embed="rId3" cstate="print"/>
          <a:srcRect/>
          <a:stretch>
            <a:fillRect/>
          </a:stretch>
        </p:blipFill>
        <p:spPr bwMode="auto">
          <a:xfrm>
            <a:off x="1524000" y="3781425"/>
            <a:ext cx="1571625" cy="800100"/>
          </a:xfrm>
          <a:prstGeom prst="rect">
            <a:avLst/>
          </a:prstGeom>
          <a:noFill/>
          <a:ln w="9525">
            <a:noFill/>
            <a:miter lim="800000"/>
            <a:headEnd/>
            <a:tailEnd/>
          </a:ln>
          <a:effectLst/>
        </p:spPr>
      </p:pic>
      <p:grpSp>
        <p:nvGrpSpPr>
          <p:cNvPr id="21" name="Group 20"/>
          <p:cNvGrpSpPr/>
          <p:nvPr/>
        </p:nvGrpSpPr>
        <p:grpSpPr>
          <a:xfrm>
            <a:off x="1514475" y="5372100"/>
            <a:ext cx="2124075" cy="781050"/>
            <a:chOff x="3810000" y="5486400"/>
            <a:chExt cx="2124075" cy="781050"/>
          </a:xfrm>
        </p:grpSpPr>
        <p:pic>
          <p:nvPicPr>
            <p:cNvPr id="2061" name="Picture 13"/>
            <p:cNvPicPr>
              <a:picLocks noChangeAspect="1" noChangeArrowheads="1"/>
            </p:cNvPicPr>
            <p:nvPr/>
          </p:nvPicPr>
          <p:blipFill>
            <a:blip r:embed="rId4" cstate="print"/>
            <a:srcRect/>
            <a:stretch>
              <a:fillRect/>
            </a:stretch>
          </p:blipFill>
          <p:spPr bwMode="auto">
            <a:xfrm>
              <a:off x="4800600" y="5486400"/>
              <a:ext cx="1133475" cy="781050"/>
            </a:xfrm>
            <a:prstGeom prst="rect">
              <a:avLst/>
            </a:prstGeom>
            <a:noFill/>
            <a:ln w="9525">
              <a:noFill/>
              <a:miter lim="800000"/>
              <a:headEnd/>
              <a:tailEnd/>
            </a:ln>
            <a:effectLst/>
          </p:spPr>
        </p:pic>
        <p:pic>
          <p:nvPicPr>
            <p:cNvPr id="2062" name="Picture 14"/>
            <p:cNvPicPr>
              <a:picLocks noChangeAspect="1" noChangeArrowheads="1"/>
            </p:cNvPicPr>
            <p:nvPr/>
          </p:nvPicPr>
          <p:blipFill>
            <a:blip r:embed="rId5" cstate="print"/>
            <a:srcRect/>
            <a:stretch>
              <a:fillRect/>
            </a:stretch>
          </p:blipFill>
          <p:spPr bwMode="auto">
            <a:xfrm>
              <a:off x="3810000" y="5486400"/>
              <a:ext cx="1133475" cy="781050"/>
            </a:xfrm>
            <a:prstGeom prst="rect">
              <a:avLst/>
            </a:prstGeom>
            <a:noFill/>
            <a:ln w="9525">
              <a:noFill/>
              <a:miter lim="800000"/>
              <a:headEnd/>
              <a:tailEnd/>
            </a:ln>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2.3 Classifiers</a:t>
            </a:r>
          </a:p>
        </p:txBody>
      </p:sp>
      <p:sp>
        <p:nvSpPr>
          <p:cNvPr id="3" name="Content Placeholder 2"/>
          <p:cNvSpPr>
            <a:spLocks noGrp="1"/>
          </p:cNvSpPr>
          <p:nvPr>
            <p:ph idx="1"/>
          </p:nvPr>
        </p:nvSpPr>
        <p:spPr>
          <a:xfrm>
            <a:off x="457200" y="1371601"/>
            <a:ext cx="8229600" cy="4724399"/>
          </a:xfrm>
        </p:spPr>
        <p:txBody>
          <a:bodyPr>
            <a:normAutofit fontScale="77500" lnSpcReduction="20000"/>
          </a:bodyPr>
          <a:lstStyle/>
          <a:p>
            <a:r>
              <a:rPr lang="en-US" dirty="0"/>
              <a:t>UML 2.3 common classifiers include (continued):</a:t>
            </a:r>
          </a:p>
          <a:p>
            <a:pPr lvl="1"/>
            <a:r>
              <a:rPr lang="en-US" dirty="0"/>
              <a:t>Active Class</a:t>
            </a:r>
          </a:p>
          <a:p>
            <a:pPr lvl="2"/>
            <a:r>
              <a:rPr lang="en-US" dirty="0"/>
              <a:t>Classifier used to model a class that owns an independent flow of execution and can initiate control activity; modeled as a class with double lines on each side.</a:t>
            </a:r>
          </a:p>
          <a:p>
            <a:pPr lvl="2"/>
            <a:endParaRPr lang="en-US" dirty="0"/>
          </a:p>
          <a:p>
            <a:pPr lvl="2"/>
            <a:endParaRPr lang="en-US" dirty="0"/>
          </a:p>
          <a:p>
            <a:pPr lvl="1"/>
            <a:endParaRPr lang="en-US" dirty="0"/>
          </a:p>
          <a:p>
            <a:pPr lvl="1"/>
            <a:endParaRPr lang="en-US" dirty="0"/>
          </a:p>
          <a:p>
            <a:pPr lvl="1"/>
            <a:r>
              <a:rPr lang="en-US" dirty="0"/>
              <a:t>Interface</a:t>
            </a:r>
          </a:p>
          <a:p>
            <a:pPr lvl="2"/>
            <a:r>
              <a:rPr lang="en-US" dirty="0"/>
              <a:t>Classifier that models the set of operations that specify the services provided by a class or component; represented as stereotyped classes or using the ball-and-socket notation.</a:t>
            </a:r>
          </a:p>
          <a:p>
            <a:pPr lvl="2"/>
            <a:endParaRPr lang="en-US" dirty="0"/>
          </a:p>
          <a:p>
            <a:pPr lvl="1">
              <a:buNone/>
            </a:pPr>
            <a:endParaRPr lang="en-US" dirty="0"/>
          </a:p>
          <a:p>
            <a:pPr lvl="1"/>
            <a:endParaRPr lang="en-US" dirty="0"/>
          </a:p>
          <a:p>
            <a:pPr lvl="1"/>
            <a:r>
              <a:rPr lang="en-US" dirty="0"/>
              <a:t>Node</a:t>
            </a:r>
          </a:p>
          <a:p>
            <a:pPr lvl="2"/>
            <a:r>
              <a:rPr lang="en-US" dirty="0"/>
              <a:t>Classifier used to model a physical element (e.g., a computer), its processing capabilities, and other characteristics; modeled using a cube.</a:t>
            </a:r>
          </a:p>
          <a:p>
            <a:pPr lvl="2"/>
            <a:endParaRPr lang="en-US" dirty="0"/>
          </a:p>
          <a:p>
            <a:pPr lvl="2"/>
            <a:endParaRPr lang="en-US" dirty="0"/>
          </a:p>
          <a:p>
            <a:pPr lvl="1"/>
            <a:endParaRPr lang="en-US" dirty="0"/>
          </a:p>
          <a:p>
            <a:pPr lvl="1"/>
            <a:r>
              <a:rPr lang="en-US" dirty="0"/>
              <a:t>Artifact</a:t>
            </a:r>
          </a:p>
          <a:p>
            <a:pPr lvl="2"/>
            <a:r>
              <a:rPr lang="en-US" dirty="0"/>
              <a:t>Classifier that models a physical deployable information element (e.g., .</a:t>
            </a:r>
            <a:r>
              <a:rPr lang="en-US" dirty="0" err="1"/>
              <a:t>dll</a:t>
            </a:r>
            <a:r>
              <a:rPr lang="en-US" dirty="0"/>
              <a:t>, .exe, .jar, .script, etc.); modeled using a rectangle with the keyword &lt;&lt;artifact&gt;&gt;,</a:t>
            </a:r>
          </a:p>
          <a:p>
            <a:pPr lvl="2"/>
            <a:endParaRPr lang="en-US" dirty="0"/>
          </a:p>
          <a:p>
            <a:pPr lvl="2">
              <a:buNone/>
            </a:pPr>
            <a:endParaRPr lang="en-US" dirty="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grpSp>
        <p:nvGrpSpPr>
          <p:cNvPr id="25" name="Group 24"/>
          <p:cNvGrpSpPr/>
          <p:nvPr/>
        </p:nvGrpSpPr>
        <p:grpSpPr>
          <a:xfrm>
            <a:off x="1514635" y="3352800"/>
            <a:ext cx="3362165" cy="904875"/>
            <a:chOff x="1447800" y="3200400"/>
            <a:chExt cx="3362165" cy="904875"/>
          </a:xfrm>
        </p:grpSpPr>
        <p:grpSp>
          <p:nvGrpSpPr>
            <p:cNvPr id="14" name="Group 13"/>
            <p:cNvGrpSpPr/>
            <p:nvPr/>
          </p:nvGrpSpPr>
          <p:grpSpPr>
            <a:xfrm>
              <a:off x="4038600" y="3371850"/>
              <a:ext cx="771365" cy="465296"/>
              <a:chOff x="3228975" y="4020979"/>
              <a:chExt cx="771365" cy="465296"/>
            </a:xfrm>
          </p:grpSpPr>
          <p:pic>
            <p:nvPicPr>
              <p:cNvPr id="3078" name="Picture 6"/>
              <p:cNvPicPr>
                <a:picLocks noChangeAspect="1" noChangeArrowheads="1"/>
              </p:cNvPicPr>
              <p:nvPr/>
            </p:nvPicPr>
            <p:blipFill>
              <a:blip r:embed="rId2" cstate="print"/>
              <a:srcRect/>
              <a:stretch>
                <a:fillRect/>
              </a:stretch>
            </p:blipFill>
            <p:spPr bwMode="auto">
              <a:xfrm>
                <a:off x="3276600" y="4229100"/>
                <a:ext cx="657225" cy="257175"/>
              </a:xfrm>
              <a:prstGeom prst="rect">
                <a:avLst/>
              </a:prstGeom>
              <a:noFill/>
              <a:ln w="9525">
                <a:noFill/>
                <a:miter lim="800000"/>
                <a:headEnd/>
                <a:tailEnd/>
              </a:ln>
            </p:spPr>
          </p:pic>
          <p:sp>
            <p:nvSpPr>
              <p:cNvPr id="12" name="TextBox 11"/>
              <p:cNvSpPr txBox="1"/>
              <p:nvPr/>
            </p:nvSpPr>
            <p:spPr>
              <a:xfrm>
                <a:off x="3228975" y="4020979"/>
                <a:ext cx="771365" cy="246221"/>
              </a:xfrm>
              <a:prstGeom prst="rect">
                <a:avLst/>
              </a:prstGeom>
              <a:noFill/>
            </p:spPr>
            <p:txBody>
              <a:bodyPr wrap="none" rtlCol="0">
                <a:spAutoFit/>
              </a:bodyPr>
              <a:lstStyle/>
              <a:p>
                <a:r>
                  <a:rPr lang="en-US" sz="1000" b="1" dirty="0">
                    <a:latin typeface="Times New Roman" pitchFamily="18" charset="0"/>
                    <a:cs typeface="Times New Roman" pitchFamily="18" charset="0"/>
                  </a:rPr>
                  <a:t>InterfaceB</a:t>
                </a:r>
              </a:p>
            </p:txBody>
          </p:sp>
        </p:grpSp>
        <p:grpSp>
          <p:nvGrpSpPr>
            <p:cNvPr id="21" name="Group 20"/>
            <p:cNvGrpSpPr/>
            <p:nvPr/>
          </p:nvGrpSpPr>
          <p:grpSpPr>
            <a:xfrm>
              <a:off x="1447800" y="3200400"/>
              <a:ext cx="2390775" cy="904875"/>
              <a:chOff x="5715000" y="3200400"/>
              <a:chExt cx="2390775" cy="904875"/>
            </a:xfrm>
          </p:grpSpPr>
          <p:pic>
            <p:nvPicPr>
              <p:cNvPr id="3083" name="Picture 11"/>
              <p:cNvPicPr>
                <a:picLocks noChangeAspect="1" noChangeArrowheads="1"/>
              </p:cNvPicPr>
              <p:nvPr/>
            </p:nvPicPr>
            <p:blipFill>
              <a:blip r:embed="rId3" cstate="print"/>
              <a:srcRect/>
              <a:stretch>
                <a:fillRect/>
              </a:stretch>
            </p:blipFill>
            <p:spPr bwMode="auto">
              <a:xfrm>
                <a:off x="6858000" y="3200400"/>
                <a:ext cx="1247775" cy="904875"/>
              </a:xfrm>
              <a:prstGeom prst="rect">
                <a:avLst/>
              </a:prstGeom>
              <a:noFill/>
              <a:ln w="9525">
                <a:noFill/>
                <a:miter lim="800000"/>
                <a:headEnd/>
                <a:tailEnd/>
              </a:ln>
              <a:effectLst/>
            </p:spPr>
          </p:pic>
          <p:pic>
            <p:nvPicPr>
              <p:cNvPr id="3084" name="Picture 12"/>
              <p:cNvPicPr>
                <a:picLocks noChangeAspect="1" noChangeArrowheads="1"/>
              </p:cNvPicPr>
              <p:nvPr/>
            </p:nvPicPr>
            <p:blipFill>
              <a:blip r:embed="rId4" cstate="print"/>
              <a:srcRect/>
              <a:stretch>
                <a:fillRect/>
              </a:stretch>
            </p:blipFill>
            <p:spPr bwMode="auto">
              <a:xfrm>
                <a:off x="5715000" y="3200400"/>
                <a:ext cx="1247775" cy="904875"/>
              </a:xfrm>
              <a:prstGeom prst="rect">
                <a:avLst/>
              </a:prstGeom>
              <a:noFill/>
              <a:ln w="9525">
                <a:noFill/>
                <a:miter lim="800000"/>
                <a:headEnd/>
                <a:tailEnd/>
              </a:ln>
              <a:effectLst/>
            </p:spPr>
          </p:pic>
        </p:grpSp>
      </p:grpSp>
      <p:grpSp>
        <p:nvGrpSpPr>
          <p:cNvPr id="24" name="Group 23"/>
          <p:cNvGrpSpPr/>
          <p:nvPr/>
        </p:nvGrpSpPr>
        <p:grpSpPr>
          <a:xfrm>
            <a:off x="1524000" y="2066925"/>
            <a:ext cx="2390775" cy="904875"/>
            <a:chOff x="4953000" y="2057400"/>
            <a:chExt cx="2390775" cy="904875"/>
          </a:xfrm>
        </p:grpSpPr>
        <p:pic>
          <p:nvPicPr>
            <p:cNvPr id="3085" name="Picture 13"/>
            <p:cNvPicPr>
              <a:picLocks noChangeAspect="1" noChangeArrowheads="1"/>
            </p:cNvPicPr>
            <p:nvPr/>
          </p:nvPicPr>
          <p:blipFill>
            <a:blip r:embed="rId5" cstate="print"/>
            <a:srcRect/>
            <a:stretch>
              <a:fillRect/>
            </a:stretch>
          </p:blipFill>
          <p:spPr bwMode="auto">
            <a:xfrm>
              <a:off x="4953000" y="2057400"/>
              <a:ext cx="1247775" cy="904875"/>
            </a:xfrm>
            <a:prstGeom prst="rect">
              <a:avLst/>
            </a:prstGeom>
            <a:noFill/>
            <a:ln w="9525">
              <a:noFill/>
              <a:miter lim="800000"/>
              <a:headEnd/>
              <a:tailEnd/>
            </a:ln>
            <a:effectLst/>
          </p:spPr>
        </p:pic>
        <p:pic>
          <p:nvPicPr>
            <p:cNvPr id="3086" name="Picture 14"/>
            <p:cNvPicPr>
              <a:picLocks noChangeAspect="1" noChangeArrowheads="1"/>
            </p:cNvPicPr>
            <p:nvPr/>
          </p:nvPicPr>
          <p:blipFill>
            <a:blip r:embed="rId6" cstate="print"/>
            <a:srcRect/>
            <a:stretch>
              <a:fillRect/>
            </a:stretch>
          </p:blipFill>
          <p:spPr bwMode="auto">
            <a:xfrm>
              <a:off x="6096000" y="2057400"/>
              <a:ext cx="1247775" cy="904875"/>
            </a:xfrm>
            <a:prstGeom prst="rect">
              <a:avLst/>
            </a:prstGeom>
            <a:noFill/>
            <a:ln w="9525">
              <a:noFill/>
              <a:miter lim="800000"/>
              <a:headEnd/>
              <a:tailEnd/>
            </a:ln>
            <a:effectLst/>
          </p:spPr>
        </p:pic>
      </p:grpSp>
      <p:pic>
        <p:nvPicPr>
          <p:cNvPr id="3087" name="Picture 15"/>
          <p:cNvPicPr>
            <a:picLocks noChangeAspect="1" noChangeArrowheads="1"/>
          </p:cNvPicPr>
          <p:nvPr/>
        </p:nvPicPr>
        <p:blipFill>
          <a:blip r:embed="rId7" cstate="print"/>
          <a:srcRect/>
          <a:stretch>
            <a:fillRect/>
          </a:stretch>
        </p:blipFill>
        <p:spPr bwMode="auto">
          <a:xfrm>
            <a:off x="1524000" y="4495800"/>
            <a:ext cx="1524000" cy="800100"/>
          </a:xfrm>
          <a:prstGeom prst="rect">
            <a:avLst/>
          </a:prstGeom>
          <a:noFill/>
          <a:ln w="9525">
            <a:noFill/>
            <a:miter lim="800000"/>
            <a:headEnd/>
            <a:tailEnd/>
          </a:ln>
          <a:effectLst/>
        </p:spPr>
      </p:pic>
      <p:grpSp>
        <p:nvGrpSpPr>
          <p:cNvPr id="29" name="Group 28"/>
          <p:cNvGrpSpPr/>
          <p:nvPr/>
        </p:nvGrpSpPr>
        <p:grpSpPr>
          <a:xfrm>
            <a:off x="1514475" y="5695950"/>
            <a:ext cx="4124325" cy="781050"/>
            <a:chOff x="1504950" y="5857875"/>
            <a:chExt cx="4124325" cy="781050"/>
          </a:xfrm>
        </p:grpSpPr>
        <p:pic>
          <p:nvPicPr>
            <p:cNvPr id="3082" name="Picture 10"/>
            <p:cNvPicPr>
              <a:picLocks noChangeAspect="1" noChangeArrowheads="1"/>
            </p:cNvPicPr>
            <p:nvPr/>
          </p:nvPicPr>
          <p:blipFill>
            <a:blip r:embed="rId8" cstate="print"/>
            <a:srcRect/>
            <a:stretch>
              <a:fillRect/>
            </a:stretch>
          </p:blipFill>
          <p:spPr bwMode="auto">
            <a:xfrm>
              <a:off x="1504950" y="5857875"/>
              <a:ext cx="1438275" cy="771525"/>
            </a:xfrm>
            <a:prstGeom prst="rect">
              <a:avLst/>
            </a:prstGeom>
            <a:noFill/>
            <a:ln w="9525">
              <a:noFill/>
              <a:miter lim="800000"/>
              <a:headEnd/>
              <a:tailEnd/>
            </a:ln>
            <a:effectLst/>
          </p:spPr>
        </p:pic>
        <p:pic>
          <p:nvPicPr>
            <p:cNvPr id="3088" name="Picture 16"/>
            <p:cNvPicPr>
              <a:picLocks noChangeAspect="1" noChangeArrowheads="1"/>
            </p:cNvPicPr>
            <p:nvPr/>
          </p:nvPicPr>
          <p:blipFill>
            <a:blip r:embed="rId9" cstate="print"/>
            <a:srcRect/>
            <a:stretch>
              <a:fillRect/>
            </a:stretch>
          </p:blipFill>
          <p:spPr bwMode="auto">
            <a:xfrm>
              <a:off x="2819400" y="5867400"/>
              <a:ext cx="1438275" cy="771525"/>
            </a:xfrm>
            <a:prstGeom prst="rect">
              <a:avLst/>
            </a:prstGeom>
            <a:noFill/>
            <a:ln w="9525">
              <a:noFill/>
              <a:miter lim="800000"/>
              <a:headEnd/>
              <a:tailEnd/>
            </a:ln>
            <a:effectLst/>
          </p:spPr>
        </p:pic>
        <p:pic>
          <p:nvPicPr>
            <p:cNvPr id="3089" name="Picture 17"/>
            <p:cNvPicPr>
              <a:picLocks noChangeAspect="1" noChangeArrowheads="1"/>
            </p:cNvPicPr>
            <p:nvPr/>
          </p:nvPicPr>
          <p:blipFill>
            <a:blip r:embed="rId10" cstate="print"/>
            <a:srcRect/>
            <a:stretch>
              <a:fillRect/>
            </a:stretch>
          </p:blipFill>
          <p:spPr bwMode="auto">
            <a:xfrm>
              <a:off x="4191000" y="5867400"/>
              <a:ext cx="1438275" cy="771525"/>
            </a:xfrm>
            <a:prstGeom prst="rect">
              <a:avLst/>
            </a:prstGeom>
            <a:noFill/>
            <a:ln w="9525">
              <a:noFill/>
              <a:miter lim="800000"/>
              <a:headEnd/>
              <a:tailEnd/>
            </a:ln>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2.3 Relationships</a:t>
            </a:r>
          </a:p>
        </p:txBody>
      </p:sp>
      <p:sp>
        <p:nvSpPr>
          <p:cNvPr id="3" name="Content Placeholder 2"/>
          <p:cNvSpPr>
            <a:spLocks noGrp="1"/>
          </p:cNvSpPr>
          <p:nvPr>
            <p:ph idx="1"/>
          </p:nvPr>
        </p:nvSpPr>
        <p:spPr/>
        <p:txBody>
          <a:bodyPr>
            <a:normAutofit fontScale="92500" lnSpcReduction="20000"/>
          </a:bodyPr>
          <a:lstStyle/>
          <a:p>
            <a:r>
              <a:rPr lang="en-US" dirty="0"/>
              <a:t>Relationships apply to all UML Classifiers.  UML relationships include:</a:t>
            </a:r>
          </a:p>
          <a:p>
            <a:pPr lvl="1"/>
            <a:r>
              <a:rPr lang="en-US" dirty="0"/>
              <a:t>Dependency</a:t>
            </a:r>
          </a:p>
          <a:p>
            <a:pPr lvl="2"/>
            <a:r>
              <a:rPr lang="en-US" dirty="0"/>
              <a:t>Dashed line (typically directed with a stick arrow) used to model the relationship between two UML classifiers indicating that changes to one element affect the other.</a:t>
            </a:r>
          </a:p>
          <a:p>
            <a:pPr lvl="2"/>
            <a:endParaRPr lang="en-US" dirty="0"/>
          </a:p>
          <a:p>
            <a:pPr lvl="1"/>
            <a:endParaRPr lang="en-US" dirty="0"/>
          </a:p>
          <a:p>
            <a:pPr lvl="1"/>
            <a:r>
              <a:rPr lang="en-US" dirty="0"/>
              <a:t>Association</a:t>
            </a:r>
          </a:p>
          <a:p>
            <a:pPr lvl="2"/>
            <a:r>
              <a:rPr lang="en-US" dirty="0"/>
              <a:t>Line used to model the relationship between two UML classifiers indicating that a connection exists between them; associations can be directed using a stick arrow.</a:t>
            </a:r>
          </a:p>
          <a:p>
            <a:pPr lvl="2"/>
            <a:endParaRPr lang="en-US" dirty="0"/>
          </a:p>
          <a:p>
            <a:pPr lvl="2"/>
            <a:endParaRPr lang="en-US" dirty="0"/>
          </a:p>
          <a:p>
            <a:pPr lvl="1"/>
            <a:r>
              <a:rPr lang="en-US" dirty="0"/>
              <a:t>Generalization</a:t>
            </a:r>
          </a:p>
          <a:p>
            <a:pPr lvl="2"/>
            <a:r>
              <a:rPr lang="en-US" dirty="0"/>
              <a:t>Line with a hollow arrowhead used to model the relationship between two UML classifiers indicating that one (child) inherits from another (parent).</a:t>
            </a:r>
          </a:p>
          <a:p>
            <a:pPr lvl="2"/>
            <a:endParaRPr lang="en-US" dirty="0"/>
          </a:p>
          <a:p>
            <a:pPr lvl="2"/>
            <a:endParaRPr lang="en-US" dirty="0"/>
          </a:p>
          <a:p>
            <a:pPr lvl="1"/>
            <a:r>
              <a:rPr lang="en-US" dirty="0"/>
              <a:t>Realization</a:t>
            </a:r>
          </a:p>
          <a:p>
            <a:pPr lvl="2"/>
            <a:r>
              <a:rPr lang="en-US" dirty="0"/>
              <a:t>Relationship between two UML classifiers indicating that one element realizes a specified interface; modeled using a dashed line with hollow arrowhead.</a:t>
            </a:r>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cxnSp>
        <p:nvCxnSpPr>
          <p:cNvPr id="9" name="Straight Arrow Connector 8"/>
          <p:cNvCxnSpPr/>
          <p:nvPr/>
        </p:nvCxnSpPr>
        <p:spPr>
          <a:xfrm>
            <a:off x="1524000" y="2590800"/>
            <a:ext cx="914400"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276600" y="3733800"/>
            <a:ext cx="914400" cy="0"/>
          </a:xfrm>
          <a:prstGeom prst="straightConnector1">
            <a:avLst/>
          </a:prstGeom>
          <a:ln>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1524000" y="3733800"/>
            <a:ext cx="914400" cy="0"/>
          </a:xfrm>
          <a:prstGeom prst="straightConnector1">
            <a:avLst/>
          </a:prstGeom>
          <a:ln>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524000" y="4876800"/>
            <a:ext cx="914400" cy="0"/>
          </a:xfrm>
          <a:prstGeom prst="straightConnector1">
            <a:avLst/>
          </a:prstGeom>
          <a:ln>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524000" y="6096000"/>
            <a:ext cx="914400" cy="0"/>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5" name="Isosceles Triangle 14"/>
          <p:cNvSpPr/>
          <p:nvPr/>
        </p:nvSpPr>
        <p:spPr>
          <a:xfrm rot="5400000">
            <a:off x="2438400" y="6010275"/>
            <a:ext cx="152400" cy="152400"/>
          </a:xfrm>
          <a:prstGeom prst="triangl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p:cNvSpPr/>
          <p:nvPr/>
        </p:nvSpPr>
        <p:spPr>
          <a:xfrm rot="5400000">
            <a:off x="2438400" y="4800600"/>
            <a:ext cx="152400" cy="152400"/>
          </a:xfrm>
          <a:prstGeom prst="triangl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p:cNvCxnSpPr/>
          <p:nvPr/>
        </p:nvCxnSpPr>
        <p:spPr>
          <a:xfrm flipV="1">
            <a:off x="4419600" y="3048000"/>
            <a:ext cx="990600" cy="457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UML 2.3 Enhancing Features</a:t>
            </a:r>
          </a:p>
        </p:txBody>
      </p:sp>
      <p:sp>
        <p:nvSpPr>
          <p:cNvPr id="3" name="Content Placeholder 2"/>
          <p:cNvSpPr>
            <a:spLocks noGrp="1"/>
          </p:cNvSpPr>
          <p:nvPr>
            <p:ph idx="1"/>
          </p:nvPr>
        </p:nvSpPr>
        <p:spPr/>
        <p:txBody>
          <a:bodyPr/>
          <a:lstStyle/>
          <a:p>
            <a:r>
              <a:rPr lang="en-US" dirty="0"/>
              <a:t>Common </a:t>
            </a:r>
            <a:r>
              <a:rPr lang="en-US" dirty="0">
                <a:solidFill>
                  <a:srgbClr val="FF0000"/>
                </a:solidFill>
              </a:rPr>
              <a:t>UML mechanisms </a:t>
            </a:r>
            <a:r>
              <a:rPr lang="en-US" dirty="0"/>
              <a:t>for enhancement:</a:t>
            </a:r>
          </a:p>
          <a:p>
            <a:pPr lvl="1"/>
            <a:r>
              <a:rPr lang="en-US" dirty="0"/>
              <a:t>Notes</a:t>
            </a:r>
          </a:p>
          <a:p>
            <a:pPr lvl="2"/>
            <a:r>
              <a:rPr lang="en-US" dirty="0"/>
              <a:t>Mechanism for adding descriptive information to UML elements (both classifiers and relationships) and diagrams; modeled using a rectangle with a dog-eared corner and can be connected using a dashed line.</a:t>
            </a:r>
          </a:p>
          <a:p>
            <a:pPr lvl="2"/>
            <a:endParaRPr lang="en-US" dirty="0"/>
          </a:p>
          <a:p>
            <a:pPr lvl="2"/>
            <a:endParaRPr lang="en-US" dirty="0"/>
          </a:p>
          <a:p>
            <a:pPr lvl="2"/>
            <a:endParaRPr lang="en-US" dirty="0"/>
          </a:p>
          <a:p>
            <a:pPr lvl="1"/>
            <a:r>
              <a:rPr lang="en-US" dirty="0"/>
              <a:t>Stereotypes</a:t>
            </a:r>
          </a:p>
          <a:p>
            <a:pPr lvl="2"/>
            <a:r>
              <a:rPr lang="en-US" dirty="0"/>
              <a:t>Mechanism for extending UML by adding information that gives existing UML elements (both classifiers and relationships) a different meaning, therefore creating a semantically different element for modeling application-specific concepts; modeled as existing UML elements with the &lt;&lt;stereotype&gt;&gt; mechanism.</a:t>
            </a:r>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grpSp>
        <p:nvGrpSpPr>
          <p:cNvPr id="17" name="Group 16"/>
          <p:cNvGrpSpPr/>
          <p:nvPr/>
        </p:nvGrpSpPr>
        <p:grpSpPr>
          <a:xfrm>
            <a:off x="1533525" y="5181600"/>
            <a:ext cx="6238875" cy="904875"/>
            <a:chOff x="1533525" y="5267325"/>
            <a:chExt cx="6238875" cy="904875"/>
          </a:xfrm>
        </p:grpSpPr>
        <p:pic>
          <p:nvPicPr>
            <p:cNvPr id="6151" name="Picture 7"/>
            <p:cNvPicPr>
              <a:picLocks noChangeAspect="1" noChangeArrowheads="1"/>
            </p:cNvPicPr>
            <p:nvPr/>
          </p:nvPicPr>
          <p:blipFill>
            <a:blip r:embed="rId2" cstate="print"/>
            <a:srcRect/>
            <a:stretch>
              <a:fillRect/>
            </a:stretch>
          </p:blipFill>
          <p:spPr bwMode="auto">
            <a:xfrm>
              <a:off x="6638925" y="5267325"/>
              <a:ext cx="1133475" cy="904875"/>
            </a:xfrm>
            <a:prstGeom prst="rect">
              <a:avLst/>
            </a:prstGeom>
            <a:noFill/>
            <a:ln w="9525">
              <a:noFill/>
              <a:miter lim="800000"/>
              <a:headEnd/>
              <a:tailEnd/>
            </a:ln>
            <a:effectLst/>
          </p:spPr>
        </p:pic>
        <p:pic>
          <p:nvPicPr>
            <p:cNvPr id="6152" name="Picture 8"/>
            <p:cNvPicPr>
              <a:picLocks noChangeAspect="1" noChangeArrowheads="1"/>
            </p:cNvPicPr>
            <p:nvPr/>
          </p:nvPicPr>
          <p:blipFill>
            <a:blip r:embed="rId3" cstate="print"/>
            <a:srcRect/>
            <a:stretch>
              <a:fillRect/>
            </a:stretch>
          </p:blipFill>
          <p:spPr bwMode="auto">
            <a:xfrm>
              <a:off x="1533525" y="5267325"/>
              <a:ext cx="1609725" cy="800100"/>
            </a:xfrm>
            <a:prstGeom prst="rect">
              <a:avLst/>
            </a:prstGeom>
            <a:noFill/>
            <a:ln w="9525">
              <a:noFill/>
              <a:miter lim="800000"/>
              <a:headEnd/>
              <a:tailEnd/>
            </a:ln>
            <a:effectLst/>
          </p:spPr>
        </p:pic>
        <p:pic>
          <p:nvPicPr>
            <p:cNvPr id="6153" name="Picture 9"/>
            <p:cNvPicPr>
              <a:picLocks noChangeAspect="1" noChangeArrowheads="1"/>
            </p:cNvPicPr>
            <p:nvPr/>
          </p:nvPicPr>
          <p:blipFill>
            <a:blip r:embed="rId4" cstate="print"/>
            <a:srcRect/>
            <a:stretch>
              <a:fillRect/>
            </a:stretch>
          </p:blipFill>
          <p:spPr bwMode="auto">
            <a:xfrm>
              <a:off x="3143250" y="5267325"/>
              <a:ext cx="3267075" cy="800100"/>
            </a:xfrm>
            <a:prstGeom prst="rect">
              <a:avLst/>
            </a:prstGeom>
            <a:noFill/>
            <a:ln w="9525">
              <a:noFill/>
              <a:miter lim="800000"/>
              <a:headEnd/>
              <a:tailEnd/>
            </a:ln>
            <a:effectLst/>
          </p:spPr>
        </p:pic>
      </p:grpSp>
      <p:pic>
        <p:nvPicPr>
          <p:cNvPr id="6156" name="Picture 12"/>
          <p:cNvPicPr>
            <a:picLocks noChangeAspect="1" noChangeArrowheads="1"/>
          </p:cNvPicPr>
          <p:nvPr/>
        </p:nvPicPr>
        <p:blipFill>
          <a:blip r:embed="rId5" cstate="print"/>
          <a:srcRect/>
          <a:stretch>
            <a:fillRect/>
          </a:stretch>
        </p:blipFill>
        <p:spPr bwMode="auto">
          <a:xfrm>
            <a:off x="3048000" y="3124200"/>
            <a:ext cx="1628775" cy="800100"/>
          </a:xfrm>
          <a:prstGeom prst="rect">
            <a:avLst/>
          </a:prstGeom>
          <a:noFill/>
          <a:ln w="9525">
            <a:noFill/>
            <a:miter lim="800000"/>
            <a:headEnd/>
            <a:tailEnd/>
          </a:ln>
          <a:effectLst/>
        </p:spPr>
      </p:pic>
      <p:pic>
        <p:nvPicPr>
          <p:cNvPr id="6157" name="Picture 13"/>
          <p:cNvPicPr>
            <a:picLocks noChangeAspect="1" noChangeArrowheads="1"/>
          </p:cNvPicPr>
          <p:nvPr/>
        </p:nvPicPr>
        <p:blipFill>
          <a:blip r:embed="rId6" cstate="print"/>
          <a:srcRect/>
          <a:stretch>
            <a:fillRect/>
          </a:stretch>
        </p:blipFill>
        <p:spPr bwMode="auto">
          <a:xfrm>
            <a:off x="5105400" y="2667000"/>
            <a:ext cx="1838325" cy="876300"/>
          </a:xfrm>
          <a:prstGeom prst="rect">
            <a:avLst/>
          </a:prstGeom>
          <a:noFill/>
          <a:ln w="9525">
            <a:noFill/>
            <a:miter lim="800000"/>
            <a:headEnd/>
            <a:tailEnd/>
          </a:ln>
          <a:effectLst/>
        </p:spPr>
      </p:pic>
      <p:sp>
        <p:nvSpPr>
          <p:cNvPr id="14" name="TextBox 13"/>
          <p:cNvSpPr txBox="1"/>
          <p:nvPr/>
        </p:nvSpPr>
        <p:spPr>
          <a:xfrm>
            <a:off x="7010400" y="3581400"/>
            <a:ext cx="1180131" cy="369332"/>
          </a:xfrm>
          <a:prstGeom prst="rect">
            <a:avLst/>
          </a:prstGeom>
          <a:noFill/>
        </p:spPr>
        <p:txBody>
          <a:bodyPr wrap="none" rtlCol="0">
            <a:spAutoFit/>
          </a:bodyPr>
          <a:lstStyle/>
          <a:p>
            <a:r>
              <a:rPr lang="en-US" b="1" dirty="0">
                <a:solidFill>
                  <a:srgbClr val="C00000"/>
                </a:solidFill>
                <a:latin typeface="Bradley Hand ITC" pitchFamily="66" charset="0"/>
              </a:rPr>
              <a:t>UML Note</a:t>
            </a:r>
          </a:p>
        </p:txBody>
      </p:sp>
      <p:cxnSp>
        <p:nvCxnSpPr>
          <p:cNvPr id="15" name="Straight Arrow Connector 14"/>
          <p:cNvCxnSpPr/>
          <p:nvPr/>
        </p:nvCxnSpPr>
        <p:spPr>
          <a:xfrm flipH="1" flipV="1">
            <a:off x="6477000" y="3429000"/>
            <a:ext cx="5334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667000" y="6096000"/>
            <a:ext cx="2566728" cy="369332"/>
          </a:xfrm>
          <a:prstGeom prst="rect">
            <a:avLst/>
          </a:prstGeom>
          <a:noFill/>
        </p:spPr>
        <p:txBody>
          <a:bodyPr wrap="none" rtlCol="0">
            <a:spAutoFit/>
          </a:bodyPr>
          <a:lstStyle/>
          <a:p>
            <a:r>
              <a:rPr lang="en-US" b="1" dirty="0">
                <a:solidFill>
                  <a:srgbClr val="C00000"/>
                </a:solidFill>
                <a:latin typeface="Bradley Hand ITC" pitchFamily="66" charset="0"/>
              </a:rPr>
              <a:t>Stereotyped Components</a:t>
            </a:r>
          </a:p>
        </p:txBody>
      </p:sp>
      <p:cxnSp>
        <p:nvCxnSpPr>
          <p:cNvPr id="20" name="Straight Arrow Connector 19"/>
          <p:cNvCxnSpPr/>
          <p:nvPr/>
        </p:nvCxnSpPr>
        <p:spPr>
          <a:xfrm flipH="1" flipV="1">
            <a:off x="1981200" y="5943600"/>
            <a:ext cx="5334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5257800" y="5943600"/>
            <a:ext cx="4572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3962400" y="5867400"/>
            <a:ext cx="0" cy="2286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169305" y="6096000"/>
            <a:ext cx="1907895" cy="369332"/>
          </a:xfrm>
          <a:prstGeom prst="rect">
            <a:avLst/>
          </a:prstGeom>
          <a:noFill/>
        </p:spPr>
        <p:txBody>
          <a:bodyPr wrap="none" rtlCol="0">
            <a:spAutoFit/>
          </a:bodyPr>
          <a:lstStyle/>
          <a:p>
            <a:r>
              <a:rPr lang="en-US" b="1" dirty="0">
                <a:solidFill>
                  <a:srgbClr val="C00000"/>
                </a:solidFill>
                <a:latin typeface="Bradley Hand ITC" pitchFamily="66" charset="0"/>
              </a:rPr>
              <a:t>Stereotyped Class</a:t>
            </a:r>
          </a:p>
        </p:txBody>
      </p:sp>
      <p:cxnSp>
        <p:nvCxnSpPr>
          <p:cNvPr id="37" name="Straight Arrow Connector 36"/>
          <p:cNvCxnSpPr/>
          <p:nvPr/>
        </p:nvCxnSpPr>
        <p:spPr>
          <a:xfrm flipV="1">
            <a:off x="7239000" y="5915025"/>
            <a:ext cx="0" cy="2286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2.3 Enhancing Features</a:t>
            </a:r>
          </a:p>
        </p:txBody>
      </p:sp>
      <p:sp>
        <p:nvSpPr>
          <p:cNvPr id="3" name="Content Placeholder 2"/>
          <p:cNvSpPr>
            <a:spLocks noGrp="1"/>
          </p:cNvSpPr>
          <p:nvPr>
            <p:ph idx="1"/>
          </p:nvPr>
        </p:nvSpPr>
        <p:spPr/>
        <p:txBody>
          <a:bodyPr/>
          <a:lstStyle/>
          <a:p>
            <a:r>
              <a:rPr lang="en-US" dirty="0"/>
              <a:t>Common </a:t>
            </a:r>
            <a:r>
              <a:rPr lang="en-US" dirty="0">
                <a:solidFill>
                  <a:srgbClr val="FF0000"/>
                </a:solidFill>
              </a:rPr>
              <a:t>UML mechanisms </a:t>
            </a:r>
            <a:r>
              <a:rPr lang="en-US" dirty="0"/>
              <a:t>for enhancement (continued):</a:t>
            </a:r>
          </a:p>
          <a:p>
            <a:pPr lvl="1"/>
            <a:r>
              <a:rPr lang="en-US" dirty="0"/>
              <a:t>Tagged values</a:t>
            </a:r>
          </a:p>
          <a:p>
            <a:pPr lvl="2"/>
            <a:r>
              <a:rPr lang="en-US" dirty="0"/>
              <a:t>Mechanism for adding new properties to a stereotype; modeled by adding the tagged value in the form of </a:t>
            </a:r>
            <a:r>
              <a:rPr lang="en-US" i="1" dirty="0"/>
              <a:t>property = value</a:t>
            </a:r>
            <a:r>
              <a:rPr lang="en-US" dirty="0"/>
              <a:t> to existing stereotyped UML elements.</a:t>
            </a:r>
          </a:p>
          <a:p>
            <a:pPr lvl="2"/>
            <a:endParaRPr lang="en-US" dirty="0"/>
          </a:p>
          <a:p>
            <a:endParaRPr lang="en-US" dirty="0"/>
          </a:p>
          <a:p>
            <a:endParaRPr lang="en-US" dirty="0"/>
          </a:p>
          <a:p>
            <a:pPr lvl="1"/>
            <a:r>
              <a:rPr lang="en-US" dirty="0"/>
              <a:t>Constraints</a:t>
            </a:r>
          </a:p>
          <a:p>
            <a:pPr lvl="2"/>
            <a:r>
              <a:rPr lang="en-US" dirty="0"/>
              <a:t>Mechanism for specifying constraints to design elements (both classifiers and relationships); associated with specific design elements in the form of                            </a:t>
            </a:r>
            <a:r>
              <a:rPr lang="en-US" i="1" dirty="0"/>
              <a:t>{constraint description}</a:t>
            </a:r>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4100" name="Picture 4"/>
          <p:cNvPicPr>
            <a:picLocks noChangeAspect="1" noChangeArrowheads="1"/>
          </p:cNvPicPr>
          <p:nvPr/>
        </p:nvPicPr>
        <p:blipFill>
          <a:blip r:embed="rId2" cstate="print"/>
          <a:srcRect/>
          <a:stretch>
            <a:fillRect/>
          </a:stretch>
        </p:blipFill>
        <p:spPr bwMode="auto">
          <a:xfrm>
            <a:off x="1524000" y="2667000"/>
            <a:ext cx="1581150" cy="933450"/>
          </a:xfrm>
          <a:prstGeom prst="rect">
            <a:avLst/>
          </a:prstGeom>
          <a:noFill/>
          <a:ln w="9525">
            <a:noFill/>
            <a:miter lim="800000"/>
            <a:headEnd/>
            <a:tailEnd/>
          </a:ln>
          <a:effectLst/>
        </p:spPr>
      </p:pic>
      <p:grpSp>
        <p:nvGrpSpPr>
          <p:cNvPr id="29" name="Group 28"/>
          <p:cNvGrpSpPr/>
          <p:nvPr/>
        </p:nvGrpSpPr>
        <p:grpSpPr>
          <a:xfrm>
            <a:off x="4810125" y="5238750"/>
            <a:ext cx="3267075" cy="857250"/>
            <a:chOff x="4724400" y="5257800"/>
            <a:chExt cx="3267075" cy="857250"/>
          </a:xfrm>
        </p:grpSpPr>
        <p:pic>
          <p:nvPicPr>
            <p:cNvPr id="4106" name="Picture 10"/>
            <p:cNvPicPr>
              <a:picLocks noChangeAspect="1" noChangeArrowheads="1"/>
            </p:cNvPicPr>
            <p:nvPr/>
          </p:nvPicPr>
          <p:blipFill>
            <a:blip r:embed="rId3" cstate="print"/>
            <a:srcRect/>
            <a:stretch>
              <a:fillRect/>
            </a:stretch>
          </p:blipFill>
          <p:spPr bwMode="auto">
            <a:xfrm>
              <a:off x="4724400" y="5257800"/>
              <a:ext cx="3267075" cy="857250"/>
            </a:xfrm>
            <a:prstGeom prst="rect">
              <a:avLst/>
            </a:prstGeom>
            <a:noFill/>
            <a:ln w="9525">
              <a:noFill/>
              <a:miter lim="800000"/>
              <a:headEnd/>
              <a:tailEnd/>
            </a:ln>
            <a:effectLst/>
          </p:spPr>
        </p:pic>
        <p:cxnSp>
          <p:nvCxnSpPr>
            <p:cNvPr id="17" name="Straight Connector 16"/>
            <p:cNvCxnSpPr/>
            <p:nvPr/>
          </p:nvCxnSpPr>
          <p:spPr>
            <a:xfrm flipV="1">
              <a:off x="5981700" y="5667375"/>
              <a:ext cx="381000" cy="1524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447800" y="4800600"/>
            <a:ext cx="2590800" cy="1409700"/>
            <a:chOff x="1447800" y="4800600"/>
            <a:chExt cx="2590800" cy="1409700"/>
          </a:xfrm>
        </p:grpSpPr>
        <p:pic>
          <p:nvPicPr>
            <p:cNvPr id="4107" name="Picture 11"/>
            <p:cNvPicPr>
              <a:picLocks noChangeAspect="1" noChangeArrowheads="1"/>
            </p:cNvPicPr>
            <p:nvPr/>
          </p:nvPicPr>
          <p:blipFill>
            <a:blip r:embed="rId4" cstate="print"/>
            <a:srcRect/>
            <a:stretch>
              <a:fillRect/>
            </a:stretch>
          </p:blipFill>
          <p:spPr bwMode="auto">
            <a:xfrm>
              <a:off x="1447800" y="5410200"/>
              <a:ext cx="2590800" cy="800100"/>
            </a:xfrm>
            <a:prstGeom prst="rect">
              <a:avLst/>
            </a:prstGeom>
            <a:noFill/>
            <a:ln w="9525">
              <a:noFill/>
              <a:miter lim="800000"/>
              <a:headEnd/>
              <a:tailEnd/>
            </a:ln>
            <a:effectLst/>
          </p:spPr>
        </p:pic>
        <p:pic>
          <p:nvPicPr>
            <p:cNvPr id="4108" name="Picture 12"/>
            <p:cNvPicPr>
              <a:picLocks noChangeAspect="1" noChangeArrowheads="1"/>
            </p:cNvPicPr>
            <p:nvPr/>
          </p:nvPicPr>
          <p:blipFill>
            <a:blip r:embed="rId5" cstate="print"/>
            <a:srcRect/>
            <a:stretch>
              <a:fillRect/>
            </a:stretch>
          </p:blipFill>
          <p:spPr bwMode="auto">
            <a:xfrm>
              <a:off x="2514600" y="4800600"/>
              <a:ext cx="1143000" cy="657225"/>
            </a:xfrm>
            <a:prstGeom prst="rect">
              <a:avLst/>
            </a:prstGeom>
            <a:noFill/>
            <a:ln w="9525">
              <a:noFill/>
              <a:miter lim="800000"/>
              <a:headEnd/>
              <a:tailEnd/>
            </a:ln>
            <a:effectLst/>
          </p:spPr>
        </p:pic>
        <p:cxnSp>
          <p:nvCxnSpPr>
            <p:cNvPr id="26" name="Straight Connector 25"/>
            <p:cNvCxnSpPr/>
            <p:nvPr/>
          </p:nvCxnSpPr>
          <p:spPr>
            <a:xfrm flipV="1">
              <a:off x="2743200" y="5257800"/>
              <a:ext cx="304800" cy="5334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15" name="TextBox 14"/>
          <p:cNvSpPr txBox="1"/>
          <p:nvPr/>
        </p:nvSpPr>
        <p:spPr>
          <a:xfrm>
            <a:off x="7391400" y="4648200"/>
            <a:ext cx="1241045" cy="369332"/>
          </a:xfrm>
          <a:prstGeom prst="rect">
            <a:avLst/>
          </a:prstGeom>
          <a:noFill/>
        </p:spPr>
        <p:txBody>
          <a:bodyPr wrap="none" rtlCol="0">
            <a:spAutoFit/>
          </a:bodyPr>
          <a:lstStyle/>
          <a:p>
            <a:r>
              <a:rPr lang="en-US" b="1" dirty="0">
                <a:solidFill>
                  <a:srgbClr val="C00000"/>
                </a:solidFill>
                <a:latin typeface="Bradley Hand ITC" pitchFamily="66" charset="0"/>
              </a:rPr>
              <a:t>Constraint</a:t>
            </a:r>
          </a:p>
        </p:txBody>
      </p:sp>
      <p:cxnSp>
        <p:nvCxnSpPr>
          <p:cNvPr id="20" name="Straight Arrow Connector 19"/>
          <p:cNvCxnSpPr/>
          <p:nvPr/>
        </p:nvCxnSpPr>
        <p:spPr>
          <a:xfrm flipH="1">
            <a:off x="7315200" y="5029200"/>
            <a:ext cx="6096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4191000" y="4648200"/>
            <a:ext cx="1241045" cy="369332"/>
          </a:xfrm>
          <a:prstGeom prst="rect">
            <a:avLst/>
          </a:prstGeom>
          <a:noFill/>
        </p:spPr>
        <p:txBody>
          <a:bodyPr wrap="none" rtlCol="0">
            <a:spAutoFit/>
          </a:bodyPr>
          <a:lstStyle/>
          <a:p>
            <a:r>
              <a:rPr lang="en-US" b="1" dirty="0">
                <a:solidFill>
                  <a:srgbClr val="C00000"/>
                </a:solidFill>
                <a:latin typeface="Bradley Hand ITC" pitchFamily="66" charset="0"/>
              </a:rPr>
              <a:t>Constraint</a:t>
            </a:r>
          </a:p>
        </p:txBody>
      </p:sp>
      <p:cxnSp>
        <p:nvCxnSpPr>
          <p:cNvPr id="38" name="Straight Arrow Connector 37"/>
          <p:cNvCxnSpPr/>
          <p:nvPr/>
        </p:nvCxnSpPr>
        <p:spPr>
          <a:xfrm flipH="1">
            <a:off x="3505200" y="4876800"/>
            <a:ext cx="6096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657600" y="3288268"/>
            <a:ext cx="3286477" cy="369332"/>
          </a:xfrm>
          <a:prstGeom prst="rect">
            <a:avLst/>
          </a:prstGeom>
          <a:noFill/>
        </p:spPr>
        <p:txBody>
          <a:bodyPr wrap="none" rtlCol="0">
            <a:spAutoFit/>
          </a:bodyPr>
          <a:lstStyle/>
          <a:p>
            <a:r>
              <a:rPr lang="en-US" b="1" dirty="0">
                <a:solidFill>
                  <a:srgbClr val="C00000"/>
                </a:solidFill>
                <a:latin typeface="Bradley Hand ITC" pitchFamily="66" charset="0"/>
              </a:rPr>
              <a:t>Tagged value to specify location</a:t>
            </a:r>
          </a:p>
        </p:txBody>
      </p:sp>
      <p:cxnSp>
        <p:nvCxnSpPr>
          <p:cNvPr id="40" name="Straight Arrow Connector 39"/>
          <p:cNvCxnSpPr/>
          <p:nvPr/>
        </p:nvCxnSpPr>
        <p:spPr>
          <a:xfrm flipH="1" flipV="1">
            <a:off x="2971800" y="3364468"/>
            <a:ext cx="609600" cy="1524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2.3 Diagrams - Structural</a:t>
            </a:r>
          </a:p>
        </p:txBody>
      </p:sp>
      <p:sp>
        <p:nvSpPr>
          <p:cNvPr id="3" name="Content Placeholder 2"/>
          <p:cNvSpPr>
            <a:spLocks noGrp="1"/>
          </p:cNvSpPr>
          <p:nvPr>
            <p:ph idx="1"/>
          </p:nvPr>
        </p:nvSpPr>
        <p:spPr>
          <a:xfrm>
            <a:off x="457200" y="1371601"/>
            <a:ext cx="8229600" cy="4800599"/>
          </a:xfrm>
        </p:spPr>
        <p:txBody>
          <a:bodyPr>
            <a:normAutofit fontScale="85000" lnSpcReduction="10000"/>
          </a:bodyPr>
          <a:lstStyle/>
          <a:p>
            <a:r>
              <a:rPr lang="en-US" dirty="0"/>
              <a:t>Together, UML classifiers, relationships, and enhancement features can be used together in 14 diagrams to model systems from different perspectives and different concerns.</a:t>
            </a:r>
          </a:p>
          <a:p>
            <a:pPr lvl="1"/>
            <a:endParaRPr lang="en-US" dirty="0"/>
          </a:p>
          <a:p>
            <a:r>
              <a:rPr lang="en-US" dirty="0"/>
              <a:t>The most common UML</a:t>
            </a:r>
            <a:r>
              <a:rPr lang="en-US" i="1" dirty="0"/>
              <a:t> structural diagrams </a:t>
            </a:r>
            <a:r>
              <a:rPr lang="en-US" dirty="0"/>
              <a:t>are presented below.</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Other structural diagrams include:</a:t>
            </a:r>
          </a:p>
          <a:p>
            <a:pPr lvl="1"/>
            <a:r>
              <a:rPr lang="en-US" dirty="0"/>
              <a:t>Composite structure diagram</a:t>
            </a:r>
          </a:p>
          <a:p>
            <a:pPr lvl="1"/>
            <a:r>
              <a:rPr lang="en-US" dirty="0"/>
              <a:t>Profile diagram</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graphicFrame>
        <p:nvGraphicFramePr>
          <p:cNvPr id="7" name="Table 6"/>
          <p:cNvGraphicFramePr>
            <a:graphicFrameLocks noGrp="1"/>
          </p:cNvGraphicFramePr>
          <p:nvPr/>
        </p:nvGraphicFramePr>
        <p:xfrm>
          <a:off x="609600" y="2651150"/>
          <a:ext cx="7896225" cy="2378050"/>
        </p:xfrm>
        <a:graphic>
          <a:graphicData uri="http://schemas.openxmlformats.org/drawingml/2006/table">
            <a:tbl>
              <a:tblPr firstRow="1" bandRow="1">
                <a:tableStyleId>{5C22544A-7EE6-4342-B048-85BDC9FD1C3A}</a:tableStyleId>
              </a:tblPr>
              <a:tblGrid>
                <a:gridCol w="1563609">
                  <a:extLst>
                    <a:ext uri="{9D8B030D-6E8A-4147-A177-3AD203B41FA5}">
                      <a16:colId xmlns:a16="http://schemas.microsoft.com/office/drawing/2014/main" val="20000"/>
                    </a:ext>
                  </a:extLst>
                </a:gridCol>
                <a:gridCol w="6332616">
                  <a:extLst>
                    <a:ext uri="{9D8B030D-6E8A-4147-A177-3AD203B41FA5}">
                      <a16:colId xmlns:a16="http://schemas.microsoft.com/office/drawing/2014/main" val="20001"/>
                    </a:ext>
                  </a:extLst>
                </a:gridCol>
              </a:tblGrid>
              <a:tr h="255118">
                <a:tc>
                  <a:txBody>
                    <a:bodyPr/>
                    <a:lstStyle/>
                    <a:p>
                      <a:r>
                        <a:rPr lang="en-US" sz="1200" dirty="0"/>
                        <a:t>Structural Diagram</a:t>
                      </a:r>
                    </a:p>
                  </a:txBody>
                  <a:tcPr>
                    <a:solidFill>
                      <a:srgbClr val="C00000"/>
                    </a:solidFill>
                  </a:tcPr>
                </a:tc>
                <a:tc>
                  <a:txBody>
                    <a:bodyPr/>
                    <a:lstStyle/>
                    <a:p>
                      <a:r>
                        <a:rPr lang="en-US" sz="1200" dirty="0"/>
                        <a:t>Description</a:t>
                      </a:r>
                    </a:p>
                  </a:txBody>
                  <a:tcPr>
                    <a:solidFill>
                      <a:srgbClr val="C00000"/>
                    </a:solidFill>
                  </a:tcPr>
                </a:tc>
                <a:extLst>
                  <a:ext uri="{0D108BD9-81ED-4DB2-BD59-A6C34878D82A}">
                    <a16:rowId xmlns:a16="http://schemas.microsoft.com/office/drawing/2014/main" val="10000"/>
                  </a:ext>
                </a:extLst>
              </a:tr>
              <a:tr h="396850">
                <a:tc>
                  <a:txBody>
                    <a:bodyPr/>
                    <a:lstStyle/>
                    <a:p>
                      <a:r>
                        <a:rPr lang="en-US" sz="1100" dirty="0"/>
                        <a:t>Component Diagram</a:t>
                      </a:r>
                    </a:p>
                  </a:txBody>
                  <a:tcPr/>
                </a:tc>
                <a:tc>
                  <a:txBody>
                    <a:bodyPr/>
                    <a:lstStyle/>
                    <a:p>
                      <a:r>
                        <a:rPr lang="en-US" sz="1100" dirty="0"/>
                        <a:t>Used to model software as group of components connected to each other</a:t>
                      </a:r>
                      <a:r>
                        <a:rPr lang="en-US" sz="1100" baseline="0" dirty="0"/>
                        <a:t> through well-defined interfaces. </a:t>
                      </a:r>
                      <a:endParaRPr lang="en-US" sz="1100" dirty="0"/>
                    </a:p>
                  </a:txBody>
                  <a:tcPr/>
                </a:tc>
                <a:extLst>
                  <a:ext uri="{0D108BD9-81ED-4DB2-BD59-A6C34878D82A}">
                    <a16:rowId xmlns:a16="http://schemas.microsoft.com/office/drawing/2014/main" val="10001"/>
                  </a:ext>
                </a:extLst>
              </a:tr>
              <a:tr h="240944">
                <a:tc>
                  <a:txBody>
                    <a:bodyPr/>
                    <a:lstStyle/>
                    <a:p>
                      <a:r>
                        <a:rPr lang="en-US" sz="1100" dirty="0"/>
                        <a:t>Class</a:t>
                      </a:r>
                      <a:r>
                        <a:rPr lang="en-US" sz="1100" baseline="0" dirty="0"/>
                        <a:t> </a:t>
                      </a:r>
                      <a:r>
                        <a:rPr lang="en-US" sz="1100" dirty="0"/>
                        <a:t>Diagram</a:t>
                      </a:r>
                    </a:p>
                  </a:txBody>
                  <a:tcPr/>
                </a:tc>
                <a:tc>
                  <a:txBody>
                    <a:bodyPr/>
                    <a:lstStyle/>
                    <a:p>
                      <a:r>
                        <a:rPr lang="en-US" sz="1100" dirty="0"/>
                        <a:t>Used to model software as a set of classes, including their operations, attributes, and relationships.</a:t>
                      </a:r>
                    </a:p>
                  </a:txBody>
                  <a:tcPr/>
                </a:tc>
                <a:extLst>
                  <a:ext uri="{0D108BD9-81ED-4DB2-BD59-A6C34878D82A}">
                    <a16:rowId xmlns:a16="http://schemas.microsoft.com/office/drawing/2014/main" val="10002"/>
                  </a:ext>
                </a:extLst>
              </a:tr>
              <a:tr h="396850">
                <a:tc>
                  <a:txBody>
                    <a:bodyPr/>
                    <a:lstStyle/>
                    <a:p>
                      <a:r>
                        <a:rPr lang="en-US" sz="1100" dirty="0"/>
                        <a:t>Object Diagram</a:t>
                      </a:r>
                    </a:p>
                  </a:txBody>
                  <a:tcPr/>
                </a:tc>
                <a:tc>
                  <a:txBody>
                    <a:bodyPr/>
                    <a:lstStyle/>
                    <a:p>
                      <a:r>
                        <a:rPr lang="en-US" sz="1100" dirty="0"/>
                        <a:t>Used to model</a:t>
                      </a:r>
                      <a:r>
                        <a:rPr lang="en-US" sz="1100" baseline="0" dirty="0"/>
                        <a:t> an instant snapshot of the life of an object during execution, including its state and attribute values.</a:t>
                      </a:r>
                      <a:endParaRPr lang="en-US" sz="1100" dirty="0"/>
                    </a:p>
                  </a:txBody>
                  <a:tcPr/>
                </a:tc>
                <a:extLst>
                  <a:ext uri="{0D108BD9-81ED-4DB2-BD59-A6C34878D82A}">
                    <a16:rowId xmlns:a16="http://schemas.microsoft.com/office/drawing/2014/main" val="10003"/>
                  </a:ext>
                </a:extLst>
              </a:tr>
              <a:tr h="240944">
                <a:tc>
                  <a:txBody>
                    <a:bodyPr/>
                    <a:lstStyle/>
                    <a:p>
                      <a:r>
                        <a:rPr lang="en-US" sz="1100" dirty="0"/>
                        <a:t>Deployment Diagram</a:t>
                      </a:r>
                    </a:p>
                  </a:txBody>
                  <a:tcPr/>
                </a:tc>
                <a:tc>
                  <a:txBody>
                    <a:bodyPr/>
                    <a:lstStyle/>
                    <a:p>
                      <a:r>
                        <a:rPr lang="en-US" sz="1100" dirty="0"/>
                        <a:t>Used to model the physical realization of software systems, including physical</a:t>
                      </a:r>
                      <a:r>
                        <a:rPr lang="en-US" sz="1100" baseline="0" dirty="0"/>
                        <a:t> nodes where software is deployed, interfaces between nodes, executable software artifacts, and the manifestation of software components.</a:t>
                      </a:r>
                      <a:endParaRPr lang="en-US" sz="1100" dirty="0"/>
                    </a:p>
                  </a:txBody>
                  <a:tcPr/>
                </a:tc>
                <a:extLst>
                  <a:ext uri="{0D108BD9-81ED-4DB2-BD59-A6C34878D82A}">
                    <a16:rowId xmlns:a16="http://schemas.microsoft.com/office/drawing/2014/main" val="10004"/>
                  </a:ext>
                </a:extLst>
              </a:tr>
              <a:tr h="240944">
                <a:tc>
                  <a:txBody>
                    <a:bodyPr/>
                    <a:lstStyle/>
                    <a:p>
                      <a:r>
                        <a:rPr lang="en-US" sz="1100" dirty="0"/>
                        <a:t>Package Diagram</a:t>
                      </a:r>
                    </a:p>
                  </a:txBody>
                  <a:tcPr/>
                </a:tc>
                <a:tc>
                  <a:txBody>
                    <a:bodyPr/>
                    <a:lstStyle/>
                    <a:p>
                      <a:r>
                        <a:rPr lang="en-US" sz="1100" dirty="0"/>
                        <a:t>Used to model the decomposition of software as a set of packages, including relationships between packages.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2.3 Diagrams - Behavioral</a:t>
            </a:r>
          </a:p>
        </p:txBody>
      </p:sp>
      <p:sp>
        <p:nvSpPr>
          <p:cNvPr id="3" name="Content Placeholder 2"/>
          <p:cNvSpPr>
            <a:spLocks noGrp="1"/>
          </p:cNvSpPr>
          <p:nvPr>
            <p:ph idx="1"/>
          </p:nvPr>
        </p:nvSpPr>
        <p:spPr>
          <a:xfrm>
            <a:off x="457200" y="1371601"/>
            <a:ext cx="8229600" cy="4419599"/>
          </a:xfrm>
        </p:spPr>
        <p:txBody>
          <a:bodyPr>
            <a:normAutofit fontScale="92500" lnSpcReduction="20000"/>
          </a:bodyPr>
          <a:lstStyle/>
          <a:p>
            <a:r>
              <a:rPr lang="en-US" dirty="0"/>
              <a:t>The most common UML</a:t>
            </a:r>
            <a:r>
              <a:rPr lang="en-US" i="1" dirty="0"/>
              <a:t> behavioral diagrams </a:t>
            </a:r>
            <a:r>
              <a:rPr lang="en-US" dirty="0"/>
              <a:t>are presented below.</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Other behavioral diagrams include:</a:t>
            </a:r>
          </a:p>
          <a:p>
            <a:pPr lvl="1"/>
            <a:r>
              <a:rPr lang="en-US" dirty="0"/>
              <a:t>Timing diagram</a:t>
            </a:r>
          </a:p>
          <a:p>
            <a:pPr lvl="1"/>
            <a:r>
              <a:rPr lang="en-US" dirty="0"/>
              <a:t>Interaction overview diagram</a:t>
            </a:r>
          </a:p>
          <a:p>
            <a:endParaRPr lang="en-US" dirty="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dirty="0"/>
              <a:t>Software Engineering Design: Theory and Practice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graphicFrame>
        <p:nvGraphicFramePr>
          <p:cNvPr id="7" name="Table 6"/>
          <p:cNvGraphicFramePr>
            <a:graphicFrameLocks noGrp="1"/>
          </p:cNvGraphicFramePr>
          <p:nvPr/>
        </p:nvGraphicFramePr>
        <p:xfrm>
          <a:off x="609600" y="2057400"/>
          <a:ext cx="7848600" cy="2407920"/>
        </p:xfrm>
        <a:graphic>
          <a:graphicData uri="http://schemas.openxmlformats.org/drawingml/2006/table">
            <a:tbl>
              <a:tblPr firstRow="1" bandRow="1">
                <a:tableStyleId>{5C22544A-7EE6-4342-B048-85BDC9FD1C3A}</a:tableStyleId>
              </a:tblPr>
              <a:tblGrid>
                <a:gridCol w="1554178">
                  <a:extLst>
                    <a:ext uri="{9D8B030D-6E8A-4147-A177-3AD203B41FA5}">
                      <a16:colId xmlns:a16="http://schemas.microsoft.com/office/drawing/2014/main" val="20000"/>
                    </a:ext>
                  </a:extLst>
                </a:gridCol>
                <a:gridCol w="6294422">
                  <a:extLst>
                    <a:ext uri="{9D8B030D-6E8A-4147-A177-3AD203B41FA5}">
                      <a16:colId xmlns:a16="http://schemas.microsoft.com/office/drawing/2014/main" val="20001"/>
                    </a:ext>
                  </a:extLst>
                </a:gridCol>
              </a:tblGrid>
              <a:tr h="209550">
                <a:tc>
                  <a:txBody>
                    <a:bodyPr/>
                    <a:lstStyle/>
                    <a:p>
                      <a:r>
                        <a:rPr lang="en-US" sz="1200" dirty="0"/>
                        <a:t>Behavioral Diagram</a:t>
                      </a:r>
                    </a:p>
                  </a:txBody>
                  <a:tcPr>
                    <a:solidFill>
                      <a:srgbClr val="C00000"/>
                    </a:solidFill>
                  </a:tcPr>
                </a:tc>
                <a:tc>
                  <a:txBody>
                    <a:bodyPr/>
                    <a:lstStyle/>
                    <a:p>
                      <a:r>
                        <a:rPr lang="en-US" sz="1200" dirty="0"/>
                        <a:t>Description</a:t>
                      </a:r>
                    </a:p>
                  </a:txBody>
                  <a:tcPr>
                    <a:solidFill>
                      <a:srgbClr val="C00000"/>
                    </a:solidFill>
                  </a:tcPr>
                </a:tc>
                <a:extLst>
                  <a:ext uri="{0D108BD9-81ED-4DB2-BD59-A6C34878D82A}">
                    <a16:rowId xmlns:a16="http://schemas.microsoft.com/office/drawing/2014/main" val="10000"/>
                  </a:ext>
                </a:extLst>
              </a:tr>
              <a:tr h="209550">
                <a:tc>
                  <a:txBody>
                    <a:bodyPr/>
                    <a:lstStyle/>
                    <a:p>
                      <a:r>
                        <a:rPr lang="en-US" sz="1100" dirty="0"/>
                        <a:t>Use Case Diagram</a:t>
                      </a:r>
                    </a:p>
                  </a:txBody>
                  <a:tcPr/>
                </a:tc>
                <a:tc>
                  <a:txBody>
                    <a:bodyPr/>
                    <a:lstStyle/>
                    <a:p>
                      <a:r>
                        <a:rPr lang="en-US" sz="1100" dirty="0"/>
                        <a:t>Used to capture, specify, and visualize required system behavior .</a:t>
                      </a:r>
                    </a:p>
                  </a:txBody>
                  <a:tcPr/>
                </a:tc>
                <a:extLst>
                  <a:ext uri="{0D108BD9-81ED-4DB2-BD59-A6C34878D82A}">
                    <a16:rowId xmlns:a16="http://schemas.microsoft.com/office/drawing/2014/main" val="10001"/>
                  </a:ext>
                </a:extLst>
              </a:tr>
              <a:tr h="209550">
                <a:tc>
                  <a:txBody>
                    <a:bodyPr/>
                    <a:lstStyle/>
                    <a:p>
                      <a:r>
                        <a:rPr lang="en-US" sz="1100" dirty="0"/>
                        <a:t>Sequence Diagram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Used to capture, specify, and visualize system interactions with emphasis on the time-order sequence of messages exchanged.</a:t>
                      </a:r>
                    </a:p>
                  </a:txBody>
                  <a:tcPr/>
                </a:tc>
                <a:extLst>
                  <a:ext uri="{0D108BD9-81ED-4DB2-BD59-A6C34878D82A}">
                    <a16:rowId xmlns:a16="http://schemas.microsoft.com/office/drawing/2014/main" val="10002"/>
                  </a:ext>
                </a:extLst>
              </a:tr>
              <a:tr h="209550">
                <a:tc>
                  <a:txBody>
                    <a:bodyPr/>
                    <a:lstStyle/>
                    <a:p>
                      <a:r>
                        <a:rPr lang="en-US" sz="1100" dirty="0"/>
                        <a:t>Communication Diagram</a:t>
                      </a:r>
                    </a:p>
                  </a:txBody>
                  <a:tcPr/>
                </a:tc>
                <a:tc>
                  <a:txBody>
                    <a:bodyPr/>
                    <a:lstStyle/>
                    <a:p>
                      <a:r>
                        <a:rPr lang="en-US" sz="1100" dirty="0"/>
                        <a:t>Used to capture, specify, and visualize system interactions with emphasis on the structural order of entities participating</a:t>
                      </a:r>
                      <a:r>
                        <a:rPr lang="en-US" sz="1100" baseline="0" dirty="0"/>
                        <a:t> in the message exchange.</a:t>
                      </a:r>
                      <a:endParaRPr lang="en-US" sz="1100" dirty="0"/>
                    </a:p>
                  </a:txBody>
                  <a:tcPr/>
                </a:tc>
                <a:extLst>
                  <a:ext uri="{0D108BD9-81ED-4DB2-BD59-A6C34878D82A}">
                    <a16:rowId xmlns:a16="http://schemas.microsoft.com/office/drawing/2014/main" val="10003"/>
                  </a:ext>
                </a:extLst>
              </a:tr>
              <a:tr h="209550">
                <a:tc>
                  <a:txBody>
                    <a:bodyPr/>
                    <a:lstStyle/>
                    <a:p>
                      <a:r>
                        <a:rPr lang="en-US" sz="1100" dirty="0"/>
                        <a:t>State Machine Diagram</a:t>
                      </a:r>
                    </a:p>
                  </a:txBody>
                  <a:tcPr/>
                </a:tc>
                <a:tc>
                  <a:txBody>
                    <a:bodyPr/>
                    <a:lstStyle/>
                    <a:p>
                      <a:r>
                        <a:rPr lang="en-US" sz="1100" dirty="0"/>
                        <a:t>Used to capture, specify, and visualize system behavior</a:t>
                      </a:r>
                      <a:r>
                        <a:rPr lang="en-US" sz="1100" baseline="0" dirty="0"/>
                        <a:t> as a set of discrete states and the transitions between them.</a:t>
                      </a:r>
                      <a:endParaRPr lang="en-US" sz="1100" dirty="0"/>
                    </a:p>
                  </a:txBody>
                  <a:tcPr/>
                </a:tc>
                <a:extLst>
                  <a:ext uri="{0D108BD9-81ED-4DB2-BD59-A6C34878D82A}">
                    <a16:rowId xmlns:a16="http://schemas.microsoft.com/office/drawing/2014/main" val="10004"/>
                  </a:ext>
                </a:extLst>
              </a:tr>
              <a:tr h="209550">
                <a:tc>
                  <a:txBody>
                    <a:bodyPr/>
                    <a:lstStyle/>
                    <a:p>
                      <a:r>
                        <a:rPr lang="en-US" sz="1100" dirty="0"/>
                        <a:t>Activity Diagram</a:t>
                      </a:r>
                    </a:p>
                  </a:txBody>
                  <a:tcPr/>
                </a:tc>
                <a:tc>
                  <a:txBody>
                    <a:bodyPr/>
                    <a:lstStyle/>
                    <a:p>
                      <a:r>
                        <a:rPr lang="en-US" sz="1100" dirty="0"/>
                        <a:t>Used to capture, specify, and visualize system behavior;</a:t>
                      </a:r>
                      <a:r>
                        <a:rPr lang="en-US" sz="1100" baseline="0" dirty="0"/>
                        <a:t> provide mechanisms for modeling that includes conditional statements, repetition, concurrency, and parallel execution and thus can be used at many different levels of abstraction, from modeling business work flows to code.</a:t>
                      </a:r>
                      <a:endParaRPr lang="en-US" sz="1100"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Summary</a:t>
            </a:r>
          </a:p>
        </p:txBody>
      </p:sp>
      <p:sp>
        <p:nvSpPr>
          <p:cNvPr id="3" name="Content Placeholder 2"/>
          <p:cNvSpPr>
            <a:spLocks noGrp="1"/>
          </p:cNvSpPr>
          <p:nvPr>
            <p:ph idx="1"/>
          </p:nvPr>
        </p:nvSpPr>
        <p:spPr/>
        <p:txBody>
          <a:bodyPr/>
          <a:lstStyle/>
          <a:p>
            <a:r>
              <a:rPr lang="en-US" dirty="0"/>
              <a:t>UML is essential to enhancing system analysis, specification, and communication among a project’s stakeholders.  Specifically, UML </a:t>
            </a:r>
          </a:p>
          <a:p>
            <a:pPr lvl="1"/>
            <a:r>
              <a:rPr lang="en-US" dirty="0"/>
              <a:t>Provides a common language for analyzing, evaluating, and specifying systems.</a:t>
            </a:r>
          </a:p>
          <a:p>
            <a:pPr lvl="1"/>
            <a:r>
              <a:rPr lang="en-US" dirty="0"/>
              <a:t>Models can be created at higher levels and transferred downstream, for subsequent, finer-grained analysis, evaluation, and specification.</a:t>
            </a:r>
          </a:p>
          <a:p>
            <a:pPr lvl="1"/>
            <a:r>
              <a:rPr lang="en-US" dirty="0"/>
              <a:t>Models serve as the main tool for transferring knowledge and enhancing communication among stakeholders, including customers, managers, and programmers.</a:t>
            </a:r>
          </a:p>
          <a:p>
            <a:pPr lvl="1"/>
            <a:r>
              <a:rPr lang="en-US" dirty="0"/>
              <a:t>Enables visualization of complex systems and enables more efficient reasoning about the problem, therefore enhancing the problem-solving process.</a:t>
            </a:r>
          </a:p>
          <a:p>
            <a:pPr lvl="1"/>
            <a:r>
              <a:rPr lang="en-US" dirty="0"/>
              <a:t>Enhances design documents and enables reusability of solutions, which can be applied in future projects.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Next…</a:t>
            </a:r>
          </a:p>
        </p:txBody>
      </p:sp>
      <p:sp>
        <p:nvSpPr>
          <p:cNvPr id="3" name="Content Placeholder 2"/>
          <p:cNvSpPr>
            <a:spLocks noGrp="1"/>
          </p:cNvSpPr>
          <p:nvPr>
            <p:ph idx="1"/>
          </p:nvPr>
        </p:nvSpPr>
        <p:spPr/>
        <p:txBody>
          <a:bodyPr>
            <a:normAutofit/>
          </a:bodyPr>
          <a:lstStyle/>
          <a:p>
            <a:r>
              <a:rPr lang="en-US" dirty="0"/>
              <a:t>In the next session we will discuss how UML classifiers, relationships, and enhancement features can be used to create structural diagrams.  Specifically, we will focus on:</a:t>
            </a:r>
          </a:p>
          <a:p>
            <a:pPr lvl="1"/>
            <a:r>
              <a:rPr lang="en-US" dirty="0"/>
              <a:t>UML structural modeling</a:t>
            </a:r>
          </a:p>
          <a:p>
            <a:pPr lvl="2"/>
            <a:r>
              <a:rPr lang="en-US" dirty="0"/>
              <a:t>What is structural modeling?</a:t>
            </a:r>
          </a:p>
          <a:p>
            <a:pPr lvl="2"/>
            <a:r>
              <a:rPr lang="en-US" dirty="0"/>
              <a:t>Why is it important?</a:t>
            </a:r>
          </a:p>
          <a:p>
            <a:pPr lvl="1"/>
            <a:r>
              <a:rPr lang="en-US" dirty="0"/>
              <a:t>Component diagrams</a:t>
            </a:r>
          </a:p>
          <a:p>
            <a:pPr lvl="2"/>
            <a:r>
              <a:rPr lang="en-US" dirty="0"/>
              <a:t>Interfaces</a:t>
            </a:r>
          </a:p>
          <a:p>
            <a:pPr lvl="2"/>
            <a:r>
              <a:rPr lang="en-US" dirty="0"/>
              <a:t>Assembly connectors</a:t>
            </a:r>
          </a:p>
          <a:p>
            <a:pPr lvl="2"/>
            <a:r>
              <a:rPr lang="en-US" dirty="0"/>
              <a:t>Other common relationships</a:t>
            </a:r>
          </a:p>
          <a:p>
            <a:pPr lvl="1"/>
            <a:r>
              <a:rPr lang="en-US" dirty="0"/>
              <a:t>Class diagrams</a:t>
            </a:r>
          </a:p>
          <a:p>
            <a:pPr lvl="2"/>
            <a:r>
              <a:rPr lang="en-US" dirty="0"/>
              <a:t>Details of UML classes</a:t>
            </a:r>
          </a:p>
          <a:p>
            <a:pPr lvl="2"/>
            <a:r>
              <a:rPr lang="en-US" dirty="0"/>
              <a:t>Common relationships</a:t>
            </a:r>
          </a:p>
          <a:p>
            <a:pPr lvl="2"/>
            <a:r>
              <a:rPr lang="en-US" dirty="0"/>
              <a:t>The meaning (in code) of class diagrams</a:t>
            </a:r>
          </a:p>
          <a:p>
            <a:pPr lvl="1"/>
            <a:r>
              <a:rPr lang="en-US" dirty="0"/>
              <a:t>Deployment diagrams</a:t>
            </a:r>
          </a:p>
        </p:txBody>
      </p:sp>
      <p:sp>
        <p:nvSpPr>
          <p:cNvPr id="4" name="Date Placeholder 3"/>
          <p:cNvSpPr>
            <a:spLocks noGrp="1"/>
          </p:cNvSpPr>
          <p:nvPr>
            <p:ph type="dt" sz="half" idx="10"/>
          </p:nvPr>
        </p:nvSpPr>
        <p:spPr/>
        <p:txBody>
          <a:bodyPr/>
          <a:lstStyle/>
          <a:p>
            <a:fld id="{F3FBCFF5-EE4F-4FFF-A0F1-127D95D6DEF9}" type="datetime1">
              <a:rPr lang="en-US" smtClean="0"/>
              <a:pPr/>
              <a:t>4/2/2021</a:t>
            </a:fld>
            <a:endParaRPr lang="en-US"/>
          </a:p>
        </p:txBody>
      </p:sp>
      <p:sp>
        <p:nvSpPr>
          <p:cNvPr id="5" name="Footer Placeholder 4"/>
          <p:cNvSpPr>
            <a:spLocks noGrp="1"/>
          </p:cNvSpPr>
          <p:nvPr>
            <p:ph type="ftr" sz="quarter" idx="11"/>
          </p:nvPr>
        </p:nvSpPr>
        <p:spPr/>
        <p:txBody>
          <a:bodyPr/>
          <a:lstStyle/>
          <a:p>
            <a:r>
              <a:rPr lang="en-US"/>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7739</TotalTime>
  <Words>1808</Words>
  <Application>Microsoft Office PowerPoint</Application>
  <PresentationFormat>On-screen Show (4:3)</PresentationFormat>
  <Paragraphs>297</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UVa-Wise-Clean-BW</vt:lpstr>
      <vt:lpstr>Chapter 2: Software Design with the Unified Modeling Language </vt:lpstr>
      <vt:lpstr>Session’s Agenda</vt:lpstr>
      <vt:lpstr>Unified Modeling Language Fundamentals</vt:lpstr>
      <vt:lpstr>Unified Modeling Language Fundamentals</vt:lpstr>
      <vt:lpstr>Unified Modeling Language Fundamentals</vt:lpstr>
      <vt:lpstr>Unified Modeling Language Fundamentals</vt:lpstr>
      <vt:lpstr>Unified Modeling Language Fundamentals</vt:lpstr>
      <vt:lpstr>UML 2.3 Classifiers</vt:lpstr>
      <vt:lpstr>UML 2.3 Classifiers</vt:lpstr>
      <vt:lpstr>UML 2.3 Relationships</vt:lpstr>
      <vt:lpstr>UML 2.3 Enhancing Features</vt:lpstr>
      <vt:lpstr>UML 2.3 Enhancing Features</vt:lpstr>
      <vt:lpstr>UML 2.3 Diagrams - Structural</vt:lpstr>
      <vt:lpstr>UML 2.3 Diagrams - Behavioral</vt:lpstr>
      <vt:lpstr>UML Summary</vt:lpstr>
      <vt:lpstr>What’s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Simulation</dc:title>
  <dc:creator>ceo7k</dc:creator>
  <cp:lastModifiedBy>kairi juriputra</cp:lastModifiedBy>
  <cp:revision>467</cp:revision>
  <dcterms:created xsi:type="dcterms:W3CDTF">2006-08-16T00:00:00Z</dcterms:created>
  <dcterms:modified xsi:type="dcterms:W3CDTF">2021-04-02T10:46:15Z</dcterms:modified>
</cp:coreProperties>
</file>
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309" r:id="rId4"/>
    <p:sldId id="311" r:id="rId5"/>
    <p:sldId id="310" r:id="rId6"/>
    <p:sldId id="312" r:id="rId7"/>
    <p:sldId id="313" r:id="rId8"/>
    <p:sldId id="314" r:id="rId9"/>
    <p:sldId id="315" r:id="rId10"/>
    <p:sldId id="316" r:id="rId11"/>
    <p:sldId id="317" r:id="rId12"/>
    <p:sldId id="319" r:id="rId13"/>
    <p:sldId id="320" r:id="rId14"/>
    <p:sldId id="318" r:id="rId15"/>
    <p:sldId id="290" r:id="rId16"/>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294" y="-15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49B3061A-7F4E-4E3A-A627-E1FC384385A9}" type="datetimeFigureOut">
              <a:rPr lang="en-US" smtClean="0"/>
              <a:pPr/>
              <a:t>10/3/2012</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C58D7772-57C4-43FE-B30D-FBB40B6BD3D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685800"/>
            <a:ext cx="9144000" cy="1066800"/>
          </a:xfrm>
        </p:spPr>
        <p:txBody>
          <a:bodyPr>
            <a:normAutofit/>
          </a:bodyPr>
          <a:lstStyle>
            <a:lvl1pPr algn="ctr">
              <a:defRPr sz="2400" b="1" cap="small" baseline="0">
                <a:latin typeface="Times New Roman" pitchFamily="18" charset="0"/>
                <a:cs typeface="Times New Roman" pitchFamily="18"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0" y="1752599"/>
            <a:ext cx="9144000" cy="457200"/>
          </a:xfrm>
        </p:spPr>
        <p:txBody>
          <a:bodyPr>
            <a:normAutofit/>
          </a:bodyPr>
          <a:lstStyle>
            <a:lvl1pPr marL="0" indent="0" algn="ctr">
              <a:spcBef>
                <a:spcPts val="0"/>
              </a:spcBef>
              <a:buNone/>
              <a:defRPr sz="2000" cap="small" baseline="0">
                <a:solidFill>
                  <a:srgbClr val="000000"/>
                </a:solidFill>
                <a:latin typeface="Times New Roman" pitchFamily="18" charset="0"/>
                <a:cs typeface="Times New Roman"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a:xfrm>
            <a:off x="457200" y="6584950"/>
            <a:ext cx="9906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8E146812-51FF-4609-8A40-02FC8C31783E}" type="datetime1">
              <a:rPr lang="en-US" smtClean="0"/>
              <a:pPr/>
              <a:t>10/3/2012</a:t>
            </a:fld>
            <a:endParaRPr lang="en-US"/>
          </a:p>
        </p:txBody>
      </p:sp>
      <p:sp>
        <p:nvSpPr>
          <p:cNvPr id="5"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333333"/>
                </a:solidFill>
                <a:latin typeface="Times New Roman" pitchFamily="18" charset="0"/>
                <a:cs typeface="Times New Roman" pitchFamily="18" charset="0"/>
              </a:defRPr>
            </a:lvl1pPr>
          </a:lstStyle>
          <a:p>
            <a:r>
              <a:rPr lang="en-US" dirty="0" smtClean="0"/>
              <a:t>Software Engineering Design: Theory and Practice. Copyright 2012 by Carlos E. Otero</a:t>
            </a:r>
          </a:p>
          <a:p>
            <a:endParaRPr lang="en-US" dirty="0"/>
          </a:p>
        </p:txBody>
      </p:sp>
      <p:sp>
        <p:nvSpPr>
          <p:cNvPr id="6" name="Slide Number Placeholder 5"/>
          <p:cNvSpPr>
            <a:spLocks noGrp="1"/>
          </p:cNvSpPr>
          <p:nvPr>
            <p:ph type="sldNum" sz="quarter" idx="12"/>
          </p:nvPr>
        </p:nvSpPr>
        <p:spPr>
          <a:xfrm>
            <a:off x="7543800" y="6553200"/>
            <a:ext cx="1143000" cy="304800"/>
          </a:xfrm>
          <a:prstGeom prst="rect">
            <a:avLst/>
          </a:prstGeom>
        </p:spPr>
        <p:txBody>
          <a:bodyPr/>
          <a:lstStyle>
            <a:lvl1pPr>
              <a:defRPr sz="1000">
                <a:solidFill>
                  <a:srgbClr val="000000"/>
                </a:solidFill>
                <a:latin typeface="Times New Roman" pitchFamily="18" charset="0"/>
                <a:cs typeface="Times New Roman" pitchFamily="18" charset="0"/>
              </a:defRPr>
            </a:lvl1pPr>
          </a:lstStyle>
          <a:p>
            <a:fld id="{B6F15528-21DE-4FAA-801E-634DDDAF4B2B}" type="slidenum">
              <a:rPr lang="en-US" smtClean="0"/>
              <a:pPr/>
              <a:t>‹#›</a:t>
            </a:fld>
            <a:endParaRPr lang="en-US"/>
          </a:p>
        </p:txBody>
      </p:sp>
      <p:sp>
        <p:nvSpPr>
          <p:cNvPr id="9" name="Text Box 7"/>
          <p:cNvSpPr txBox="1">
            <a:spLocks noChangeArrowheads="1"/>
          </p:cNvSpPr>
          <p:nvPr userDrawn="1"/>
        </p:nvSpPr>
        <p:spPr bwMode="auto">
          <a:xfrm>
            <a:off x="1676400" y="2713434"/>
            <a:ext cx="6477000" cy="2800767"/>
          </a:xfrm>
          <a:prstGeom prst="rect">
            <a:avLst/>
          </a:prstGeom>
          <a:noFill/>
          <a:ln w="9525">
            <a:noFill/>
            <a:miter lim="800000"/>
            <a:headEnd/>
            <a:tailEnd/>
          </a:ln>
        </p:spPr>
        <p:txBody>
          <a:bodyPr>
            <a:spAutoFit/>
          </a:bodyPr>
          <a:lstStyle/>
          <a:p>
            <a:r>
              <a:rPr lang="en-US" sz="2000" i="1" dirty="0" smtClean="0">
                <a:solidFill>
                  <a:srgbClr val="C00000"/>
                </a:solidFill>
                <a:latin typeface="Times New Roman" pitchFamily="18" charset="0"/>
                <a:cs typeface="Times New Roman" pitchFamily="18" charset="0"/>
              </a:rPr>
              <a:t>Software Engineering Design: Theory and Practice</a:t>
            </a:r>
            <a:r>
              <a:rPr lang="en-US" i="1" dirty="0" smtClean="0">
                <a:solidFill>
                  <a:srgbClr val="C00000"/>
                </a:solidFill>
                <a:latin typeface="Times New Roman" pitchFamily="18" charset="0"/>
                <a:cs typeface="Times New Roman" pitchFamily="18" charset="0"/>
              </a:rPr>
              <a:t> </a:t>
            </a:r>
            <a:endParaRPr lang="en-US" i="1" dirty="0">
              <a:solidFill>
                <a:srgbClr val="C00000"/>
              </a:solidFill>
              <a:latin typeface="Times New Roman" pitchFamily="18" charset="0"/>
              <a:cs typeface="Times New Roman" pitchFamily="18" charset="0"/>
            </a:endParaRPr>
          </a:p>
          <a:p>
            <a:r>
              <a:rPr lang="en-US" sz="1600" b="0" dirty="0">
                <a:latin typeface="Times New Roman" pitchFamily="18" charset="0"/>
                <a:cs typeface="Times New Roman" pitchFamily="18" charset="0"/>
              </a:rPr>
              <a:t>by </a:t>
            </a:r>
            <a:r>
              <a:rPr lang="en-US" sz="1600" b="0" dirty="0" smtClean="0">
                <a:latin typeface="Times New Roman" pitchFamily="18" charset="0"/>
                <a:cs typeface="Times New Roman" pitchFamily="18" charset="0"/>
              </a:rPr>
              <a:t>Carlos</a:t>
            </a:r>
            <a:r>
              <a:rPr lang="en-US" sz="1600" b="0" baseline="0" dirty="0" smtClean="0">
                <a:latin typeface="Times New Roman" pitchFamily="18" charset="0"/>
                <a:cs typeface="Times New Roman" pitchFamily="18" charset="0"/>
              </a:rPr>
              <a:t> E. Otero</a:t>
            </a:r>
            <a:endParaRPr lang="en-US" sz="1200" b="0" dirty="0">
              <a:latin typeface="Times New Roman" pitchFamily="18" charset="0"/>
              <a:cs typeface="Times New Roman" pitchFamily="18" charset="0"/>
            </a:endParaRPr>
          </a:p>
          <a:p>
            <a:endParaRPr lang="en-US" sz="1200" b="1" dirty="0">
              <a:latin typeface="Times New Roman" pitchFamily="18" charset="0"/>
              <a:cs typeface="Times New Roman" pitchFamily="18" charset="0"/>
            </a:endParaRPr>
          </a:p>
          <a:p>
            <a:r>
              <a:rPr lang="en-US" sz="1200" b="1" dirty="0">
                <a:latin typeface="Times New Roman" pitchFamily="18" charset="0"/>
                <a:cs typeface="Times New Roman" pitchFamily="18" charset="0"/>
              </a:rPr>
              <a:t>Slides copyright © </a:t>
            </a:r>
            <a:r>
              <a:rPr lang="en-US" sz="1200" b="1" dirty="0" smtClean="0">
                <a:latin typeface="Times New Roman" pitchFamily="18" charset="0"/>
                <a:cs typeface="Times New Roman" pitchFamily="18" charset="0"/>
              </a:rPr>
              <a:t>2012</a:t>
            </a:r>
            <a:r>
              <a:rPr lang="en-US" sz="1800" dirty="0" smtClean="0">
                <a:latin typeface="Times New Roman" pitchFamily="18" charset="0"/>
                <a:cs typeface="Times New Roman" pitchFamily="18" charset="0"/>
              </a:rPr>
              <a:t> </a:t>
            </a:r>
            <a:r>
              <a:rPr lang="en-US" sz="1200" b="1" dirty="0">
                <a:latin typeface="Times New Roman" pitchFamily="18" charset="0"/>
                <a:cs typeface="Times New Roman" pitchFamily="18" charset="0"/>
              </a:rPr>
              <a:t>by </a:t>
            </a:r>
            <a:r>
              <a:rPr lang="en-US" sz="1200" b="1" dirty="0" smtClean="0">
                <a:latin typeface="Times New Roman" pitchFamily="18" charset="0"/>
                <a:cs typeface="Times New Roman" pitchFamily="18" charset="0"/>
              </a:rPr>
              <a:t>Carlos E. Otero</a:t>
            </a:r>
            <a:endParaRPr lang="en-US" sz="1800" dirty="0">
              <a:latin typeface="Times New Roman" pitchFamily="18" charset="0"/>
              <a:cs typeface="Times New Roman" pitchFamily="18" charset="0"/>
            </a:endParaRPr>
          </a:p>
          <a:p>
            <a:endParaRPr lang="en-US" sz="1800" b="1" i="1" dirty="0">
              <a:solidFill>
                <a:schemeClr val="tx2"/>
              </a:solidFill>
              <a:latin typeface="Times New Roman" pitchFamily="18" charset="0"/>
              <a:cs typeface="Times New Roman" pitchFamily="18" charset="0"/>
            </a:endParaRPr>
          </a:p>
          <a:p>
            <a:r>
              <a:rPr lang="en-US" sz="1800" b="1" i="1" dirty="0">
                <a:solidFill>
                  <a:srgbClr val="C00000"/>
                </a:solidFill>
                <a:latin typeface="Times New Roman" pitchFamily="18" charset="0"/>
                <a:cs typeface="Times New Roman" pitchFamily="18" charset="0"/>
              </a:rPr>
              <a:t>For non-profit educational use only</a:t>
            </a:r>
            <a:endParaRPr lang="en-US" sz="1800" b="1" dirty="0">
              <a:solidFill>
                <a:srgbClr val="C00000"/>
              </a:solidFill>
              <a:latin typeface="Times New Roman" pitchFamily="18" charset="0"/>
              <a:cs typeface="Times New Roman" pitchFamily="18" charset="0"/>
            </a:endParaRPr>
          </a:p>
          <a:p>
            <a:endParaRPr lang="en-US" sz="1400" dirty="0">
              <a:latin typeface="Times New Roman" pitchFamily="18" charset="0"/>
              <a:cs typeface="Times New Roman" pitchFamily="18" charset="0"/>
            </a:endParaRPr>
          </a:p>
          <a:p>
            <a:r>
              <a:rPr lang="en-US" sz="1200" dirty="0">
                <a:latin typeface="Times New Roman" pitchFamily="18" charset="0"/>
                <a:cs typeface="Times New Roman" pitchFamily="18" charset="0"/>
              </a:rPr>
              <a:t>May be reproduced </a:t>
            </a:r>
            <a:r>
              <a:rPr lang="en-US" sz="1200" dirty="0" smtClean="0">
                <a:latin typeface="Times New Roman" pitchFamily="18" charset="0"/>
                <a:cs typeface="Times New Roman" pitchFamily="18" charset="0"/>
              </a:rPr>
              <a:t>only for </a:t>
            </a:r>
            <a:r>
              <a:rPr lang="en-US" sz="1200" dirty="0">
                <a:latin typeface="Times New Roman" pitchFamily="18" charset="0"/>
                <a:cs typeface="Times New Roman" pitchFamily="18" charset="0"/>
              </a:rPr>
              <a:t>student use </a:t>
            </a:r>
            <a:r>
              <a:rPr lang="en-US" sz="1200" dirty="0" smtClean="0">
                <a:latin typeface="Times New Roman" pitchFamily="18" charset="0"/>
                <a:cs typeface="Times New Roman" pitchFamily="18" charset="0"/>
              </a:rPr>
              <a:t>when </a:t>
            </a:r>
            <a:r>
              <a:rPr lang="en-US" sz="1200" dirty="0">
                <a:latin typeface="Times New Roman" pitchFamily="18" charset="0"/>
                <a:cs typeface="Times New Roman" pitchFamily="18" charset="0"/>
              </a:rPr>
              <a:t>used in conjunction with </a:t>
            </a:r>
            <a:r>
              <a:rPr lang="en-US" sz="1200" i="1" dirty="0">
                <a:latin typeface="Times New Roman" pitchFamily="18" charset="0"/>
                <a:cs typeface="Times New Roman" pitchFamily="18" charset="0"/>
              </a:rPr>
              <a:t>Software </a:t>
            </a:r>
            <a:r>
              <a:rPr lang="en-US" sz="1200" i="1" dirty="0" smtClean="0">
                <a:latin typeface="Times New Roman" pitchFamily="18" charset="0"/>
                <a:cs typeface="Times New Roman" pitchFamily="18" charset="0"/>
              </a:rPr>
              <a:t>Engineering Design: Theory and Practice. </a:t>
            </a:r>
            <a:r>
              <a:rPr lang="en-US" sz="1200" dirty="0">
                <a:latin typeface="Times New Roman" pitchFamily="18" charset="0"/>
                <a:cs typeface="Times New Roman" pitchFamily="18" charset="0"/>
              </a:rPr>
              <a:t>Any other reproduction or use is prohibited without the express written permission of the author.</a:t>
            </a:r>
          </a:p>
          <a:p>
            <a:endParaRPr lang="en-US" sz="1200" dirty="0">
              <a:latin typeface="Times New Roman" pitchFamily="18" charset="0"/>
              <a:cs typeface="Times New Roman" pitchFamily="18" charset="0"/>
            </a:endParaRPr>
          </a:p>
          <a:p>
            <a:r>
              <a:rPr lang="en-US" sz="1200" dirty="0">
                <a:latin typeface="Times New Roman" pitchFamily="18" charset="0"/>
                <a:cs typeface="Times New Roman" pitchFamily="18" charset="0"/>
              </a:rPr>
              <a:t>All copyright information </a:t>
            </a:r>
            <a:r>
              <a:rPr lang="en-US" sz="1200" dirty="0" smtClean="0">
                <a:latin typeface="Times New Roman" pitchFamily="18" charset="0"/>
                <a:cs typeface="Times New Roman" pitchFamily="18" charset="0"/>
              </a:rPr>
              <a:t>must appear </a:t>
            </a:r>
            <a:r>
              <a:rPr lang="en-US" sz="1200" dirty="0">
                <a:latin typeface="Times New Roman" pitchFamily="18" charset="0"/>
                <a:cs typeface="Times New Roman" pitchFamily="18" charset="0"/>
              </a:rPr>
              <a:t>if these slides are posted on a website for student use.</a:t>
            </a:r>
          </a:p>
        </p:txBody>
      </p:sp>
      <p:pic>
        <p:nvPicPr>
          <p:cNvPr id="10" name="Picture 1"/>
          <p:cNvPicPr>
            <a:picLocks noChangeAspect="1" noChangeArrowheads="1"/>
          </p:cNvPicPr>
          <p:nvPr userDrawn="1"/>
        </p:nvPicPr>
        <p:blipFill>
          <a:blip r:embed="rId2" cstate="print"/>
          <a:srcRect/>
          <a:stretch>
            <a:fillRect/>
          </a:stretch>
        </p:blipFill>
        <p:spPr bwMode="auto">
          <a:xfrm>
            <a:off x="7162800" y="3200400"/>
            <a:ext cx="762000" cy="1102469"/>
          </a:xfrm>
          <a:prstGeom prst="rect">
            <a:avLst/>
          </a:prstGeom>
          <a:noFill/>
          <a:ln w="9525">
            <a:noFill/>
            <a:miter lim="800000"/>
            <a:headEnd/>
            <a:tailEnd/>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457200" y="1371601"/>
            <a:ext cx="8229600" cy="4800599"/>
          </a:xfrm>
        </p:spPr>
        <p:txBody>
          <a:bodyPr/>
          <a:lstStyle>
            <a:lvl1pPr>
              <a:buFont typeface="Wingdings" pitchFamily="2" charset="2"/>
              <a:buChar char="Ø"/>
              <a:defRPr sz="2000"/>
            </a:lvl1pPr>
            <a:lvl2pPr>
              <a:buFont typeface="Wingdings" pitchFamily="2" charset="2"/>
              <a:buChar char="ü"/>
              <a:defRPr sz="1800"/>
            </a:lvl2pPr>
            <a:lvl3pPr>
              <a:buFont typeface="Wingdings" pitchFamily="2" charset="2"/>
              <a:buChar char="§"/>
              <a:defRPr sz="1600"/>
            </a:lvl3pPr>
            <a:lvl4pPr>
              <a:defRPr sz="14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5" name="Date Placeholder 3"/>
          <p:cNvSpPr>
            <a:spLocks noGrp="1"/>
          </p:cNvSpPr>
          <p:nvPr>
            <p:ph type="dt" sz="half" idx="10"/>
          </p:nvPr>
        </p:nvSpPr>
        <p:spPr>
          <a:xfrm>
            <a:off x="457200" y="6584950"/>
            <a:ext cx="990600" cy="273050"/>
          </a:xfrm>
          <a:prstGeom prst="rect">
            <a:avLst/>
          </a:prstGeom>
        </p:spPr>
        <p:txBody>
          <a:bodyPr/>
          <a:lstStyle>
            <a:lvl1pPr>
              <a:defRPr sz="1000" i="1">
                <a:latin typeface="Times New Roman" pitchFamily="18" charset="0"/>
                <a:cs typeface="Times New Roman" pitchFamily="18" charset="0"/>
              </a:defRPr>
            </a:lvl1pPr>
          </a:lstStyle>
          <a:p>
            <a:fld id="{F3FBCFF5-EE4F-4FFF-A0F1-127D95D6DEF9}" type="datetime1">
              <a:rPr lang="en-US" smtClean="0"/>
              <a:pPr/>
              <a:t>10/3/2012</a:t>
            </a:fld>
            <a:endParaRPr lang="en-US"/>
          </a:p>
        </p:txBody>
      </p:sp>
      <p:sp>
        <p:nvSpPr>
          <p:cNvPr id="16" name="Footer Placeholder 4"/>
          <p:cNvSpPr>
            <a:spLocks noGrp="1"/>
          </p:cNvSpPr>
          <p:nvPr>
            <p:ph type="ftr" sz="quarter" idx="11"/>
          </p:nvPr>
        </p:nvSpPr>
        <p:spPr>
          <a:xfrm>
            <a:off x="1447800" y="6584950"/>
            <a:ext cx="6096000" cy="273050"/>
          </a:xfrm>
          <a:prstGeom prst="rect">
            <a:avLst/>
          </a:prstGeom>
        </p:spPr>
        <p:txBody>
          <a:bodyPr/>
          <a:lstStyle>
            <a:lvl1pPr>
              <a:defRPr sz="1000">
                <a:solidFill>
                  <a:srgbClr val="000000"/>
                </a:solidFill>
                <a:latin typeface="Times New Roman" pitchFamily="18" charset="0"/>
                <a:cs typeface="Times New Roman" pitchFamily="18" charset="0"/>
              </a:defRPr>
            </a:lvl1pPr>
          </a:lstStyle>
          <a:p>
            <a:r>
              <a:rPr lang="en-US" dirty="0" smtClean="0"/>
              <a:t>Software Engineering Design: Theory and Practice</a:t>
            </a:r>
            <a:endParaRPr lang="en-US" dirty="0"/>
          </a:p>
        </p:txBody>
      </p:sp>
      <p:sp>
        <p:nvSpPr>
          <p:cNvPr id="17" name="Slide Number Placeholder 5"/>
          <p:cNvSpPr>
            <a:spLocks noGrp="1"/>
          </p:cNvSpPr>
          <p:nvPr>
            <p:ph type="sldNum" sz="quarter" idx="12"/>
          </p:nvPr>
        </p:nvSpPr>
        <p:spPr>
          <a:xfrm>
            <a:off x="7543800" y="6553200"/>
            <a:ext cx="1143000" cy="304800"/>
          </a:xfrm>
          <a:prstGeom prst="rect">
            <a:avLst/>
          </a:prstGeom>
        </p:spPr>
        <p:txBody>
          <a:bodyPr/>
          <a:lstStyle>
            <a:lvl1pPr>
              <a:defRPr sz="1000">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457200" y="6562078"/>
            <a:ext cx="990600" cy="304800"/>
          </a:xfrm>
          <a:prstGeom prst="rect">
            <a:avLst/>
          </a:prstGeom>
        </p:spPr>
        <p:txBody>
          <a:bodyPr/>
          <a:lstStyle/>
          <a:p>
            <a:fld id="{ED229BA3-A27B-42AB-9F31-42418016249D}" type="datetime1">
              <a:rPr lang="en-US" smtClean="0"/>
              <a:pPr/>
              <a:t>10/3/2012</a:t>
            </a:fld>
            <a:endParaRPr lang="en-US"/>
          </a:p>
        </p:txBody>
      </p:sp>
      <p:sp>
        <p:nvSpPr>
          <p:cNvPr id="5" name="Footer Placeholder 4"/>
          <p:cNvSpPr>
            <a:spLocks noGrp="1"/>
          </p:cNvSpPr>
          <p:nvPr>
            <p:ph type="ftr" sz="quarter" idx="11"/>
          </p:nvPr>
        </p:nvSpPr>
        <p:spPr>
          <a:xfrm>
            <a:off x="1447800" y="6562078"/>
            <a:ext cx="60960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7543800" y="6562078"/>
            <a:ext cx="11430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000"/>
            </a:lvl2pPr>
            <a:lvl3pPr>
              <a:defRPr sz="1800"/>
            </a:lvl3pPr>
            <a:lvl4pPr>
              <a:defRPr sz="1600"/>
            </a:lvl4pPr>
            <a:lvl5pPr>
              <a:defRPr sz="16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000"/>
            </a:lvl2pPr>
            <a:lvl3pPr>
              <a:defRPr sz="1800"/>
            </a:lvl3pPr>
            <a:lvl4pPr>
              <a:defRPr sz="1600"/>
            </a:lvl4pPr>
            <a:lvl5pPr>
              <a:defRPr sz="14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F0BB3435-0E9A-4626-BE17-A8762A108CF2}" type="datetime1">
              <a:rPr lang="en-US" smtClean="0"/>
              <a:pPr/>
              <a:t>10/3/2012</a:t>
            </a:fld>
            <a:endParaRPr lang="en-US"/>
          </a:p>
        </p:txBody>
      </p:sp>
      <p:sp>
        <p:nvSpPr>
          <p:cNvPr id="6" name="Footer Placeholder 5"/>
          <p:cNvSpPr>
            <a:spLocks noGrp="1"/>
          </p:cNvSpPr>
          <p:nvPr>
            <p:ph type="ftr" sz="quarter" idx="11"/>
          </p:nvPr>
        </p:nvSpPr>
        <p:spPr>
          <a:xfrm>
            <a:off x="32004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553200"/>
            <a:ext cx="2133600" cy="304800"/>
          </a:xfrm>
          <a:prstGeom prst="rect">
            <a:avLst/>
          </a:prstGeom>
        </p:spPr>
        <p:txBody>
          <a:bodyPr/>
          <a:lstStyle/>
          <a:p>
            <a:fld id="{A8E9BC6D-F3D4-4CAF-ACEC-494A57D202E4}" type="datetime1">
              <a:rPr lang="en-US" smtClean="0"/>
              <a:pPr/>
              <a:t>10/3/2012</a:t>
            </a:fld>
            <a:endParaRPr lang="en-US"/>
          </a:p>
        </p:txBody>
      </p:sp>
      <p:sp>
        <p:nvSpPr>
          <p:cNvPr id="8" name="Footer Placeholder 7"/>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9" name="Slide Number Placeholder 8"/>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553200"/>
            <a:ext cx="2133600" cy="304800"/>
          </a:xfrm>
          <a:prstGeom prst="rect">
            <a:avLst/>
          </a:prstGeom>
        </p:spPr>
        <p:txBody>
          <a:bodyPr/>
          <a:lstStyle/>
          <a:p>
            <a:fld id="{E15860A7-5D37-4EAC-8EFD-51F43FFA3B5E}" type="datetime1">
              <a:rPr lang="en-US" smtClean="0"/>
              <a:pPr/>
              <a:t>10/3/2012</a:t>
            </a:fld>
            <a:endParaRPr lang="en-US"/>
          </a:p>
        </p:txBody>
      </p:sp>
      <p:sp>
        <p:nvSpPr>
          <p:cNvPr id="4" name="Footer Placeholder 3"/>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5" name="Slide Number Placeholder 4"/>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553200"/>
            <a:ext cx="2133600" cy="304800"/>
          </a:xfrm>
          <a:prstGeom prst="rect">
            <a:avLst/>
          </a:prstGeom>
        </p:spPr>
        <p:txBody>
          <a:bodyPr/>
          <a:lstStyle/>
          <a:p>
            <a:fld id="{061ED6DB-E37C-45C5-85AA-C10B399F13E3}" type="datetime1">
              <a:rPr lang="en-US" smtClean="0"/>
              <a:pPr/>
              <a:t>10/3/2012</a:t>
            </a:fld>
            <a:endParaRPr lang="en-US"/>
          </a:p>
        </p:txBody>
      </p:sp>
      <p:sp>
        <p:nvSpPr>
          <p:cNvPr id="3" name="Footer Placeholder 2"/>
          <p:cNvSpPr>
            <a:spLocks noGrp="1"/>
          </p:cNvSpPr>
          <p:nvPr>
            <p:ph type="ftr" sz="quarter" idx="11"/>
          </p:nvPr>
        </p:nvSpPr>
        <p:spPr>
          <a:xfrm>
            <a:off x="3124200" y="6553200"/>
            <a:ext cx="2895600" cy="304800"/>
          </a:xfrm>
          <a:prstGeom prst="rect">
            <a:avLst/>
          </a:prstGeom>
        </p:spPr>
        <p:txBody>
          <a:bodyPr/>
          <a:lstStyle/>
          <a:p>
            <a:r>
              <a:rPr lang="en-US" dirty="0" smtClean="0"/>
              <a:t>Software Engineering Design: Theory and Practice</a:t>
            </a:r>
            <a:endParaRPr lang="en-US" dirty="0"/>
          </a:p>
        </p:txBody>
      </p:sp>
      <p:sp>
        <p:nvSpPr>
          <p:cNvPr id="4" name="Slide Number Placeholder 3"/>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DA6BCD18-5551-42D7-A5DD-C6871E4D3FB5}"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553200"/>
            <a:ext cx="2133600" cy="304800"/>
          </a:xfrm>
          <a:prstGeom prst="rect">
            <a:avLst/>
          </a:prstGeom>
        </p:spPr>
        <p:txBody>
          <a:bodyPr/>
          <a:lstStyle/>
          <a:p>
            <a:fld id="{25C7B514-375B-4C9F-AB19-638794D6AC42}" type="datetime1">
              <a:rPr lang="en-US" smtClean="0"/>
              <a:pPr/>
              <a:t>10/3/2012</a:t>
            </a:fld>
            <a:endParaRPr lang="en-US"/>
          </a:p>
        </p:txBody>
      </p:sp>
      <p:sp>
        <p:nvSpPr>
          <p:cNvPr id="6" name="Footer Placeholder 5"/>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7" name="Slide Number Placeholder 6"/>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41643C31-6BED-43CE-92EC-61FE9F1B16F6}" type="datetime1">
              <a:rPr lang="en-US" smtClean="0"/>
              <a:pPr/>
              <a:t>10/3/2012</a:t>
            </a:fld>
            <a:endParaRPr lang="en-US"/>
          </a:p>
        </p:txBody>
      </p:sp>
      <p:sp>
        <p:nvSpPr>
          <p:cNvPr id="5" name="Footer Placeholder 4"/>
          <p:cNvSpPr>
            <a:spLocks noGrp="1"/>
          </p:cNvSpPr>
          <p:nvPr>
            <p:ph type="ftr" sz="quarter" idx="11"/>
          </p:nvPr>
        </p:nvSpPr>
        <p:spPr>
          <a:xfrm>
            <a:off x="29718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553200"/>
            <a:ext cx="2133600" cy="304800"/>
          </a:xfrm>
          <a:prstGeom prst="rect">
            <a:avLst/>
          </a:prstGeom>
        </p:spPr>
        <p:txBody>
          <a:bodyPr/>
          <a:lstStyle/>
          <a:p>
            <a:fld id="{999D3834-0217-485F-B8FA-819EC68F0E18}" type="datetime1">
              <a:rPr lang="en-US" smtClean="0"/>
              <a:pPr/>
              <a:t>10/3/2012</a:t>
            </a:fld>
            <a:endParaRPr lang="en-US"/>
          </a:p>
        </p:txBody>
      </p:sp>
      <p:sp>
        <p:nvSpPr>
          <p:cNvPr id="5" name="Footer Placeholder 4"/>
          <p:cNvSpPr>
            <a:spLocks noGrp="1"/>
          </p:cNvSpPr>
          <p:nvPr>
            <p:ph type="ftr" sz="quarter" idx="11"/>
          </p:nvPr>
        </p:nvSpPr>
        <p:spPr>
          <a:xfrm>
            <a:off x="3048000" y="6553200"/>
            <a:ext cx="2895600" cy="304800"/>
          </a:xfrm>
          <a:prstGeom prst="rect">
            <a:avLst/>
          </a:prstGeom>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a:xfrm>
            <a:off x="6553200" y="6553200"/>
            <a:ext cx="2133600" cy="304800"/>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503238"/>
            <a:ext cx="8229600" cy="792162"/>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371600"/>
            <a:ext cx="8229600" cy="47545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9" name="Rounded Rectangle 8"/>
          <p:cNvSpPr/>
          <p:nvPr/>
        </p:nvSpPr>
        <p:spPr bwMode="auto">
          <a:xfrm>
            <a:off x="219722" y="228600"/>
            <a:ext cx="8686800" cy="6324600"/>
          </a:xfrm>
          <a:prstGeom prst="roundRect">
            <a:avLst/>
          </a:prstGeom>
          <a:noFill/>
          <a:ln w="19050" cap="flat" cmpd="sng" algn="ctr">
            <a:solidFill>
              <a:srgbClr val="000000"/>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12" name="Date Placeholder 3"/>
          <p:cNvSpPr>
            <a:spLocks noGrp="1"/>
          </p:cNvSpPr>
          <p:nvPr>
            <p:ph type="dt" sz="half" idx="2"/>
          </p:nvPr>
        </p:nvSpPr>
        <p:spPr>
          <a:xfrm>
            <a:off x="457200" y="6584950"/>
            <a:ext cx="990600" cy="273050"/>
          </a:xfrm>
          <a:prstGeom prst="rect">
            <a:avLst/>
          </a:prstGeom>
        </p:spPr>
        <p:txBody>
          <a:bodyPr/>
          <a:lstStyle>
            <a:lvl1pPr>
              <a:defRPr sz="1000" i="1">
                <a:solidFill>
                  <a:srgbClr val="333333"/>
                </a:solidFill>
                <a:latin typeface="Times New Roman" pitchFamily="18" charset="0"/>
                <a:cs typeface="Times New Roman" pitchFamily="18" charset="0"/>
              </a:defRPr>
            </a:lvl1pPr>
          </a:lstStyle>
          <a:p>
            <a:fld id="{714859E5-2B7A-4354-9302-A47E7090D679}" type="datetime1">
              <a:rPr lang="en-US" smtClean="0"/>
              <a:pPr/>
              <a:t>10/3/2012</a:t>
            </a:fld>
            <a:endParaRPr lang="en-US"/>
          </a:p>
        </p:txBody>
      </p:sp>
      <p:sp>
        <p:nvSpPr>
          <p:cNvPr id="13" name="Footer Placeholder 4"/>
          <p:cNvSpPr>
            <a:spLocks noGrp="1"/>
          </p:cNvSpPr>
          <p:nvPr>
            <p:ph type="ftr" sz="quarter" idx="3"/>
          </p:nvPr>
        </p:nvSpPr>
        <p:spPr>
          <a:xfrm>
            <a:off x="1447800" y="6584950"/>
            <a:ext cx="6096000" cy="273050"/>
          </a:xfrm>
          <a:prstGeom prst="rect">
            <a:avLst/>
          </a:prstGeom>
        </p:spPr>
        <p:txBody>
          <a:bodyPr/>
          <a:lstStyle>
            <a:lvl1pPr algn="ctr">
              <a:defRPr sz="1000" i="1">
                <a:solidFill>
                  <a:srgbClr val="333333"/>
                </a:solidFill>
                <a:latin typeface="Times New Roman" pitchFamily="18" charset="0"/>
                <a:cs typeface="Times New Roman" pitchFamily="18" charset="0"/>
              </a:defRPr>
            </a:lvl1pPr>
          </a:lstStyle>
          <a:p>
            <a:r>
              <a:rPr lang="en-US" smtClean="0"/>
              <a:t>Enterprise Software Architecture</a:t>
            </a:r>
            <a:endParaRPr lang="en-US" dirty="0"/>
          </a:p>
        </p:txBody>
      </p:sp>
      <p:sp>
        <p:nvSpPr>
          <p:cNvPr id="14" name="Slide Number Placeholder 5"/>
          <p:cNvSpPr>
            <a:spLocks noGrp="1"/>
          </p:cNvSpPr>
          <p:nvPr>
            <p:ph type="sldNum" sz="quarter" idx="4"/>
          </p:nvPr>
        </p:nvSpPr>
        <p:spPr>
          <a:xfrm>
            <a:off x="7543800" y="6553200"/>
            <a:ext cx="1143000" cy="304800"/>
          </a:xfrm>
          <a:prstGeom prst="rect">
            <a:avLst/>
          </a:prstGeom>
        </p:spPr>
        <p:txBody>
          <a:bodyPr/>
          <a:lstStyle>
            <a:lvl1pPr algn="r">
              <a:defRPr sz="1000" i="1">
                <a:solidFill>
                  <a:srgbClr val="333333"/>
                </a:solidFill>
                <a:latin typeface="Times New Roman" pitchFamily="18" charset="0"/>
                <a:cs typeface="Times New Roman" pitchFamily="18" charset="0"/>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ctr" defTabSz="914400" rtl="0" eaLnBrk="1" latinLnBrk="0" hangingPunct="1">
        <a:spcBef>
          <a:spcPct val="0"/>
        </a:spcBef>
        <a:buNone/>
        <a:defRPr sz="2400" b="1" kern="1200" cap="small" baseline="0">
          <a:solidFill>
            <a:schemeClr val="tx1"/>
          </a:solidFill>
          <a:latin typeface="Times New Roman" pitchFamily="18" charset="0"/>
          <a:ea typeface="+mj-ea"/>
          <a:cs typeface="Times New Roman" pitchFamily="18"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Times New Roman" pitchFamily="18" charset="0"/>
          <a:ea typeface="+mn-ea"/>
          <a:cs typeface="Times New Roman" pitchFamily="18" charset="0"/>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itchFamily="18" charset="0"/>
          <a:ea typeface="+mn-ea"/>
          <a:cs typeface="Times New Roman" pitchFamily="18" charset="0"/>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Times New Roman" pitchFamily="18" charset="0"/>
          <a:ea typeface="+mn-ea"/>
          <a:cs typeface="Times New Roman" pitchFamily="18" charset="0"/>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Times New Roman" pitchFamily="18" charset="0"/>
          <a:ea typeface="+mn-ea"/>
          <a:cs typeface="Times New Roman" pitchFamily="18" charset="0"/>
        </a:defRPr>
      </a:lvl4pPr>
      <a:lvl5pPr marL="2057400" indent="-228600" algn="l" defTabSz="914400" rtl="0" eaLnBrk="1" latinLnBrk="0" hangingPunct="1">
        <a:spcBef>
          <a:spcPct val="20000"/>
        </a:spcBef>
        <a:buFont typeface="Arial" pitchFamily="34" charset="0"/>
        <a:buChar char="»"/>
        <a:defRPr sz="1400" kern="1200">
          <a:solidFill>
            <a:schemeClr val="tx1"/>
          </a:solidFill>
          <a:latin typeface="Times New Roman" pitchFamily="18" charset="0"/>
          <a:ea typeface="+mn-ea"/>
          <a:cs typeface="Times New Roman" pitchFamily="18"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smtClean="0"/>
              <a:t>Chapter 2: Software Design with the</a:t>
            </a:r>
            <a:br>
              <a:rPr lang="en-US" dirty="0" smtClean="0"/>
            </a:br>
            <a:r>
              <a:rPr lang="en-US" dirty="0" smtClean="0"/>
              <a:t>Unified Modeling Language</a:t>
            </a:r>
            <a:br>
              <a:rPr lang="en-US" dirty="0" smtClean="0"/>
            </a:br>
            <a:endParaRPr lang="en-US" dirty="0"/>
          </a:p>
        </p:txBody>
      </p:sp>
      <p:sp>
        <p:nvSpPr>
          <p:cNvPr id="3" name="Subtitle 2"/>
          <p:cNvSpPr>
            <a:spLocks noGrp="1"/>
          </p:cNvSpPr>
          <p:nvPr>
            <p:ph type="subTitle" idx="1"/>
          </p:nvPr>
        </p:nvSpPr>
        <p:spPr/>
        <p:txBody>
          <a:bodyPr>
            <a:normAutofit/>
          </a:bodyPr>
          <a:lstStyle/>
          <a:p>
            <a:r>
              <a:rPr lang="en-US" dirty="0" smtClean="0"/>
              <a:t>Session III: UML Behavioral Modeling</a:t>
            </a:r>
            <a:endParaRPr lang="en-US" dirty="0"/>
          </a:p>
        </p:txBody>
      </p:sp>
      <p:sp>
        <p:nvSpPr>
          <p:cNvPr id="4" name="Date Placeholder 3"/>
          <p:cNvSpPr>
            <a:spLocks noGrp="1"/>
          </p:cNvSpPr>
          <p:nvPr>
            <p:ph type="dt" sz="half" idx="10"/>
          </p:nvPr>
        </p:nvSpPr>
        <p:spPr/>
        <p:txBody>
          <a:bodyPr/>
          <a:lstStyle/>
          <a:p>
            <a:fld id="{EFE05638-2204-47C5-8D02-0990D6B01040}" type="datetime1">
              <a:rPr lang="en-US" smtClean="0"/>
              <a:pPr/>
              <a:t>10/3/2012</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US" dirty="0" smtClean="0"/>
              <a:t>Software Engineering Design: Theory and Practice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Session’s Agenda</a:t>
            </a:r>
            <a:endParaRPr lang="en-US" dirty="0"/>
          </a:p>
        </p:txBody>
      </p:sp>
      <p:sp>
        <p:nvSpPr>
          <p:cNvPr id="3" name="Content Placeholder 2"/>
          <p:cNvSpPr>
            <a:spLocks noGrp="1"/>
          </p:cNvSpPr>
          <p:nvPr>
            <p:ph idx="1"/>
          </p:nvPr>
        </p:nvSpPr>
        <p:spPr>
          <a:xfrm>
            <a:off x="457200" y="1371601"/>
            <a:ext cx="8229600" cy="4571999"/>
          </a:xfrm>
        </p:spPr>
        <p:txBody>
          <a:bodyPr>
            <a:normAutofit fontScale="92500" lnSpcReduction="10000"/>
          </a:bodyPr>
          <a:lstStyle/>
          <a:p>
            <a:r>
              <a:rPr lang="en-US" dirty="0" smtClean="0"/>
              <a:t>UML behavioral modeling</a:t>
            </a:r>
          </a:p>
          <a:p>
            <a:pPr lvl="1"/>
            <a:r>
              <a:rPr lang="en-US" dirty="0" smtClean="0"/>
              <a:t>What is behavioral modeling?</a:t>
            </a:r>
          </a:p>
          <a:p>
            <a:pPr lvl="1"/>
            <a:r>
              <a:rPr lang="en-US" dirty="0" smtClean="0"/>
              <a:t>Why is it important?</a:t>
            </a:r>
          </a:p>
          <a:p>
            <a:pPr lvl="1">
              <a:buNone/>
            </a:pPr>
            <a:endParaRPr lang="en-US" dirty="0" smtClean="0"/>
          </a:p>
          <a:p>
            <a:r>
              <a:rPr lang="en-US" dirty="0" smtClean="0"/>
              <a:t>Use case diagrams</a:t>
            </a:r>
          </a:p>
          <a:p>
            <a:pPr lvl="1"/>
            <a:r>
              <a:rPr lang="en-US" dirty="0" smtClean="0"/>
              <a:t>Actors </a:t>
            </a:r>
          </a:p>
          <a:p>
            <a:pPr lvl="1"/>
            <a:r>
              <a:rPr lang="en-US" dirty="0" smtClean="0"/>
              <a:t>System boundary</a:t>
            </a:r>
          </a:p>
          <a:p>
            <a:pPr lvl="1"/>
            <a:r>
              <a:rPr lang="en-US" dirty="0" smtClean="0"/>
              <a:t>Common relationships</a:t>
            </a:r>
          </a:p>
          <a:p>
            <a:pPr lvl="1"/>
            <a:endParaRPr lang="en-US" dirty="0" smtClean="0"/>
          </a:p>
          <a:p>
            <a:r>
              <a:rPr lang="en-US" dirty="0" smtClean="0"/>
              <a:t>Interaction diagrams</a:t>
            </a:r>
          </a:p>
          <a:p>
            <a:pPr lvl="1"/>
            <a:r>
              <a:rPr lang="en-US" dirty="0" smtClean="0"/>
              <a:t>Communication diagrams</a:t>
            </a:r>
          </a:p>
          <a:p>
            <a:pPr lvl="1"/>
            <a:r>
              <a:rPr lang="en-US" dirty="0" smtClean="0"/>
              <a:t>Sequence diagrams</a:t>
            </a:r>
          </a:p>
          <a:p>
            <a:pPr lvl="1"/>
            <a:r>
              <a:rPr lang="en-US" dirty="0" smtClean="0"/>
              <a:t>Concurrency modeling</a:t>
            </a:r>
          </a:p>
          <a:p>
            <a:pPr lvl="1"/>
            <a:endParaRPr lang="en-US" dirty="0" smtClean="0"/>
          </a:p>
          <a:p>
            <a:r>
              <a:rPr lang="en-US" dirty="0" smtClean="0"/>
              <a:t>Summary and conclusion of UML coverage</a:t>
            </a:r>
          </a:p>
          <a:p>
            <a:pPr lvl="1">
              <a:buNone/>
            </a:pPr>
            <a:endParaRPr lang="en-US" dirty="0" smtClean="0"/>
          </a:p>
          <a:p>
            <a:pPr>
              <a:buNone/>
            </a:pPr>
            <a:endParaRPr lang="en-US" dirty="0" smtClean="0"/>
          </a:p>
          <a:p>
            <a:endParaRPr lang="en-US" dirty="0" smtClean="0"/>
          </a:p>
          <a:p>
            <a:pPr lvl="1">
              <a:buNone/>
            </a:pPr>
            <a:endParaRPr lang="en-US" dirty="0" smtClean="0"/>
          </a:p>
          <a:p>
            <a:pPr>
              <a:buNone/>
            </a:pPr>
            <a:endParaRPr lang="en-US" dirty="0" smtClean="0"/>
          </a:p>
          <a:p>
            <a:pPr lvl="1"/>
            <a:endParaRPr lang="en-US" dirty="0" smtClean="0"/>
          </a:p>
        </p:txBody>
      </p:sp>
      <p:sp>
        <p:nvSpPr>
          <p:cNvPr id="4" name="Date Placeholder 3"/>
          <p:cNvSpPr>
            <a:spLocks noGrp="1"/>
          </p:cNvSpPr>
          <p:nvPr>
            <p:ph type="dt" sz="half" idx="10"/>
          </p:nvPr>
        </p:nvSpPr>
        <p:spPr/>
        <p:txBody>
          <a:bodyPr/>
          <a:lstStyle/>
          <a:p>
            <a:fld id="{3F2E7354-941D-4A10-A419-5D3E5FF7573C}" type="datetime1">
              <a:rPr lang="en-US" smtClean="0"/>
              <a:pPr/>
              <a:t>10/3/2012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a:t>
            </a:r>
            <a:endParaRPr lang="en-US" dirty="0"/>
          </a:p>
        </p:txBody>
      </p:sp>
      <p:sp>
        <p:nvSpPr>
          <p:cNvPr id="3" name="Content Placeholder 2"/>
          <p:cNvSpPr>
            <a:spLocks noGrp="1"/>
          </p:cNvSpPr>
          <p:nvPr>
            <p:ph idx="1"/>
          </p:nvPr>
        </p:nvSpPr>
        <p:spPr/>
        <p:txBody>
          <a:bodyPr>
            <a:normAutofit fontScale="85000" lnSpcReduction="20000"/>
          </a:bodyPr>
          <a:lstStyle/>
          <a:p>
            <a:r>
              <a:rPr lang="en-US" dirty="0" smtClean="0"/>
              <a:t>In the previous session, we presented structural modeling and made a case for how it is essential to evaluate, characterize, and visualize the structural design of software systems from various perspective.  Specifically, we presented:</a:t>
            </a:r>
          </a:p>
          <a:p>
            <a:pPr lvl="1"/>
            <a:r>
              <a:rPr lang="en-US" dirty="0" smtClean="0"/>
              <a:t>Logical structural designs</a:t>
            </a:r>
          </a:p>
          <a:p>
            <a:pPr lvl="2"/>
            <a:r>
              <a:rPr lang="en-US" dirty="0" smtClean="0"/>
              <a:t>At different levels of abstraction</a:t>
            </a:r>
          </a:p>
          <a:p>
            <a:pPr lvl="1"/>
            <a:r>
              <a:rPr lang="en-US" dirty="0" smtClean="0"/>
              <a:t>Physical structural designs</a:t>
            </a:r>
          </a:p>
          <a:p>
            <a:pPr lvl="1"/>
            <a:endParaRPr lang="en-US" dirty="0" smtClean="0"/>
          </a:p>
          <a:p>
            <a:r>
              <a:rPr lang="en-US" dirty="0" smtClean="0"/>
              <a:t>We also presented (very vaguely) the concept of </a:t>
            </a:r>
            <a:r>
              <a:rPr lang="en-US" b="1" dirty="0" smtClean="0"/>
              <a:t>Quality </a:t>
            </a:r>
            <a:r>
              <a:rPr lang="en-US" dirty="0" smtClean="0"/>
              <a:t>and discussed how structural modeling can be used to evaluate and access quality in terms of some quality goals, such as </a:t>
            </a:r>
            <a:r>
              <a:rPr lang="en-US" i="1" dirty="0" smtClean="0"/>
              <a:t>reusability</a:t>
            </a:r>
            <a:r>
              <a:rPr lang="en-US" dirty="0" smtClean="0"/>
              <a:t> and </a:t>
            </a:r>
            <a:r>
              <a:rPr lang="en-US" i="1" dirty="0" smtClean="0"/>
              <a:t>maintainability</a:t>
            </a:r>
            <a:r>
              <a:rPr lang="en-US" dirty="0" smtClean="0"/>
              <a:t>.  </a:t>
            </a:r>
          </a:p>
          <a:p>
            <a:endParaRPr lang="en-US" dirty="0" smtClean="0"/>
          </a:p>
          <a:p>
            <a:r>
              <a:rPr lang="en-US" dirty="0" smtClean="0"/>
              <a:t>Although structural designs work well for evaluating some quality attributes of systems, they are inadequate for others, such as </a:t>
            </a:r>
            <a:r>
              <a:rPr lang="en-US" i="1" dirty="0" smtClean="0"/>
              <a:t>performance</a:t>
            </a:r>
            <a:r>
              <a:rPr lang="en-US" dirty="0" smtClean="0"/>
              <a:t>.  </a:t>
            </a:r>
          </a:p>
          <a:p>
            <a:pPr lvl="1"/>
            <a:r>
              <a:rPr lang="en-US" dirty="0" smtClean="0"/>
              <a:t>Structural designs also provide poor techniques for evaluating the dynamic aspects and interactions of systems. </a:t>
            </a:r>
          </a:p>
          <a:p>
            <a:endParaRPr lang="en-US" dirty="0" smtClean="0"/>
          </a:p>
          <a:p>
            <a:r>
              <a:rPr lang="en-US" dirty="0" smtClean="0"/>
              <a:t>UML provides several diagrams to model and reason about the dynamic aspects and of systems.</a:t>
            </a:r>
          </a:p>
          <a:p>
            <a:pPr lvl="1"/>
            <a:r>
              <a:rPr lang="en-US" dirty="0" smtClean="0"/>
              <a:t>These can be used to model almost any behavioral aspect of modern software systems</a:t>
            </a:r>
          </a:p>
          <a:p>
            <a:pPr lvl="1"/>
            <a:r>
              <a:rPr lang="en-US" dirty="0" smtClean="0"/>
              <a:t>They are used in many practical development projects.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a:t>
            </a:r>
            <a:endParaRPr lang="en-US" dirty="0"/>
          </a:p>
        </p:txBody>
      </p:sp>
      <p:sp>
        <p:nvSpPr>
          <p:cNvPr id="3" name="Content Placeholder 2"/>
          <p:cNvSpPr>
            <a:spLocks noGrp="1"/>
          </p:cNvSpPr>
          <p:nvPr>
            <p:ph idx="1"/>
          </p:nvPr>
        </p:nvSpPr>
        <p:spPr>
          <a:xfrm>
            <a:off x="457200" y="1371601"/>
            <a:ext cx="8229600" cy="4419599"/>
          </a:xfrm>
        </p:spPr>
        <p:txBody>
          <a:bodyPr>
            <a:normAutofit fontScale="85000" lnSpcReduction="20000"/>
          </a:bodyPr>
          <a:lstStyle/>
          <a:p>
            <a:r>
              <a:rPr lang="en-US" dirty="0" smtClean="0"/>
              <a:t>From previous sessions, we learned that the most common UML</a:t>
            </a:r>
            <a:r>
              <a:rPr lang="en-US" i="1" dirty="0" smtClean="0"/>
              <a:t> behavioral diagrams </a:t>
            </a:r>
            <a:r>
              <a:rPr lang="en-US" dirty="0" smtClean="0"/>
              <a:t>include:</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Other behavioral diagrams include:</a:t>
            </a:r>
          </a:p>
          <a:p>
            <a:pPr lvl="1"/>
            <a:r>
              <a:rPr lang="en-US" dirty="0" smtClean="0"/>
              <a:t>Timing diagram</a:t>
            </a:r>
          </a:p>
          <a:p>
            <a:pPr lvl="1"/>
            <a:r>
              <a:rPr lang="en-US" dirty="0" smtClean="0"/>
              <a:t>Interaction overview diagram</a:t>
            </a:r>
          </a:p>
          <a:p>
            <a:endParaRPr lang="en-US" dirty="0" smtClean="0"/>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dirty="0"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graphicFrame>
        <p:nvGraphicFramePr>
          <p:cNvPr id="7" name="Table 6"/>
          <p:cNvGraphicFramePr>
            <a:graphicFrameLocks noGrp="1"/>
          </p:cNvGraphicFramePr>
          <p:nvPr/>
        </p:nvGraphicFramePr>
        <p:xfrm>
          <a:off x="685800" y="2057400"/>
          <a:ext cx="7848600" cy="2407920"/>
        </p:xfrm>
        <a:graphic>
          <a:graphicData uri="http://schemas.openxmlformats.org/drawingml/2006/table">
            <a:tbl>
              <a:tblPr firstRow="1" bandRow="1">
                <a:tableStyleId>{5C22544A-7EE6-4342-B048-85BDC9FD1C3A}</a:tableStyleId>
              </a:tblPr>
              <a:tblGrid>
                <a:gridCol w="1554178"/>
                <a:gridCol w="6294422"/>
              </a:tblGrid>
              <a:tr h="209550">
                <a:tc>
                  <a:txBody>
                    <a:bodyPr/>
                    <a:lstStyle/>
                    <a:p>
                      <a:r>
                        <a:rPr lang="en-US" sz="1200" dirty="0" smtClean="0"/>
                        <a:t>Behavioral Diagram</a:t>
                      </a:r>
                      <a:endParaRPr lang="en-US" sz="1200" dirty="0"/>
                    </a:p>
                  </a:txBody>
                  <a:tcPr>
                    <a:solidFill>
                      <a:srgbClr val="C00000"/>
                    </a:solidFill>
                  </a:tcPr>
                </a:tc>
                <a:tc>
                  <a:txBody>
                    <a:bodyPr/>
                    <a:lstStyle/>
                    <a:p>
                      <a:r>
                        <a:rPr lang="en-US" sz="1200" dirty="0" smtClean="0"/>
                        <a:t>Description</a:t>
                      </a:r>
                      <a:endParaRPr lang="en-US" sz="1200" dirty="0"/>
                    </a:p>
                  </a:txBody>
                  <a:tcPr>
                    <a:solidFill>
                      <a:srgbClr val="C00000"/>
                    </a:solidFill>
                  </a:tcPr>
                </a:tc>
              </a:tr>
              <a:tr h="209550">
                <a:tc>
                  <a:txBody>
                    <a:bodyPr/>
                    <a:lstStyle/>
                    <a:p>
                      <a:r>
                        <a:rPr lang="en-US" sz="1100" dirty="0" smtClean="0"/>
                        <a:t>Use Case Diagram</a:t>
                      </a:r>
                      <a:endParaRPr lang="en-US" sz="1100" dirty="0"/>
                    </a:p>
                  </a:txBody>
                  <a:tcPr/>
                </a:tc>
                <a:tc>
                  <a:txBody>
                    <a:bodyPr/>
                    <a:lstStyle/>
                    <a:p>
                      <a:r>
                        <a:rPr lang="en-US" sz="1100" dirty="0" smtClean="0"/>
                        <a:t>Used to capture, specify, and visualize required system behavior .</a:t>
                      </a:r>
                      <a:endParaRPr lang="en-US" sz="1100" dirty="0"/>
                    </a:p>
                  </a:txBody>
                  <a:tcPr/>
                </a:tc>
              </a:tr>
              <a:tr h="209550">
                <a:tc>
                  <a:txBody>
                    <a:bodyPr/>
                    <a:lstStyle/>
                    <a:p>
                      <a:r>
                        <a:rPr lang="en-US" sz="1100" dirty="0" smtClean="0"/>
                        <a:t>Sequence Diagram</a:t>
                      </a:r>
                      <a:endParaRPr lang="en-US" sz="11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100" dirty="0" smtClean="0"/>
                        <a:t>Used to capture, specify, and visualize system interactions with emphasis on the time-order sequence of messages exchanged.</a:t>
                      </a:r>
                      <a:endParaRPr lang="en-US" sz="1100" dirty="0"/>
                    </a:p>
                  </a:txBody>
                  <a:tcPr/>
                </a:tc>
              </a:tr>
              <a:tr h="209550">
                <a:tc>
                  <a:txBody>
                    <a:bodyPr/>
                    <a:lstStyle/>
                    <a:p>
                      <a:r>
                        <a:rPr lang="en-US" sz="1100" dirty="0" smtClean="0"/>
                        <a:t>Communication Diagram</a:t>
                      </a:r>
                      <a:endParaRPr lang="en-US" sz="1100" dirty="0"/>
                    </a:p>
                  </a:txBody>
                  <a:tcPr/>
                </a:tc>
                <a:tc>
                  <a:txBody>
                    <a:bodyPr/>
                    <a:lstStyle/>
                    <a:p>
                      <a:r>
                        <a:rPr lang="en-US" sz="1100" dirty="0" smtClean="0"/>
                        <a:t>Used to capture, specify, and visualize system interactions with emphasis on the structural order of entities participating</a:t>
                      </a:r>
                      <a:r>
                        <a:rPr lang="en-US" sz="1100" baseline="0" dirty="0" smtClean="0"/>
                        <a:t> in the message exchange.</a:t>
                      </a:r>
                      <a:endParaRPr lang="en-US" sz="1100" dirty="0"/>
                    </a:p>
                  </a:txBody>
                  <a:tcPr/>
                </a:tc>
              </a:tr>
              <a:tr h="209550">
                <a:tc>
                  <a:txBody>
                    <a:bodyPr/>
                    <a:lstStyle/>
                    <a:p>
                      <a:r>
                        <a:rPr lang="en-US" sz="1100" dirty="0" smtClean="0"/>
                        <a:t>State Machine Diagram</a:t>
                      </a:r>
                      <a:endParaRPr lang="en-US" sz="1100" dirty="0"/>
                    </a:p>
                  </a:txBody>
                  <a:tcPr/>
                </a:tc>
                <a:tc>
                  <a:txBody>
                    <a:bodyPr/>
                    <a:lstStyle/>
                    <a:p>
                      <a:r>
                        <a:rPr lang="en-US" sz="1100" dirty="0" smtClean="0"/>
                        <a:t>Used to capture, specify, and visualize system behavior</a:t>
                      </a:r>
                      <a:r>
                        <a:rPr lang="en-US" sz="1100" baseline="0" dirty="0" smtClean="0"/>
                        <a:t> as a set of discrete states and the transitions between them.</a:t>
                      </a:r>
                      <a:endParaRPr lang="en-US" sz="1100" dirty="0"/>
                    </a:p>
                  </a:txBody>
                  <a:tcPr/>
                </a:tc>
              </a:tr>
              <a:tr h="209550">
                <a:tc>
                  <a:txBody>
                    <a:bodyPr/>
                    <a:lstStyle/>
                    <a:p>
                      <a:r>
                        <a:rPr lang="en-US" sz="1100" dirty="0" smtClean="0"/>
                        <a:t>Activity Diagram</a:t>
                      </a:r>
                      <a:endParaRPr lang="en-US" sz="1100" dirty="0"/>
                    </a:p>
                  </a:txBody>
                  <a:tcPr/>
                </a:tc>
                <a:tc>
                  <a:txBody>
                    <a:bodyPr/>
                    <a:lstStyle/>
                    <a:p>
                      <a:r>
                        <a:rPr lang="en-US" sz="1100" dirty="0" smtClean="0"/>
                        <a:t>Used to capture, specify, and visualize system behavior;</a:t>
                      </a:r>
                      <a:r>
                        <a:rPr lang="en-US" sz="1100" baseline="0" dirty="0" smtClean="0"/>
                        <a:t> provide mechanisms for modeling that includes conditional statements, repetition, concurrency, and parallel execution and thus can be used at many different levels of abstraction, from modeling business work flows to code.</a:t>
                      </a:r>
                      <a:endParaRPr lang="en-US" sz="1100" dirty="0"/>
                    </a:p>
                  </a:txBody>
                  <a:tcPr/>
                </a:tc>
              </a:tr>
            </a:tbl>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Use Case Diagram</a:t>
            </a:r>
            <a:endParaRPr lang="en-US" dirty="0"/>
          </a:p>
        </p:txBody>
      </p:sp>
      <p:sp>
        <p:nvSpPr>
          <p:cNvPr id="3" name="Content Placeholder 2"/>
          <p:cNvSpPr>
            <a:spLocks noGrp="1"/>
          </p:cNvSpPr>
          <p:nvPr>
            <p:ph idx="1"/>
          </p:nvPr>
        </p:nvSpPr>
        <p:spPr>
          <a:xfrm>
            <a:off x="457200" y="1371601"/>
            <a:ext cx="8229600" cy="4952999"/>
          </a:xfrm>
        </p:spPr>
        <p:txBody>
          <a:bodyPr>
            <a:normAutofit fontScale="92500" lnSpcReduction="20000"/>
          </a:bodyPr>
          <a:lstStyle/>
          <a:p>
            <a:r>
              <a:rPr lang="en-US" dirty="0" smtClean="0"/>
              <a:t>Use case diagram</a:t>
            </a:r>
          </a:p>
          <a:p>
            <a:pPr lvl="1"/>
            <a:r>
              <a:rPr lang="en-US" dirty="0" smtClean="0"/>
              <a:t>Behavioral diagram used to capture, specify, and visualize required system behavior.</a:t>
            </a:r>
          </a:p>
          <a:p>
            <a:pPr lvl="2"/>
            <a:r>
              <a:rPr lang="en-US" dirty="0" smtClean="0"/>
              <a:t>Required system behavior are just requirements!</a:t>
            </a:r>
          </a:p>
          <a:p>
            <a:pPr lvl="1"/>
            <a:r>
              <a:rPr lang="en-US" dirty="0" smtClean="0"/>
              <a:t>The main elements of use case diagrams are </a:t>
            </a:r>
            <a:r>
              <a:rPr lang="en-US" i="1" dirty="0" smtClean="0"/>
              <a:t>actors</a:t>
            </a:r>
            <a:r>
              <a:rPr lang="en-US" dirty="0" smtClean="0"/>
              <a:t>, </a:t>
            </a:r>
            <a:r>
              <a:rPr lang="en-US" i="1" dirty="0" smtClean="0"/>
              <a:t>use cases</a:t>
            </a:r>
            <a:r>
              <a:rPr lang="en-US" dirty="0" smtClean="0"/>
              <a:t>, and the </a:t>
            </a:r>
            <a:r>
              <a:rPr lang="en-US" i="1" dirty="0" smtClean="0"/>
              <a:t>relationships</a:t>
            </a:r>
            <a:r>
              <a:rPr lang="en-US" dirty="0" smtClean="0"/>
              <a:t> connecting them together.</a:t>
            </a:r>
          </a:p>
          <a:p>
            <a:pPr lvl="1"/>
            <a:endParaRPr lang="en-US" dirty="0" smtClean="0"/>
          </a:p>
          <a:p>
            <a:r>
              <a:rPr lang="en-US" dirty="0" smtClean="0"/>
              <a:t>Actors are entities used to model users or other systems that interact with the system being modeled (i.e., the subject).  Examples include:</a:t>
            </a:r>
          </a:p>
          <a:p>
            <a:pPr lvl="1"/>
            <a:r>
              <a:rPr lang="en-US" dirty="0" smtClean="0"/>
              <a:t>Operators</a:t>
            </a:r>
          </a:p>
          <a:p>
            <a:pPr lvl="1"/>
            <a:r>
              <a:rPr lang="en-US" dirty="0" smtClean="0"/>
              <a:t>Sensors</a:t>
            </a:r>
          </a:p>
          <a:p>
            <a:pPr lvl="1"/>
            <a:r>
              <a:rPr lang="en-US" dirty="0" smtClean="0"/>
              <a:t>Client computers</a:t>
            </a:r>
          </a:p>
          <a:p>
            <a:pPr lvl="1"/>
            <a:endParaRPr lang="en-US" dirty="0" smtClean="0"/>
          </a:p>
          <a:p>
            <a:r>
              <a:rPr lang="en-US" dirty="0" smtClean="0"/>
              <a:t>Use cases are entities used in use case diagrams to specify the required behavior of a system.</a:t>
            </a:r>
          </a:p>
          <a:p>
            <a:pPr lvl="1"/>
            <a:r>
              <a:rPr lang="en-US" dirty="0" smtClean="0"/>
              <a:t>They provide the means to capture, model, and visualize the systems’ required behavior.</a:t>
            </a:r>
          </a:p>
          <a:p>
            <a:pPr lvl="1"/>
            <a:r>
              <a:rPr lang="en-US" dirty="0" smtClean="0"/>
              <a:t>They do this without any knowledge of programming technology, so that different stakeholders with different backgrounds can reason about the system.</a:t>
            </a:r>
          </a:p>
          <a:p>
            <a:pPr lvl="1"/>
            <a:endParaRPr lang="en-US" dirty="0" smtClean="0"/>
          </a:p>
          <a:p>
            <a:pPr lvl="1"/>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Use Case Diagram</a:t>
            </a:r>
            <a:endParaRPr lang="en-US" dirty="0"/>
          </a:p>
        </p:txBody>
      </p:sp>
      <p:sp>
        <p:nvSpPr>
          <p:cNvPr id="3" name="Content Placeholder 2"/>
          <p:cNvSpPr>
            <a:spLocks noGrp="1"/>
          </p:cNvSpPr>
          <p:nvPr>
            <p:ph idx="1"/>
          </p:nvPr>
        </p:nvSpPr>
        <p:spPr>
          <a:xfrm>
            <a:off x="457200" y="1371601"/>
            <a:ext cx="8229600" cy="533399"/>
          </a:xfrm>
        </p:spPr>
        <p:txBody>
          <a:bodyPr/>
          <a:lstStyle/>
          <a:p>
            <a:r>
              <a:rPr lang="en-US" dirty="0" smtClean="0"/>
              <a:t>Common UML relationships applied in use case diagrams.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grpSp>
        <p:nvGrpSpPr>
          <p:cNvPr id="31" name="Group 30"/>
          <p:cNvGrpSpPr/>
          <p:nvPr/>
        </p:nvGrpSpPr>
        <p:grpSpPr>
          <a:xfrm>
            <a:off x="609600" y="2107049"/>
            <a:ext cx="8229600" cy="3988951"/>
            <a:chOff x="609600" y="2107049"/>
            <a:chExt cx="8229600" cy="3988951"/>
          </a:xfrm>
        </p:grpSpPr>
        <p:grpSp>
          <p:nvGrpSpPr>
            <p:cNvPr id="25" name="Group 24"/>
            <p:cNvGrpSpPr/>
            <p:nvPr/>
          </p:nvGrpSpPr>
          <p:grpSpPr>
            <a:xfrm>
              <a:off x="609600" y="2107049"/>
              <a:ext cx="8229600" cy="3988951"/>
              <a:chOff x="609600" y="2219980"/>
              <a:chExt cx="8229600" cy="3988951"/>
            </a:xfrm>
          </p:grpSpPr>
          <p:grpSp>
            <p:nvGrpSpPr>
              <p:cNvPr id="21" name="Group 20"/>
              <p:cNvGrpSpPr/>
              <p:nvPr/>
            </p:nvGrpSpPr>
            <p:grpSpPr>
              <a:xfrm>
                <a:off x="609600" y="2219980"/>
                <a:ext cx="8229600" cy="3163907"/>
                <a:chOff x="533400" y="2362200"/>
                <a:chExt cx="8229600" cy="3163907"/>
              </a:xfrm>
            </p:grpSpPr>
            <p:pic>
              <p:nvPicPr>
                <p:cNvPr id="1026" name="Picture 2"/>
                <p:cNvPicPr>
                  <a:picLocks noChangeAspect="1" noChangeArrowheads="1"/>
                </p:cNvPicPr>
                <p:nvPr/>
              </p:nvPicPr>
              <p:blipFill>
                <a:blip r:embed="rId2" cstate="print"/>
                <a:srcRect/>
                <a:stretch>
                  <a:fillRect/>
                </a:stretch>
              </p:blipFill>
              <p:spPr bwMode="auto">
                <a:xfrm>
                  <a:off x="2667000" y="2514600"/>
                  <a:ext cx="3457575" cy="2647950"/>
                </a:xfrm>
                <a:prstGeom prst="rect">
                  <a:avLst/>
                </a:prstGeom>
                <a:noFill/>
                <a:ln w="9525">
                  <a:noFill/>
                  <a:miter lim="800000"/>
                  <a:headEnd/>
                  <a:tailEnd/>
                </a:ln>
                <a:effectLst/>
              </p:spPr>
            </p:pic>
            <p:sp>
              <p:nvSpPr>
                <p:cNvPr id="9" name="Freeform 8"/>
                <p:cNvSpPr/>
                <p:nvPr/>
              </p:nvSpPr>
              <p:spPr>
                <a:xfrm rot="6795077">
                  <a:off x="2471737" y="3583407"/>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1676400" y="2514600"/>
                  <a:ext cx="13716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Named actor</a:t>
                  </a:r>
                  <a:endParaRPr lang="en-US" sz="1400" b="1" dirty="0">
                    <a:solidFill>
                      <a:srgbClr val="C00000"/>
                    </a:solidFill>
                    <a:latin typeface="Bradley Hand ITC" pitchFamily="66" charset="0"/>
                  </a:endParaRPr>
                </a:p>
              </p:txBody>
            </p:sp>
            <p:sp>
              <p:nvSpPr>
                <p:cNvPr id="12" name="Freeform 11"/>
                <p:cNvSpPr/>
                <p:nvPr/>
              </p:nvSpPr>
              <p:spPr>
                <a:xfrm rot="10800000">
                  <a:off x="2590800" y="2819400"/>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181600" y="2362200"/>
                  <a:ext cx="3505200" cy="523220"/>
                </a:xfrm>
                <a:prstGeom prst="rect">
                  <a:avLst/>
                </a:prstGeom>
                <a:noFill/>
              </p:spPr>
              <p:txBody>
                <a:bodyPr wrap="square" rtlCol="0">
                  <a:spAutoFit/>
                </a:bodyPr>
                <a:lstStyle/>
                <a:p>
                  <a:r>
                    <a:rPr lang="en-US" sz="1400" b="1" dirty="0" smtClean="0">
                      <a:solidFill>
                        <a:srgbClr val="C00000"/>
                      </a:solidFill>
                      <a:latin typeface="Bradley Hand ITC" pitchFamily="66" charset="0"/>
                    </a:rPr>
                    <a:t>Actor and use case communicate, for example, actor executes use case.</a:t>
                  </a:r>
                  <a:endParaRPr lang="en-US" sz="1400" b="1" dirty="0">
                    <a:solidFill>
                      <a:srgbClr val="C00000"/>
                    </a:solidFill>
                    <a:latin typeface="Bradley Hand ITC" pitchFamily="66" charset="0"/>
                  </a:endParaRPr>
                </a:p>
              </p:txBody>
            </p:sp>
            <p:sp>
              <p:nvSpPr>
                <p:cNvPr id="14" name="Freeform 13"/>
                <p:cNvSpPr/>
                <p:nvPr/>
              </p:nvSpPr>
              <p:spPr>
                <a:xfrm rot="16200000">
                  <a:off x="4772854" y="2605112"/>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533400" y="3753505"/>
                  <a:ext cx="2209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Use case A requires the behavior from use case B</a:t>
                  </a:r>
                  <a:endParaRPr lang="en-US" sz="1400" b="1" dirty="0">
                    <a:solidFill>
                      <a:srgbClr val="C00000"/>
                    </a:solidFill>
                    <a:latin typeface="Bradley Hand ITC" pitchFamily="66" charset="0"/>
                  </a:endParaRPr>
                </a:p>
              </p:txBody>
            </p:sp>
            <p:sp>
              <p:nvSpPr>
                <p:cNvPr id="16" name="TextBox 15"/>
                <p:cNvSpPr txBox="1"/>
                <p:nvPr/>
              </p:nvSpPr>
              <p:spPr>
                <a:xfrm>
                  <a:off x="5943600" y="4572000"/>
                  <a:ext cx="28194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Use case A extends the behavior of use case B.  Use case B may be executed when use case A is executed, but it is not mandatory.</a:t>
                  </a:r>
                  <a:endParaRPr lang="en-US" sz="1400" b="1" dirty="0">
                    <a:solidFill>
                      <a:srgbClr val="C00000"/>
                    </a:solidFill>
                    <a:latin typeface="Bradley Hand ITC" pitchFamily="66" charset="0"/>
                  </a:endParaRPr>
                </a:p>
              </p:txBody>
            </p:sp>
            <p:sp>
              <p:nvSpPr>
                <p:cNvPr id="17" name="Freeform 16"/>
                <p:cNvSpPr/>
                <p:nvPr/>
              </p:nvSpPr>
              <p:spPr>
                <a:xfrm rot="21387382">
                  <a:off x="5952850" y="4205713"/>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914400" y="4953000"/>
                  <a:ext cx="2209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Use case A is a specialization of use case B</a:t>
                  </a:r>
                  <a:endParaRPr lang="en-US" sz="1400" b="1" dirty="0">
                    <a:solidFill>
                      <a:srgbClr val="C00000"/>
                    </a:solidFill>
                    <a:latin typeface="Bradley Hand ITC" pitchFamily="66" charset="0"/>
                  </a:endParaRPr>
                </a:p>
              </p:txBody>
            </p:sp>
            <p:sp>
              <p:nvSpPr>
                <p:cNvPr id="19" name="Freeform 18"/>
                <p:cNvSpPr/>
                <p:nvPr/>
              </p:nvSpPr>
              <p:spPr>
                <a:xfrm rot="6795077">
                  <a:off x="2451283" y="4703343"/>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2" name="TextBox 21"/>
              <p:cNvSpPr txBox="1"/>
              <p:nvPr/>
            </p:nvSpPr>
            <p:spPr>
              <a:xfrm>
                <a:off x="6076950" y="3295650"/>
                <a:ext cx="24384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Use case B MUST be executed when use case A is executed!</a:t>
                </a:r>
                <a:endParaRPr lang="en-US" sz="1400" b="1" dirty="0">
                  <a:solidFill>
                    <a:srgbClr val="C00000"/>
                  </a:solidFill>
                  <a:latin typeface="Bradley Hand ITC" pitchFamily="66" charset="0"/>
                </a:endParaRPr>
              </a:p>
            </p:txBody>
          </p:sp>
          <p:sp>
            <p:nvSpPr>
              <p:cNvPr id="23" name="Freeform 22"/>
              <p:cNvSpPr/>
              <p:nvPr/>
            </p:nvSpPr>
            <p:spPr>
              <a:xfrm rot="19289192">
                <a:off x="5988628" y="3226218"/>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a:off x="2696684" y="5562600"/>
                <a:ext cx="3627916" cy="646331"/>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non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include  relationship specifies a mandatory inclusion</a:t>
                </a:r>
              </a:p>
              <a:p>
                <a:r>
                  <a:rPr lang="en-US" sz="1200" b="1" dirty="0" smtClean="0">
                    <a:solidFill>
                      <a:srgbClr val="C00000"/>
                    </a:solidFill>
                    <a:latin typeface="Bradley Hand ITC" pitchFamily="66" charset="0"/>
                  </a:rPr>
                  <a:t>Extend relationship specifies an optional inclusion</a:t>
                </a:r>
                <a:endParaRPr lang="en-US" sz="1200" b="1" dirty="0">
                  <a:solidFill>
                    <a:srgbClr val="C00000"/>
                  </a:solidFill>
                  <a:latin typeface="Bradley Hand ITC" pitchFamily="66" charset="0"/>
                </a:endParaRPr>
              </a:p>
            </p:txBody>
          </p:sp>
        </p:grpSp>
        <p:sp>
          <p:nvSpPr>
            <p:cNvPr id="26" name="Rectangle 25"/>
            <p:cNvSpPr/>
            <p:nvPr/>
          </p:nvSpPr>
          <p:spPr>
            <a:xfrm>
              <a:off x="3876675" y="3886200"/>
              <a:ext cx="1066800" cy="1524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3886200" y="3962400"/>
              <a:ext cx="10668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3886200" y="3381375"/>
              <a:ext cx="1066800" cy="1524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Connector 29"/>
            <p:cNvCxnSpPr/>
            <p:nvPr/>
          </p:nvCxnSpPr>
          <p:spPr>
            <a:xfrm>
              <a:off x="3895725" y="3438525"/>
              <a:ext cx="10668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Use Case Diagram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pic>
        <p:nvPicPr>
          <p:cNvPr id="2050" name="Picture 2"/>
          <p:cNvPicPr>
            <a:picLocks noChangeAspect="1" noChangeArrowheads="1"/>
          </p:cNvPicPr>
          <p:nvPr/>
        </p:nvPicPr>
        <p:blipFill>
          <a:blip r:embed="rId2" cstate="print"/>
          <a:srcRect/>
          <a:stretch>
            <a:fillRect/>
          </a:stretch>
        </p:blipFill>
        <p:spPr bwMode="auto">
          <a:xfrm>
            <a:off x="2209800" y="1905000"/>
            <a:ext cx="4638675" cy="3619500"/>
          </a:xfrm>
          <a:prstGeom prst="rect">
            <a:avLst/>
          </a:prstGeom>
          <a:noFill/>
          <a:ln w="9525">
            <a:noFill/>
            <a:miter lim="800000"/>
            <a:headEnd/>
            <a:tailEnd/>
          </a:ln>
          <a:effectLst/>
        </p:spPr>
      </p:pic>
      <p:sp>
        <p:nvSpPr>
          <p:cNvPr id="8" name="TextBox 7"/>
          <p:cNvSpPr txBox="1"/>
          <p:nvPr/>
        </p:nvSpPr>
        <p:spPr>
          <a:xfrm>
            <a:off x="5791200" y="1610380"/>
            <a:ext cx="2362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Optional System Boundary to model the Subject</a:t>
            </a:r>
            <a:endParaRPr lang="en-US" sz="1400" b="1" dirty="0">
              <a:solidFill>
                <a:srgbClr val="C00000"/>
              </a:solidFill>
              <a:latin typeface="Bradley Hand ITC" pitchFamily="66" charset="0"/>
            </a:endParaRPr>
          </a:p>
        </p:txBody>
      </p:sp>
      <p:sp>
        <p:nvSpPr>
          <p:cNvPr id="9" name="Freeform 8"/>
          <p:cNvSpPr/>
          <p:nvPr/>
        </p:nvSpPr>
        <p:spPr>
          <a:xfrm rot="16200000">
            <a:off x="5824537" y="1947863"/>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57200" y="1905000"/>
            <a:ext cx="2362200" cy="1384995"/>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 Operator interacts with the Client System to search for products, update products, update software, display location, and receive notifications.</a:t>
            </a:r>
            <a:endParaRPr lang="en-US" sz="1400" b="1" dirty="0">
              <a:solidFill>
                <a:srgbClr val="C00000"/>
              </a:solidFill>
              <a:latin typeface="Bradley Hand ITC" pitchFamily="66" charset="0"/>
            </a:endParaRPr>
          </a:p>
        </p:txBody>
      </p:sp>
      <p:sp>
        <p:nvSpPr>
          <p:cNvPr id="12" name="TextBox 11"/>
          <p:cNvSpPr txBox="1"/>
          <p:nvPr/>
        </p:nvSpPr>
        <p:spPr>
          <a:xfrm>
            <a:off x="6477000" y="4267200"/>
            <a:ext cx="2362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The Server also interacts with the Client System</a:t>
            </a:r>
            <a:endParaRPr lang="en-US" sz="1400" b="1" dirty="0">
              <a:solidFill>
                <a:srgbClr val="C00000"/>
              </a:solidFill>
              <a:latin typeface="Bradley Hand ITC" pitchFamily="66" charset="0"/>
            </a:endParaRPr>
          </a:p>
        </p:txBody>
      </p:sp>
      <p:sp>
        <p:nvSpPr>
          <p:cNvPr id="13" name="Freeform 12"/>
          <p:cNvSpPr/>
          <p:nvPr/>
        </p:nvSpPr>
        <p:spPr>
          <a:xfrm rot="21387382">
            <a:off x="6638650" y="3900913"/>
            <a:ext cx="485775" cy="314325"/>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Freeform 13"/>
          <p:cNvSpPr/>
          <p:nvPr/>
        </p:nvSpPr>
        <p:spPr>
          <a:xfrm rot="11353511">
            <a:off x="1792279" y="3330526"/>
            <a:ext cx="704931" cy="398727"/>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p:cNvSpPr txBox="1"/>
          <p:nvPr/>
        </p:nvSpPr>
        <p:spPr>
          <a:xfrm>
            <a:off x="1524000" y="5638800"/>
            <a:ext cx="6096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This models the behavior of a client system.  An Operator and Server both interact with the Client System, denoted by the System Boundary.</a:t>
            </a: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Use Case Diagram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grpSp>
        <p:nvGrpSpPr>
          <p:cNvPr id="39" name="Group 38"/>
          <p:cNvGrpSpPr/>
          <p:nvPr/>
        </p:nvGrpSpPr>
        <p:grpSpPr>
          <a:xfrm>
            <a:off x="457200" y="1371600"/>
            <a:ext cx="8458200" cy="4990445"/>
            <a:chOff x="457200" y="1447800"/>
            <a:chExt cx="8458200" cy="4990445"/>
          </a:xfrm>
        </p:grpSpPr>
        <p:pic>
          <p:nvPicPr>
            <p:cNvPr id="3076" name="Picture 4"/>
            <p:cNvPicPr>
              <a:picLocks noChangeAspect="1" noChangeArrowheads="1"/>
            </p:cNvPicPr>
            <p:nvPr/>
          </p:nvPicPr>
          <p:blipFill>
            <a:blip r:embed="rId2" cstate="print"/>
            <a:srcRect/>
            <a:stretch>
              <a:fillRect/>
            </a:stretch>
          </p:blipFill>
          <p:spPr bwMode="auto">
            <a:xfrm>
              <a:off x="2133600" y="1676400"/>
              <a:ext cx="4343400" cy="4381500"/>
            </a:xfrm>
            <a:prstGeom prst="rect">
              <a:avLst/>
            </a:prstGeom>
            <a:noFill/>
            <a:ln w="9525">
              <a:noFill/>
              <a:miter lim="800000"/>
              <a:headEnd/>
              <a:tailEnd/>
            </a:ln>
            <a:effectLst/>
          </p:spPr>
        </p:pic>
        <p:cxnSp>
          <p:nvCxnSpPr>
            <p:cNvPr id="12" name="Straight Arrow Connector 11"/>
            <p:cNvCxnSpPr/>
            <p:nvPr/>
          </p:nvCxnSpPr>
          <p:spPr>
            <a:xfrm flipV="1">
              <a:off x="4953000" y="4629150"/>
              <a:ext cx="0" cy="53340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grpSp>
          <p:nvGrpSpPr>
            <p:cNvPr id="31" name="Group 30"/>
            <p:cNvGrpSpPr/>
            <p:nvPr/>
          </p:nvGrpSpPr>
          <p:grpSpPr>
            <a:xfrm>
              <a:off x="5524500" y="3657600"/>
              <a:ext cx="533400" cy="1743076"/>
              <a:chOff x="5524500" y="3657600"/>
              <a:chExt cx="533400" cy="1743076"/>
            </a:xfrm>
          </p:grpSpPr>
          <p:cxnSp>
            <p:nvCxnSpPr>
              <p:cNvPr id="16" name="Straight Connector 15"/>
              <p:cNvCxnSpPr/>
              <p:nvPr/>
            </p:nvCxnSpPr>
            <p:spPr>
              <a:xfrm>
                <a:off x="5524500" y="5400675"/>
                <a:ext cx="533400" cy="0"/>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V="1">
                <a:off x="6057900" y="3657600"/>
                <a:ext cx="0" cy="1743076"/>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562600" y="3657600"/>
                <a:ext cx="495300"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grpSp>
        <p:sp>
          <p:nvSpPr>
            <p:cNvPr id="22" name="TextBox 21"/>
            <p:cNvSpPr txBox="1"/>
            <p:nvPr/>
          </p:nvSpPr>
          <p:spPr>
            <a:xfrm>
              <a:off x="457200" y="2057400"/>
              <a:ext cx="2590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Actor interacts with the system.</a:t>
              </a:r>
              <a:endParaRPr lang="en-US" sz="1400" b="1" dirty="0">
                <a:solidFill>
                  <a:srgbClr val="C00000"/>
                </a:solidFill>
                <a:latin typeface="Bradley Hand ITC" pitchFamily="66" charset="0"/>
              </a:endParaRPr>
            </a:p>
          </p:txBody>
        </p:sp>
        <p:sp>
          <p:nvSpPr>
            <p:cNvPr id="23" name="TextBox 22"/>
            <p:cNvSpPr txBox="1"/>
            <p:nvPr/>
          </p:nvSpPr>
          <p:spPr>
            <a:xfrm>
              <a:off x="6248400" y="1447800"/>
              <a:ext cx="2362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Optional System Boundary to model the Subject</a:t>
              </a:r>
              <a:endParaRPr lang="en-US" sz="1400" b="1" dirty="0">
                <a:solidFill>
                  <a:srgbClr val="C00000"/>
                </a:solidFill>
                <a:latin typeface="Bradley Hand ITC" pitchFamily="66" charset="0"/>
              </a:endParaRPr>
            </a:p>
          </p:txBody>
        </p:sp>
        <p:sp>
          <p:nvSpPr>
            <p:cNvPr id="24" name="Freeform 23"/>
            <p:cNvSpPr/>
            <p:nvPr/>
          </p:nvSpPr>
          <p:spPr>
            <a:xfrm rot="16200000">
              <a:off x="6281737" y="1785283"/>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a:off x="609600" y="3810000"/>
              <a:ext cx="23622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 specialized user</a:t>
              </a:r>
              <a:endParaRPr lang="en-US" sz="1400" b="1" dirty="0">
                <a:solidFill>
                  <a:srgbClr val="C00000"/>
                </a:solidFill>
                <a:latin typeface="Bradley Hand ITC" pitchFamily="66" charset="0"/>
              </a:endParaRPr>
            </a:p>
          </p:txBody>
        </p:sp>
        <p:sp>
          <p:nvSpPr>
            <p:cNvPr id="27" name="Freeform 26"/>
            <p:cNvSpPr/>
            <p:nvPr/>
          </p:nvSpPr>
          <p:spPr>
            <a:xfrm rot="11353511">
              <a:off x="1922205" y="4084449"/>
              <a:ext cx="593165" cy="26248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2" name="TextBox 31"/>
            <p:cNvSpPr txBox="1"/>
            <p:nvPr/>
          </p:nvSpPr>
          <p:spPr>
            <a:xfrm>
              <a:off x="1219200" y="5915025"/>
              <a:ext cx="3124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You cannot cancel a course unless your identity has been authenticated!</a:t>
              </a:r>
              <a:endParaRPr lang="en-US" sz="1400" b="1" dirty="0">
                <a:solidFill>
                  <a:srgbClr val="C00000"/>
                </a:solidFill>
                <a:latin typeface="Bradley Hand ITC" pitchFamily="66" charset="0"/>
              </a:endParaRPr>
            </a:p>
          </p:txBody>
        </p:sp>
        <p:sp>
          <p:nvSpPr>
            <p:cNvPr id="33" name="Freeform 32"/>
            <p:cNvSpPr/>
            <p:nvPr/>
          </p:nvSpPr>
          <p:spPr>
            <a:xfrm rot="7058849">
              <a:off x="4300697" y="5754977"/>
              <a:ext cx="593165" cy="26248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4" name="TextBox 33"/>
            <p:cNvSpPr txBox="1"/>
            <p:nvPr/>
          </p:nvSpPr>
          <p:spPr>
            <a:xfrm>
              <a:off x="6248400" y="3429000"/>
              <a:ext cx="24384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To cancel a course, you may want to search for the course</a:t>
              </a:r>
              <a:endParaRPr lang="en-US" sz="1400" b="1" dirty="0">
                <a:solidFill>
                  <a:srgbClr val="C00000"/>
                </a:solidFill>
                <a:latin typeface="Bradley Hand ITC" pitchFamily="66" charset="0"/>
              </a:endParaRPr>
            </a:p>
          </p:txBody>
        </p:sp>
        <p:sp>
          <p:nvSpPr>
            <p:cNvPr id="35" name="Freeform 34"/>
            <p:cNvSpPr/>
            <p:nvPr/>
          </p:nvSpPr>
          <p:spPr>
            <a:xfrm rot="16200000">
              <a:off x="6129337" y="3900487"/>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6" name="TextBox 35"/>
            <p:cNvSpPr txBox="1"/>
            <p:nvPr/>
          </p:nvSpPr>
          <p:spPr>
            <a:xfrm>
              <a:off x="6781800" y="4379893"/>
              <a:ext cx="21336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Alternatively, you may want to enter the course number directly without searching for it.</a:t>
              </a:r>
              <a:endParaRPr lang="en-US" sz="1400" b="1" dirty="0">
                <a:solidFill>
                  <a:srgbClr val="C00000"/>
                </a:solidFill>
                <a:latin typeface="Bradley Hand ITC" pitchFamily="66" charset="0"/>
              </a:endParaRPr>
            </a:p>
          </p:txBody>
        </p:sp>
        <p:sp>
          <p:nvSpPr>
            <p:cNvPr id="37" name="Freeform 36"/>
            <p:cNvSpPr/>
            <p:nvPr/>
          </p:nvSpPr>
          <p:spPr>
            <a:xfrm rot="14532592">
              <a:off x="8326371" y="4043768"/>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8" name="Freeform 37"/>
            <p:cNvSpPr/>
            <p:nvPr/>
          </p:nvSpPr>
          <p:spPr>
            <a:xfrm rot="11353511">
              <a:off x="1998404" y="2408050"/>
              <a:ext cx="593165" cy="26248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Interaction Diagrams</a:t>
            </a:r>
            <a:endParaRPr lang="en-US" dirty="0"/>
          </a:p>
        </p:txBody>
      </p:sp>
      <p:sp>
        <p:nvSpPr>
          <p:cNvPr id="3" name="Content Placeholder 2"/>
          <p:cNvSpPr>
            <a:spLocks noGrp="1"/>
          </p:cNvSpPr>
          <p:nvPr>
            <p:ph idx="1"/>
          </p:nvPr>
        </p:nvSpPr>
        <p:spPr>
          <a:xfrm>
            <a:off x="457200" y="1371601"/>
            <a:ext cx="8229600" cy="4800599"/>
          </a:xfrm>
        </p:spPr>
        <p:txBody>
          <a:bodyPr>
            <a:normAutofit fontScale="85000" lnSpcReduction="10000"/>
          </a:bodyPr>
          <a:lstStyle/>
          <a:p>
            <a:r>
              <a:rPr lang="en-US" dirty="0" smtClean="0"/>
              <a:t>Interaction diagrams can be used to model complex interactions between design units together with the messages exchanges and the type of the exchange.</a:t>
            </a:r>
          </a:p>
          <a:p>
            <a:endParaRPr lang="en-US" dirty="0" smtClean="0"/>
          </a:p>
          <a:p>
            <a:r>
              <a:rPr lang="en-US" dirty="0" smtClean="0"/>
              <a:t>Interaction diagrams can be used at the architectural level.</a:t>
            </a:r>
          </a:p>
          <a:p>
            <a:pPr lvl="1"/>
            <a:r>
              <a:rPr lang="en-US" dirty="0" smtClean="0"/>
              <a:t>For example, they allow us to model interaction among software components.</a:t>
            </a:r>
          </a:p>
          <a:p>
            <a:pPr lvl="1"/>
            <a:endParaRPr lang="en-US" dirty="0" smtClean="0"/>
          </a:p>
          <a:p>
            <a:r>
              <a:rPr lang="en-US" dirty="0" smtClean="0"/>
              <a:t>Interaction diagrams can be used at the detailed design level.</a:t>
            </a:r>
          </a:p>
          <a:p>
            <a:pPr lvl="1"/>
            <a:r>
              <a:rPr lang="en-US" dirty="0" smtClean="0"/>
              <a:t>For example, they allow us to model interactions among objects at run-time</a:t>
            </a:r>
          </a:p>
          <a:p>
            <a:pPr lvl="1"/>
            <a:endParaRPr lang="en-US" dirty="0" smtClean="0"/>
          </a:p>
          <a:p>
            <a:r>
              <a:rPr lang="en-US" dirty="0" smtClean="0"/>
              <a:t>Interaction diagrams can be used at the construction design level.</a:t>
            </a:r>
          </a:p>
          <a:p>
            <a:pPr lvl="1"/>
            <a:r>
              <a:rPr lang="en-US" dirty="0" smtClean="0"/>
              <a:t>For example, they allow us to model conditional and repetition structures.</a:t>
            </a:r>
          </a:p>
          <a:p>
            <a:pPr lvl="1"/>
            <a:endParaRPr lang="en-US" dirty="0" smtClean="0"/>
          </a:p>
          <a:p>
            <a:r>
              <a:rPr lang="en-US" dirty="0" smtClean="0"/>
              <a:t>In many situations, interaction diagrams reveal many important issues related to the quality of the system.</a:t>
            </a:r>
          </a:p>
          <a:p>
            <a:endParaRPr lang="en-US" dirty="0" smtClean="0"/>
          </a:p>
          <a:p>
            <a:r>
              <a:rPr lang="en-US" dirty="0" smtClean="0"/>
              <a:t>Two types of interaction diagrams are:</a:t>
            </a:r>
          </a:p>
          <a:p>
            <a:pPr lvl="1"/>
            <a:r>
              <a:rPr lang="en-US" dirty="0" smtClean="0"/>
              <a:t>Communication diagrams</a:t>
            </a:r>
          </a:p>
          <a:p>
            <a:pPr lvl="1"/>
            <a:r>
              <a:rPr lang="en-US" dirty="0" smtClean="0"/>
              <a:t>Sequence diagrams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Communication Diagram</a:t>
            </a:r>
            <a:endParaRPr lang="en-US" dirty="0"/>
          </a:p>
        </p:txBody>
      </p:sp>
      <p:sp>
        <p:nvSpPr>
          <p:cNvPr id="3" name="Content Placeholder 2"/>
          <p:cNvSpPr>
            <a:spLocks noGrp="1"/>
          </p:cNvSpPr>
          <p:nvPr>
            <p:ph idx="1"/>
          </p:nvPr>
        </p:nvSpPr>
        <p:spPr>
          <a:xfrm>
            <a:off x="457200" y="1371601"/>
            <a:ext cx="8229600" cy="5181599"/>
          </a:xfrm>
        </p:spPr>
        <p:txBody>
          <a:bodyPr>
            <a:normAutofit fontScale="92500" lnSpcReduction="20000"/>
          </a:bodyPr>
          <a:lstStyle/>
          <a:p>
            <a:r>
              <a:rPr lang="en-US" dirty="0" smtClean="0"/>
              <a:t>Communication diagrams</a:t>
            </a:r>
          </a:p>
          <a:p>
            <a:pPr lvl="1"/>
            <a:r>
              <a:rPr lang="en-US" dirty="0" smtClean="0"/>
              <a:t>Behavioral diagrams used to capture, specify, evaluate, and visualize system interactions with emphasis on the structural order of entities participating in the message exchange.</a:t>
            </a:r>
          </a:p>
          <a:p>
            <a:pPr lvl="1"/>
            <a:endParaRPr lang="en-US" dirty="0" smtClean="0"/>
          </a:p>
          <a:p>
            <a:r>
              <a:rPr lang="en-US" dirty="0" smtClean="0"/>
              <a:t>When using communication diagrams, entities can be modeled as</a:t>
            </a:r>
          </a:p>
          <a:p>
            <a:pPr lvl="1"/>
            <a:r>
              <a:rPr lang="en-US" dirty="0" smtClean="0"/>
              <a:t>Objects, representing instances of classes and components.</a:t>
            </a:r>
          </a:p>
          <a:p>
            <a:pPr lvl="1"/>
            <a:r>
              <a:rPr lang="en-US" dirty="0" smtClean="0"/>
              <a:t>Roles, representing a prototypical instance </a:t>
            </a:r>
          </a:p>
          <a:p>
            <a:pPr lvl="1"/>
            <a:endParaRPr lang="en-US" dirty="0" smtClean="0"/>
          </a:p>
          <a:p>
            <a:r>
              <a:rPr lang="en-US" dirty="0" smtClean="0"/>
              <a:t>Both objects and roles can be connected to model the exchange of messages using:</a:t>
            </a:r>
          </a:p>
          <a:p>
            <a:pPr lvl="1"/>
            <a:r>
              <a:rPr lang="en-US" dirty="0" smtClean="0"/>
              <a:t>Links to connect objects</a:t>
            </a:r>
          </a:p>
          <a:p>
            <a:pPr lvl="1"/>
            <a:r>
              <a:rPr lang="en-US" dirty="0" smtClean="0"/>
              <a:t>Connectors to connect roles</a:t>
            </a:r>
          </a:p>
          <a:p>
            <a:pPr lvl="1"/>
            <a:r>
              <a:rPr lang="en-US" dirty="0" smtClean="0"/>
              <a:t>Both links and connectors look exactly alike, as a solid line.  They only differ semantically.</a:t>
            </a:r>
          </a:p>
          <a:p>
            <a:pPr lvl="1"/>
            <a:endParaRPr lang="en-US" dirty="0" smtClean="0"/>
          </a:p>
          <a:p>
            <a:r>
              <a:rPr lang="en-US" dirty="0" smtClean="0"/>
              <a:t>The type of message exchanges include:</a:t>
            </a:r>
          </a:p>
          <a:p>
            <a:pPr lvl="1"/>
            <a:r>
              <a:rPr lang="en-US" dirty="0" smtClean="0"/>
              <a:t>Asynchronous</a:t>
            </a:r>
          </a:p>
          <a:p>
            <a:pPr lvl="1"/>
            <a:r>
              <a:rPr lang="en-US" dirty="0" smtClean="0"/>
              <a:t>Synchronous</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Communication Diagram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13" name="TextBox 12"/>
          <p:cNvSpPr txBox="1"/>
          <p:nvPr/>
        </p:nvSpPr>
        <p:spPr>
          <a:xfrm>
            <a:off x="5943600" y="4960203"/>
            <a:ext cx="2590800" cy="830997"/>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r>
              <a:rPr lang="en-US" sz="1200" b="1" u="sng" dirty="0" smtClean="0">
                <a:solidFill>
                  <a:srgbClr val="C00000"/>
                </a:solidFill>
                <a:latin typeface="Bradley Hand ITC" pitchFamily="66" charset="0"/>
              </a:rPr>
              <a:t>Important</a:t>
            </a:r>
            <a:r>
              <a:rPr lang="en-US" sz="1200" b="1" dirty="0" smtClean="0">
                <a:solidFill>
                  <a:srgbClr val="C00000"/>
                </a:solidFill>
                <a:latin typeface="Bradley Hand ITC" pitchFamily="66" charset="0"/>
              </a:rPr>
              <a:t>:</a:t>
            </a:r>
          </a:p>
          <a:p>
            <a:r>
              <a:rPr lang="en-US" sz="1200" b="1" dirty="0" smtClean="0">
                <a:solidFill>
                  <a:srgbClr val="C00000"/>
                </a:solidFill>
                <a:latin typeface="Bradley Hand ITC" pitchFamily="66" charset="0"/>
              </a:rPr>
              <a:t>Synchronous and Asynchronous messaging are </a:t>
            </a:r>
            <a:r>
              <a:rPr lang="en-US" sz="1200" b="1" dirty="0" err="1" smtClean="0">
                <a:solidFill>
                  <a:srgbClr val="C00000"/>
                </a:solidFill>
                <a:latin typeface="Bradley Hand ITC" pitchFamily="66" charset="0"/>
              </a:rPr>
              <a:t>are</a:t>
            </a:r>
            <a:r>
              <a:rPr lang="en-US" sz="1200" b="1" dirty="0" smtClean="0">
                <a:solidFill>
                  <a:srgbClr val="C00000"/>
                </a:solidFill>
                <a:latin typeface="Bradley Hand ITC" pitchFamily="66" charset="0"/>
              </a:rPr>
              <a:t> important when reasoning about concurrency issues!</a:t>
            </a:r>
            <a:endParaRPr lang="en-US" sz="1200" b="1" dirty="0">
              <a:solidFill>
                <a:srgbClr val="C00000"/>
              </a:solidFill>
              <a:latin typeface="Bradley Hand ITC" pitchFamily="66" charset="0"/>
            </a:endParaRPr>
          </a:p>
        </p:txBody>
      </p:sp>
      <p:grpSp>
        <p:nvGrpSpPr>
          <p:cNvPr id="21" name="Group 20"/>
          <p:cNvGrpSpPr/>
          <p:nvPr/>
        </p:nvGrpSpPr>
        <p:grpSpPr>
          <a:xfrm>
            <a:off x="304800" y="1600200"/>
            <a:ext cx="8458200" cy="4002107"/>
            <a:chOff x="304800" y="1295400"/>
            <a:chExt cx="8458200" cy="4002107"/>
          </a:xfrm>
        </p:grpSpPr>
        <p:pic>
          <p:nvPicPr>
            <p:cNvPr id="5122" name="Picture 2"/>
            <p:cNvPicPr>
              <a:picLocks noChangeAspect="1" noChangeArrowheads="1"/>
            </p:cNvPicPr>
            <p:nvPr/>
          </p:nvPicPr>
          <p:blipFill>
            <a:blip r:embed="rId2" cstate="print"/>
            <a:srcRect/>
            <a:stretch>
              <a:fillRect/>
            </a:stretch>
          </p:blipFill>
          <p:spPr bwMode="auto">
            <a:xfrm>
              <a:off x="2633663" y="1919288"/>
              <a:ext cx="3876675" cy="2257425"/>
            </a:xfrm>
            <a:prstGeom prst="rect">
              <a:avLst/>
            </a:prstGeom>
            <a:noFill/>
            <a:ln w="9525">
              <a:noFill/>
              <a:miter lim="800000"/>
              <a:headEnd/>
              <a:tailEnd/>
            </a:ln>
          </p:spPr>
        </p:pic>
        <p:sp>
          <p:nvSpPr>
            <p:cNvPr id="8" name="TextBox 7"/>
            <p:cNvSpPr txBox="1"/>
            <p:nvPr/>
          </p:nvSpPr>
          <p:spPr>
            <a:xfrm>
              <a:off x="838200" y="1447800"/>
              <a:ext cx="2590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FileSystemMgr Role.</a:t>
              </a:r>
              <a:endParaRPr lang="en-US" sz="1400" b="1" dirty="0">
                <a:solidFill>
                  <a:srgbClr val="C00000"/>
                </a:solidFill>
                <a:latin typeface="Bradley Hand ITC" pitchFamily="66" charset="0"/>
              </a:endParaRPr>
            </a:p>
          </p:txBody>
        </p:sp>
        <p:sp>
          <p:nvSpPr>
            <p:cNvPr id="9" name="Freeform 8"/>
            <p:cNvSpPr/>
            <p:nvPr/>
          </p:nvSpPr>
          <p:spPr>
            <a:xfrm rot="16200000">
              <a:off x="6281737" y="3167063"/>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Freeform 9"/>
            <p:cNvSpPr/>
            <p:nvPr/>
          </p:nvSpPr>
          <p:spPr>
            <a:xfrm rot="11353511">
              <a:off x="2379404" y="1798450"/>
              <a:ext cx="593165" cy="26248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1" name="TextBox 10"/>
            <p:cNvSpPr txBox="1"/>
            <p:nvPr/>
          </p:nvSpPr>
          <p:spPr>
            <a:xfrm>
              <a:off x="6248400" y="2819400"/>
              <a:ext cx="16764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EventLogger Object.</a:t>
              </a:r>
              <a:endParaRPr lang="en-US" sz="1400" b="1" dirty="0">
                <a:solidFill>
                  <a:srgbClr val="C00000"/>
                </a:solidFill>
                <a:latin typeface="Bradley Hand ITC" pitchFamily="66" charset="0"/>
              </a:endParaRPr>
            </a:p>
          </p:txBody>
        </p:sp>
        <p:sp>
          <p:nvSpPr>
            <p:cNvPr id="14" name="Rectangle 13"/>
            <p:cNvSpPr/>
            <p:nvPr/>
          </p:nvSpPr>
          <p:spPr>
            <a:xfrm>
              <a:off x="6553200" y="1295400"/>
              <a:ext cx="2209800" cy="954107"/>
            </a:xfrm>
            <a:prstGeom prst="rect">
              <a:avLst/>
            </a:prstGeom>
          </p:spPr>
          <p:txBody>
            <a:bodyPr wrap="square">
              <a:spAutoFit/>
            </a:bodyPr>
            <a:lstStyle/>
            <a:p>
              <a:pPr algn="ctr"/>
              <a:r>
                <a:rPr lang="en-US" sz="1400" b="1" dirty="0" smtClean="0">
                  <a:solidFill>
                    <a:srgbClr val="C00000"/>
                  </a:solidFill>
                  <a:latin typeface="Bradley Hand ITC" pitchFamily="66" charset="0"/>
                </a:rPr>
                <a:t>In synchronous messaging, sender and receiver work in lock-step to achieve an operation.</a:t>
              </a:r>
              <a:endParaRPr lang="en-US" sz="1400" b="1" dirty="0">
                <a:solidFill>
                  <a:srgbClr val="C00000"/>
                </a:solidFill>
                <a:latin typeface="Bradley Hand ITC" pitchFamily="66" charset="0"/>
              </a:endParaRPr>
            </a:p>
          </p:txBody>
        </p:sp>
        <p:sp>
          <p:nvSpPr>
            <p:cNvPr id="15" name="Freeform 14"/>
            <p:cNvSpPr/>
            <p:nvPr/>
          </p:nvSpPr>
          <p:spPr>
            <a:xfrm rot="17635144">
              <a:off x="6338686" y="2059952"/>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Rectangle 15"/>
            <p:cNvSpPr/>
            <p:nvPr/>
          </p:nvSpPr>
          <p:spPr>
            <a:xfrm>
              <a:off x="304800" y="3048000"/>
              <a:ext cx="2667000" cy="954107"/>
            </a:xfrm>
            <a:prstGeom prst="rect">
              <a:avLst/>
            </a:prstGeom>
          </p:spPr>
          <p:txBody>
            <a:bodyPr wrap="square">
              <a:spAutoFit/>
            </a:bodyPr>
            <a:lstStyle/>
            <a:p>
              <a:pPr algn="ctr"/>
              <a:r>
                <a:rPr lang="en-US" sz="1400" b="1" dirty="0" smtClean="0">
                  <a:solidFill>
                    <a:srgbClr val="C00000"/>
                  </a:solidFill>
                  <a:latin typeface="Bradley Hand ITC" pitchFamily="66" charset="0"/>
                </a:rPr>
                <a:t>In asynchronous messaging, sender continues execution while receiver completes operation independent from the sender</a:t>
              </a:r>
              <a:endParaRPr lang="en-US" sz="1400" b="1" dirty="0">
                <a:solidFill>
                  <a:srgbClr val="C00000"/>
                </a:solidFill>
                <a:latin typeface="Bradley Hand ITC" pitchFamily="66" charset="0"/>
              </a:endParaRPr>
            </a:p>
          </p:txBody>
        </p:sp>
        <p:sp>
          <p:nvSpPr>
            <p:cNvPr id="17" name="Freeform 16"/>
            <p:cNvSpPr/>
            <p:nvPr/>
          </p:nvSpPr>
          <p:spPr>
            <a:xfrm rot="5900197">
              <a:off x="2570796" y="2802255"/>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3733800" y="4343400"/>
              <a:ext cx="16764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Asynchronous messaging between two run-time object instances</a:t>
              </a:r>
              <a:endParaRPr lang="en-US" sz="1400" b="1" dirty="0">
                <a:solidFill>
                  <a:srgbClr val="C00000"/>
                </a:solidFill>
                <a:latin typeface="Bradley Hand ITC" pitchFamily="66" charset="0"/>
              </a:endParaRPr>
            </a:p>
          </p:txBody>
        </p:sp>
        <p:sp>
          <p:nvSpPr>
            <p:cNvPr id="19" name="Freeform 18"/>
            <p:cNvSpPr/>
            <p:nvPr/>
          </p:nvSpPr>
          <p:spPr>
            <a:xfrm rot="731146">
              <a:off x="3603781" y="4223395"/>
              <a:ext cx="333376" cy="247650"/>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Freeform 19"/>
            <p:cNvSpPr/>
            <p:nvPr/>
          </p:nvSpPr>
          <p:spPr>
            <a:xfrm rot="6247380">
              <a:off x="5243144" y="4199641"/>
              <a:ext cx="385959" cy="27065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Communication Diagram</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13" name="TextBox 12"/>
          <p:cNvSpPr txBox="1"/>
          <p:nvPr/>
        </p:nvSpPr>
        <p:spPr>
          <a:xfrm>
            <a:off x="5753100" y="1371600"/>
            <a:ext cx="2590800" cy="738664"/>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400" b="1" dirty="0" smtClean="0">
                <a:solidFill>
                  <a:srgbClr val="C00000"/>
                </a:solidFill>
                <a:latin typeface="Bradley Hand ITC" pitchFamily="66" charset="0"/>
              </a:rPr>
              <a:t>Communication diagram of objects at run-time using </a:t>
            </a:r>
            <a:r>
              <a:rPr lang="en-US" sz="1400" b="1" u="sng" dirty="0" smtClean="0">
                <a:solidFill>
                  <a:srgbClr val="C00000"/>
                </a:solidFill>
                <a:latin typeface="Bradley Hand ITC" pitchFamily="66" charset="0"/>
              </a:rPr>
              <a:t>synchronous</a:t>
            </a:r>
            <a:r>
              <a:rPr lang="en-US" sz="1400" b="1" dirty="0" smtClean="0">
                <a:solidFill>
                  <a:srgbClr val="C00000"/>
                </a:solidFill>
                <a:latin typeface="Bradley Hand ITC" pitchFamily="66" charset="0"/>
              </a:rPr>
              <a:t> messaging</a:t>
            </a:r>
            <a:endParaRPr lang="en-US" sz="1400" b="1" dirty="0">
              <a:solidFill>
                <a:srgbClr val="C00000"/>
              </a:solidFill>
              <a:latin typeface="Bradley Hand ITC" pitchFamily="66" charset="0"/>
            </a:endParaRPr>
          </a:p>
        </p:txBody>
      </p:sp>
      <p:grpSp>
        <p:nvGrpSpPr>
          <p:cNvPr id="25" name="Group 24"/>
          <p:cNvGrpSpPr/>
          <p:nvPr/>
        </p:nvGrpSpPr>
        <p:grpSpPr>
          <a:xfrm>
            <a:off x="381000" y="1847850"/>
            <a:ext cx="8534400" cy="3606749"/>
            <a:chOff x="381000" y="1847850"/>
            <a:chExt cx="8534400" cy="3606749"/>
          </a:xfrm>
        </p:grpSpPr>
        <p:grpSp>
          <p:nvGrpSpPr>
            <p:cNvPr id="9" name="Group 8"/>
            <p:cNvGrpSpPr/>
            <p:nvPr/>
          </p:nvGrpSpPr>
          <p:grpSpPr>
            <a:xfrm>
              <a:off x="2819400" y="2533650"/>
              <a:ext cx="4629150" cy="2352675"/>
              <a:chOff x="2438400" y="2514600"/>
              <a:chExt cx="4629150" cy="2352675"/>
            </a:xfrm>
          </p:grpSpPr>
          <p:pic>
            <p:nvPicPr>
              <p:cNvPr id="6146" name="Picture 2"/>
              <p:cNvPicPr>
                <a:picLocks noChangeAspect="1" noChangeArrowheads="1"/>
              </p:cNvPicPr>
              <p:nvPr/>
            </p:nvPicPr>
            <p:blipFill>
              <a:blip r:embed="rId2" cstate="print"/>
              <a:srcRect/>
              <a:stretch>
                <a:fillRect/>
              </a:stretch>
            </p:blipFill>
            <p:spPr bwMode="auto">
              <a:xfrm>
                <a:off x="2438400" y="2514600"/>
                <a:ext cx="4629150" cy="2352675"/>
              </a:xfrm>
              <a:prstGeom prst="rect">
                <a:avLst/>
              </a:prstGeom>
              <a:noFill/>
              <a:ln w="9525">
                <a:noFill/>
                <a:miter lim="800000"/>
                <a:headEnd/>
                <a:tailEnd/>
              </a:ln>
            </p:spPr>
          </p:pic>
          <p:sp>
            <p:nvSpPr>
              <p:cNvPr id="8" name="Rectangle 7"/>
              <p:cNvSpPr/>
              <p:nvPr/>
            </p:nvSpPr>
            <p:spPr>
              <a:xfrm>
                <a:off x="4133850" y="2933700"/>
                <a:ext cx="1276350" cy="457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TextBox 9"/>
            <p:cNvSpPr txBox="1"/>
            <p:nvPr/>
          </p:nvSpPr>
          <p:spPr>
            <a:xfrm>
              <a:off x="533400" y="1847850"/>
              <a:ext cx="3505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1. The “cm” object of type CommMgr sends a message to another object of type AppMgr.</a:t>
              </a:r>
              <a:endParaRPr lang="en-US" sz="1400" b="1" dirty="0">
                <a:solidFill>
                  <a:srgbClr val="C00000"/>
                </a:solidFill>
                <a:latin typeface="Bradley Hand ITC" pitchFamily="66" charset="0"/>
              </a:endParaRPr>
            </a:p>
          </p:txBody>
        </p:sp>
        <p:sp>
          <p:nvSpPr>
            <p:cNvPr id="11" name="Freeform 10"/>
            <p:cNvSpPr/>
            <p:nvPr/>
          </p:nvSpPr>
          <p:spPr>
            <a:xfrm rot="11353511">
              <a:off x="3293804" y="2377717"/>
              <a:ext cx="593165" cy="26248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381000" y="2762250"/>
              <a:ext cx="32004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2. The “am” object decodes the message.  If finds out that the message commands a file system format operation</a:t>
              </a:r>
              <a:endParaRPr lang="en-US" sz="1400" b="1" dirty="0">
                <a:solidFill>
                  <a:srgbClr val="C00000"/>
                </a:solidFill>
                <a:latin typeface="Bradley Hand ITC" pitchFamily="66" charset="0"/>
              </a:endParaRPr>
            </a:p>
          </p:txBody>
        </p:sp>
        <p:sp>
          <p:nvSpPr>
            <p:cNvPr id="15" name="Freeform 14"/>
            <p:cNvSpPr/>
            <p:nvPr/>
          </p:nvSpPr>
          <p:spPr>
            <a:xfrm rot="11353511">
              <a:off x="3254798" y="3274853"/>
              <a:ext cx="711054" cy="24652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6" name="TextBox 15"/>
            <p:cNvSpPr txBox="1"/>
            <p:nvPr/>
          </p:nvSpPr>
          <p:spPr>
            <a:xfrm>
              <a:off x="4876800" y="2381250"/>
              <a:ext cx="40386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3. The “am” object sends a message to the “el” object to log an event indicating the receipt of the message</a:t>
              </a:r>
              <a:endParaRPr lang="en-US" sz="1400" b="1" dirty="0">
                <a:solidFill>
                  <a:srgbClr val="C00000"/>
                </a:solidFill>
                <a:latin typeface="Bradley Hand ITC" pitchFamily="66" charset="0"/>
              </a:endParaRPr>
            </a:p>
          </p:txBody>
        </p:sp>
        <p:sp>
          <p:nvSpPr>
            <p:cNvPr id="18" name="TextBox 17"/>
            <p:cNvSpPr txBox="1"/>
            <p:nvPr/>
          </p:nvSpPr>
          <p:spPr>
            <a:xfrm>
              <a:off x="762000" y="4286250"/>
              <a:ext cx="2819400" cy="738664"/>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4. The “am” object sends a message to the “</a:t>
              </a:r>
              <a:r>
                <a:rPr lang="en-US" sz="1400" b="1" dirty="0" err="1" smtClean="0">
                  <a:solidFill>
                    <a:srgbClr val="C00000"/>
                  </a:solidFill>
                  <a:latin typeface="Bradley Hand ITC" pitchFamily="66" charset="0"/>
                </a:rPr>
                <a:t>fs</a:t>
              </a:r>
              <a:r>
                <a:rPr lang="en-US" sz="1400" b="1" dirty="0" smtClean="0">
                  <a:solidFill>
                    <a:srgbClr val="C00000"/>
                  </a:solidFill>
                  <a:latin typeface="Bradley Hand ITC" pitchFamily="66" charset="0"/>
                </a:rPr>
                <a:t>” object to begin erasing the data from the file system</a:t>
              </a:r>
              <a:endParaRPr lang="en-US" sz="1400" b="1" dirty="0">
                <a:solidFill>
                  <a:srgbClr val="C00000"/>
                </a:solidFill>
                <a:latin typeface="Bradley Hand ITC" pitchFamily="66" charset="0"/>
              </a:endParaRPr>
            </a:p>
          </p:txBody>
        </p:sp>
        <p:sp>
          <p:nvSpPr>
            <p:cNvPr id="19" name="Freeform 18"/>
            <p:cNvSpPr/>
            <p:nvPr/>
          </p:nvSpPr>
          <p:spPr>
            <a:xfrm rot="14384729">
              <a:off x="5233418" y="2993951"/>
              <a:ext cx="385959" cy="27065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4419600" y="4931379"/>
              <a:ext cx="41910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5. Once complete, the “</a:t>
              </a:r>
              <a:r>
                <a:rPr lang="en-US" sz="1400" b="1" dirty="0" err="1" smtClean="0">
                  <a:solidFill>
                    <a:srgbClr val="C00000"/>
                  </a:solidFill>
                  <a:latin typeface="Bradley Hand ITC" pitchFamily="66" charset="0"/>
                </a:rPr>
                <a:t>fs</a:t>
              </a:r>
              <a:r>
                <a:rPr lang="en-US" sz="1400" b="1" dirty="0" smtClean="0">
                  <a:solidFill>
                    <a:srgbClr val="C00000"/>
                  </a:solidFill>
                  <a:latin typeface="Bradley Hand ITC" pitchFamily="66" charset="0"/>
                </a:rPr>
                <a:t>” object sends a message to the “el” object to log an event indicating success</a:t>
              </a:r>
              <a:endParaRPr lang="en-US" sz="1400" b="1" dirty="0">
                <a:solidFill>
                  <a:srgbClr val="C00000"/>
                </a:solidFill>
                <a:latin typeface="Bradley Hand ITC" pitchFamily="66" charset="0"/>
              </a:endParaRPr>
            </a:p>
          </p:txBody>
        </p:sp>
        <p:sp>
          <p:nvSpPr>
            <p:cNvPr id="21" name="Freeform 20"/>
            <p:cNvSpPr/>
            <p:nvPr/>
          </p:nvSpPr>
          <p:spPr>
            <a:xfrm rot="2033009">
              <a:off x="6976873" y="4576120"/>
              <a:ext cx="385959" cy="27065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Freeform 21"/>
            <p:cNvSpPr/>
            <p:nvPr/>
          </p:nvSpPr>
          <p:spPr>
            <a:xfrm rot="9733624">
              <a:off x="3468143" y="4467762"/>
              <a:ext cx="385959" cy="27065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3" name="TextBox 22"/>
          <p:cNvSpPr txBox="1"/>
          <p:nvPr/>
        </p:nvSpPr>
        <p:spPr>
          <a:xfrm>
            <a:off x="2514600" y="5725180"/>
            <a:ext cx="3962400" cy="523220"/>
          </a:xfrm>
          <a:prstGeom prst="rect">
            <a:avLst/>
          </a:prstGeom>
          <a:noFill/>
          <a:ln>
            <a:solidFill>
              <a:schemeClr val="bg1">
                <a:lumMod val="50000"/>
              </a:schemeClr>
            </a:solidFill>
          </a:ln>
          <a:effectLst>
            <a:outerShdw blurRad="63500" sx="102000" sy="102000" algn="ctr" rotWithShape="0">
              <a:prstClr val="black">
                <a:alpha val="40000"/>
              </a:prstClr>
            </a:outerShdw>
          </a:effectLst>
        </p:spPr>
        <p:txBody>
          <a:bodyPr wrap="square" rtlCol="0">
            <a:spAutoFit/>
          </a:bodyPr>
          <a:lstStyle/>
          <a:p>
            <a:pPr algn="ctr"/>
            <a:r>
              <a:rPr lang="en-US" sz="1400" b="1" dirty="0" smtClean="0">
                <a:solidFill>
                  <a:srgbClr val="C00000"/>
                </a:solidFill>
                <a:latin typeface="Bradley Hand ITC" pitchFamily="66" charset="0"/>
              </a:rPr>
              <a:t>Given this model, can “cm” begin other operations before the file system format is complete?</a:t>
            </a: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 – Sequence Diagram</a:t>
            </a:r>
            <a:endParaRPr lang="en-US" dirty="0"/>
          </a:p>
        </p:txBody>
      </p:sp>
      <p:sp>
        <p:nvSpPr>
          <p:cNvPr id="3" name="Content Placeholder 2"/>
          <p:cNvSpPr>
            <a:spLocks noGrp="1"/>
          </p:cNvSpPr>
          <p:nvPr>
            <p:ph idx="1"/>
          </p:nvPr>
        </p:nvSpPr>
        <p:spPr>
          <a:xfrm>
            <a:off x="457200" y="1371601"/>
            <a:ext cx="8229600" cy="990599"/>
          </a:xfrm>
        </p:spPr>
        <p:txBody>
          <a:bodyPr/>
          <a:lstStyle/>
          <a:p>
            <a:pPr marL="342900" lvl="1" indent="-342900">
              <a:buFont typeface="Wingdings" pitchFamily="2" charset="2"/>
              <a:buChar char="Ø"/>
            </a:pPr>
            <a:r>
              <a:rPr lang="en-US" dirty="0" smtClean="0"/>
              <a:t>Sequence diagrams</a:t>
            </a:r>
          </a:p>
          <a:p>
            <a:pPr marL="742950" lvl="2" indent="-342900">
              <a:buFont typeface="Wingdings" pitchFamily="2" charset="2"/>
              <a:buChar char="Ø"/>
            </a:pPr>
            <a:r>
              <a:rPr lang="en-US" dirty="0" smtClean="0"/>
              <a:t>Similar to Communication diagrams, but, they put emphasis on the </a:t>
            </a:r>
            <a:r>
              <a:rPr lang="en-US" u="sng" dirty="0" smtClean="0"/>
              <a:t>time-order</a:t>
            </a:r>
            <a:r>
              <a:rPr lang="en-US" dirty="0" smtClean="0"/>
              <a:t> sequence of messages exchanged.</a:t>
            </a:r>
          </a:p>
          <a:p>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Group 9"/>
          <p:cNvGrpSpPr/>
          <p:nvPr/>
        </p:nvGrpSpPr>
        <p:grpSpPr>
          <a:xfrm>
            <a:off x="2438400" y="2819400"/>
            <a:ext cx="4343400" cy="2343150"/>
            <a:chOff x="2438400" y="2819400"/>
            <a:chExt cx="4343400" cy="2343150"/>
          </a:xfrm>
        </p:grpSpPr>
        <p:pic>
          <p:nvPicPr>
            <p:cNvPr id="7171" name="Picture 3"/>
            <p:cNvPicPr>
              <a:picLocks noChangeAspect="1" noChangeArrowheads="1"/>
            </p:cNvPicPr>
            <p:nvPr/>
          </p:nvPicPr>
          <p:blipFill>
            <a:blip r:embed="rId2" cstate="print"/>
            <a:srcRect/>
            <a:stretch>
              <a:fillRect/>
            </a:stretch>
          </p:blipFill>
          <p:spPr bwMode="auto">
            <a:xfrm>
              <a:off x="2438400" y="2895600"/>
              <a:ext cx="4276725" cy="2266950"/>
            </a:xfrm>
            <a:prstGeom prst="rect">
              <a:avLst/>
            </a:prstGeom>
            <a:noFill/>
            <a:ln w="9525">
              <a:noFill/>
              <a:miter lim="800000"/>
              <a:headEnd/>
              <a:tailEnd/>
            </a:ln>
          </p:spPr>
        </p:pic>
        <p:sp>
          <p:nvSpPr>
            <p:cNvPr id="9" name="Rectangle 8"/>
            <p:cNvSpPr/>
            <p:nvPr/>
          </p:nvSpPr>
          <p:spPr>
            <a:xfrm>
              <a:off x="5486400" y="2819400"/>
              <a:ext cx="1295400" cy="2286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p:cNvSpPr txBox="1"/>
          <p:nvPr/>
        </p:nvSpPr>
        <p:spPr>
          <a:xfrm>
            <a:off x="4114800" y="2514600"/>
            <a:ext cx="1143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Objects</a:t>
            </a:r>
            <a:endParaRPr lang="en-US" sz="1400" b="1" dirty="0">
              <a:solidFill>
                <a:srgbClr val="C00000"/>
              </a:solidFill>
              <a:latin typeface="Bradley Hand ITC" pitchFamily="66" charset="0"/>
            </a:endParaRPr>
          </a:p>
        </p:txBody>
      </p:sp>
      <p:sp>
        <p:nvSpPr>
          <p:cNvPr id="12" name="Freeform 11"/>
          <p:cNvSpPr/>
          <p:nvPr/>
        </p:nvSpPr>
        <p:spPr>
          <a:xfrm rot="15668149">
            <a:off x="4059747" y="2766552"/>
            <a:ext cx="385959" cy="270653"/>
          </a:xfrm>
          <a:custGeom>
            <a:avLst/>
            <a:gdLst>
              <a:gd name="connsiteX0" fmla="*/ 485775 w 485775"/>
              <a:gd name="connsiteY0" fmla="*/ 314325 h 314325"/>
              <a:gd name="connsiteX1" fmla="*/ 438150 w 485775"/>
              <a:gd name="connsiteY1" fmla="*/ 114300 h 314325"/>
              <a:gd name="connsiteX2" fmla="*/ 333375 w 485775"/>
              <a:gd name="connsiteY2" fmla="*/ 19050 h 314325"/>
              <a:gd name="connsiteX3" fmla="*/ 0 w 485775"/>
              <a:gd name="connsiteY3" fmla="*/ 0 h 314325"/>
            </a:gdLst>
            <a:ahLst/>
            <a:cxnLst>
              <a:cxn ang="0">
                <a:pos x="connsiteX0" y="connsiteY0"/>
              </a:cxn>
              <a:cxn ang="0">
                <a:pos x="connsiteX1" y="connsiteY1"/>
              </a:cxn>
              <a:cxn ang="0">
                <a:pos x="connsiteX2" y="connsiteY2"/>
              </a:cxn>
              <a:cxn ang="0">
                <a:pos x="connsiteX3" y="connsiteY3"/>
              </a:cxn>
            </a:cxnLst>
            <a:rect l="l" t="t" r="r" b="b"/>
            <a:pathLst>
              <a:path w="485775" h="314325">
                <a:moveTo>
                  <a:pt x="485775" y="314325"/>
                </a:moveTo>
                <a:cubicBezTo>
                  <a:pt x="474662" y="238918"/>
                  <a:pt x="463550" y="163512"/>
                  <a:pt x="438150" y="114300"/>
                </a:cubicBezTo>
                <a:cubicBezTo>
                  <a:pt x="412750" y="65088"/>
                  <a:pt x="406400" y="38100"/>
                  <a:pt x="333375" y="19050"/>
                </a:cubicBezTo>
                <a:cubicBezTo>
                  <a:pt x="260350" y="0"/>
                  <a:pt x="130175" y="0"/>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Freeform 12"/>
          <p:cNvSpPr/>
          <p:nvPr/>
        </p:nvSpPr>
        <p:spPr>
          <a:xfrm rot="11131176">
            <a:off x="4999731" y="2684107"/>
            <a:ext cx="374767" cy="395583"/>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5486400" y="3429000"/>
            <a:ext cx="11430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Lifeline</a:t>
            </a:r>
            <a:endParaRPr lang="en-US" sz="1400" b="1" dirty="0">
              <a:solidFill>
                <a:srgbClr val="C00000"/>
              </a:solidFill>
              <a:latin typeface="Bradley Hand ITC" pitchFamily="66" charset="0"/>
            </a:endParaRPr>
          </a:p>
        </p:txBody>
      </p:sp>
      <p:sp>
        <p:nvSpPr>
          <p:cNvPr id="15" name="TextBox 14"/>
          <p:cNvSpPr txBox="1"/>
          <p:nvPr/>
        </p:nvSpPr>
        <p:spPr>
          <a:xfrm>
            <a:off x="2819400" y="4495800"/>
            <a:ext cx="10668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Activation Bar</a:t>
            </a:r>
            <a:endParaRPr lang="en-US" sz="1400" b="1" dirty="0">
              <a:solidFill>
                <a:srgbClr val="C00000"/>
              </a:solidFill>
              <a:latin typeface="Bradley Hand ITC" pitchFamily="66" charset="0"/>
            </a:endParaRPr>
          </a:p>
        </p:txBody>
      </p:sp>
      <p:sp>
        <p:nvSpPr>
          <p:cNvPr id="16" name="Freeform 15"/>
          <p:cNvSpPr/>
          <p:nvPr/>
        </p:nvSpPr>
        <p:spPr>
          <a:xfrm rot="5755914">
            <a:off x="3457714" y="4200029"/>
            <a:ext cx="374767" cy="395583"/>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Freeform 16"/>
          <p:cNvSpPr/>
          <p:nvPr/>
        </p:nvSpPr>
        <p:spPr>
          <a:xfrm rot="17012107">
            <a:off x="5319607" y="3595532"/>
            <a:ext cx="340727" cy="395583"/>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8" name="TextBox 17"/>
          <p:cNvSpPr txBox="1"/>
          <p:nvPr/>
        </p:nvSpPr>
        <p:spPr>
          <a:xfrm>
            <a:off x="4038600" y="5257800"/>
            <a:ext cx="2971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Optional modeling of return message</a:t>
            </a:r>
            <a:endParaRPr lang="en-US" sz="1400" b="1" dirty="0">
              <a:solidFill>
                <a:srgbClr val="C00000"/>
              </a:solidFill>
              <a:latin typeface="Bradley Hand ITC" pitchFamily="66" charset="0"/>
            </a:endParaRPr>
          </a:p>
        </p:txBody>
      </p:sp>
      <p:sp>
        <p:nvSpPr>
          <p:cNvPr id="19" name="Freeform 18"/>
          <p:cNvSpPr/>
          <p:nvPr/>
        </p:nvSpPr>
        <p:spPr>
          <a:xfrm rot="2604531">
            <a:off x="4449160" y="5017582"/>
            <a:ext cx="264031" cy="191122"/>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UML Behavioral Modeling</a:t>
            </a:r>
            <a:endParaRPr lang="en-US" dirty="0"/>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grpSp>
        <p:nvGrpSpPr>
          <p:cNvPr id="15" name="Group 14"/>
          <p:cNvGrpSpPr/>
          <p:nvPr/>
        </p:nvGrpSpPr>
        <p:grpSpPr>
          <a:xfrm>
            <a:off x="3048000" y="1981200"/>
            <a:ext cx="3124200" cy="3886200"/>
            <a:chOff x="3048000" y="2057400"/>
            <a:chExt cx="3124200" cy="3886200"/>
          </a:xfrm>
        </p:grpSpPr>
        <p:pic>
          <p:nvPicPr>
            <p:cNvPr id="4100" name="Picture 4"/>
            <p:cNvPicPr>
              <a:picLocks noChangeAspect="1" noChangeArrowheads="1"/>
            </p:cNvPicPr>
            <p:nvPr/>
          </p:nvPicPr>
          <p:blipFill>
            <a:blip r:embed="rId2" cstate="print"/>
            <a:srcRect l="18064" t="25172" r="16467" b="4483"/>
            <a:stretch>
              <a:fillRect/>
            </a:stretch>
          </p:blipFill>
          <p:spPr bwMode="auto">
            <a:xfrm>
              <a:off x="3048000" y="2057400"/>
              <a:ext cx="3124200" cy="3886200"/>
            </a:xfrm>
            <a:prstGeom prst="rect">
              <a:avLst/>
            </a:prstGeom>
            <a:noFill/>
            <a:ln w="9525">
              <a:noFill/>
              <a:miter lim="800000"/>
              <a:headEnd/>
              <a:tailEnd/>
            </a:ln>
            <a:effectLst/>
          </p:spPr>
        </p:pic>
        <p:sp>
          <p:nvSpPr>
            <p:cNvPr id="11" name="TextBox 10"/>
            <p:cNvSpPr txBox="1"/>
            <p:nvPr/>
          </p:nvSpPr>
          <p:spPr>
            <a:xfrm>
              <a:off x="5362575" y="2752725"/>
              <a:ext cx="255198" cy="230832"/>
            </a:xfrm>
            <a:prstGeom prst="rect">
              <a:avLst/>
            </a:prstGeom>
            <a:noFill/>
          </p:spPr>
          <p:txBody>
            <a:bodyPr wrap="none" rtlCol="0">
              <a:spAutoFit/>
            </a:bodyPr>
            <a:lstStyle/>
            <a:p>
              <a:r>
                <a:rPr lang="en-US" sz="900" dirty="0" smtClean="0"/>
                <a:t>()</a:t>
              </a:r>
              <a:endParaRPr lang="en-US" sz="900" dirty="0"/>
            </a:p>
          </p:txBody>
        </p:sp>
        <p:sp>
          <p:nvSpPr>
            <p:cNvPr id="12" name="TextBox 11"/>
            <p:cNvSpPr txBox="1"/>
            <p:nvPr/>
          </p:nvSpPr>
          <p:spPr>
            <a:xfrm>
              <a:off x="5715000" y="3826818"/>
              <a:ext cx="255198" cy="230832"/>
            </a:xfrm>
            <a:prstGeom prst="rect">
              <a:avLst/>
            </a:prstGeom>
            <a:noFill/>
          </p:spPr>
          <p:txBody>
            <a:bodyPr wrap="none" rtlCol="0">
              <a:spAutoFit/>
            </a:bodyPr>
            <a:lstStyle/>
            <a:p>
              <a:r>
                <a:rPr lang="en-US" sz="900" dirty="0" smtClean="0"/>
                <a:t>()</a:t>
              </a:r>
              <a:endParaRPr lang="en-US" sz="900" dirty="0"/>
            </a:p>
          </p:txBody>
        </p:sp>
        <p:sp>
          <p:nvSpPr>
            <p:cNvPr id="13" name="TextBox 12"/>
            <p:cNvSpPr txBox="1"/>
            <p:nvPr/>
          </p:nvSpPr>
          <p:spPr>
            <a:xfrm>
              <a:off x="4238625" y="2838450"/>
              <a:ext cx="255198" cy="230832"/>
            </a:xfrm>
            <a:prstGeom prst="rect">
              <a:avLst/>
            </a:prstGeom>
            <a:noFill/>
          </p:spPr>
          <p:txBody>
            <a:bodyPr wrap="none" rtlCol="0">
              <a:spAutoFit/>
            </a:bodyPr>
            <a:lstStyle/>
            <a:p>
              <a:r>
                <a:rPr lang="en-US" sz="900" dirty="0" smtClean="0"/>
                <a:t>()</a:t>
              </a:r>
              <a:endParaRPr lang="en-US" sz="900" dirty="0"/>
            </a:p>
          </p:txBody>
        </p:sp>
        <p:sp>
          <p:nvSpPr>
            <p:cNvPr id="14" name="TextBox 13"/>
            <p:cNvSpPr txBox="1"/>
            <p:nvPr/>
          </p:nvSpPr>
          <p:spPr>
            <a:xfrm>
              <a:off x="4212027" y="3912543"/>
              <a:ext cx="255198" cy="230832"/>
            </a:xfrm>
            <a:prstGeom prst="rect">
              <a:avLst/>
            </a:prstGeom>
            <a:noFill/>
          </p:spPr>
          <p:txBody>
            <a:bodyPr wrap="none" rtlCol="0">
              <a:spAutoFit/>
            </a:bodyPr>
            <a:lstStyle/>
            <a:p>
              <a:r>
                <a:rPr lang="en-US" sz="900" dirty="0" smtClean="0"/>
                <a:t>()</a:t>
              </a:r>
              <a:endParaRPr lang="en-US" sz="900" dirty="0"/>
            </a:p>
          </p:txBody>
        </p:sp>
      </p:grpSp>
      <p:sp>
        <p:nvSpPr>
          <p:cNvPr id="16" name="Content Placeholder 2"/>
          <p:cNvSpPr>
            <a:spLocks noGrp="1"/>
          </p:cNvSpPr>
          <p:nvPr>
            <p:ph idx="1"/>
          </p:nvPr>
        </p:nvSpPr>
        <p:spPr>
          <a:xfrm>
            <a:off x="457200" y="1371601"/>
            <a:ext cx="8229600" cy="457199"/>
          </a:xfrm>
        </p:spPr>
        <p:txBody>
          <a:bodyPr/>
          <a:lstStyle/>
          <a:p>
            <a:pPr marL="342900" lvl="1" indent="-342900">
              <a:buFont typeface="Wingdings" pitchFamily="2" charset="2"/>
              <a:buChar char="Ø"/>
            </a:pPr>
            <a:r>
              <a:rPr lang="en-US" dirty="0" smtClean="0"/>
              <a:t>Finally, a word about concurrency…</a:t>
            </a:r>
          </a:p>
          <a:p>
            <a:endParaRPr lang="en-US" dirty="0"/>
          </a:p>
        </p:txBody>
      </p:sp>
      <p:sp>
        <p:nvSpPr>
          <p:cNvPr id="17" name="TextBox 16"/>
          <p:cNvSpPr txBox="1"/>
          <p:nvPr/>
        </p:nvSpPr>
        <p:spPr>
          <a:xfrm>
            <a:off x="5257800" y="1676400"/>
            <a:ext cx="3505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We use Active Objects to model independent flows of control, e.g., processes.</a:t>
            </a:r>
            <a:endParaRPr lang="en-US" sz="1400" b="1" dirty="0">
              <a:solidFill>
                <a:srgbClr val="C00000"/>
              </a:solidFill>
              <a:latin typeface="Bradley Hand ITC" pitchFamily="66" charset="0"/>
            </a:endParaRPr>
          </a:p>
        </p:txBody>
      </p:sp>
      <p:sp>
        <p:nvSpPr>
          <p:cNvPr id="18" name="Freeform 17"/>
          <p:cNvSpPr/>
          <p:nvPr/>
        </p:nvSpPr>
        <p:spPr>
          <a:xfrm rot="16684452">
            <a:off x="5293457" y="1997672"/>
            <a:ext cx="374767" cy="395583"/>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5410200" y="3200400"/>
            <a:ext cx="3505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We use Tagged Values to specify the location of the running processes.</a:t>
            </a:r>
            <a:endParaRPr lang="en-US" sz="1400" b="1" dirty="0">
              <a:solidFill>
                <a:srgbClr val="C00000"/>
              </a:solidFill>
              <a:latin typeface="Bradley Hand ITC" pitchFamily="66" charset="0"/>
            </a:endParaRPr>
          </a:p>
        </p:txBody>
      </p:sp>
      <p:sp>
        <p:nvSpPr>
          <p:cNvPr id="21" name="Left Brace 20"/>
          <p:cNvSpPr/>
          <p:nvPr/>
        </p:nvSpPr>
        <p:spPr>
          <a:xfrm>
            <a:off x="3276600" y="2057400"/>
            <a:ext cx="228600" cy="2133600"/>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2" name="TextBox 21"/>
          <p:cNvSpPr txBox="1"/>
          <p:nvPr/>
        </p:nvSpPr>
        <p:spPr>
          <a:xfrm>
            <a:off x="1066800" y="2971800"/>
            <a:ext cx="2209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Asynchronous messaging</a:t>
            </a:r>
            <a:endParaRPr lang="en-US" sz="1400" b="1" dirty="0">
              <a:solidFill>
                <a:srgbClr val="C00000"/>
              </a:solidFill>
              <a:latin typeface="Bradley Hand ITC" pitchFamily="66" charset="0"/>
            </a:endParaRPr>
          </a:p>
        </p:txBody>
      </p:sp>
      <p:sp>
        <p:nvSpPr>
          <p:cNvPr id="23" name="TextBox 22"/>
          <p:cNvSpPr txBox="1"/>
          <p:nvPr/>
        </p:nvSpPr>
        <p:spPr>
          <a:xfrm>
            <a:off x="5410200" y="2438400"/>
            <a:ext cx="3505200" cy="523220"/>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We use stereotype &lt;&lt;process&gt;&gt; to specify these are actual run-time processes.</a:t>
            </a:r>
            <a:endParaRPr lang="en-US" sz="1400" b="1" dirty="0">
              <a:solidFill>
                <a:srgbClr val="C00000"/>
              </a:solidFill>
              <a:latin typeface="Bradley Hand ITC" pitchFamily="66" charset="0"/>
            </a:endParaRPr>
          </a:p>
        </p:txBody>
      </p:sp>
      <p:sp>
        <p:nvSpPr>
          <p:cNvPr id="24" name="TextBox 23"/>
          <p:cNvSpPr txBox="1"/>
          <p:nvPr/>
        </p:nvSpPr>
        <p:spPr>
          <a:xfrm>
            <a:off x="685800" y="5105400"/>
            <a:ext cx="2209800" cy="30777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Synchronous messaging</a:t>
            </a:r>
            <a:endParaRPr lang="en-US" sz="1400" b="1" dirty="0">
              <a:solidFill>
                <a:srgbClr val="C00000"/>
              </a:solidFill>
              <a:latin typeface="Bradley Hand ITC" pitchFamily="66" charset="0"/>
            </a:endParaRPr>
          </a:p>
        </p:txBody>
      </p:sp>
      <p:sp>
        <p:nvSpPr>
          <p:cNvPr id="25" name="Freeform 24"/>
          <p:cNvSpPr/>
          <p:nvPr/>
        </p:nvSpPr>
        <p:spPr>
          <a:xfrm rot="6831145">
            <a:off x="2958214" y="4607874"/>
            <a:ext cx="466111" cy="1107003"/>
          </a:xfrm>
          <a:custGeom>
            <a:avLst/>
            <a:gdLst>
              <a:gd name="connsiteX0" fmla="*/ 619125 w 619125"/>
              <a:gd name="connsiteY0" fmla="*/ 400050 h 400050"/>
              <a:gd name="connsiteX1" fmla="*/ 257175 w 619125"/>
              <a:gd name="connsiteY1" fmla="*/ 361950 h 400050"/>
              <a:gd name="connsiteX2" fmla="*/ 47625 w 619125"/>
              <a:gd name="connsiteY2" fmla="*/ 247650 h 400050"/>
              <a:gd name="connsiteX3" fmla="*/ 0 w 619125"/>
              <a:gd name="connsiteY3" fmla="*/ 0 h 400050"/>
            </a:gdLst>
            <a:ahLst/>
            <a:cxnLst>
              <a:cxn ang="0">
                <a:pos x="connsiteX0" y="connsiteY0"/>
              </a:cxn>
              <a:cxn ang="0">
                <a:pos x="connsiteX1" y="connsiteY1"/>
              </a:cxn>
              <a:cxn ang="0">
                <a:pos x="connsiteX2" y="connsiteY2"/>
              </a:cxn>
              <a:cxn ang="0">
                <a:pos x="connsiteX3" y="connsiteY3"/>
              </a:cxn>
            </a:cxnLst>
            <a:rect l="l" t="t" r="r" b="b"/>
            <a:pathLst>
              <a:path w="619125" h="400050">
                <a:moveTo>
                  <a:pt x="619125" y="400050"/>
                </a:moveTo>
                <a:cubicBezTo>
                  <a:pt x="485775" y="393700"/>
                  <a:pt x="352425" y="387350"/>
                  <a:pt x="257175" y="361950"/>
                </a:cubicBezTo>
                <a:cubicBezTo>
                  <a:pt x="161925" y="336550"/>
                  <a:pt x="90487" y="307975"/>
                  <a:pt x="47625" y="247650"/>
                </a:cubicBezTo>
                <a:cubicBezTo>
                  <a:pt x="4763" y="187325"/>
                  <a:pt x="2381" y="93662"/>
                  <a:pt x="0" y="0"/>
                </a:cubicBezTo>
              </a:path>
            </a:pathLst>
          </a:custGeom>
          <a:ln>
            <a:solidFill>
              <a:srgbClr val="C00000"/>
            </a:solidFill>
            <a:tailEnd type="stealt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a:off x="5943600" y="4495800"/>
            <a:ext cx="2590800" cy="1169551"/>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SiteManager works in lock-step with nodeOne.  Once nodeOn is powered on, then SiteManager initiates power on sequence of nodeTwo</a:t>
            </a:r>
            <a:endParaRPr lang="en-US" sz="1400" b="1" dirty="0">
              <a:solidFill>
                <a:srgbClr val="C00000"/>
              </a:solidFill>
              <a:latin typeface="Bradley Hand ITC" pitchFamily="66" charset="0"/>
            </a:endParaRPr>
          </a:p>
        </p:txBody>
      </p:sp>
      <p:sp>
        <p:nvSpPr>
          <p:cNvPr id="27" name="TextBox 26"/>
          <p:cNvSpPr txBox="1"/>
          <p:nvPr/>
        </p:nvSpPr>
        <p:spPr>
          <a:xfrm>
            <a:off x="381000" y="1828800"/>
            <a:ext cx="2819400" cy="954107"/>
          </a:xfrm>
          <a:prstGeom prst="rect">
            <a:avLst/>
          </a:prstGeom>
          <a:noFill/>
        </p:spPr>
        <p:txBody>
          <a:bodyPr wrap="square" rtlCol="0">
            <a:spAutoFit/>
          </a:bodyPr>
          <a:lstStyle/>
          <a:p>
            <a:pPr algn="ctr"/>
            <a:r>
              <a:rPr lang="en-US" sz="1400" b="1" dirty="0" smtClean="0">
                <a:solidFill>
                  <a:srgbClr val="C00000"/>
                </a:solidFill>
                <a:latin typeface="Bradley Hand ITC" pitchFamily="66" charset="0"/>
              </a:rPr>
              <a:t>SystemManager process, located on client PC does not have to wait until Sensor Nodes are powered on to begin doing other work</a:t>
            </a:r>
            <a:endParaRPr lang="en-US" sz="1400" b="1" dirty="0">
              <a:solidFill>
                <a:srgbClr val="C00000"/>
              </a:solidFill>
              <a:latin typeface="Bradley Hand ITC" pitchFamily="66"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Next…</a:t>
            </a:r>
            <a:endParaRPr lang="en-US" dirty="0"/>
          </a:p>
        </p:txBody>
      </p:sp>
      <p:sp>
        <p:nvSpPr>
          <p:cNvPr id="3" name="Content Placeholder 2"/>
          <p:cNvSpPr>
            <a:spLocks noGrp="1"/>
          </p:cNvSpPr>
          <p:nvPr>
            <p:ph idx="1"/>
          </p:nvPr>
        </p:nvSpPr>
        <p:spPr/>
        <p:txBody>
          <a:bodyPr/>
          <a:lstStyle/>
          <a:p>
            <a:r>
              <a:rPr lang="en-US" dirty="0" smtClean="0"/>
              <a:t>Now that we are equipped with the necessary UML tools, we can now explore how to used them to design a software architecture.</a:t>
            </a:r>
          </a:p>
          <a:p>
            <a:endParaRPr lang="en-US" dirty="0" smtClean="0"/>
          </a:p>
          <a:p>
            <a:r>
              <a:rPr lang="en-US" dirty="0" smtClean="0"/>
              <a:t>In the next session, we will present Software Architecture in more detail, including :</a:t>
            </a:r>
          </a:p>
          <a:p>
            <a:pPr lvl="1"/>
            <a:r>
              <a:rPr lang="en-US" dirty="0" smtClean="0"/>
              <a:t>Understanding the role of software architecture within the design phase.</a:t>
            </a:r>
          </a:p>
          <a:p>
            <a:pPr lvl="1"/>
            <a:r>
              <a:rPr lang="en-US" dirty="0" smtClean="0"/>
              <a:t>Explore in more detail the architectural tasks and problem-solving during architecture.</a:t>
            </a:r>
          </a:p>
        </p:txBody>
      </p:sp>
      <p:sp>
        <p:nvSpPr>
          <p:cNvPr id="4" name="Date Placeholder 3"/>
          <p:cNvSpPr>
            <a:spLocks noGrp="1"/>
          </p:cNvSpPr>
          <p:nvPr>
            <p:ph type="dt" sz="half" idx="10"/>
          </p:nvPr>
        </p:nvSpPr>
        <p:spPr/>
        <p:txBody>
          <a:bodyPr/>
          <a:lstStyle/>
          <a:p>
            <a:fld id="{F3FBCFF5-EE4F-4FFF-A0F1-127D95D6DEF9}" type="datetime1">
              <a:rPr lang="en-US" smtClean="0"/>
              <a:pPr/>
              <a:t>10/3/2012</a:t>
            </a:fld>
            <a:endParaRPr lang="en-US"/>
          </a:p>
        </p:txBody>
      </p:sp>
      <p:sp>
        <p:nvSpPr>
          <p:cNvPr id="5" name="Footer Placeholder 4"/>
          <p:cNvSpPr>
            <a:spLocks noGrp="1"/>
          </p:cNvSpPr>
          <p:nvPr>
            <p:ph type="ftr" sz="quarter" idx="11"/>
          </p:nvPr>
        </p:nvSpPr>
        <p:spPr/>
        <p:txBody>
          <a:bodyPr/>
          <a:lstStyle/>
          <a:p>
            <a:r>
              <a:rPr lang="en-US" smtClean="0"/>
              <a:t>Software Engineering Design: Theory and Practice</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UVa-Wise-Clean-BW">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UVa-Wise-Clean-BW</Template>
  <TotalTime>8659</TotalTime>
  <Words>1571</Words>
  <Application>Microsoft Office PowerPoint</Application>
  <PresentationFormat>On-screen Show (4:3)</PresentationFormat>
  <Paragraphs>222</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UVa-Wise-Clean-BW</vt:lpstr>
      <vt:lpstr>Chapter 2: Software Design with the Unified Modeling Language </vt:lpstr>
      <vt:lpstr>Session’s Agenda</vt:lpstr>
      <vt:lpstr>UML Behavioral Modeling</vt:lpstr>
      <vt:lpstr>UML Behavioral Modeling</vt:lpstr>
      <vt:lpstr>UML Behavioral Modeling – Use Case Diagram</vt:lpstr>
      <vt:lpstr>UML Behavioral Modeling – Use Case Diagram</vt:lpstr>
      <vt:lpstr>UML Behavioral Modeling – Use Case Diagram</vt:lpstr>
      <vt:lpstr>UML Behavioral Modeling – Use Case Diagram</vt:lpstr>
      <vt:lpstr>UML Behavioral Modeling – Interaction Diagrams</vt:lpstr>
      <vt:lpstr>UML Behavioral Modeling – Communication Diagram</vt:lpstr>
      <vt:lpstr>UML Behavioral Modeling – Communication Diagram</vt:lpstr>
      <vt:lpstr>UML Behavioral Modeling – Communication Diagram</vt:lpstr>
      <vt:lpstr>UML Behavioral Modeling – Sequence Diagram</vt:lpstr>
      <vt:lpstr>UML Behavioral Modeling</vt:lpstr>
      <vt:lpstr>What’s Next…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Modeling and Simulation</dc:title>
  <dc:creator>ceo7k</dc:creator>
  <cp:lastModifiedBy>cotero</cp:lastModifiedBy>
  <cp:revision>566</cp:revision>
  <dcterms:created xsi:type="dcterms:W3CDTF">2006-08-16T00:00:00Z</dcterms:created>
  <dcterms:modified xsi:type="dcterms:W3CDTF">2012-10-03T10:59:20Z</dcterms:modified>
</cp:coreProperties>
</file>
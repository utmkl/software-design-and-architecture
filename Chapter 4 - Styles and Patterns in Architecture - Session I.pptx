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36" r:id="rId13"/>
    <p:sldId id="337" r:id="rId1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9B3061A-7F4E-4E3A-A627-E1FC384385A9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58D7772-57C4-43FE-B30D-FBB40B6BD3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8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9144000" cy="1066800"/>
          </a:xfrm>
        </p:spPr>
        <p:txBody>
          <a:bodyPr>
            <a:normAutofit/>
          </a:bodyPr>
          <a:lstStyle>
            <a:lvl1pPr algn="ctr">
              <a:defRPr sz="2400" b="1" cap="small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9"/>
            <a:ext cx="91440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small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E146812-51FF-4609-8A40-02FC8C31783E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Practice. Copyright 2012 by Carlos E. Otero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1676400" y="2713434"/>
            <a:ext cx="6477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Software Engineering Design: Theory and Practice</a:t>
            </a:r>
            <a:r>
              <a:rPr lang="en-US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Carlos</a:t>
            </a:r>
            <a:r>
              <a:rPr lang="en-US" sz="1600" b="0" baseline="0" dirty="0" smtClean="0">
                <a:latin typeface="Times New Roman" pitchFamily="18" charset="0"/>
                <a:cs typeface="Times New Roman" pitchFamily="18" charset="0"/>
              </a:rPr>
              <a:t> E. Otero</a:t>
            </a:r>
            <a:endParaRPr lang="en-US" sz="1200" b="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Slides copyright ©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2012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Carlos E. Otero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non-profit educational use only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May be reproduced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only 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student use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used in conjunction with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Engineering Design: Theory and Practice.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Any other reproduction or use is prohibited without the express written permission of the author.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All copyright information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must appear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if these slides are posted on a website for student use.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3200400"/>
            <a:ext cx="762000" cy="1102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00599"/>
          </a:xfrm>
        </p:spPr>
        <p:txBody>
          <a:bodyPr/>
          <a:lstStyle>
            <a:lvl1pPr>
              <a:buFont typeface="Wingdings" pitchFamily="2" charset="2"/>
              <a:buChar char="Ø"/>
              <a:defRPr sz="2000"/>
            </a:lvl1pPr>
            <a:lvl2pPr>
              <a:buFont typeface="Wingdings" pitchFamily="2" charset="2"/>
              <a:buChar char="ü"/>
              <a:defRPr sz="1800"/>
            </a:lvl2pPr>
            <a:lvl3pPr>
              <a:buFont typeface="Wingdings" pitchFamily="2" charset="2"/>
              <a:buChar char="§"/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62078"/>
            <a:ext cx="990600" cy="304800"/>
          </a:xfrm>
          <a:prstGeom prst="rect">
            <a:avLst/>
          </a:prstGeom>
        </p:spPr>
        <p:txBody>
          <a:bodyPr/>
          <a:lstStyle/>
          <a:p>
            <a:fld id="{ED229BA3-A27B-42AB-9F31-42418016249D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62078"/>
            <a:ext cx="6096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62078"/>
            <a:ext cx="11430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F0BB3435-0E9A-4626-BE17-A8762A108CF2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004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A8E9BC6D-F3D4-4CAF-ACEC-494A57D202E4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E15860A7-5D37-4EAC-8EFD-51F43FFA3B5E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061ED6DB-E37C-45C5-85AA-C10B399F13E3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DA6BCD18-5551-42D7-A5DD-C6871E4D3FB5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25C7B514-375B-4C9F-AB19-638794D6AC42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41643C31-6BED-43CE-92EC-61FE9F1B16F6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999D3834-0217-485F-B8FA-819EC68F0E18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219722" y="228600"/>
            <a:ext cx="8686800" cy="6324600"/>
          </a:xfrm>
          <a:prstGeom prst="round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14859E5-2B7A-4354-9302-A47E7090D67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 algn="ct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Enterprise Software Architecture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 algn="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400" b="1" kern="1200" cap="small" baseline="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Chapter 4: Patterns and Styles in</a:t>
            </a:r>
            <a:br>
              <a:rPr lang="en-US" dirty="0" smtClean="0"/>
            </a:br>
            <a:r>
              <a:rPr lang="en-US" dirty="0" smtClean="0"/>
              <a:t>Software Architecture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Session I: Overview and History of Styles and Patterns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5638-2204-47C5-8D02-0990D6B01040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76799"/>
          </a:xfrm>
        </p:spPr>
        <p:txBody>
          <a:bodyPr>
            <a:normAutofit/>
          </a:bodyPr>
          <a:lstStyle/>
          <a:p>
            <a:r>
              <a:rPr lang="en-US" dirty="0" smtClean="0"/>
              <a:t>Overview of Architecture Styles and Patterns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History of Architectural Styles and Patterns</a:t>
            </a:r>
          </a:p>
          <a:p>
            <a:pPr lvl="1"/>
            <a:r>
              <a:rPr lang="en-US" dirty="0" smtClean="0"/>
              <a:t>Origin of styles and patterns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Classification of Architectural Styles and Patterns</a:t>
            </a:r>
          </a:p>
          <a:p>
            <a:pPr lvl="1"/>
            <a:r>
              <a:rPr lang="en-US" dirty="0" smtClean="0"/>
              <a:t>Data-Centered</a:t>
            </a:r>
          </a:p>
          <a:p>
            <a:pPr lvl="1"/>
            <a:r>
              <a:rPr lang="en-US" dirty="0" smtClean="0"/>
              <a:t>Data flow</a:t>
            </a:r>
          </a:p>
          <a:p>
            <a:pPr lvl="1"/>
            <a:r>
              <a:rPr lang="en-US" smtClean="0"/>
              <a:t>Distributed</a:t>
            </a:r>
            <a:endParaRPr lang="en-US" dirty="0" smtClean="0"/>
          </a:p>
          <a:p>
            <a:pPr lvl="1"/>
            <a:r>
              <a:rPr lang="en-US" dirty="0" smtClean="0"/>
              <a:t>Interactive</a:t>
            </a:r>
          </a:p>
          <a:p>
            <a:pPr lvl="1"/>
            <a:r>
              <a:rPr lang="en-US" dirty="0" smtClean="0"/>
              <a:t>Hierarchical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What’s next…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7354-941D-4A10-A419-5D3E5FF7573C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Overview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the previous module, it was established that software systems need to be carefully architected and evaluated from different perspectives.</a:t>
            </a:r>
          </a:p>
          <a:p>
            <a:pPr lvl="1"/>
            <a:r>
              <a:rPr lang="en-US" dirty="0" smtClean="0"/>
              <a:t>This is necessary to address multiple concerns that shape the quality of the system from different stakeholders with different backgrounds.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 this module, we pay special attention (mostly) to the </a:t>
            </a:r>
            <a:r>
              <a:rPr lang="en-US" b="1" i="1" dirty="0" smtClean="0">
                <a:solidFill>
                  <a:srgbClr val="FF0000"/>
                </a:solidFill>
              </a:rPr>
              <a:t>logical view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of software architecture.</a:t>
            </a:r>
          </a:p>
          <a:p>
            <a:pPr lvl="1"/>
            <a:r>
              <a:rPr lang="en-US" dirty="0" smtClean="0"/>
              <a:t>That is, the perspective that deals with decomposing the software system into logical components that represent the structural integrity that supports functional and non-functional (quality) requirements.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When designing logical architectures, it is important to use </a:t>
            </a:r>
            <a:r>
              <a:rPr lang="en-US" dirty="0" smtClean="0">
                <a:solidFill>
                  <a:srgbClr val="FF0000"/>
                </a:solidFill>
              </a:rPr>
              <a:t>past experience </a:t>
            </a:r>
            <a:r>
              <a:rPr lang="en-US" dirty="0" smtClean="0"/>
              <a:t>to discover </a:t>
            </a:r>
            <a:r>
              <a:rPr lang="en-US" dirty="0" smtClean="0">
                <a:solidFill>
                  <a:srgbClr val="FF0000"/>
                </a:solidFill>
              </a:rPr>
              <a:t>overall strategies </a:t>
            </a:r>
            <a:r>
              <a:rPr lang="en-US" dirty="0" smtClean="0"/>
              <a:t>that have been used successfully in the development of software systems.</a:t>
            </a:r>
          </a:p>
          <a:p>
            <a:pPr lvl="1"/>
            <a:r>
              <a:rPr lang="en-US" dirty="0" smtClean="0"/>
              <a:t>To this end, the concepts of </a:t>
            </a:r>
            <a:r>
              <a:rPr lang="en-US" i="1" dirty="0" smtClean="0"/>
              <a:t>architectural styles</a:t>
            </a:r>
            <a:r>
              <a:rPr lang="en-US" dirty="0" smtClean="0"/>
              <a:t> and </a:t>
            </a:r>
            <a:r>
              <a:rPr lang="en-US" i="1" dirty="0" smtClean="0"/>
              <a:t>architectural patterns</a:t>
            </a:r>
            <a:r>
              <a:rPr lang="en-US" dirty="0" smtClean="0"/>
              <a:t> have emerged as mainstream approach for achieving reuse at the architectural level.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Overview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213359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Architectural styles and architectural patterns provide generic, reusable solutions that can be easily understood.</a:t>
            </a:r>
          </a:p>
          <a:p>
            <a:pPr lvl="1"/>
            <a:r>
              <a:rPr lang="en-US" dirty="0" smtClean="0"/>
              <a:t>These can be easily applied to new problems requiring similar architectural features.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Decisions based on architectural styles and patterns benefit from years of documented experience that highlights</a:t>
            </a:r>
          </a:p>
          <a:p>
            <a:pPr lvl="1"/>
            <a:r>
              <a:rPr lang="en-US" dirty="0" smtClean="0"/>
              <a:t>The solution approach to a given problem.</a:t>
            </a:r>
          </a:p>
          <a:p>
            <a:pPr lvl="1"/>
            <a:r>
              <a:rPr lang="en-US" dirty="0" smtClean="0"/>
              <a:t>The benefits of these approaches.</a:t>
            </a:r>
          </a:p>
          <a:p>
            <a:pPr lvl="1"/>
            <a:r>
              <a:rPr lang="en-US" dirty="0" smtClean="0"/>
              <a:t>The consequences of employing these approaches.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5623672" y="4157315"/>
            <a:ext cx="2682128" cy="2081560"/>
            <a:chOff x="5166472" y="3962400"/>
            <a:chExt cx="2682128" cy="2081560"/>
          </a:xfrm>
        </p:grpSpPr>
        <p:pic>
          <p:nvPicPr>
            <p:cNvPr id="56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943600" y="4724400"/>
              <a:ext cx="548528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Cloud Callout 57"/>
            <p:cNvSpPr/>
            <p:nvPr/>
          </p:nvSpPr>
          <p:spPr>
            <a:xfrm>
              <a:off x="6400800" y="3962400"/>
              <a:ext cx="1447800" cy="838200"/>
            </a:xfrm>
            <a:prstGeom prst="cloudCallout">
              <a:avLst>
                <a:gd name="adj1" fmla="val -23987"/>
                <a:gd name="adj2" fmla="val 7981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ounded Rectangular Callout 53"/>
            <p:cNvSpPr/>
            <p:nvPr/>
          </p:nvSpPr>
          <p:spPr>
            <a:xfrm>
              <a:off x="5242237" y="4419600"/>
              <a:ext cx="853763" cy="228600"/>
            </a:xfrm>
            <a:prstGeom prst="wedgeRoundRectCallout">
              <a:avLst>
                <a:gd name="adj1" fmla="val 43338"/>
                <a:gd name="adj2" fmla="val 97666"/>
                <a:gd name="adj3" fmla="val 16667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166472" y="4419600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Build a house!</a:t>
              </a:r>
              <a:endParaRPr lang="en-US" sz="1000" dirty="0"/>
            </a:p>
          </p:txBody>
        </p:sp>
        <p:pic>
          <p:nvPicPr>
            <p:cNvPr id="57" name="Picture 2" descr="C:\Users\cotero\AppData\Local\Microsoft\Windows\Temporary Internet Files\Content.IE5\MFZE6V1B\MC900231557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6248400" y="5105400"/>
              <a:ext cx="704780" cy="938560"/>
            </a:xfrm>
            <a:prstGeom prst="rect">
              <a:avLst/>
            </a:prstGeom>
            <a:noFill/>
          </p:spPr>
        </p:pic>
        <p:pic>
          <p:nvPicPr>
            <p:cNvPr id="1051" name="Picture 27" descr="C:\Users\cotero\AppData\Local\Microsoft\Windows\Temporary Internet Files\Content.IE5\6QQ1AAQV\MC900324808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629401" y="4114800"/>
              <a:ext cx="925990" cy="533400"/>
            </a:xfrm>
            <a:prstGeom prst="rect">
              <a:avLst/>
            </a:prstGeom>
            <a:noFill/>
          </p:spPr>
        </p:pic>
      </p:grpSp>
      <p:sp>
        <p:nvSpPr>
          <p:cNvPr id="81" name="TextBox 80"/>
          <p:cNvSpPr txBox="1"/>
          <p:nvPr/>
        </p:nvSpPr>
        <p:spPr>
          <a:xfrm>
            <a:off x="5638800" y="350520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Today’s Architects benefit from years of documented experience!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98" name="Freeform 97"/>
          <p:cNvSpPr/>
          <p:nvPr/>
        </p:nvSpPr>
        <p:spPr>
          <a:xfrm>
            <a:off x="8267700" y="3657600"/>
            <a:ext cx="222250" cy="533400"/>
          </a:xfrm>
          <a:custGeom>
            <a:avLst/>
            <a:gdLst>
              <a:gd name="connsiteX0" fmla="*/ 19050 w 222250"/>
              <a:gd name="connsiteY0" fmla="*/ 0 h 533400"/>
              <a:gd name="connsiteX1" fmla="*/ 219075 w 222250"/>
              <a:gd name="connsiteY1" fmla="*/ 276225 h 533400"/>
              <a:gd name="connsiteX2" fmla="*/ 0 w 222250"/>
              <a:gd name="connsiteY2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250" h="533400">
                <a:moveTo>
                  <a:pt x="19050" y="0"/>
                </a:moveTo>
                <a:cubicBezTo>
                  <a:pt x="120650" y="93662"/>
                  <a:pt x="222250" y="187325"/>
                  <a:pt x="219075" y="276225"/>
                </a:cubicBezTo>
                <a:cubicBezTo>
                  <a:pt x="215900" y="365125"/>
                  <a:pt x="107950" y="449262"/>
                  <a:pt x="0" y="533400"/>
                </a:cubicBezTo>
              </a:path>
            </a:pathLst>
          </a:custGeom>
          <a:ln w="635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/>
          <p:cNvGrpSpPr/>
          <p:nvPr/>
        </p:nvGrpSpPr>
        <p:grpSpPr>
          <a:xfrm>
            <a:off x="457200" y="4156564"/>
            <a:ext cx="3124200" cy="2015636"/>
            <a:chOff x="457200" y="4156564"/>
            <a:chExt cx="3124200" cy="2015636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52600" y="5251939"/>
              <a:ext cx="533400" cy="920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" name="Cloud Callout 77"/>
            <p:cNvSpPr/>
            <p:nvPr/>
          </p:nvSpPr>
          <p:spPr>
            <a:xfrm>
              <a:off x="838200" y="4156564"/>
              <a:ext cx="1447800" cy="838200"/>
            </a:xfrm>
            <a:prstGeom prst="cloudCallout">
              <a:avLst>
                <a:gd name="adj1" fmla="val 22724"/>
                <a:gd name="adj2" fmla="val 78674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2286000" y="4918564"/>
              <a:ext cx="594472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4" name="Group 43"/>
            <p:cNvGrpSpPr/>
            <p:nvPr/>
          </p:nvGrpSpPr>
          <p:grpSpPr>
            <a:xfrm>
              <a:off x="1143000" y="4308964"/>
              <a:ext cx="777128" cy="457200"/>
              <a:chOff x="2967360" y="4712947"/>
              <a:chExt cx="3036714" cy="1499740"/>
            </a:xfrm>
          </p:grpSpPr>
          <p:sp>
            <p:nvSpPr>
              <p:cNvPr id="45" name="Freeform 44"/>
              <p:cNvSpPr/>
              <p:nvPr/>
            </p:nvSpPr>
            <p:spPr>
              <a:xfrm>
                <a:off x="3486150" y="5295900"/>
                <a:ext cx="1638300" cy="800100"/>
              </a:xfrm>
              <a:custGeom>
                <a:avLst/>
                <a:gdLst>
                  <a:gd name="connsiteX0" fmla="*/ 0 w 1638300"/>
                  <a:gd name="connsiteY0" fmla="*/ 800100 h 800100"/>
                  <a:gd name="connsiteX1" fmla="*/ 19050 w 1638300"/>
                  <a:gd name="connsiteY1" fmla="*/ 771525 h 800100"/>
                  <a:gd name="connsiteX2" fmla="*/ 47625 w 1638300"/>
                  <a:gd name="connsiteY2" fmla="*/ 762000 h 800100"/>
                  <a:gd name="connsiteX3" fmla="*/ 133350 w 1638300"/>
                  <a:gd name="connsiteY3" fmla="*/ 733425 h 800100"/>
                  <a:gd name="connsiteX4" fmla="*/ 161925 w 1638300"/>
                  <a:gd name="connsiteY4" fmla="*/ 723900 h 800100"/>
                  <a:gd name="connsiteX5" fmla="*/ 209550 w 1638300"/>
                  <a:gd name="connsiteY5" fmla="*/ 714375 h 800100"/>
                  <a:gd name="connsiteX6" fmla="*/ 238125 w 1638300"/>
                  <a:gd name="connsiteY6" fmla="*/ 704850 h 800100"/>
                  <a:gd name="connsiteX7" fmla="*/ 285750 w 1638300"/>
                  <a:gd name="connsiteY7" fmla="*/ 695325 h 800100"/>
                  <a:gd name="connsiteX8" fmla="*/ 333375 w 1638300"/>
                  <a:gd name="connsiteY8" fmla="*/ 638175 h 800100"/>
                  <a:gd name="connsiteX9" fmla="*/ 342900 w 1638300"/>
                  <a:gd name="connsiteY9" fmla="*/ 600075 h 800100"/>
                  <a:gd name="connsiteX10" fmla="*/ 333375 w 1638300"/>
                  <a:gd name="connsiteY10" fmla="*/ 438150 h 800100"/>
                  <a:gd name="connsiteX11" fmla="*/ 314325 w 1638300"/>
                  <a:gd name="connsiteY11" fmla="*/ 409575 h 800100"/>
                  <a:gd name="connsiteX12" fmla="*/ 295275 w 1638300"/>
                  <a:gd name="connsiteY12" fmla="*/ 352425 h 800100"/>
                  <a:gd name="connsiteX13" fmla="*/ 285750 w 1638300"/>
                  <a:gd name="connsiteY13" fmla="*/ 323850 h 800100"/>
                  <a:gd name="connsiteX14" fmla="*/ 266700 w 1638300"/>
                  <a:gd name="connsiteY14" fmla="*/ 285750 h 800100"/>
                  <a:gd name="connsiteX15" fmla="*/ 276225 w 1638300"/>
                  <a:gd name="connsiteY15" fmla="*/ 257175 h 800100"/>
                  <a:gd name="connsiteX16" fmla="*/ 304800 w 1638300"/>
                  <a:gd name="connsiteY16" fmla="*/ 247650 h 800100"/>
                  <a:gd name="connsiteX17" fmla="*/ 342900 w 1638300"/>
                  <a:gd name="connsiteY17" fmla="*/ 219075 h 800100"/>
                  <a:gd name="connsiteX18" fmla="*/ 400050 w 1638300"/>
                  <a:gd name="connsiteY18" fmla="*/ 190500 h 800100"/>
                  <a:gd name="connsiteX19" fmla="*/ 457200 w 1638300"/>
                  <a:gd name="connsiteY19" fmla="*/ 133350 h 800100"/>
                  <a:gd name="connsiteX20" fmla="*/ 466725 w 1638300"/>
                  <a:gd name="connsiteY20" fmla="*/ 104775 h 800100"/>
                  <a:gd name="connsiteX21" fmla="*/ 495300 w 1638300"/>
                  <a:gd name="connsiteY21" fmla="*/ 85725 h 800100"/>
                  <a:gd name="connsiteX22" fmla="*/ 533400 w 1638300"/>
                  <a:gd name="connsiteY22" fmla="*/ 57150 h 800100"/>
                  <a:gd name="connsiteX23" fmla="*/ 819150 w 1638300"/>
                  <a:gd name="connsiteY23" fmla="*/ 57150 h 800100"/>
                  <a:gd name="connsiteX24" fmla="*/ 857250 w 1638300"/>
                  <a:gd name="connsiteY24" fmla="*/ 47625 h 800100"/>
                  <a:gd name="connsiteX25" fmla="*/ 942975 w 1638300"/>
                  <a:gd name="connsiteY25" fmla="*/ 0 h 800100"/>
                  <a:gd name="connsiteX26" fmla="*/ 1066800 w 1638300"/>
                  <a:gd name="connsiteY26" fmla="*/ 9525 h 800100"/>
                  <a:gd name="connsiteX27" fmla="*/ 1114425 w 1638300"/>
                  <a:gd name="connsiteY27" fmla="*/ 19050 h 800100"/>
                  <a:gd name="connsiteX28" fmla="*/ 1152525 w 1638300"/>
                  <a:gd name="connsiteY28" fmla="*/ 104775 h 800100"/>
                  <a:gd name="connsiteX29" fmla="*/ 1238250 w 1638300"/>
                  <a:gd name="connsiteY29" fmla="*/ 171450 h 800100"/>
                  <a:gd name="connsiteX30" fmla="*/ 1266825 w 1638300"/>
                  <a:gd name="connsiteY30" fmla="*/ 180975 h 800100"/>
                  <a:gd name="connsiteX31" fmla="*/ 1295400 w 1638300"/>
                  <a:gd name="connsiteY31" fmla="*/ 238125 h 800100"/>
                  <a:gd name="connsiteX32" fmla="*/ 1314450 w 1638300"/>
                  <a:gd name="connsiteY32" fmla="*/ 266700 h 800100"/>
                  <a:gd name="connsiteX33" fmla="*/ 1323975 w 1638300"/>
                  <a:gd name="connsiteY33" fmla="*/ 438150 h 800100"/>
                  <a:gd name="connsiteX34" fmla="*/ 1343025 w 1638300"/>
                  <a:gd name="connsiteY34" fmla="*/ 466725 h 800100"/>
                  <a:gd name="connsiteX35" fmla="*/ 1362075 w 1638300"/>
                  <a:gd name="connsiteY35" fmla="*/ 504825 h 800100"/>
                  <a:gd name="connsiteX36" fmla="*/ 1371600 w 1638300"/>
                  <a:gd name="connsiteY36" fmla="*/ 533400 h 800100"/>
                  <a:gd name="connsiteX37" fmla="*/ 1447800 w 1638300"/>
                  <a:gd name="connsiteY37" fmla="*/ 619125 h 800100"/>
                  <a:gd name="connsiteX38" fmla="*/ 1485900 w 1638300"/>
                  <a:gd name="connsiteY38" fmla="*/ 628650 h 800100"/>
                  <a:gd name="connsiteX39" fmla="*/ 1543050 w 1638300"/>
                  <a:gd name="connsiteY39" fmla="*/ 676275 h 800100"/>
                  <a:gd name="connsiteX40" fmla="*/ 1562100 w 1638300"/>
                  <a:gd name="connsiteY40" fmla="*/ 704850 h 800100"/>
                  <a:gd name="connsiteX41" fmla="*/ 1628775 w 1638300"/>
                  <a:gd name="connsiteY41" fmla="*/ 752475 h 800100"/>
                  <a:gd name="connsiteX42" fmla="*/ 1638300 w 1638300"/>
                  <a:gd name="connsiteY42" fmla="*/ 762000 h 80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638300" h="800100">
                    <a:moveTo>
                      <a:pt x="0" y="800100"/>
                    </a:moveTo>
                    <a:cubicBezTo>
                      <a:pt x="6350" y="790575"/>
                      <a:pt x="10111" y="778676"/>
                      <a:pt x="19050" y="771525"/>
                    </a:cubicBezTo>
                    <a:cubicBezTo>
                      <a:pt x="26890" y="765253"/>
                      <a:pt x="38645" y="766490"/>
                      <a:pt x="47625" y="762000"/>
                    </a:cubicBezTo>
                    <a:cubicBezTo>
                      <a:pt x="127169" y="722228"/>
                      <a:pt x="6029" y="761718"/>
                      <a:pt x="133350" y="733425"/>
                    </a:cubicBezTo>
                    <a:cubicBezTo>
                      <a:pt x="143151" y="731247"/>
                      <a:pt x="152185" y="726335"/>
                      <a:pt x="161925" y="723900"/>
                    </a:cubicBezTo>
                    <a:cubicBezTo>
                      <a:pt x="177631" y="719973"/>
                      <a:pt x="193844" y="718302"/>
                      <a:pt x="209550" y="714375"/>
                    </a:cubicBezTo>
                    <a:cubicBezTo>
                      <a:pt x="219290" y="711940"/>
                      <a:pt x="228385" y="707285"/>
                      <a:pt x="238125" y="704850"/>
                    </a:cubicBezTo>
                    <a:cubicBezTo>
                      <a:pt x="253831" y="700923"/>
                      <a:pt x="269875" y="698500"/>
                      <a:pt x="285750" y="695325"/>
                    </a:cubicBezTo>
                    <a:cubicBezTo>
                      <a:pt x="302914" y="678161"/>
                      <a:pt x="323429" y="661382"/>
                      <a:pt x="333375" y="638175"/>
                    </a:cubicBezTo>
                    <a:cubicBezTo>
                      <a:pt x="338532" y="626143"/>
                      <a:pt x="339725" y="612775"/>
                      <a:pt x="342900" y="600075"/>
                    </a:cubicBezTo>
                    <a:cubicBezTo>
                      <a:pt x="339725" y="546100"/>
                      <a:pt x="341396" y="491620"/>
                      <a:pt x="333375" y="438150"/>
                    </a:cubicBezTo>
                    <a:cubicBezTo>
                      <a:pt x="331677" y="426829"/>
                      <a:pt x="318974" y="420036"/>
                      <a:pt x="314325" y="409575"/>
                    </a:cubicBezTo>
                    <a:cubicBezTo>
                      <a:pt x="306170" y="391225"/>
                      <a:pt x="301625" y="371475"/>
                      <a:pt x="295275" y="352425"/>
                    </a:cubicBezTo>
                    <a:cubicBezTo>
                      <a:pt x="292100" y="342900"/>
                      <a:pt x="290240" y="332830"/>
                      <a:pt x="285750" y="323850"/>
                    </a:cubicBezTo>
                    <a:lnTo>
                      <a:pt x="266700" y="285750"/>
                    </a:lnTo>
                    <a:cubicBezTo>
                      <a:pt x="269875" y="276225"/>
                      <a:pt x="269125" y="264275"/>
                      <a:pt x="276225" y="257175"/>
                    </a:cubicBezTo>
                    <a:cubicBezTo>
                      <a:pt x="283325" y="250075"/>
                      <a:pt x="296083" y="252631"/>
                      <a:pt x="304800" y="247650"/>
                    </a:cubicBezTo>
                    <a:cubicBezTo>
                      <a:pt x="318583" y="239774"/>
                      <a:pt x="329117" y="226951"/>
                      <a:pt x="342900" y="219075"/>
                    </a:cubicBezTo>
                    <a:cubicBezTo>
                      <a:pt x="437264" y="165153"/>
                      <a:pt x="300492" y="261613"/>
                      <a:pt x="400050" y="190500"/>
                    </a:cubicBezTo>
                    <a:cubicBezTo>
                      <a:pt x="430973" y="168412"/>
                      <a:pt x="441124" y="165503"/>
                      <a:pt x="457200" y="133350"/>
                    </a:cubicBezTo>
                    <a:cubicBezTo>
                      <a:pt x="461690" y="124370"/>
                      <a:pt x="460453" y="112615"/>
                      <a:pt x="466725" y="104775"/>
                    </a:cubicBezTo>
                    <a:cubicBezTo>
                      <a:pt x="473876" y="95836"/>
                      <a:pt x="485985" y="92379"/>
                      <a:pt x="495300" y="85725"/>
                    </a:cubicBezTo>
                    <a:cubicBezTo>
                      <a:pt x="508218" y="76498"/>
                      <a:pt x="520700" y="66675"/>
                      <a:pt x="533400" y="57150"/>
                    </a:cubicBezTo>
                    <a:cubicBezTo>
                      <a:pt x="681135" y="66999"/>
                      <a:pt x="671415" y="72701"/>
                      <a:pt x="819150" y="57150"/>
                    </a:cubicBezTo>
                    <a:cubicBezTo>
                      <a:pt x="832169" y="55780"/>
                      <a:pt x="844550" y="50800"/>
                      <a:pt x="857250" y="47625"/>
                    </a:cubicBezTo>
                    <a:cubicBezTo>
                      <a:pt x="922754" y="3956"/>
                      <a:pt x="892680" y="16765"/>
                      <a:pt x="942975" y="0"/>
                    </a:cubicBezTo>
                    <a:cubicBezTo>
                      <a:pt x="984250" y="3175"/>
                      <a:pt x="1025656" y="4953"/>
                      <a:pt x="1066800" y="9525"/>
                    </a:cubicBezTo>
                    <a:cubicBezTo>
                      <a:pt x="1082890" y="11313"/>
                      <a:pt x="1100369" y="11018"/>
                      <a:pt x="1114425" y="19050"/>
                    </a:cubicBezTo>
                    <a:cubicBezTo>
                      <a:pt x="1139517" y="33388"/>
                      <a:pt x="1138796" y="91046"/>
                      <a:pt x="1152525" y="104775"/>
                    </a:cubicBezTo>
                    <a:cubicBezTo>
                      <a:pt x="1177180" y="129430"/>
                      <a:pt x="1204071" y="160057"/>
                      <a:pt x="1238250" y="171450"/>
                    </a:cubicBezTo>
                    <a:lnTo>
                      <a:pt x="1266825" y="180975"/>
                    </a:lnTo>
                    <a:cubicBezTo>
                      <a:pt x="1321420" y="262867"/>
                      <a:pt x="1255965" y="159255"/>
                      <a:pt x="1295400" y="238125"/>
                    </a:cubicBezTo>
                    <a:cubicBezTo>
                      <a:pt x="1300520" y="248364"/>
                      <a:pt x="1308100" y="257175"/>
                      <a:pt x="1314450" y="266700"/>
                    </a:cubicBezTo>
                    <a:cubicBezTo>
                      <a:pt x="1317625" y="323850"/>
                      <a:pt x="1315880" y="381487"/>
                      <a:pt x="1323975" y="438150"/>
                    </a:cubicBezTo>
                    <a:cubicBezTo>
                      <a:pt x="1325594" y="449483"/>
                      <a:pt x="1337345" y="456786"/>
                      <a:pt x="1343025" y="466725"/>
                    </a:cubicBezTo>
                    <a:cubicBezTo>
                      <a:pt x="1350070" y="479053"/>
                      <a:pt x="1356482" y="491774"/>
                      <a:pt x="1362075" y="504825"/>
                    </a:cubicBezTo>
                    <a:cubicBezTo>
                      <a:pt x="1366030" y="514053"/>
                      <a:pt x="1367110" y="524420"/>
                      <a:pt x="1371600" y="533400"/>
                    </a:cubicBezTo>
                    <a:cubicBezTo>
                      <a:pt x="1384000" y="558200"/>
                      <a:pt x="1433375" y="615519"/>
                      <a:pt x="1447800" y="619125"/>
                    </a:cubicBezTo>
                    <a:lnTo>
                      <a:pt x="1485900" y="628650"/>
                    </a:lnTo>
                    <a:cubicBezTo>
                      <a:pt x="1513997" y="647381"/>
                      <a:pt x="1520131" y="648773"/>
                      <a:pt x="1543050" y="676275"/>
                    </a:cubicBezTo>
                    <a:cubicBezTo>
                      <a:pt x="1550379" y="685069"/>
                      <a:pt x="1554005" y="696755"/>
                      <a:pt x="1562100" y="704850"/>
                    </a:cubicBezTo>
                    <a:cubicBezTo>
                      <a:pt x="1581415" y="724165"/>
                      <a:pt x="1607142" y="736250"/>
                      <a:pt x="1628775" y="752475"/>
                    </a:cubicBezTo>
                    <a:cubicBezTo>
                      <a:pt x="1632367" y="755169"/>
                      <a:pt x="1635125" y="758825"/>
                      <a:pt x="1638300" y="762000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3027765" y="4712947"/>
                <a:ext cx="2803961" cy="1392578"/>
              </a:xfrm>
              <a:custGeom>
                <a:avLst/>
                <a:gdLst>
                  <a:gd name="connsiteX0" fmla="*/ 458385 w 2803961"/>
                  <a:gd name="connsiteY0" fmla="*/ 1383053 h 1392578"/>
                  <a:gd name="connsiteX1" fmla="*/ 429810 w 2803961"/>
                  <a:gd name="connsiteY1" fmla="*/ 1392578 h 1392578"/>
                  <a:gd name="connsiteX2" fmla="*/ 286935 w 2803961"/>
                  <a:gd name="connsiteY2" fmla="*/ 1373528 h 1392578"/>
                  <a:gd name="connsiteX3" fmla="*/ 163110 w 2803961"/>
                  <a:gd name="connsiteY3" fmla="*/ 1364003 h 1392578"/>
                  <a:gd name="connsiteX4" fmla="*/ 125010 w 2803961"/>
                  <a:gd name="connsiteY4" fmla="*/ 1287803 h 1392578"/>
                  <a:gd name="connsiteX5" fmla="*/ 115485 w 2803961"/>
                  <a:gd name="connsiteY5" fmla="*/ 1259228 h 1392578"/>
                  <a:gd name="connsiteX6" fmla="*/ 86910 w 2803961"/>
                  <a:gd name="connsiteY6" fmla="*/ 1230653 h 1392578"/>
                  <a:gd name="connsiteX7" fmla="*/ 58335 w 2803961"/>
                  <a:gd name="connsiteY7" fmla="*/ 1144928 h 1392578"/>
                  <a:gd name="connsiteX8" fmla="*/ 48810 w 2803961"/>
                  <a:gd name="connsiteY8" fmla="*/ 1116353 h 1392578"/>
                  <a:gd name="connsiteX9" fmla="*/ 39285 w 2803961"/>
                  <a:gd name="connsiteY9" fmla="*/ 1021103 h 1392578"/>
                  <a:gd name="connsiteX10" fmla="*/ 29760 w 2803961"/>
                  <a:gd name="connsiteY10" fmla="*/ 992528 h 1392578"/>
                  <a:gd name="connsiteX11" fmla="*/ 20235 w 2803961"/>
                  <a:gd name="connsiteY11" fmla="*/ 954428 h 1392578"/>
                  <a:gd name="connsiteX12" fmla="*/ 1185 w 2803961"/>
                  <a:gd name="connsiteY12" fmla="*/ 830603 h 1392578"/>
                  <a:gd name="connsiteX13" fmla="*/ 10710 w 2803961"/>
                  <a:gd name="connsiteY13" fmla="*/ 659153 h 1392578"/>
                  <a:gd name="connsiteX14" fmla="*/ 39285 w 2803961"/>
                  <a:gd name="connsiteY14" fmla="*/ 630578 h 1392578"/>
                  <a:gd name="connsiteX15" fmla="*/ 96435 w 2803961"/>
                  <a:gd name="connsiteY15" fmla="*/ 602003 h 1392578"/>
                  <a:gd name="connsiteX16" fmla="*/ 201210 w 2803961"/>
                  <a:gd name="connsiteY16" fmla="*/ 459128 h 1392578"/>
                  <a:gd name="connsiteX17" fmla="*/ 220260 w 2803961"/>
                  <a:gd name="connsiteY17" fmla="*/ 430553 h 1392578"/>
                  <a:gd name="connsiteX18" fmla="*/ 239310 w 2803961"/>
                  <a:gd name="connsiteY18" fmla="*/ 392453 h 1392578"/>
                  <a:gd name="connsiteX19" fmla="*/ 296460 w 2803961"/>
                  <a:gd name="connsiteY19" fmla="*/ 335303 h 1392578"/>
                  <a:gd name="connsiteX20" fmla="*/ 363135 w 2803961"/>
                  <a:gd name="connsiteY20" fmla="*/ 316253 h 1392578"/>
                  <a:gd name="connsiteX21" fmla="*/ 458385 w 2803961"/>
                  <a:gd name="connsiteY21" fmla="*/ 287678 h 1392578"/>
                  <a:gd name="connsiteX22" fmla="*/ 486960 w 2803961"/>
                  <a:gd name="connsiteY22" fmla="*/ 268628 h 1392578"/>
                  <a:gd name="connsiteX23" fmla="*/ 506010 w 2803961"/>
                  <a:gd name="connsiteY23" fmla="*/ 240053 h 1392578"/>
                  <a:gd name="connsiteX24" fmla="*/ 534585 w 2803961"/>
                  <a:gd name="connsiteY24" fmla="*/ 230528 h 1392578"/>
                  <a:gd name="connsiteX25" fmla="*/ 591735 w 2803961"/>
                  <a:gd name="connsiteY25" fmla="*/ 182903 h 1392578"/>
                  <a:gd name="connsiteX26" fmla="*/ 648885 w 2803961"/>
                  <a:gd name="connsiteY26" fmla="*/ 163853 h 1392578"/>
                  <a:gd name="connsiteX27" fmla="*/ 677460 w 2803961"/>
                  <a:gd name="connsiteY27" fmla="*/ 154328 h 1392578"/>
                  <a:gd name="connsiteX28" fmla="*/ 715560 w 2803961"/>
                  <a:gd name="connsiteY28" fmla="*/ 144803 h 1392578"/>
                  <a:gd name="connsiteX29" fmla="*/ 772710 w 2803961"/>
                  <a:gd name="connsiteY29" fmla="*/ 125753 h 1392578"/>
                  <a:gd name="connsiteX30" fmla="*/ 829860 w 2803961"/>
                  <a:gd name="connsiteY30" fmla="*/ 106703 h 1392578"/>
                  <a:gd name="connsiteX31" fmla="*/ 858435 w 2803961"/>
                  <a:gd name="connsiteY31" fmla="*/ 97178 h 1392578"/>
                  <a:gd name="connsiteX32" fmla="*/ 1077510 w 2803961"/>
                  <a:gd name="connsiteY32" fmla="*/ 87653 h 1392578"/>
                  <a:gd name="connsiteX33" fmla="*/ 1134660 w 2803961"/>
                  <a:gd name="connsiteY33" fmla="*/ 78128 h 1392578"/>
                  <a:gd name="connsiteX34" fmla="*/ 1191810 w 2803961"/>
                  <a:gd name="connsiteY34" fmla="*/ 59078 h 1392578"/>
                  <a:gd name="connsiteX35" fmla="*/ 1268010 w 2803961"/>
                  <a:gd name="connsiteY35" fmla="*/ 40028 h 1392578"/>
                  <a:gd name="connsiteX36" fmla="*/ 1296585 w 2803961"/>
                  <a:gd name="connsiteY36" fmla="*/ 30503 h 1392578"/>
                  <a:gd name="connsiteX37" fmla="*/ 1353735 w 2803961"/>
                  <a:gd name="connsiteY37" fmla="*/ 20978 h 1392578"/>
                  <a:gd name="connsiteX38" fmla="*/ 1468035 w 2803961"/>
                  <a:gd name="connsiteY38" fmla="*/ 1928 h 1392578"/>
                  <a:gd name="connsiteX39" fmla="*/ 1639485 w 2803961"/>
                  <a:gd name="connsiteY39" fmla="*/ 11453 h 1392578"/>
                  <a:gd name="connsiteX40" fmla="*/ 1753785 w 2803961"/>
                  <a:gd name="connsiteY40" fmla="*/ 49553 h 1392578"/>
                  <a:gd name="connsiteX41" fmla="*/ 1868085 w 2803961"/>
                  <a:gd name="connsiteY41" fmla="*/ 68603 h 1392578"/>
                  <a:gd name="connsiteX42" fmla="*/ 1896660 w 2803961"/>
                  <a:gd name="connsiteY42" fmla="*/ 78128 h 1392578"/>
                  <a:gd name="connsiteX43" fmla="*/ 1953810 w 2803961"/>
                  <a:gd name="connsiteY43" fmla="*/ 87653 h 1392578"/>
                  <a:gd name="connsiteX44" fmla="*/ 1991910 w 2803961"/>
                  <a:gd name="connsiteY44" fmla="*/ 106703 h 1392578"/>
                  <a:gd name="connsiteX45" fmla="*/ 2010960 w 2803961"/>
                  <a:gd name="connsiteY45" fmla="*/ 135278 h 1392578"/>
                  <a:gd name="connsiteX46" fmla="*/ 2068110 w 2803961"/>
                  <a:gd name="connsiteY46" fmla="*/ 182903 h 1392578"/>
                  <a:gd name="connsiteX47" fmla="*/ 2087160 w 2803961"/>
                  <a:gd name="connsiteY47" fmla="*/ 211478 h 1392578"/>
                  <a:gd name="connsiteX48" fmla="*/ 2144310 w 2803961"/>
                  <a:gd name="connsiteY48" fmla="*/ 268628 h 1392578"/>
                  <a:gd name="connsiteX49" fmla="*/ 2191935 w 2803961"/>
                  <a:gd name="connsiteY49" fmla="*/ 335303 h 1392578"/>
                  <a:gd name="connsiteX50" fmla="*/ 2249085 w 2803961"/>
                  <a:gd name="connsiteY50" fmla="*/ 421028 h 1392578"/>
                  <a:gd name="connsiteX51" fmla="*/ 2268135 w 2803961"/>
                  <a:gd name="connsiteY51" fmla="*/ 449603 h 1392578"/>
                  <a:gd name="connsiteX52" fmla="*/ 2325285 w 2803961"/>
                  <a:gd name="connsiteY52" fmla="*/ 478178 h 1392578"/>
                  <a:gd name="connsiteX53" fmla="*/ 2353860 w 2803961"/>
                  <a:gd name="connsiteY53" fmla="*/ 487703 h 1392578"/>
                  <a:gd name="connsiteX54" fmla="*/ 2382435 w 2803961"/>
                  <a:gd name="connsiteY54" fmla="*/ 506753 h 1392578"/>
                  <a:gd name="connsiteX55" fmla="*/ 2439585 w 2803961"/>
                  <a:gd name="connsiteY55" fmla="*/ 525803 h 1392578"/>
                  <a:gd name="connsiteX56" fmla="*/ 2496735 w 2803961"/>
                  <a:gd name="connsiteY56" fmla="*/ 544853 h 1392578"/>
                  <a:gd name="connsiteX57" fmla="*/ 2525310 w 2803961"/>
                  <a:gd name="connsiteY57" fmla="*/ 554378 h 1392578"/>
                  <a:gd name="connsiteX58" fmla="*/ 2563410 w 2803961"/>
                  <a:gd name="connsiteY58" fmla="*/ 611528 h 1392578"/>
                  <a:gd name="connsiteX59" fmla="*/ 2544360 w 2803961"/>
                  <a:gd name="connsiteY59" fmla="*/ 754403 h 1392578"/>
                  <a:gd name="connsiteX60" fmla="*/ 2525310 w 2803961"/>
                  <a:gd name="connsiteY60" fmla="*/ 792503 h 1392578"/>
                  <a:gd name="connsiteX61" fmla="*/ 2534835 w 2803961"/>
                  <a:gd name="connsiteY61" fmla="*/ 944903 h 1392578"/>
                  <a:gd name="connsiteX62" fmla="*/ 2572935 w 2803961"/>
                  <a:gd name="connsiteY62" fmla="*/ 1030628 h 1392578"/>
                  <a:gd name="connsiteX63" fmla="*/ 2639610 w 2803961"/>
                  <a:gd name="connsiteY63" fmla="*/ 1097303 h 1392578"/>
                  <a:gd name="connsiteX64" fmla="*/ 2687235 w 2803961"/>
                  <a:gd name="connsiteY64" fmla="*/ 1135403 h 1392578"/>
                  <a:gd name="connsiteX65" fmla="*/ 2706285 w 2803961"/>
                  <a:gd name="connsiteY65" fmla="*/ 1163978 h 1392578"/>
                  <a:gd name="connsiteX66" fmla="*/ 2734860 w 2803961"/>
                  <a:gd name="connsiteY66" fmla="*/ 1173503 h 1392578"/>
                  <a:gd name="connsiteX67" fmla="*/ 2763435 w 2803961"/>
                  <a:gd name="connsiteY67" fmla="*/ 1192553 h 1392578"/>
                  <a:gd name="connsiteX68" fmla="*/ 2792010 w 2803961"/>
                  <a:gd name="connsiteY68" fmla="*/ 1240178 h 1392578"/>
                  <a:gd name="connsiteX69" fmla="*/ 2753910 w 2803961"/>
                  <a:gd name="connsiteY69" fmla="*/ 1306853 h 1392578"/>
                  <a:gd name="connsiteX70" fmla="*/ 2715810 w 2803961"/>
                  <a:gd name="connsiteY70" fmla="*/ 1325903 h 1392578"/>
                  <a:gd name="connsiteX71" fmla="*/ 2363385 w 2803961"/>
                  <a:gd name="connsiteY71" fmla="*/ 1325903 h 1392578"/>
                  <a:gd name="connsiteX72" fmla="*/ 2277660 w 2803961"/>
                  <a:gd name="connsiteY72" fmla="*/ 1344953 h 1392578"/>
                  <a:gd name="connsiteX73" fmla="*/ 2210985 w 2803961"/>
                  <a:gd name="connsiteY73" fmla="*/ 1354478 h 1392578"/>
                  <a:gd name="connsiteX74" fmla="*/ 2096685 w 2803961"/>
                  <a:gd name="connsiteY74" fmla="*/ 1344953 h 1392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2803961" h="1392578">
                    <a:moveTo>
                      <a:pt x="458385" y="1383053"/>
                    </a:moveTo>
                    <a:cubicBezTo>
                      <a:pt x="448860" y="1386228"/>
                      <a:pt x="439850" y="1392578"/>
                      <a:pt x="429810" y="1392578"/>
                    </a:cubicBezTo>
                    <a:cubicBezTo>
                      <a:pt x="294247" y="1392578"/>
                      <a:pt x="378129" y="1383661"/>
                      <a:pt x="286935" y="1373528"/>
                    </a:cubicBezTo>
                    <a:cubicBezTo>
                      <a:pt x="245791" y="1368956"/>
                      <a:pt x="204385" y="1367178"/>
                      <a:pt x="163110" y="1364003"/>
                    </a:cubicBezTo>
                    <a:cubicBezTo>
                      <a:pt x="136805" y="1324545"/>
                      <a:pt x="144983" y="1341064"/>
                      <a:pt x="125010" y="1287803"/>
                    </a:cubicBezTo>
                    <a:cubicBezTo>
                      <a:pt x="121485" y="1278402"/>
                      <a:pt x="121054" y="1267582"/>
                      <a:pt x="115485" y="1259228"/>
                    </a:cubicBezTo>
                    <a:cubicBezTo>
                      <a:pt x="108013" y="1248020"/>
                      <a:pt x="96435" y="1240178"/>
                      <a:pt x="86910" y="1230653"/>
                    </a:cubicBezTo>
                    <a:lnTo>
                      <a:pt x="58335" y="1144928"/>
                    </a:lnTo>
                    <a:lnTo>
                      <a:pt x="48810" y="1116353"/>
                    </a:lnTo>
                    <a:cubicBezTo>
                      <a:pt x="45635" y="1084603"/>
                      <a:pt x="44137" y="1052640"/>
                      <a:pt x="39285" y="1021103"/>
                    </a:cubicBezTo>
                    <a:cubicBezTo>
                      <a:pt x="37758" y="1011180"/>
                      <a:pt x="32518" y="1002182"/>
                      <a:pt x="29760" y="992528"/>
                    </a:cubicBezTo>
                    <a:cubicBezTo>
                      <a:pt x="26164" y="979941"/>
                      <a:pt x="23075" y="967207"/>
                      <a:pt x="20235" y="954428"/>
                    </a:cubicBezTo>
                    <a:cubicBezTo>
                      <a:pt x="7768" y="898325"/>
                      <a:pt x="9433" y="896584"/>
                      <a:pt x="1185" y="830603"/>
                    </a:cubicBezTo>
                    <a:cubicBezTo>
                      <a:pt x="4360" y="773453"/>
                      <a:pt x="0" y="715380"/>
                      <a:pt x="10710" y="659153"/>
                    </a:cubicBezTo>
                    <a:cubicBezTo>
                      <a:pt x="13230" y="645921"/>
                      <a:pt x="28937" y="639202"/>
                      <a:pt x="39285" y="630578"/>
                    </a:cubicBezTo>
                    <a:cubicBezTo>
                      <a:pt x="63904" y="610062"/>
                      <a:pt x="67796" y="611549"/>
                      <a:pt x="96435" y="602003"/>
                    </a:cubicBezTo>
                    <a:cubicBezTo>
                      <a:pt x="177166" y="498206"/>
                      <a:pt x="143030" y="546399"/>
                      <a:pt x="201210" y="459128"/>
                    </a:cubicBezTo>
                    <a:cubicBezTo>
                      <a:pt x="207560" y="449603"/>
                      <a:pt x="215140" y="440792"/>
                      <a:pt x="220260" y="430553"/>
                    </a:cubicBezTo>
                    <a:cubicBezTo>
                      <a:pt x="226610" y="417853"/>
                      <a:pt x="230440" y="403541"/>
                      <a:pt x="239310" y="392453"/>
                    </a:cubicBezTo>
                    <a:cubicBezTo>
                      <a:pt x="256140" y="371416"/>
                      <a:pt x="270902" y="343822"/>
                      <a:pt x="296460" y="335303"/>
                    </a:cubicBezTo>
                    <a:cubicBezTo>
                      <a:pt x="392492" y="303292"/>
                      <a:pt x="243534" y="352133"/>
                      <a:pt x="363135" y="316253"/>
                    </a:cubicBezTo>
                    <a:cubicBezTo>
                      <a:pt x="479083" y="281468"/>
                      <a:pt x="370568" y="309632"/>
                      <a:pt x="458385" y="287678"/>
                    </a:cubicBezTo>
                    <a:cubicBezTo>
                      <a:pt x="467910" y="281328"/>
                      <a:pt x="478865" y="276723"/>
                      <a:pt x="486960" y="268628"/>
                    </a:cubicBezTo>
                    <a:cubicBezTo>
                      <a:pt x="495055" y="260533"/>
                      <a:pt x="497071" y="247204"/>
                      <a:pt x="506010" y="240053"/>
                    </a:cubicBezTo>
                    <a:cubicBezTo>
                      <a:pt x="513850" y="233781"/>
                      <a:pt x="525060" y="233703"/>
                      <a:pt x="534585" y="230528"/>
                    </a:cubicBezTo>
                    <a:cubicBezTo>
                      <a:pt x="552530" y="212583"/>
                      <a:pt x="567865" y="193512"/>
                      <a:pt x="591735" y="182903"/>
                    </a:cubicBezTo>
                    <a:cubicBezTo>
                      <a:pt x="610085" y="174748"/>
                      <a:pt x="629835" y="170203"/>
                      <a:pt x="648885" y="163853"/>
                    </a:cubicBezTo>
                    <a:cubicBezTo>
                      <a:pt x="658410" y="160678"/>
                      <a:pt x="667720" y="156763"/>
                      <a:pt x="677460" y="154328"/>
                    </a:cubicBezTo>
                    <a:cubicBezTo>
                      <a:pt x="690160" y="151153"/>
                      <a:pt x="703021" y="148565"/>
                      <a:pt x="715560" y="144803"/>
                    </a:cubicBezTo>
                    <a:cubicBezTo>
                      <a:pt x="734794" y="139033"/>
                      <a:pt x="753660" y="132103"/>
                      <a:pt x="772710" y="125753"/>
                    </a:cubicBezTo>
                    <a:lnTo>
                      <a:pt x="829860" y="106703"/>
                    </a:lnTo>
                    <a:cubicBezTo>
                      <a:pt x="839385" y="103528"/>
                      <a:pt x="848404" y="97614"/>
                      <a:pt x="858435" y="97178"/>
                    </a:cubicBezTo>
                    <a:lnTo>
                      <a:pt x="1077510" y="87653"/>
                    </a:lnTo>
                    <a:cubicBezTo>
                      <a:pt x="1096560" y="84478"/>
                      <a:pt x="1115924" y="82812"/>
                      <a:pt x="1134660" y="78128"/>
                    </a:cubicBezTo>
                    <a:cubicBezTo>
                      <a:pt x="1154141" y="73258"/>
                      <a:pt x="1172329" y="63948"/>
                      <a:pt x="1191810" y="59078"/>
                    </a:cubicBezTo>
                    <a:cubicBezTo>
                      <a:pt x="1217210" y="52728"/>
                      <a:pt x="1243172" y="48307"/>
                      <a:pt x="1268010" y="40028"/>
                    </a:cubicBezTo>
                    <a:cubicBezTo>
                      <a:pt x="1277535" y="36853"/>
                      <a:pt x="1286784" y="32681"/>
                      <a:pt x="1296585" y="30503"/>
                    </a:cubicBezTo>
                    <a:cubicBezTo>
                      <a:pt x="1315438" y="26313"/>
                      <a:pt x="1334797" y="24766"/>
                      <a:pt x="1353735" y="20978"/>
                    </a:cubicBezTo>
                    <a:cubicBezTo>
                      <a:pt x="1458624" y="0"/>
                      <a:pt x="1296806" y="23332"/>
                      <a:pt x="1468035" y="1928"/>
                    </a:cubicBezTo>
                    <a:cubicBezTo>
                      <a:pt x="1525185" y="5103"/>
                      <a:pt x="1582624" y="4892"/>
                      <a:pt x="1639485" y="11453"/>
                    </a:cubicBezTo>
                    <a:cubicBezTo>
                      <a:pt x="1737422" y="22753"/>
                      <a:pt x="1687949" y="24865"/>
                      <a:pt x="1753785" y="49553"/>
                    </a:cubicBezTo>
                    <a:cubicBezTo>
                      <a:pt x="1785252" y="61353"/>
                      <a:pt x="1840425" y="65145"/>
                      <a:pt x="1868085" y="68603"/>
                    </a:cubicBezTo>
                    <a:cubicBezTo>
                      <a:pt x="1877610" y="71778"/>
                      <a:pt x="1886859" y="75950"/>
                      <a:pt x="1896660" y="78128"/>
                    </a:cubicBezTo>
                    <a:cubicBezTo>
                      <a:pt x="1915513" y="82318"/>
                      <a:pt x="1935312" y="82104"/>
                      <a:pt x="1953810" y="87653"/>
                    </a:cubicBezTo>
                    <a:cubicBezTo>
                      <a:pt x="1967410" y="91733"/>
                      <a:pt x="1979210" y="100353"/>
                      <a:pt x="1991910" y="106703"/>
                    </a:cubicBezTo>
                    <a:cubicBezTo>
                      <a:pt x="1998260" y="116228"/>
                      <a:pt x="2002865" y="127183"/>
                      <a:pt x="2010960" y="135278"/>
                    </a:cubicBezTo>
                    <a:cubicBezTo>
                      <a:pt x="2085885" y="210203"/>
                      <a:pt x="1990089" y="89278"/>
                      <a:pt x="2068110" y="182903"/>
                    </a:cubicBezTo>
                    <a:cubicBezTo>
                      <a:pt x="2075439" y="191697"/>
                      <a:pt x="2079555" y="202922"/>
                      <a:pt x="2087160" y="211478"/>
                    </a:cubicBezTo>
                    <a:cubicBezTo>
                      <a:pt x="2105058" y="231614"/>
                      <a:pt x="2129366" y="246212"/>
                      <a:pt x="2144310" y="268628"/>
                    </a:cubicBezTo>
                    <a:cubicBezTo>
                      <a:pt x="2206244" y="361529"/>
                      <a:pt x="2109233" y="217158"/>
                      <a:pt x="2191935" y="335303"/>
                    </a:cubicBezTo>
                    <a:lnTo>
                      <a:pt x="2249085" y="421028"/>
                    </a:lnTo>
                    <a:cubicBezTo>
                      <a:pt x="2255435" y="430553"/>
                      <a:pt x="2257275" y="445983"/>
                      <a:pt x="2268135" y="449603"/>
                    </a:cubicBezTo>
                    <a:cubicBezTo>
                      <a:pt x="2339959" y="473544"/>
                      <a:pt x="2251427" y="441249"/>
                      <a:pt x="2325285" y="478178"/>
                    </a:cubicBezTo>
                    <a:cubicBezTo>
                      <a:pt x="2334265" y="482668"/>
                      <a:pt x="2344880" y="483213"/>
                      <a:pt x="2353860" y="487703"/>
                    </a:cubicBezTo>
                    <a:cubicBezTo>
                      <a:pt x="2364099" y="492823"/>
                      <a:pt x="2371974" y="502104"/>
                      <a:pt x="2382435" y="506753"/>
                    </a:cubicBezTo>
                    <a:cubicBezTo>
                      <a:pt x="2400785" y="514908"/>
                      <a:pt x="2420535" y="519453"/>
                      <a:pt x="2439585" y="525803"/>
                    </a:cubicBezTo>
                    <a:lnTo>
                      <a:pt x="2496735" y="544853"/>
                    </a:lnTo>
                    <a:lnTo>
                      <a:pt x="2525310" y="554378"/>
                    </a:lnTo>
                    <a:cubicBezTo>
                      <a:pt x="2538010" y="573428"/>
                      <a:pt x="2565311" y="588712"/>
                      <a:pt x="2563410" y="611528"/>
                    </a:cubicBezTo>
                    <a:cubicBezTo>
                      <a:pt x="2558728" y="667717"/>
                      <a:pt x="2564484" y="707446"/>
                      <a:pt x="2544360" y="754403"/>
                    </a:cubicBezTo>
                    <a:cubicBezTo>
                      <a:pt x="2538767" y="767454"/>
                      <a:pt x="2531660" y="779803"/>
                      <a:pt x="2525310" y="792503"/>
                    </a:cubicBezTo>
                    <a:cubicBezTo>
                      <a:pt x="2528485" y="843303"/>
                      <a:pt x="2527958" y="894471"/>
                      <a:pt x="2534835" y="944903"/>
                    </a:cubicBezTo>
                    <a:cubicBezTo>
                      <a:pt x="2538407" y="971100"/>
                      <a:pt x="2553634" y="1009182"/>
                      <a:pt x="2572935" y="1030628"/>
                    </a:cubicBezTo>
                    <a:cubicBezTo>
                      <a:pt x="2593961" y="1053990"/>
                      <a:pt x="2622175" y="1071151"/>
                      <a:pt x="2639610" y="1097303"/>
                    </a:cubicBezTo>
                    <a:cubicBezTo>
                      <a:pt x="2664229" y="1134232"/>
                      <a:pt x="2647800" y="1122258"/>
                      <a:pt x="2687235" y="1135403"/>
                    </a:cubicBezTo>
                    <a:cubicBezTo>
                      <a:pt x="2693585" y="1144928"/>
                      <a:pt x="2697346" y="1156827"/>
                      <a:pt x="2706285" y="1163978"/>
                    </a:cubicBezTo>
                    <a:cubicBezTo>
                      <a:pt x="2714125" y="1170250"/>
                      <a:pt x="2725880" y="1169013"/>
                      <a:pt x="2734860" y="1173503"/>
                    </a:cubicBezTo>
                    <a:cubicBezTo>
                      <a:pt x="2745099" y="1178623"/>
                      <a:pt x="2753910" y="1186203"/>
                      <a:pt x="2763435" y="1192553"/>
                    </a:cubicBezTo>
                    <a:cubicBezTo>
                      <a:pt x="2772960" y="1208428"/>
                      <a:pt x="2788698" y="1221963"/>
                      <a:pt x="2792010" y="1240178"/>
                    </a:cubicBezTo>
                    <a:cubicBezTo>
                      <a:pt x="2803961" y="1305911"/>
                      <a:pt x="2788783" y="1291907"/>
                      <a:pt x="2753910" y="1306853"/>
                    </a:cubicBezTo>
                    <a:cubicBezTo>
                      <a:pt x="2740859" y="1312446"/>
                      <a:pt x="2728510" y="1319553"/>
                      <a:pt x="2715810" y="1325903"/>
                    </a:cubicBezTo>
                    <a:cubicBezTo>
                      <a:pt x="2529600" y="1315558"/>
                      <a:pt x="2553440" y="1310699"/>
                      <a:pt x="2363385" y="1325903"/>
                    </a:cubicBezTo>
                    <a:cubicBezTo>
                      <a:pt x="2244528" y="1335412"/>
                      <a:pt x="2351488" y="1330187"/>
                      <a:pt x="2277660" y="1344953"/>
                    </a:cubicBezTo>
                    <a:cubicBezTo>
                      <a:pt x="2255645" y="1349356"/>
                      <a:pt x="2233210" y="1351303"/>
                      <a:pt x="2210985" y="1354478"/>
                    </a:cubicBezTo>
                    <a:cubicBezTo>
                      <a:pt x="2103048" y="1344666"/>
                      <a:pt x="2141279" y="1344953"/>
                      <a:pt x="2096685" y="1344953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2967360" y="5848350"/>
                <a:ext cx="854016" cy="364337"/>
              </a:xfrm>
              <a:custGeom>
                <a:avLst/>
                <a:gdLst>
                  <a:gd name="connsiteX0" fmla="*/ 833115 w 854016"/>
                  <a:gd name="connsiteY0" fmla="*/ 104775 h 364337"/>
                  <a:gd name="connsiteX1" fmla="*/ 852165 w 854016"/>
                  <a:gd name="connsiteY1" fmla="*/ 133350 h 364337"/>
                  <a:gd name="connsiteX2" fmla="*/ 842640 w 854016"/>
                  <a:gd name="connsiteY2" fmla="*/ 171450 h 364337"/>
                  <a:gd name="connsiteX3" fmla="*/ 814065 w 854016"/>
                  <a:gd name="connsiteY3" fmla="*/ 228600 h 364337"/>
                  <a:gd name="connsiteX4" fmla="*/ 795015 w 854016"/>
                  <a:gd name="connsiteY4" fmla="*/ 266700 h 364337"/>
                  <a:gd name="connsiteX5" fmla="*/ 804540 w 854016"/>
                  <a:gd name="connsiteY5" fmla="*/ 295275 h 364337"/>
                  <a:gd name="connsiteX6" fmla="*/ 775965 w 854016"/>
                  <a:gd name="connsiteY6" fmla="*/ 323850 h 364337"/>
                  <a:gd name="connsiteX7" fmla="*/ 575940 w 854016"/>
                  <a:gd name="connsiteY7" fmla="*/ 333375 h 364337"/>
                  <a:gd name="connsiteX8" fmla="*/ 337815 w 854016"/>
                  <a:gd name="connsiteY8" fmla="*/ 333375 h 364337"/>
                  <a:gd name="connsiteX9" fmla="*/ 280665 w 854016"/>
                  <a:gd name="connsiteY9" fmla="*/ 323850 h 364337"/>
                  <a:gd name="connsiteX10" fmla="*/ 213990 w 854016"/>
                  <a:gd name="connsiteY10" fmla="*/ 304800 h 364337"/>
                  <a:gd name="connsiteX11" fmla="*/ 4440 w 854016"/>
                  <a:gd name="connsiteY11" fmla="*/ 295275 h 364337"/>
                  <a:gd name="connsiteX12" fmla="*/ 13965 w 854016"/>
                  <a:gd name="connsiteY12" fmla="*/ 57150 h 364337"/>
                  <a:gd name="connsiteX13" fmla="*/ 90165 w 854016"/>
                  <a:gd name="connsiteY13" fmla="*/ 9525 h 364337"/>
                  <a:gd name="connsiteX14" fmla="*/ 118740 w 854016"/>
                  <a:gd name="connsiteY14" fmla="*/ 0 h 3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4016" h="364337">
                    <a:moveTo>
                      <a:pt x="833115" y="104775"/>
                    </a:moveTo>
                    <a:cubicBezTo>
                      <a:pt x="839465" y="114300"/>
                      <a:pt x="850546" y="122017"/>
                      <a:pt x="852165" y="133350"/>
                    </a:cubicBezTo>
                    <a:cubicBezTo>
                      <a:pt x="854016" y="146309"/>
                      <a:pt x="846236" y="158863"/>
                      <a:pt x="842640" y="171450"/>
                    </a:cubicBezTo>
                    <a:cubicBezTo>
                      <a:pt x="830166" y="215109"/>
                      <a:pt x="837919" y="186855"/>
                      <a:pt x="814065" y="228600"/>
                    </a:cubicBezTo>
                    <a:cubicBezTo>
                      <a:pt x="807020" y="240928"/>
                      <a:pt x="801365" y="254000"/>
                      <a:pt x="795015" y="266700"/>
                    </a:cubicBezTo>
                    <a:cubicBezTo>
                      <a:pt x="798190" y="276225"/>
                      <a:pt x="807715" y="285750"/>
                      <a:pt x="804540" y="295275"/>
                    </a:cubicBezTo>
                    <a:cubicBezTo>
                      <a:pt x="800280" y="308054"/>
                      <a:pt x="789252" y="321635"/>
                      <a:pt x="775965" y="323850"/>
                    </a:cubicBezTo>
                    <a:cubicBezTo>
                      <a:pt x="710123" y="334824"/>
                      <a:pt x="642615" y="330200"/>
                      <a:pt x="575940" y="333375"/>
                    </a:cubicBezTo>
                    <a:cubicBezTo>
                      <a:pt x="483054" y="364337"/>
                      <a:pt x="543304" y="348053"/>
                      <a:pt x="337815" y="333375"/>
                    </a:cubicBezTo>
                    <a:cubicBezTo>
                      <a:pt x="318551" y="331999"/>
                      <a:pt x="299518" y="328040"/>
                      <a:pt x="280665" y="323850"/>
                    </a:cubicBezTo>
                    <a:cubicBezTo>
                      <a:pt x="252029" y="317486"/>
                      <a:pt x="245717" y="307241"/>
                      <a:pt x="213990" y="304800"/>
                    </a:cubicBezTo>
                    <a:cubicBezTo>
                      <a:pt x="144274" y="299437"/>
                      <a:pt x="74290" y="298450"/>
                      <a:pt x="4440" y="295275"/>
                    </a:cubicBezTo>
                    <a:cubicBezTo>
                      <a:pt x="7615" y="215900"/>
                      <a:pt x="0" y="135351"/>
                      <a:pt x="13965" y="57150"/>
                    </a:cubicBezTo>
                    <a:cubicBezTo>
                      <a:pt x="16231" y="44458"/>
                      <a:pt x="80076" y="13849"/>
                      <a:pt x="90165" y="9525"/>
                    </a:cubicBezTo>
                    <a:cubicBezTo>
                      <a:pt x="99393" y="5570"/>
                      <a:pt x="118740" y="0"/>
                      <a:pt x="118740" y="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4874427" y="5857875"/>
                <a:ext cx="1129647" cy="339720"/>
              </a:xfrm>
              <a:custGeom>
                <a:avLst/>
                <a:gdLst>
                  <a:gd name="connsiteX0" fmla="*/ 840573 w 1129647"/>
                  <a:gd name="connsiteY0" fmla="*/ 9525 h 339720"/>
                  <a:gd name="connsiteX1" fmla="*/ 1040598 w 1129647"/>
                  <a:gd name="connsiteY1" fmla="*/ 19050 h 339720"/>
                  <a:gd name="connsiteX2" fmla="*/ 1069173 w 1129647"/>
                  <a:gd name="connsiteY2" fmla="*/ 76200 h 339720"/>
                  <a:gd name="connsiteX3" fmla="*/ 1107273 w 1129647"/>
                  <a:gd name="connsiteY3" fmla="*/ 85725 h 339720"/>
                  <a:gd name="connsiteX4" fmla="*/ 1107273 w 1129647"/>
                  <a:gd name="connsiteY4" fmla="*/ 247650 h 339720"/>
                  <a:gd name="connsiteX5" fmla="*/ 1078698 w 1129647"/>
                  <a:gd name="connsiteY5" fmla="*/ 276225 h 339720"/>
                  <a:gd name="connsiteX6" fmla="*/ 992973 w 1129647"/>
                  <a:gd name="connsiteY6" fmla="*/ 323850 h 339720"/>
                  <a:gd name="connsiteX7" fmla="*/ 821523 w 1129647"/>
                  <a:gd name="connsiteY7" fmla="*/ 314325 h 339720"/>
                  <a:gd name="connsiteX8" fmla="*/ 688173 w 1129647"/>
                  <a:gd name="connsiteY8" fmla="*/ 304800 h 339720"/>
                  <a:gd name="connsiteX9" fmla="*/ 278598 w 1129647"/>
                  <a:gd name="connsiteY9" fmla="*/ 314325 h 339720"/>
                  <a:gd name="connsiteX10" fmla="*/ 59523 w 1129647"/>
                  <a:gd name="connsiteY10" fmla="*/ 314325 h 339720"/>
                  <a:gd name="connsiteX11" fmla="*/ 40473 w 1129647"/>
                  <a:gd name="connsiteY11" fmla="*/ 285750 h 339720"/>
                  <a:gd name="connsiteX12" fmla="*/ 21423 w 1129647"/>
                  <a:gd name="connsiteY12" fmla="*/ 228600 h 339720"/>
                  <a:gd name="connsiteX13" fmla="*/ 11898 w 1129647"/>
                  <a:gd name="connsiteY13" fmla="*/ 200025 h 339720"/>
                  <a:gd name="connsiteX14" fmla="*/ 2373 w 1129647"/>
                  <a:gd name="connsiteY14" fmla="*/ 0 h 33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29647" h="339720">
                    <a:moveTo>
                      <a:pt x="840573" y="9525"/>
                    </a:moveTo>
                    <a:cubicBezTo>
                      <a:pt x="907248" y="12700"/>
                      <a:pt x="974835" y="7613"/>
                      <a:pt x="1040598" y="19050"/>
                    </a:cubicBezTo>
                    <a:cubicBezTo>
                      <a:pt x="1065737" y="23422"/>
                      <a:pt x="1055572" y="65319"/>
                      <a:pt x="1069173" y="76200"/>
                    </a:cubicBezTo>
                    <a:cubicBezTo>
                      <a:pt x="1079395" y="84378"/>
                      <a:pt x="1094573" y="82550"/>
                      <a:pt x="1107273" y="85725"/>
                    </a:cubicBezTo>
                    <a:cubicBezTo>
                      <a:pt x="1123092" y="149003"/>
                      <a:pt x="1129647" y="158153"/>
                      <a:pt x="1107273" y="247650"/>
                    </a:cubicBezTo>
                    <a:cubicBezTo>
                      <a:pt x="1104006" y="260718"/>
                      <a:pt x="1089331" y="267955"/>
                      <a:pt x="1078698" y="276225"/>
                    </a:cubicBezTo>
                    <a:cubicBezTo>
                      <a:pt x="1029570" y="314436"/>
                      <a:pt x="1036087" y="309479"/>
                      <a:pt x="992973" y="323850"/>
                    </a:cubicBezTo>
                    <a:lnTo>
                      <a:pt x="821523" y="314325"/>
                    </a:lnTo>
                    <a:cubicBezTo>
                      <a:pt x="777047" y="311545"/>
                      <a:pt x="732736" y="304800"/>
                      <a:pt x="688173" y="304800"/>
                    </a:cubicBezTo>
                    <a:cubicBezTo>
                      <a:pt x="551611" y="304800"/>
                      <a:pt x="415123" y="311150"/>
                      <a:pt x="278598" y="314325"/>
                    </a:cubicBezTo>
                    <a:cubicBezTo>
                      <a:pt x="195053" y="335211"/>
                      <a:pt x="192845" y="339720"/>
                      <a:pt x="59523" y="314325"/>
                    </a:cubicBezTo>
                    <a:cubicBezTo>
                      <a:pt x="48278" y="312183"/>
                      <a:pt x="45122" y="296211"/>
                      <a:pt x="40473" y="285750"/>
                    </a:cubicBezTo>
                    <a:cubicBezTo>
                      <a:pt x="32318" y="267400"/>
                      <a:pt x="27773" y="247650"/>
                      <a:pt x="21423" y="228600"/>
                    </a:cubicBezTo>
                    <a:lnTo>
                      <a:pt x="11898" y="200025"/>
                    </a:lnTo>
                    <a:cubicBezTo>
                      <a:pt x="0" y="57249"/>
                      <a:pt x="2373" y="123957"/>
                      <a:pt x="2373" y="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3303840" y="4870573"/>
                <a:ext cx="2163510" cy="1177802"/>
              </a:xfrm>
              <a:custGeom>
                <a:avLst/>
                <a:gdLst>
                  <a:gd name="connsiteX0" fmla="*/ 296610 w 2163510"/>
                  <a:gd name="connsiteY0" fmla="*/ 1168277 h 1177802"/>
                  <a:gd name="connsiteX1" fmla="*/ 296610 w 2163510"/>
                  <a:gd name="connsiteY1" fmla="*/ 1053977 h 1177802"/>
                  <a:gd name="connsiteX2" fmla="*/ 268035 w 2163510"/>
                  <a:gd name="connsiteY2" fmla="*/ 1034927 h 1177802"/>
                  <a:gd name="connsiteX3" fmla="*/ 248985 w 2163510"/>
                  <a:gd name="connsiteY3" fmla="*/ 1006352 h 1177802"/>
                  <a:gd name="connsiteX4" fmla="*/ 220410 w 2163510"/>
                  <a:gd name="connsiteY4" fmla="*/ 996827 h 1177802"/>
                  <a:gd name="connsiteX5" fmla="*/ 153735 w 2163510"/>
                  <a:gd name="connsiteY5" fmla="*/ 949202 h 1177802"/>
                  <a:gd name="connsiteX6" fmla="*/ 125160 w 2163510"/>
                  <a:gd name="connsiteY6" fmla="*/ 863477 h 1177802"/>
                  <a:gd name="connsiteX7" fmla="*/ 115635 w 2163510"/>
                  <a:gd name="connsiteY7" fmla="*/ 834902 h 1177802"/>
                  <a:gd name="connsiteX8" fmla="*/ 106110 w 2163510"/>
                  <a:gd name="connsiteY8" fmla="*/ 758702 h 1177802"/>
                  <a:gd name="connsiteX9" fmla="*/ 77535 w 2163510"/>
                  <a:gd name="connsiteY9" fmla="*/ 663452 h 1177802"/>
                  <a:gd name="connsiteX10" fmla="*/ 58485 w 2163510"/>
                  <a:gd name="connsiteY10" fmla="*/ 596777 h 1177802"/>
                  <a:gd name="connsiteX11" fmla="*/ 39435 w 2163510"/>
                  <a:gd name="connsiteY11" fmla="*/ 568202 h 1177802"/>
                  <a:gd name="connsiteX12" fmla="*/ 10860 w 2163510"/>
                  <a:gd name="connsiteY12" fmla="*/ 511052 h 1177802"/>
                  <a:gd name="connsiteX13" fmla="*/ 20385 w 2163510"/>
                  <a:gd name="connsiteY13" fmla="*/ 463427 h 1177802"/>
                  <a:gd name="connsiteX14" fmla="*/ 87060 w 2163510"/>
                  <a:gd name="connsiteY14" fmla="*/ 434852 h 1177802"/>
                  <a:gd name="connsiteX15" fmla="*/ 115635 w 2163510"/>
                  <a:gd name="connsiteY15" fmla="*/ 415802 h 1177802"/>
                  <a:gd name="connsiteX16" fmla="*/ 182310 w 2163510"/>
                  <a:gd name="connsiteY16" fmla="*/ 406277 h 1177802"/>
                  <a:gd name="connsiteX17" fmla="*/ 296610 w 2163510"/>
                  <a:gd name="connsiteY17" fmla="*/ 387227 h 1177802"/>
                  <a:gd name="connsiteX18" fmla="*/ 296610 w 2163510"/>
                  <a:gd name="connsiteY18" fmla="*/ 387227 h 1177802"/>
                  <a:gd name="connsiteX19" fmla="*/ 363285 w 2163510"/>
                  <a:gd name="connsiteY19" fmla="*/ 358652 h 1177802"/>
                  <a:gd name="connsiteX20" fmla="*/ 420435 w 2163510"/>
                  <a:gd name="connsiteY20" fmla="*/ 320552 h 1177802"/>
                  <a:gd name="connsiteX21" fmla="*/ 496635 w 2163510"/>
                  <a:gd name="connsiteY21" fmla="*/ 253877 h 1177802"/>
                  <a:gd name="connsiteX22" fmla="*/ 525210 w 2163510"/>
                  <a:gd name="connsiteY22" fmla="*/ 234827 h 1177802"/>
                  <a:gd name="connsiteX23" fmla="*/ 582360 w 2163510"/>
                  <a:gd name="connsiteY23" fmla="*/ 215777 h 1177802"/>
                  <a:gd name="connsiteX24" fmla="*/ 610935 w 2163510"/>
                  <a:gd name="connsiteY24" fmla="*/ 196727 h 1177802"/>
                  <a:gd name="connsiteX25" fmla="*/ 687135 w 2163510"/>
                  <a:gd name="connsiteY25" fmla="*/ 187202 h 1177802"/>
                  <a:gd name="connsiteX26" fmla="*/ 791910 w 2163510"/>
                  <a:gd name="connsiteY26" fmla="*/ 158627 h 1177802"/>
                  <a:gd name="connsiteX27" fmla="*/ 830010 w 2163510"/>
                  <a:gd name="connsiteY27" fmla="*/ 149102 h 1177802"/>
                  <a:gd name="connsiteX28" fmla="*/ 887160 w 2163510"/>
                  <a:gd name="connsiteY28" fmla="*/ 120527 h 1177802"/>
                  <a:gd name="connsiteX29" fmla="*/ 944310 w 2163510"/>
                  <a:gd name="connsiteY29" fmla="*/ 72902 h 1177802"/>
                  <a:gd name="connsiteX30" fmla="*/ 982410 w 2163510"/>
                  <a:gd name="connsiteY30" fmla="*/ 53852 h 1177802"/>
                  <a:gd name="connsiteX31" fmla="*/ 1049085 w 2163510"/>
                  <a:gd name="connsiteY31" fmla="*/ 15752 h 1177802"/>
                  <a:gd name="connsiteX32" fmla="*/ 1172910 w 2163510"/>
                  <a:gd name="connsiteY32" fmla="*/ 34802 h 1177802"/>
                  <a:gd name="connsiteX33" fmla="*/ 1201485 w 2163510"/>
                  <a:gd name="connsiteY33" fmla="*/ 44327 h 1177802"/>
                  <a:gd name="connsiteX34" fmla="*/ 1258635 w 2163510"/>
                  <a:gd name="connsiteY34" fmla="*/ 82427 h 1177802"/>
                  <a:gd name="connsiteX35" fmla="*/ 1287210 w 2163510"/>
                  <a:gd name="connsiteY35" fmla="*/ 91952 h 1177802"/>
                  <a:gd name="connsiteX36" fmla="*/ 1315785 w 2163510"/>
                  <a:gd name="connsiteY36" fmla="*/ 111002 h 1177802"/>
                  <a:gd name="connsiteX37" fmla="*/ 1372935 w 2163510"/>
                  <a:gd name="connsiteY37" fmla="*/ 130052 h 1177802"/>
                  <a:gd name="connsiteX38" fmla="*/ 1430085 w 2163510"/>
                  <a:gd name="connsiteY38" fmla="*/ 158627 h 1177802"/>
                  <a:gd name="connsiteX39" fmla="*/ 1458660 w 2163510"/>
                  <a:gd name="connsiteY39" fmla="*/ 177677 h 1177802"/>
                  <a:gd name="connsiteX40" fmla="*/ 1744410 w 2163510"/>
                  <a:gd name="connsiteY40" fmla="*/ 187202 h 1177802"/>
                  <a:gd name="connsiteX41" fmla="*/ 1801560 w 2163510"/>
                  <a:gd name="connsiteY41" fmla="*/ 225302 h 1177802"/>
                  <a:gd name="connsiteX42" fmla="*/ 1830135 w 2163510"/>
                  <a:gd name="connsiteY42" fmla="*/ 282452 h 1177802"/>
                  <a:gd name="connsiteX43" fmla="*/ 1858710 w 2163510"/>
                  <a:gd name="connsiteY43" fmla="*/ 291977 h 1177802"/>
                  <a:gd name="connsiteX44" fmla="*/ 1887285 w 2163510"/>
                  <a:gd name="connsiteY44" fmla="*/ 311027 h 1177802"/>
                  <a:gd name="connsiteX45" fmla="*/ 1934910 w 2163510"/>
                  <a:gd name="connsiteY45" fmla="*/ 320552 h 1177802"/>
                  <a:gd name="connsiteX46" fmla="*/ 1992060 w 2163510"/>
                  <a:gd name="connsiteY46" fmla="*/ 339602 h 1177802"/>
                  <a:gd name="connsiteX47" fmla="*/ 2030160 w 2163510"/>
                  <a:gd name="connsiteY47" fmla="*/ 349127 h 1177802"/>
                  <a:gd name="connsiteX48" fmla="*/ 2068260 w 2163510"/>
                  <a:gd name="connsiteY48" fmla="*/ 377702 h 1177802"/>
                  <a:gd name="connsiteX49" fmla="*/ 2106360 w 2163510"/>
                  <a:gd name="connsiteY49" fmla="*/ 434852 h 1177802"/>
                  <a:gd name="connsiteX50" fmla="*/ 2125410 w 2163510"/>
                  <a:gd name="connsiteY50" fmla="*/ 463427 h 1177802"/>
                  <a:gd name="connsiteX51" fmla="*/ 2144460 w 2163510"/>
                  <a:gd name="connsiteY51" fmla="*/ 492002 h 1177802"/>
                  <a:gd name="connsiteX52" fmla="*/ 2163510 w 2163510"/>
                  <a:gd name="connsiteY52" fmla="*/ 549152 h 1177802"/>
                  <a:gd name="connsiteX53" fmla="*/ 2144460 w 2163510"/>
                  <a:gd name="connsiteY53" fmla="*/ 634877 h 1177802"/>
                  <a:gd name="connsiteX54" fmla="*/ 2125410 w 2163510"/>
                  <a:gd name="connsiteY54" fmla="*/ 692027 h 1177802"/>
                  <a:gd name="connsiteX55" fmla="*/ 2115885 w 2163510"/>
                  <a:gd name="connsiteY55" fmla="*/ 739652 h 1177802"/>
                  <a:gd name="connsiteX56" fmla="*/ 2077785 w 2163510"/>
                  <a:gd name="connsiteY56" fmla="*/ 796802 h 1177802"/>
                  <a:gd name="connsiteX57" fmla="*/ 2049210 w 2163510"/>
                  <a:gd name="connsiteY57" fmla="*/ 863477 h 1177802"/>
                  <a:gd name="connsiteX58" fmla="*/ 2001585 w 2163510"/>
                  <a:gd name="connsiteY58" fmla="*/ 949202 h 1177802"/>
                  <a:gd name="connsiteX59" fmla="*/ 1992060 w 2163510"/>
                  <a:gd name="connsiteY59" fmla="*/ 977777 h 1177802"/>
                  <a:gd name="connsiteX60" fmla="*/ 1963485 w 2163510"/>
                  <a:gd name="connsiteY60" fmla="*/ 996827 h 1177802"/>
                  <a:gd name="connsiteX61" fmla="*/ 1934910 w 2163510"/>
                  <a:gd name="connsiteY61" fmla="*/ 1025402 h 1177802"/>
                  <a:gd name="connsiteX62" fmla="*/ 1877760 w 2163510"/>
                  <a:gd name="connsiteY62" fmla="*/ 1082552 h 1177802"/>
                  <a:gd name="connsiteX63" fmla="*/ 1849185 w 2163510"/>
                  <a:gd name="connsiteY63" fmla="*/ 1139702 h 1177802"/>
                  <a:gd name="connsiteX64" fmla="*/ 1820610 w 2163510"/>
                  <a:gd name="connsiteY64" fmla="*/ 1158752 h 1177802"/>
                  <a:gd name="connsiteX65" fmla="*/ 1801560 w 2163510"/>
                  <a:gd name="connsiteY65" fmla="*/ 1177802 h 1177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2163510" h="1177802">
                    <a:moveTo>
                      <a:pt x="296610" y="1168277"/>
                    </a:moveTo>
                    <a:cubicBezTo>
                      <a:pt x="307519" y="1124641"/>
                      <a:pt x="317192" y="1105433"/>
                      <a:pt x="296610" y="1053977"/>
                    </a:cubicBezTo>
                    <a:cubicBezTo>
                      <a:pt x="292358" y="1043348"/>
                      <a:pt x="277560" y="1041277"/>
                      <a:pt x="268035" y="1034927"/>
                    </a:cubicBezTo>
                    <a:cubicBezTo>
                      <a:pt x="261685" y="1025402"/>
                      <a:pt x="257924" y="1013503"/>
                      <a:pt x="248985" y="1006352"/>
                    </a:cubicBezTo>
                    <a:cubicBezTo>
                      <a:pt x="241145" y="1000080"/>
                      <a:pt x="229390" y="1001317"/>
                      <a:pt x="220410" y="996827"/>
                    </a:cubicBezTo>
                    <a:cubicBezTo>
                      <a:pt x="206482" y="989863"/>
                      <a:pt x="162364" y="955674"/>
                      <a:pt x="153735" y="949202"/>
                    </a:cubicBezTo>
                    <a:lnTo>
                      <a:pt x="125160" y="863477"/>
                    </a:lnTo>
                    <a:lnTo>
                      <a:pt x="115635" y="834902"/>
                    </a:lnTo>
                    <a:cubicBezTo>
                      <a:pt x="112460" y="809502"/>
                      <a:pt x="110318" y="783951"/>
                      <a:pt x="106110" y="758702"/>
                    </a:cubicBezTo>
                    <a:cubicBezTo>
                      <a:pt x="98551" y="713349"/>
                      <a:pt x="90238" y="714265"/>
                      <a:pt x="77535" y="663452"/>
                    </a:cubicBezTo>
                    <a:cubicBezTo>
                      <a:pt x="74483" y="651245"/>
                      <a:pt x="65317" y="610442"/>
                      <a:pt x="58485" y="596777"/>
                    </a:cubicBezTo>
                    <a:cubicBezTo>
                      <a:pt x="53365" y="586538"/>
                      <a:pt x="44555" y="578441"/>
                      <a:pt x="39435" y="568202"/>
                    </a:cubicBezTo>
                    <a:cubicBezTo>
                      <a:pt x="0" y="489332"/>
                      <a:pt x="65455" y="592944"/>
                      <a:pt x="10860" y="511052"/>
                    </a:cubicBezTo>
                    <a:cubicBezTo>
                      <a:pt x="14035" y="495177"/>
                      <a:pt x="12353" y="477483"/>
                      <a:pt x="20385" y="463427"/>
                    </a:cubicBezTo>
                    <a:cubicBezTo>
                      <a:pt x="31348" y="444242"/>
                      <a:pt x="70450" y="439005"/>
                      <a:pt x="87060" y="434852"/>
                    </a:cubicBezTo>
                    <a:cubicBezTo>
                      <a:pt x="96585" y="428502"/>
                      <a:pt x="104670" y="419091"/>
                      <a:pt x="115635" y="415802"/>
                    </a:cubicBezTo>
                    <a:cubicBezTo>
                      <a:pt x="137139" y="409351"/>
                      <a:pt x="160134" y="409778"/>
                      <a:pt x="182310" y="406277"/>
                    </a:cubicBezTo>
                    <a:lnTo>
                      <a:pt x="296610" y="387227"/>
                    </a:lnTo>
                    <a:lnTo>
                      <a:pt x="296610" y="387227"/>
                    </a:lnTo>
                    <a:cubicBezTo>
                      <a:pt x="319929" y="379454"/>
                      <a:pt x="342687" y="373365"/>
                      <a:pt x="363285" y="358652"/>
                    </a:cubicBezTo>
                    <a:cubicBezTo>
                      <a:pt x="425715" y="314059"/>
                      <a:pt x="359138" y="340984"/>
                      <a:pt x="420435" y="320552"/>
                    </a:cubicBezTo>
                    <a:cubicBezTo>
                      <a:pt x="452185" y="272927"/>
                      <a:pt x="429960" y="298327"/>
                      <a:pt x="496635" y="253877"/>
                    </a:cubicBezTo>
                    <a:cubicBezTo>
                      <a:pt x="506160" y="247527"/>
                      <a:pt x="514350" y="238447"/>
                      <a:pt x="525210" y="234827"/>
                    </a:cubicBezTo>
                    <a:cubicBezTo>
                      <a:pt x="544260" y="228477"/>
                      <a:pt x="565652" y="226916"/>
                      <a:pt x="582360" y="215777"/>
                    </a:cubicBezTo>
                    <a:cubicBezTo>
                      <a:pt x="591885" y="209427"/>
                      <a:pt x="599891" y="199739"/>
                      <a:pt x="610935" y="196727"/>
                    </a:cubicBezTo>
                    <a:cubicBezTo>
                      <a:pt x="635631" y="189992"/>
                      <a:pt x="661735" y="190377"/>
                      <a:pt x="687135" y="187202"/>
                    </a:cubicBezTo>
                    <a:cubicBezTo>
                      <a:pt x="740548" y="169398"/>
                      <a:pt x="705970" y="180112"/>
                      <a:pt x="791910" y="158627"/>
                    </a:cubicBezTo>
                    <a:lnTo>
                      <a:pt x="830010" y="149102"/>
                    </a:lnTo>
                    <a:cubicBezTo>
                      <a:pt x="911902" y="94507"/>
                      <a:pt x="808290" y="159962"/>
                      <a:pt x="887160" y="120527"/>
                    </a:cubicBezTo>
                    <a:cubicBezTo>
                      <a:pt x="937552" y="95331"/>
                      <a:pt x="895157" y="108011"/>
                      <a:pt x="944310" y="72902"/>
                    </a:cubicBezTo>
                    <a:cubicBezTo>
                      <a:pt x="955864" y="64649"/>
                      <a:pt x="970082" y="60897"/>
                      <a:pt x="982410" y="53852"/>
                    </a:cubicBezTo>
                    <a:cubicBezTo>
                      <a:pt x="1076652" y="0"/>
                      <a:pt x="933950" y="73319"/>
                      <a:pt x="1049085" y="15752"/>
                    </a:cubicBezTo>
                    <a:cubicBezTo>
                      <a:pt x="1118175" y="23429"/>
                      <a:pt x="1120416" y="19804"/>
                      <a:pt x="1172910" y="34802"/>
                    </a:cubicBezTo>
                    <a:cubicBezTo>
                      <a:pt x="1182564" y="37560"/>
                      <a:pt x="1192708" y="39451"/>
                      <a:pt x="1201485" y="44327"/>
                    </a:cubicBezTo>
                    <a:cubicBezTo>
                      <a:pt x="1221499" y="55446"/>
                      <a:pt x="1236915" y="75187"/>
                      <a:pt x="1258635" y="82427"/>
                    </a:cubicBezTo>
                    <a:cubicBezTo>
                      <a:pt x="1268160" y="85602"/>
                      <a:pt x="1278230" y="87462"/>
                      <a:pt x="1287210" y="91952"/>
                    </a:cubicBezTo>
                    <a:cubicBezTo>
                      <a:pt x="1297449" y="97072"/>
                      <a:pt x="1305324" y="106353"/>
                      <a:pt x="1315785" y="111002"/>
                    </a:cubicBezTo>
                    <a:cubicBezTo>
                      <a:pt x="1334135" y="119157"/>
                      <a:pt x="1356227" y="118913"/>
                      <a:pt x="1372935" y="130052"/>
                    </a:cubicBezTo>
                    <a:cubicBezTo>
                      <a:pt x="1454827" y="184647"/>
                      <a:pt x="1351215" y="119192"/>
                      <a:pt x="1430085" y="158627"/>
                    </a:cubicBezTo>
                    <a:cubicBezTo>
                      <a:pt x="1440324" y="163747"/>
                      <a:pt x="1447259" y="176641"/>
                      <a:pt x="1458660" y="177677"/>
                    </a:cubicBezTo>
                    <a:cubicBezTo>
                      <a:pt x="1553572" y="186305"/>
                      <a:pt x="1649160" y="184027"/>
                      <a:pt x="1744410" y="187202"/>
                    </a:cubicBezTo>
                    <a:cubicBezTo>
                      <a:pt x="1763460" y="199902"/>
                      <a:pt x="1794320" y="203582"/>
                      <a:pt x="1801560" y="225302"/>
                    </a:cubicBezTo>
                    <a:cubicBezTo>
                      <a:pt x="1807835" y="244126"/>
                      <a:pt x="1813349" y="269023"/>
                      <a:pt x="1830135" y="282452"/>
                    </a:cubicBezTo>
                    <a:cubicBezTo>
                      <a:pt x="1837975" y="288724"/>
                      <a:pt x="1849730" y="287487"/>
                      <a:pt x="1858710" y="291977"/>
                    </a:cubicBezTo>
                    <a:cubicBezTo>
                      <a:pt x="1868949" y="297097"/>
                      <a:pt x="1876566" y="307007"/>
                      <a:pt x="1887285" y="311027"/>
                    </a:cubicBezTo>
                    <a:cubicBezTo>
                      <a:pt x="1902444" y="316711"/>
                      <a:pt x="1919291" y="316292"/>
                      <a:pt x="1934910" y="320552"/>
                    </a:cubicBezTo>
                    <a:cubicBezTo>
                      <a:pt x="1954283" y="325836"/>
                      <a:pt x="1972579" y="334732"/>
                      <a:pt x="1992060" y="339602"/>
                    </a:cubicBezTo>
                    <a:lnTo>
                      <a:pt x="2030160" y="349127"/>
                    </a:lnTo>
                    <a:cubicBezTo>
                      <a:pt x="2042860" y="358652"/>
                      <a:pt x="2057713" y="365837"/>
                      <a:pt x="2068260" y="377702"/>
                    </a:cubicBezTo>
                    <a:cubicBezTo>
                      <a:pt x="2083471" y="394814"/>
                      <a:pt x="2093660" y="415802"/>
                      <a:pt x="2106360" y="434852"/>
                    </a:cubicBezTo>
                    <a:lnTo>
                      <a:pt x="2125410" y="463427"/>
                    </a:lnTo>
                    <a:cubicBezTo>
                      <a:pt x="2131760" y="472952"/>
                      <a:pt x="2140840" y="481142"/>
                      <a:pt x="2144460" y="492002"/>
                    </a:cubicBezTo>
                    <a:lnTo>
                      <a:pt x="2163510" y="549152"/>
                    </a:lnTo>
                    <a:cubicBezTo>
                      <a:pt x="2158072" y="576343"/>
                      <a:pt x="2152531" y="607974"/>
                      <a:pt x="2144460" y="634877"/>
                    </a:cubicBezTo>
                    <a:cubicBezTo>
                      <a:pt x="2138690" y="654111"/>
                      <a:pt x="2129348" y="672336"/>
                      <a:pt x="2125410" y="692027"/>
                    </a:cubicBezTo>
                    <a:cubicBezTo>
                      <a:pt x="2122235" y="707902"/>
                      <a:pt x="2122584" y="724914"/>
                      <a:pt x="2115885" y="739652"/>
                    </a:cubicBezTo>
                    <a:cubicBezTo>
                      <a:pt x="2106411" y="760495"/>
                      <a:pt x="2077785" y="796802"/>
                      <a:pt x="2077785" y="796802"/>
                    </a:cubicBezTo>
                    <a:cubicBezTo>
                      <a:pt x="2052589" y="897588"/>
                      <a:pt x="2086798" y="778904"/>
                      <a:pt x="2049210" y="863477"/>
                    </a:cubicBezTo>
                    <a:cubicBezTo>
                      <a:pt x="2011914" y="947392"/>
                      <a:pt x="2053741" y="897046"/>
                      <a:pt x="2001585" y="949202"/>
                    </a:cubicBezTo>
                    <a:cubicBezTo>
                      <a:pt x="1998410" y="958727"/>
                      <a:pt x="1998332" y="969937"/>
                      <a:pt x="1992060" y="977777"/>
                    </a:cubicBezTo>
                    <a:cubicBezTo>
                      <a:pt x="1984909" y="986716"/>
                      <a:pt x="1972279" y="989498"/>
                      <a:pt x="1963485" y="996827"/>
                    </a:cubicBezTo>
                    <a:cubicBezTo>
                      <a:pt x="1953137" y="1005451"/>
                      <a:pt x="1943676" y="1015175"/>
                      <a:pt x="1934910" y="1025402"/>
                    </a:cubicBezTo>
                    <a:cubicBezTo>
                      <a:pt x="1887652" y="1080536"/>
                      <a:pt x="1928063" y="1049016"/>
                      <a:pt x="1877760" y="1082552"/>
                    </a:cubicBezTo>
                    <a:cubicBezTo>
                      <a:pt x="1870013" y="1105793"/>
                      <a:pt x="1867649" y="1121238"/>
                      <a:pt x="1849185" y="1139702"/>
                    </a:cubicBezTo>
                    <a:cubicBezTo>
                      <a:pt x="1841090" y="1147797"/>
                      <a:pt x="1829549" y="1151601"/>
                      <a:pt x="1820610" y="1158752"/>
                    </a:cubicBezTo>
                    <a:cubicBezTo>
                      <a:pt x="1813598" y="1164362"/>
                      <a:pt x="1807910" y="1171452"/>
                      <a:pt x="1801560" y="1177802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3771900" y="6100375"/>
                <a:ext cx="1228725" cy="81350"/>
              </a:xfrm>
              <a:custGeom>
                <a:avLst/>
                <a:gdLst>
                  <a:gd name="connsiteX0" fmla="*/ 0 w 1228725"/>
                  <a:gd name="connsiteY0" fmla="*/ 62300 h 81350"/>
                  <a:gd name="connsiteX1" fmla="*/ 95250 w 1228725"/>
                  <a:gd name="connsiteY1" fmla="*/ 52775 h 81350"/>
                  <a:gd name="connsiteX2" fmla="*/ 123825 w 1228725"/>
                  <a:gd name="connsiteY2" fmla="*/ 43250 h 81350"/>
                  <a:gd name="connsiteX3" fmla="*/ 200025 w 1228725"/>
                  <a:gd name="connsiteY3" fmla="*/ 33725 h 81350"/>
                  <a:gd name="connsiteX4" fmla="*/ 428625 w 1228725"/>
                  <a:gd name="connsiteY4" fmla="*/ 14675 h 81350"/>
                  <a:gd name="connsiteX5" fmla="*/ 476250 w 1228725"/>
                  <a:gd name="connsiteY5" fmla="*/ 5150 h 81350"/>
                  <a:gd name="connsiteX6" fmla="*/ 866775 w 1228725"/>
                  <a:gd name="connsiteY6" fmla="*/ 24200 h 81350"/>
                  <a:gd name="connsiteX7" fmla="*/ 981075 w 1228725"/>
                  <a:gd name="connsiteY7" fmla="*/ 43250 h 81350"/>
                  <a:gd name="connsiteX8" fmla="*/ 1066800 w 1228725"/>
                  <a:gd name="connsiteY8" fmla="*/ 71825 h 81350"/>
                  <a:gd name="connsiteX9" fmla="*/ 1095375 w 1228725"/>
                  <a:gd name="connsiteY9" fmla="*/ 81350 h 81350"/>
                  <a:gd name="connsiteX10" fmla="*/ 1228725 w 1228725"/>
                  <a:gd name="connsiteY10" fmla="*/ 81350 h 8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28725" h="81350">
                    <a:moveTo>
                      <a:pt x="0" y="62300"/>
                    </a:moveTo>
                    <a:cubicBezTo>
                      <a:pt x="31750" y="59125"/>
                      <a:pt x="63713" y="57627"/>
                      <a:pt x="95250" y="52775"/>
                    </a:cubicBezTo>
                    <a:cubicBezTo>
                      <a:pt x="105173" y="51248"/>
                      <a:pt x="113947" y="45046"/>
                      <a:pt x="123825" y="43250"/>
                    </a:cubicBezTo>
                    <a:cubicBezTo>
                      <a:pt x="149010" y="38671"/>
                      <a:pt x="174625" y="36900"/>
                      <a:pt x="200025" y="33725"/>
                    </a:cubicBezTo>
                    <a:cubicBezTo>
                      <a:pt x="295536" y="1888"/>
                      <a:pt x="194565" y="32680"/>
                      <a:pt x="428625" y="14675"/>
                    </a:cubicBezTo>
                    <a:cubicBezTo>
                      <a:pt x="444767" y="13433"/>
                      <a:pt x="460375" y="8325"/>
                      <a:pt x="476250" y="5150"/>
                    </a:cubicBezTo>
                    <a:cubicBezTo>
                      <a:pt x="724811" y="12461"/>
                      <a:pt x="713505" y="0"/>
                      <a:pt x="866775" y="24200"/>
                    </a:cubicBezTo>
                    <a:cubicBezTo>
                      <a:pt x="904928" y="30224"/>
                      <a:pt x="944432" y="31036"/>
                      <a:pt x="981075" y="43250"/>
                    </a:cubicBezTo>
                    <a:lnTo>
                      <a:pt x="1066800" y="71825"/>
                    </a:lnTo>
                    <a:cubicBezTo>
                      <a:pt x="1076325" y="75000"/>
                      <a:pt x="1085335" y="81350"/>
                      <a:pt x="1095375" y="81350"/>
                    </a:cubicBezTo>
                    <a:lnTo>
                      <a:pt x="1228725" y="81350"/>
                    </a:ln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3934193" y="5457825"/>
                <a:ext cx="848777" cy="706137"/>
              </a:xfrm>
              <a:custGeom>
                <a:avLst/>
                <a:gdLst>
                  <a:gd name="connsiteX0" fmla="*/ 28207 w 848777"/>
                  <a:gd name="connsiteY0" fmla="*/ 685800 h 706137"/>
                  <a:gd name="connsiteX1" fmla="*/ 47257 w 848777"/>
                  <a:gd name="connsiteY1" fmla="*/ 409575 h 706137"/>
                  <a:gd name="connsiteX2" fmla="*/ 56782 w 848777"/>
                  <a:gd name="connsiteY2" fmla="*/ 333375 h 706137"/>
                  <a:gd name="connsiteX3" fmla="*/ 47257 w 848777"/>
                  <a:gd name="connsiteY3" fmla="*/ 219075 h 706137"/>
                  <a:gd name="connsiteX4" fmla="*/ 47257 w 848777"/>
                  <a:gd name="connsiteY4" fmla="*/ 95250 h 706137"/>
                  <a:gd name="connsiteX5" fmla="*/ 94882 w 848777"/>
                  <a:gd name="connsiteY5" fmla="*/ 57150 h 706137"/>
                  <a:gd name="connsiteX6" fmla="*/ 342532 w 848777"/>
                  <a:gd name="connsiteY6" fmla="*/ 28575 h 706137"/>
                  <a:gd name="connsiteX7" fmla="*/ 418732 w 848777"/>
                  <a:gd name="connsiteY7" fmla="*/ 0 h 706137"/>
                  <a:gd name="connsiteX8" fmla="*/ 571132 w 848777"/>
                  <a:gd name="connsiteY8" fmla="*/ 28575 h 706137"/>
                  <a:gd name="connsiteX9" fmla="*/ 609232 w 848777"/>
                  <a:gd name="connsiteY9" fmla="*/ 38100 h 706137"/>
                  <a:gd name="connsiteX10" fmla="*/ 675907 w 848777"/>
                  <a:gd name="connsiteY10" fmla="*/ 47625 h 706137"/>
                  <a:gd name="connsiteX11" fmla="*/ 704482 w 848777"/>
                  <a:gd name="connsiteY11" fmla="*/ 66675 h 706137"/>
                  <a:gd name="connsiteX12" fmla="*/ 771157 w 848777"/>
                  <a:gd name="connsiteY12" fmla="*/ 85725 h 706137"/>
                  <a:gd name="connsiteX13" fmla="*/ 771157 w 848777"/>
                  <a:gd name="connsiteY13" fmla="*/ 190500 h 706137"/>
                  <a:gd name="connsiteX14" fmla="*/ 799732 w 848777"/>
                  <a:gd name="connsiteY14" fmla="*/ 276225 h 706137"/>
                  <a:gd name="connsiteX15" fmla="*/ 790207 w 848777"/>
                  <a:gd name="connsiteY15" fmla="*/ 409575 h 706137"/>
                  <a:gd name="connsiteX16" fmla="*/ 771157 w 848777"/>
                  <a:gd name="connsiteY16" fmla="*/ 447675 h 706137"/>
                  <a:gd name="connsiteX17" fmla="*/ 790207 w 848777"/>
                  <a:gd name="connsiteY17" fmla="*/ 533400 h 706137"/>
                  <a:gd name="connsiteX18" fmla="*/ 809257 w 848777"/>
                  <a:gd name="connsiteY18" fmla="*/ 561975 h 706137"/>
                  <a:gd name="connsiteX19" fmla="*/ 828307 w 848777"/>
                  <a:gd name="connsiteY19" fmla="*/ 638175 h 706137"/>
                  <a:gd name="connsiteX20" fmla="*/ 847357 w 848777"/>
                  <a:gd name="connsiteY20" fmla="*/ 676275 h 706137"/>
                  <a:gd name="connsiteX21" fmla="*/ 837832 w 848777"/>
                  <a:gd name="connsiteY21" fmla="*/ 704850 h 706137"/>
                  <a:gd name="connsiteX22" fmla="*/ 818782 w 848777"/>
                  <a:gd name="connsiteY22" fmla="*/ 676275 h 706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48777" h="706137">
                    <a:moveTo>
                      <a:pt x="28207" y="685800"/>
                    </a:moveTo>
                    <a:cubicBezTo>
                      <a:pt x="50583" y="529169"/>
                      <a:pt x="27486" y="706137"/>
                      <a:pt x="47257" y="409575"/>
                    </a:cubicBezTo>
                    <a:cubicBezTo>
                      <a:pt x="48960" y="384034"/>
                      <a:pt x="53607" y="358775"/>
                      <a:pt x="56782" y="333375"/>
                    </a:cubicBezTo>
                    <a:cubicBezTo>
                      <a:pt x="53607" y="295275"/>
                      <a:pt x="52310" y="256972"/>
                      <a:pt x="47257" y="219075"/>
                    </a:cubicBezTo>
                    <a:cubicBezTo>
                      <a:pt x="39200" y="158648"/>
                      <a:pt x="0" y="205516"/>
                      <a:pt x="47257" y="95250"/>
                    </a:cubicBezTo>
                    <a:cubicBezTo>
                      <a:pt x="55265" y="76564"/>
                      <a:pt x="77034" y="66885"/>
                      <a:pt x="94882" y="57150"/>
                    </a:cubicBezTo>
                    <a:cubicBezTo>
                      <a:pt x="162057" y="20509"/>
                      <a:pt x="291211" y="31141"/>
                      <a:pt x="342532" y="28575"/>
                    </a:cubicBezTo>
                    <a:cubicBezTo>
                      <a:pt x="364208" y="17737"/>
                      <a:pt x="392794" y="0"/>
                      <a:pt x="418732" y="0"/>
                    </a:cubicBezTo>
                    <a:cubicBezTo>
                      <a:pt x="469822" y="0"/>
                      <a:pt x="522354" y="16381"/>
                      <a:pt x="571132" y="28575"/>
                    </a:cubicBezTo>
                    <a:cubicBezTo>
                      <a:pt x="583832" y="31750"/>
                      <a:pt x="596273" y="36249"/>
                      <a:pt x="609232" y="38100"/>
                    </a:cubicBezTo>
                    <a:lnTo>
                      <a:pt x="675907" y="47625"/>
                    </a:lnTo>
                    <a:cubicBezTo>
                      <a:pt x="685432" y="53975"/>
                      <a:pt x="694243" y="61555"/>
                      <a:pt x="704482" y="66675"/>
                    </a:cubicBezTo>
                    <a:cubicBezTo>
                      <a:pt x="718147" y="73507"/>
                      <a:pt x="758950" y="82673"/>
                      <a:pt x="771157" y="85725"/>
                    </a:cubicBezTo>
                    <a:cubicBezTo>
                      <a:pt x="793001" y="151258"/>
                      <a:pt x="771157" y="72026"/>
                      <a:pt x="771157" y="190500"/>
                    </a:cubicBezTo>
                    <a:cubicBezTo>
                      <a:pt x="771157" y="241831"/>
                      <a:pt x="776731" y="241723"/>
                      <a:pt x="799732" y="276225"/>
                    </a:cubicBezTo>
                    <a:cubicBezTo>
                      <a:pt x="796557" y="320675"/>
                      <a:pt x="797533" y="365618"/>
                      <a:pt x="790207" y="409575"/>
                    </a:cubicBezTo>
                    <a:cubicBezTo>
                      <a:pt x="787873" y="423581"/>
                      <a:pt x="772570" y="433546"/>
                      <a:pt x="771157" y="447675"/>
                    </a:cubicBezTo>
                    <a:cubicBezTo>
                      <a:pt x="769938" y="459869"/>
                      <a:pt x="781019" y="515023"/>
                      <a:pt x="790207" y="533400"/>
                    </a:cubicBezTo>
                    <a:cubicBezTo>
                      <a:pt x="795327" y="543639"/>
                      <a:pt x="802907" y="552450"/>
                      <a:pt x="809257" y="561975"/>
                    </a:cubicBezTo>
                    <a:cubicBezTo>
                      <a:pt x="815607" y="587375"/>
                      <a:pt x="820028" y="613337"/>
                      <a:pt x="828307" y="638175"/>
                    </a:cubicBezTo>
                    <a:cubicBezTo>
                      <a:pt x="832797" y="651645"/>
                      <a:pt x="845349" y="662219"/>
                      <a:pt x="847357" y="676275"/>
                    </a:cubicBezTo>
                    <a:cubicBezTo>
                      <a:pt x="848777" y="686214"/>
                      <a:pt x="841007" y="695325"/>
                      <a:pt x="837832" y="704850"/>
                    </a:cubicBezTo>
                    <a:lnTo>
                      <a:pt x="818782" y="676275"/>
                    </a:ln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6" name="Rounded Rectangular Callout 75"/>
            <p:cNvSpPr/>
            <p:nvPr/>
          </p:nvSpPr>
          <p:spPr>
            <a:xfrm>
              <a:off x="2666565" y="4613764"/>
              <a:ext cx="853763" cy="228600"/>
            </a:xfrm>
            <a:prstGeom prst="wedgeRoundRectCallout">
              <a:avLst>
                <a:gd name="adj1" fmla="val -35873"/>
                <a:gd name="adj2" fmla="val 101832"/>
                <a:gd name="adj3" fmla="val 16667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590800" y="4613764"/>
              <a:ext cx="990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Build a house!</a:t>
              </a:r>
              <a:endParaRPr lang="en-US" sz="1000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57200" y="5638800"/>
              <a:ext cx="1066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C00000"/>
                  </a:solidFill>
                  <a:latin typeface="Bradley Hand ITC" pitchFamily="66" charset="0"/>
                </a:rPr>
                <a:t>Caveman!</a:t>
              </a:r>
              <a:endParaRPr lang="en-US" sz="14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219200" y="5867400"/>
              <a:ext cx="581025" cy="182562"/>
            </a:xfrm>
            <a:custGeom>
              <a:avLst/>
              <a:gdLst>
                <a:gd name="connsiteX0" fmla="*/ 0 w 581025"/>
                <a:gd name="connsiteY0" fmla="*/ 66675 h 182562"/>
                <a:gd name="connsiteX1" fmla="*/ 200025 w 581025"/>
                <a:gd name="connsiteY1" fmla="*/ 171450 h 182562"/>
                <a:gd name="connsiteX2" fmla="*/ 581025 w 581025"/>
                <a:gd name="connsiteY2" fmla="*/ 0 h 18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1025" h="182562">
                  <a:moveTo>
                    <a:pt x="0" y="66675"/>
                  </a:moveTo>
                  <a:cubicBezTo>
                    <a:pt x="51594" y="124618"/>
                    <a:pt x="103188" y="182562"/>
                    <a:pt x="200025" y="171450"/>
                  </a:cubicBezTo>
                  <a:cubicBezTo>
                    <a:pt x="296862" y="160338"/>
                    <a:pt x="438943" y="80169"/>
                    <a:pt x="581025" y="0"/>
                  </a:cubicBezTo>
                </a:path>
              </a:pathLst>
            </a:custGeom>
            <a:ln w="635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1143000" y="3657600"/>
            <a:ext cx="3581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It is much harder for the Caveman to come up with the structural architecture of the house from scratch!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200400" y="5486400"/>
            <a:ext cx="2971800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u="sng" dirty="0" smtClean="0">
                <a:solidFill>
                  <a:srgbClr val="C00000"/>
                </a:solidFill>
                <a:latin typeface="Bradley Hand ITC" pitchFamily="66" charset="0"/>
              </a:rPr>
              <a:t>Important</a:t>
            </a:r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:</a:t>
            </a:r>
          </a:p>
          <a:p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It is more efficient to build systems based on successfully employed designs than to come up with designs from scratch!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696200" y="54203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Today’s Architect!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05" name="Freeform 104"/>
          <p:cNvSpPr/>
          <p:nvPr/>
        </p:nvSpPr>
        <p:spPr>
          <a:xfrm flipH="1">
            <a:off x="7467600" y="5867400"/>
            <a:ext cx="457200" cy="182562"/>
          </a:xfrm>
          <a:custGeom>
            <a:avLst/>
            <a:gdLst>
              <a:gd name="connsiteX0" fmla="*/ 0 w 581025"/>
              <a:gd name="connsiteY0" fmla="*/ 66675 h 182562"/>
              <a:gd name="connsiteX1" fmla="*/ 200025 w 581025"/>
              <a:gd name="connsiteY1" fmla="*/ 171450 h 182562"/>
              <a:gd name="connsiteX2" fmla="*/ 581025 w 581025"/>
              <a:gd name="connsiteY2" fmla="*/ 0 h 1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1025" h="182562">
                <a:moveTo>
                  <a:pt x="0" y="66675"/>
                </a:moveTo>
                <a:cubicBezTo>
                  <a:pt x="51594" y="124618"/>
                  <a:pt x="103188" y="182562"/>
                  <a:pt x="200025" y="171450"/>
                </a:cubicBezTo>
                <a:cubicBezTo>
                  <a:pt x="296862" y="160338"/>
                  <a:pt x="438943" y="80169"/>
                  <a:pt x="581025" y="0"/>
                </a:cubicBezTo>
              </a:path>
            </a:pathLst>
          </a:custGeom>
          <a:ln w="635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990599"/>
          </a:xfrm>
        </p:spPr>
        <p:txBody>
          <a:bodyPr/>
          <a:lstStyle/>
          <a:p>
            <a:r>
              <a:rPr lang="en-US" dirty="0" smtClean="0"/>
              <a:t>Similar to the previous example, today’s software architect can benefit from numerous documented styles and patterns for software architecture.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810000"/>
            <a:ext cx="975472" cy="1490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Cloud Callout 32"/>
          <p:cNvSpPr/>
          <p:nvPr/>
        </p:nvSpPr>
        <p:spPr>
          <a:xfrm>
            <a:off x="4252072" y="3048000"/>
            <a:ext cx="1143000" cy="609600"/>
          </a:xfrm>
          <a:prstGeom prst="cloudCallout">
            <a:avLst>
              <a:gd name="adj1" fmla="val -38987"/>
              <a:gd name="adj2" fmla="val 9231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oup 152"/>
          <p:cNvGrpSpPr/>
          <p:nvPr/>
        </p:nvGrpSpPr>
        <p:grpSpPr>
          <a:xfrm>
            <a:off x="533400" y="2743200"/>
            <a:ext cx="1981200" cy="762000"/>
            <a:chOff x="533400" y="3429000"/>
            <a:chExt cx="1981200" cy="762000"/>
          </a:xfrm>
        </p:grpSpPr>
        <p:sp>
          <p:nvSpPr>
            <p:cNvPr id="34" name="Rounded Rectangular Callout 33"/>
            <p:cNvSpPr/>
            <p:nvPr/>
          </p:nvSpPr>
          <p:spPr>
            <a:xfrm>
              <a:off x="609600" y="3429000"/>
              <a:ext cx="1828800" cy="762000"/>
            </a:xfrm>
            <a:prstGeom prst="wedgeRoundRectCallout">
              <a:avLst>
                <a:gd name="adj1" fmla="val 43338"/>
                <a:gd name="adj2" fmla="val 97666"/>
                <a:gd name="adj3" fmla="val 16667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3400" y="3448050"/>
              <a:ext cx="1981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I need an interactive system, capable of displaying information from a data storage in multiple displays and different format!</a:t>
              </a:r>
              <a:endParaRPr lang="en-US" sz="1000" dirty="0"/>
            </a:p>
          </p:txBody>
        </p:sp>
      </p:grpSp>
      <p:pic>
        <p:nvPicPr>
          <p:cNvPr id="36" name="Picture 2" descr="C:\Users\cotero\AppData\Local\Microsoft\Windows\Temporary Internet Files\Content.IE5\MFZE6V1B\MC900231557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276600" y="3898681"/>
            <a:ext cx="1127872" cy="1501994"/>
          </a:xfrm>
          <a:prstGeom prst="rect">
            <a:avLst/>
          </a:prstGeom>
          <a:noFill/>
        </p:spPr>
      </p:pic>
      <p:sp>
        <p:nvSpPr>
          <p:cNvPr id="38" name="TextBox 37"/>
          <p:cNvSpPr txBox="1"/>
          <p:nvPr/>
        </p:nvSpPr>
        <p:spPr>
          <a:xfrm>
            <a:off x="4572000" y="4780618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Today’s Architect!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39" name="Freeform 38"/>
          <p:cNvSpPr/>
          <p:nvPr/>
        </p:nvSpPr>
        <p:spPr>
          <a:xfrm flipH="1">
            <a:off x="4343400" y="5227638"/>
            <a:ext cx="457200" cy="182562"/>
          </a:xfrm>
          <a:custGeom>
            <a:avLst/>
            <a:gdLst>
              <a:gd name="connsiteX0" fmla="*/ 0 w 581025"/>
              <a:gd name="connsiteY0" fmla="*/ 66675 h 182562"/>
              <a:gd name="connsiteX1" fmla="*/ 200025 w 581025"/>
              <a:gd name="connsiteY1" fmla="*/ 171450 h 182562"/>
              <a:gd name="connsiteX2" fmla="*/ 581025 w 581025"/>
              <a:gd name="connsiteY2" fmla="*/ 0 h 1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1025" h="182562">
                <a:moveTo>
                  <a:pt x="0" y="66675"/>
                </a:moveTo>
                <a:cubicBezTo>
                  <a:pt x="51594" y="124618"/>
                  <a:pt x="103188" y="182562"/>
                  <a:pt x="200025" y="171450"/>
                </a:cubicBezTo>
                <a:cubicBezTo>
                  <a:pt x="296862" y="160338"/>
                  <a:pt x="438943" y="80169"/>
                  <a:pt x="581025" y="0"/>
                </a:cubicBezTo>
              </a:path>
            </a:pathLst>
          </a:custGeom>
          <a:ln w="635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1" name="Group 150"/>
          <p:cNvGrpSpPr/>
          <p:nvPr/>
        </p:nvGrpSpPr>
        <p:grpSpPr>
          <a:xfrm>
            <a:off x="6553200" y="3048000"/>
            <a:ext cx="2076450" cy="2667000"/>
            <a:chOff x="5057775" y="2743200"/>
            <a:chExt cx="2076450" cy="2667000"/>
          </a:xfrm>
        </p:grpSpPr>
        <p:sp>
          <p:nvSpPr>
            <p:cNvPr id="94" name="Folded Corner 93"/>
            <p:cNvSpPr/>
            <p:nvPr/>
          </p:nvSpPr>
          <p:spPr>
            <a:xfrm>
              <a:off x="5076825" y="2743200"/>
              <a:ext cx="2057400" cy="2667000"/>
            </a:xfrm>
            <a:prstGeom prst="foldedCorne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105400" y="2743200"/>
              <a:ext cx="198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smtClean="0"/>
                <a:t>Model-View-Controller Pattern</a:t>
              </a:r>
              <a:endParaRPr lang="en-US" sz="800" dirty="0"/>
            </a:p>
          </p:txBody>
        </p:sp>
        <p:grpSp>
          <p:nvGrpSpPr>
            <p:cNvPr id="96" name="Group 95"/>
            <p:cNvGrpSpPr/>
            <p:nvPr/>
          </p:nvGrpSpPr>
          <p:grpSpPr>
            <a:xfrm>
              <a:off x="5257800" y="2997123"/>
              <a:ext cx="1676400" cy="889077"/>
              <a:chOff x="5257800" y="2790825"/>
              <a:chExt cx="1676400" cy="889077"/>
            </a:xfrm>
          </p:grpSpPr>
          <p:sp>
            <p:nvSpPr>
              <p:cNvPr id="92" name="Rectangle 91"/>
              <p:cNvSpPr/>
              <p:nvPr/>
            </p:nvSpPr>
            <p:spPr>
              <a:xfrm>
                <a:off x="5257800" y="3163601"/>
                <a:ext cx="737616" cy="1721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5257800" y="3143250"/>
                <a:ext cx="737616" cy="16219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Controller 1</a:t>
                </a:r>
                <a:endParaRPr lang="en-US" sz="800" dirty="0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6196584" y="3163601"/>
                <a:ext cx="737616" cy="1721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196584" y="3152775"/>
                <a:ext cx="737616" cy="162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Controller 2</a:t>
                </a:r>
                <a:endParaRPr lang="en-US" sz="800" dirty="0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5257800" y="2819400"/>
                <a:ext cx="737616" cy="1721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5257800" y="2790825"/>
                <a:ext cx="737616" cy="162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View 1</a:t>
                </a:r>
                <a:endParaRPr lang="en-US" sz="800" dirty="0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6196584" y="2819400"/>
                <a:ext cx="737616" cy="1721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196584" y="2790825"/>
                <a:ext cx="737616" cy="162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View 2</a:t>
                </a:r>
                <a:endParaRPr lang="en-US" sz="800" dirty="0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257800" y="3507802"/>
                <a:ext cx="1676400" cy="1721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257800" y="3507802"/>
                <a:ext cx="1676400" cy="162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Model</a:t>
                </a:r>
                <a:endParaRPr lang="en-US" sz="800" dirty="0"/>
              </a:p>
            </p:txBody>
          </p:sp>
          <p:cxnSp>
            <p:nvCxnSpPr>
              <p:cNvPr id="76" name="Straight Connector 75"/>
              <p:cNvCxnSpPr/>
              <p:nvPr/>
            </p:nvCxnSpPr>
            <p:spPr>
              <a:xfrm>
                <a:off x="5391912" y="2991500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5391912" y="3335701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6330696" y="2991500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6330696" y="3335701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5886450" y="2991500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5886450" y="3335701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6833616" y="2991500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6833616" y="3335701"/>
                <a:ext cx="0" cy="172100"/>
              </a:xfrm>
              <a:prstGeom prst="line">
                <a:avLst/>
              </a:prstGeom>
              <a:ln w="6350"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8" name="Straight Connector 97"/>
            <p:cNvCxnSpPr/>
            <p:nvPr/>
          </p:nvCxnSpPr>
          <p:spPr>
            <a:xfrm>
              <a:off x="5076825" y="4038600"/>
              <a:ext cx="205740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/>
            <p:cNvGrpSpPr/>
            <p:nvPr/>
          </p:nvGrpSpPr>
          <p:grpSpPr>
            <a:xfrm>
              <a:off x="5486400" y="4124325"/>
              <a:ext cx="509016" cy="215444"/>
              <a:chOff x="7301484" y="3933825"/>
              <a:chExt cx="509016" cy="215444"/>
            </a:xfrm>
          </p:grpSpPr>
          <p:sp>
            <p:nvSpPr>
              <p:cNvPr id="105" name="Rectangle 104"/>
              <p:cNvSpPr/>
              <p:nvPr/>
            </p:nvSpPr>
            <p:spPr>
              <a:xfrm>
                <a:off x="7315200" y="3962400"/>
                <a:ext cx="457200" cy="1524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7301484" y="3933825"/>
                <a:ext cx="50901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View 1</a:t>
                </a:r>
                <a:endParaRPr lang="en-US" sz="800" dirty="0"/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5981700" y="4127956"/>
              <a:ext cx="509016" cy="215444"/>
              <a:chOff x="7301484" y="3933825"/>
              <a:chExt cx="509016" cy="215444"/>
            </a:xfrm>
          </p:grpSpPr>
          <p:sp>
            <p:nvSpPr>
              <p:cNvPr id="124" name="Rectangle 123"/>
              <p:cNvSpPr/>
              <p:nvPr/>
            </p:nvSpPr>
            <p:spPr>
              <a:xfrm>
                <a:off x="7315200" y="3962400"/>
                <a:ext cx="457200" cy="1524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7301484" y="3933825"/>
                <a:ext cx="50901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View 2</a:t>
                </a:r>
                <a:endParaRPr lang="en-US" sz="800" dirty="0"/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6490716" y="4124325"/>
              <a:ext cx="509016" cy="215444"/>
              <a:chOff x="7301484" y="3933825"/>
              <a:chExt cx="509016" cy="215444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7315200" y="3962400"/>
                <a:ext cx="457200" cy="1524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7301484" y="3933825"/>
                <a:ext cx="50901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smtClean="0"/>
                  <a:t>Model</a:t>
                </a:r>
                <a:endParaRPr lang="en-US" sz="800" dirty="0"/>
              </a:p>
            </p:txBody>
          </p:sp>
        </p:grpSp>
        <p:cxnSp>
          <p:nvCxnSpPr>
            <p:cNvPr id="132" name="Straight Connector 131"/>
            <p:cNvCxnSpPr/>
            <p:nvPr/>
          </p:nvCxnSpPr>
          <p:spPr>
            <a:xfrm>
              <a:off x="5723382" y="4333875"/>
              <a:ext cx="0" cy="9906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>
              <a:off x="6237732" y="4343400"/>
              <a:ext cx="0" cy="9906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>
              <a:off x="6771132" y="4343400"/>
              <a:ext cx="0" cy="9906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5334000" y="4495800"/>
              <a:ext cx="381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5334000" y="4724400"/>
              <a:ext cx="9144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/>
            <p:nvPr/>
          </p:nvCxnSpPr>
          <p:spPr>
            <a:xfrm>
              <a:off x="5334000" y="4953000"/>
              <a:ext cx="14478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tangle 146"/>
            <p:cNvSpPr/>
            <p:nvPr/>
          </p:nvSpPr>
          <p:spPr>
            <a:xfrm>
              <a:off x="5143500" y="4152900"/>
              <a:ext cx="304800" cy="152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5057775" y="4114800"/>
              <a:ext cx="5090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smtClean="0"/>
                <a:t>…</a:t>
              </a:r>
              <a:endParaRPr lang="en-US" sz="800" dirty="0"/>
            </a:p>
          </p:txBody>
        </p:sp>
        <p:cxnSp>
          <p:nvCxnSpPr>
            <p:cNvPr id="150" name="Straight Connector 149"/>
            <p:cNvCxnSpPr/>
            <p:nvPr/>
          </p:nvCxnSpPr>
          <p:spPr>
            <a:xfrm>
              <a:off x="5334000" y="4343400"/>
              <a:ext cx="0" cy="9906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TextBox 151"/>
          <p:cNvSpPr txBox="1"/>
          <p:nvPr/>
        </p:nvSpPr>
        <p:spPr>
          <a:xfrm>
            <a:off x="4299697" y="3171825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Model-View-Controller Pattern</a:t>
            </a:r>
            <a:endParaRPr lang="en-US" sz="800" dirty="0"/>
          </a:p>
        </p:txBody>
      </p:sp>
      <p:sp>
        <p:nvSpPr>
          <p:cNvPr id="157" name="Freeform 156"/>
          <p:cNvSpPr/>
          <p:nvPr/>
        </p:nvSpPr>
        <p:spPr>
          <a:xfrm rot="19338186">
            <a:off x="4601276" y="2387906"/>
            <a:ext cx="721062" cy="405787"/>
          </a:xfrm>
          <a:custGeom>
            <a:avLst/>
            <a:gdLst>
              <a:gd name="connsiteX0" fmla="*/ 0 w 1790700"/>
              <a:gd name="connsiteY0" fmla="*/ 663575 h 663575"/>
              <a:gd name="connsiteX1" fmla="*/ 400050 w 1790700"/>
              <a:gd name="connsiteY1" fmla="*/ 158750 h 663575"/>
              <a:gd name="connsiteX2" fmla="*/ 1066800 w 1790700"/>
              <a:gd name="connsiteY2" fmla="*/ 15875 h 663575"/>
              <a:gd name="connsiteX3" fmla="*/ 1619250 w 1790700"/>
              <a:gd name="connsiteY3" fmla="*/ 254000 h 663575"/>
              <a:gd name="connsiteX4" fmla="*/ 1790700 w 1790700"/>
              <a:gd name="connsiteY4" fmla="*/ 320675 h 6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0700" h="663575">
                <a:moveTo>
                  <a:pt x="0" y="663575"/>
                </a:moveTo>
                <a:cubicBezTo>
                  <a:pt x="111125" y="465137"/>
                  <a:pt x="222250" y="266700"/>
                  <a:pt x="400050" y="158750"/>
                </a:cubicBezTo>
                <a:cubicBezTo>
                  <a:pt x="577850" y="50800"/>
                  <a:pt x="863600" y="0"/>
                  <a:pt x="1066800" y="15875"/>
                </a:cubicBezTo>
                <a:cubicBezTo>
                  <a:pt x="1270000" y="31750"/>
                  <a:pt x="1498600" y="203200"/>
                  <a:pt x="1619250" y="254000"/>
                </a:cubicBezTo>
                <a:cubicBezTo>
                  <a:pt x="1739900" y="304800"/>
                  <a:pt x="1765300" y="312737"/>
                  <a:pt x="1790700" y="3206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8" name="Picture 157" descr="C:\Users\cotero\AppData\Local\Microsoft\Windows\Temporary Internet Files\Content.IE5\07RO37DR\MC900013282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5638800"/>
            <a:ext cx="235269" cy="466435"/>
          </a:xfrm>
          <a:prstGeom prst="rect">
            <a:avLst/>
          </a:prstGeom>
          <a:noFill/>
        </p:spPr>
      </p:pic>
      <p:sp>
        <p:nvSpPr>
          <p:cNvPr id="159" name="TextBox 158"/>
          <p:cNvSpPr txBox="1"/>
          <p:nvPr/>
        </p:nvSpPr>
        <p:spPr>
          <a:xfrm>
            <a:off x="3276600" y="5638800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Software architected this way exhibit certain quality properties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60" name="Freeform 159"/>
          <p:cNvSpPr/>
          <p:nvPr/>
        </p:nvSpPr>
        <p:spPr>
          <a:xfrm>
            <a:off x="5886450" y="6124575"/>
            <a:ext cx="581025" cy="153987"/>
          </a:xfrm>
          <a:custGeom>
            <a:avLst/>
            <a:gdLst>
              <a:gd name="connsiteX0" fmla="*/ 0 w 581025"/>
              <a:gd name="connsiteY0" fmla="*/ 66675 h 153987"/>
              <a:gd name="connsiteX1" fmla="*/ 238125 w 581025"/>
              <a:gd name="connsiteY1" fmla="*/ 142875 h 153987"/>
              <a:gd name="connsiteX2" fmla="*/ 581025 w 581025"/>
              <a:gd name="connsiteY2" fmla="*/ 0 h 153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1025" h="153987">
                <a:moveTo>
                  <a:pt x="0" y="66675"/>
                </a:moveTo>
                <a:cubicBezTo>
                  <a:pt x="70644" y="110331"/>
                  <a:pt x="141288" y="153987"/>
                  <a:pt x="238125" y="142875"/>
                </a:cubicBezTo>
                <a:cubicBezTo>
                  <a:pt x="334962" y="131763"/>
                  <a:pt x="457993" y="65881"/>
                  <a:pt x="581025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/>
          <p:cNvSpPr txBox="1"/>
          <p:nvPr/>
        </p:nvSpPr>
        <p:spPr>
          <a:xfrm>
            <a:off x="5181600" y="2133600"/>
            <a:ext cx="312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Once a pattern is identified, Architects can always refer to a pattern catalog to find documented details about it!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62" name="Freeform 161"/>
          <p:cNvSpPr/>
          <p:nvPr/>
        </p:nvSpPr>
        <p:spPr>
          <a:xfrm rot="5400000">
            <a:off x="8136730" y="2531270"/>
            <a:ext cx="490539" cy="304800"/>
          </a:xfrm>
          <a:custGeom>
            <a:avLst/>
            <a:gdLst>
              <a:gd name="connsiteX0" fmla="*/ 0 w 1790700"/>
              <a:gd name="connsiteY0" fmla="*/ 663575 h 663575"/>
              <a:gd name="connsiteX1" fmla="*/ 400050 w 1790700"/>
              <a:gd name="connsiteY1" fmla="*/ 158750 h 663575"/>
              <a:gd name="connsiteX2" fmla="*/ 1066800 w 1790700"/>
              <a:gd name="connsiteY2" fmla="*/ 15875 h 663575"/>
              <a:gd name="connsiteX3" fmla="*/ 1619250 w 1790700"/>
              <a:gd name="connsiteY3" fmla="*/ 254000 h 663575"/>
              <a:gd name="connsiteX4" fmla="*/ 1790700 w 1790700"/>
              <a:gd name="connsiteY4" fmla="*/ 320675 h 6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0700" h="663575">
                <a:moveTo>
                  <a:pt x="0" y="663575"/>
                </a:moveTo>
                <a:cubicBezTo>
                  <a:pt x="111125" y="465137"/>
                  <a:pt x="222250" y="266700"/>
                  <a:pt x="400050" y="158750"/>
                </a:cubicBezTo>
                <a:cubicBezTo>
                  <a:pt x="577850" y="50800"/>
                  <a:pt x="863600" y="0"/>
                  <a:pt x="1066800" y="15875"/>
                </a:cubicBezTo>
                <a:cubicBezTo>
                  <a:pt x="1270000" y="31750"/>
                  <a:pt x="1498600" y="203200"/>
                  <a:pt x="1619250" y="254000"/>
                </a:cubicBezTo>
                <a:cubicBezTo>
                  <a:pt x="1739900" y="304800"/>
                  <a:pt x="1765300" y="312737"/>
                  <a:pt x="1790700" y="3206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381000" y="54102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Bradley Hand ITC" pitchFamily="66" charset="0"/>
              </a:rPr>
              <a:t>Customer specifies what he needs!</a:t>
            </a:r>
            <a:endParaRPr lang="en-US" sz="14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64" name="Freeform 163"/>
          <p:cNvSpPr/>
          <p:nvPr/>
        </p:nvSpPr>
        <p:spPr>
          <a:xfrm rot="19338186">
            <a:off x="1792208" y="5019690"/>
            <a:ext cx="551885" cy="247619"/>
          </a:xfrm>
          <a:custGeom>
            <a:avLst/>
            <a:gdLst>
              <a:gd name="connsiteX0" fmla="*/ 0 w 1790700"/>
              <a:gd name="connsiteY0" fmla="*/ 663575 h 663575"/>
              <a:gd name="connsiteX1" fmla="*/ 400050 w 1790700"/>
              <a:gd name="connsiteY1" fmla="*/ 158750 h 663575"/>
              <a:gd name="connsiteX2" fmla="*/ 1066800 w 1790700"/>
              <a:gd name="connsiteY2" fmla="*/ 15875 h 663575"/>
              <a:gd name="connsiteX3" fmla="*/ 1619250 w 1790700"/>
              <a:gd name="connsiteY3" fmla="*/ 254000 h 663575"/>
              <a:gd name="connsiteX4" fmla="*/ 1790700 w 1790700"/>
              <a:gd name="connsiteY4" fmla="*/ 320675 h 6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0700" h="663575">
                <a:moveTo>
                  <a:pt x="0" y="663575"/>
                </a:moveTo>
                <a:cubicBezTo>
                  <a:pt x="111125" y="465137"/>
                  <a:pt x="222250" y="266700"/>
                  <a:pt x="400050" y="158750"/>
                </a:cubicBezTo>
                <a:cubicBezTo>
                  <a:pt x="577850" y="50800"/>
                  <a:pt x="863600" y="0"/>
                  <a:pt x="1066800" y="15875"/>
                </a:cubicBezTo>
                <a:cubicBezTo>
                  <a:pt x="1270000" y="31750"/>
                  <a:pt x="1498600" y="203200"/>
                  <a:pt x="1619250" y="254000"/>
                </a:cubicBezTo>
                <a:cubicBezTo>
                  <a:pt x="1739900" y="304800"/>
                  <a:pt x="1765300" y="312737"/>
                  <a:pt x="1790700" y="3206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815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Before we move on, it is important to discuss the history of styles and patterns.  This will help us eliminate some of the confusion between the terms </a:t>
            </a:r>
            <a:r>
              <a:rPr lang="en-US" b="1" i="1" dirty="0" smtClean="0">
                <a:solidFill>
                  <a:srgbClr val="FF0000"/>
                </a:solidFill>
              </a:rPr>
              <a:t>styles</a:t>
            </a:r>
            <a:r>
              <a:rPr lang="en-US" dirty="0" smtClean="0"/>
              <a:t> and </a:t>
            </a:r>
            <a:r>
              <a:rPr lang="en-US" b="1" i="1" dirty="0" smtClean="0">
                <a:solidFill>
                  <a:srgbClr val="FF0000"/>
                </a:solidFill>
              </a:rPr>
              <a:t>patterns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1977, Christopher Alexander presented a language intended to help individuals, or teams, design quality structures of different sizes, shapes, and complexities [1].  According to Alexander et al.:</a:t>
            </a:r>
          </a:p>
          <a:p>
            <a:pPr lvl="1"/>
            <a:r>
              <a:rPr lang="en-US" dirty="0" smtClean="0"/>
              <a:t>“</a:t>
            </a:r>
            <a:r>
              <a:rPr lang="en-US" i="1" dirty="0" smtClean="0"/>
              <a:t>Each pattern describes a problem which occurs over and over again in our environment, and then describes the core of the solution to that problem, in such a way that </a:t>
            </a:r>
            <a:r>
              <a:rPr lang="en-US" i="1" u="sng" dirty="0" smtClean="0"/>
              <a:t>you can use this solution a million times over, without ever doing it the same way twice</a:t>
            </a:r>
            <a:r>
              <a:rPr lang="en-US" i="1" dirty="0" smtClean="0"/>
              <a:t>.</a:t>
            </a:r>
            <a:r>
              <a:rPr lang="en-US" dirty="0" smtClean="0"/>
              <a:t>”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Alexander’s work resulted in a catalogue of 253 patterns, each describing in detail the essential information required for documenting the patterns, including [1]:</a:t>
            </a:r>
          </a:p>
          <a:p>
            <a:pPr lvl="1"/>
            <a:r>
              <a:rPr lang="en-US" dirty="0" smtClean="0"/>
              <a:t>Picture of the pattern</a:t>
            </a:r>
          </a:p>
          <a:p>
            <a:pPr lvl="1"/>
            <a:r>
              <a:rPr lang="en-US" dirty="0" smtClean="0"/>
              <a:t>Context of the pattern</a:t>
            </a:r>
          </a:p>
          <a:p>
            <a:pPr lvl="1"/>
            <a:r>
              <a:rPr lang="en-US" dirty="0" smtClean="0"/>
              <a:t>Problem that the pattern attempts to solve</a:t>
            </a:r>
          </a:p>
          <a:p>
            <a:pPr lvl="1"/>
            <a:r>
              <a:rPr lang="en-US" dirty="0" smtClean="0"/>
              <a:t>Evidence for its validity</a:t>
            </a:r>
          </a:p>
          <a:p>
            <a:pPr lvl="1"/>
            <a:r>
              <a:rPr lang="en-US" dirty="0" smtClean="0"/>
              <a:t>Related patterns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9529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Although Alexander’s work on patterns appears relevant to the software engineering profession, it actually referred to patterns found in the design of buildings and towns.</a:t>
            </a:r>
          </a:p>
          <a:p>
            <a:pPr lvl="1"/>
            <a:r>
              <a:rPr lang="en-US" dirty="0" smtClean="0"/>
              <a:t>This work, however, significantly impacted the field of software engineering.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 the 1990s, the software engineering community began researching and finding recurring high-level problem solutions in terms of specific elements and their relationships; these were originally referred to as </a:t>
            </a:r>
            <a:r>
              <a:rPr lang="en-US" b="1" dirty="0" smtClean="0"/>
              <a:t>architectural styles </a:t>
            </a:r>
            <a:r>
              <a:rPr lang="en-US" dirty="0" smtClean="0"/>
              <a:t>[2].</a:t>
            </a:r>
          </a:p>
          <a:p>
            <a:pPr lvl="1"/>
            <a:r>
              <a:rPr lang="en-US" dirty="0" smtClean="0"/>
              <a:t>Similar to Alexander’s work, Architectural Styles provided the means for software architects to reuse design solutions in different projects; that is, to use a “solution a million times over, without ever doing it the same way twice.”[1]</a:t>
            </a:r>
          </a:p>
          <a:p>
            <a:endParaRPr lang="en-US" dirty="0" smtClean="0"/>
          </a:p>
          <a:p>
            <a:r>
              <a:rPr lang="en-US" dirty="0" smtClean="0"/>
              <a:t>In 1994, Gamma, Helm, Johnson, and </a:t>
            </a:r>
            <a:r>
              <a:rPr lang="en-US" dirty="0" err="1" smtClean="0"/>
              <a:t>Vlissides</a:t>
            </a:r>
            <a:r>
              <a:rPr lang="en-US" dirty="0" smtClean="0"/>
              <a:t>—better known as the Gang of Four (</a:t>
            </a:r>
            <a:r>
              <a:rPr lang="en-US" dirty="0" err="1" smtClean="0"/>
              <a:t>GoF</a:t>
            </a:r>
            <a:r>
              <a:rPr lang="en-US" dirty="0" smtClean="0"/>
              <a:t>)—published their influential work that focused on a finer-grained set of object-oriented detailed design solutions that could be used in different problems “a million times over, without ever doing it the same way twice.” </a:t>
            </a:r>
          </a:p>
          <a:p>
            <a:pPr lvl="1"/>
            <a:r>
              <a:rPr lang="en-US" dirty="0" smtClean="0"/>
              <a:t>Influenced by Alexander’s work, they called these </a:t>
            </a:r>
            <a:r>
              <a:rPr lang="en-US" b="1" dirty="0" smtClean="0"/>
              <a:t>Design Patterns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Their work resulted in the creation of a catalogue of 23 (detailed design) patterns.</a:t>
            </a:r>
          </a:p>
          <a:p>
            <a:pPr lvl="1"/>
            <a:r>
              <a:rPr lang="en-US" dirty="0" smtClean="0"/>
              <a:t>Each pattern was described in detail, using a specific pattern specification format.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815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In 1996, the work of </a:t>
            </a:r>
            <a:r>
              <a:rPr lang="en-US" dirty="0" err="1" smtClean="0"/>
              <a:t>Buschmann</a:t>
            </a:r>
            <a:r>
              <a:rPr lang="en-US" dirty="0" smtClean="0"/>
              <a:t>, </a:t>
            </a:r>
            <a:r>
              <a:rPr lang="en-US" dirty="0" err="1" smtClean="0"/>
              <a:t>Meunier</a:t>
            </a:r>
            <a:r>
              <a:rPr lang="en-US" dirty="0" smtClean="0"/>
              <a:t>, Rohnert, </a:t>
            </a:r>
            <a:r>
              <a:rPr lang="en-US" dirty="0" err="1" smtClean="0"/>
              <a:t>Sommerland</a:t>
            </a:r>
            <a:r>
              <a:rPr lang="en-US" dirty="0" smtClean="0"/>
              <a:t>, and </a:t>
            </a:r>
            <a:r>
              <a:rPr lang="en-US" dirty="0" err="1" smtClean="0"/>
              <a:t>Stal</a:t>
            </a:r>
            <a:r>
              <a:rPr lang="en-US" dirty="0" smtClean="0"/>
              <a:t> [3], integrated the work of architectural styles and design patterns by providing a set of well-known architectural styles using a pattern-like approach [2].</a:t>
            </a:r>
          </a:p>
          <a:p>
            <a:pPr lvl="1"/>
            <a:r>
              <a:rPr lang="en-US" dirty="0" smtClean="0"/>
              <a:t>They referred to these as </a:t>
            </a:r>
            <a:r>
              <a:rPr lang="en-US" b="1" dirty="0" smtClean="0"/>
              <a:t>Architectural Patterns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 their work, </a:t>
            </a:r>
            <a:r>
              <a:rPr lang="en-US" dirty="0" err="1" smtClean="0"/>
              <a:t>Buschmann</a:t>
            </a:r>
            <a:r>
              <a:rPr lang="en-US" dirty="0" smtClean="0"/>
              <a:t> et al. provided their views about architectural patterns vs. design patterns[3]:</a:t>
            </a:r>
          </a:p>
          <a:p>
            <a:pPr lvl="1"/>
            <a:r>
              <a:rPr lang="en-US" dirty="0" smtClean="0"/>
              <a:t>“</a:t>
            </a:r>
            <a:r>
              <a:rPr lang="en-US" i="1" dirty="0" smtClean="0"/>
              <a:t>Architectural patterns … specify the system-wide structural properties of an application. They specify the system-wide structural properties of an application, and have an impact on the architecture of its subsystems.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“Design patterns are medium-scale patterns.”</a:t>
            </a:r>
          </a:p>
          <a:p>
            <a:pPr lvl="1"/>
            <a:r>
              <a:rPr lang="en-US" dirty="0" smtClean="0"/>
              <a:t>“</a:t>
            </a:r>
            <a:r>
              <a:rPr lang="en-US" i="1" dirty="0" smtClean="0"/>
              <a:t>The application of a design pattern has no effect on the fundamental structure of a software system, but may have a strong influence on the architecture of a subsystem.</a:t>
            </a:r>
            <a:r>
              <a:rPr lang="en-US" dirty="0" smtClean="0"/>
              <a:t>”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Hopefully, this helps clear the air between the concepts of </a:t>
            </a:r>
            <a:r>
              <a:rPr lang="en-US" i="1" dirty="0" smtClean="0"/>
              <a:t>architectural patterns </a:t>
            </a:r>
            <a:r>
              <a:rPr lang="en-US" dirty="0" smtClean="0"/>
              <a:t>vs. </a:t>
            </a:r>
            <a:r>
              <a:rPr lang="en-US" i="1" dirty="0" smtClean="0"/>
              <a:t>design patterns</a:t>
            </a:r>
            <a:r>
              <a:rPr lang="en-US" dirty="0" smtClean="0"/>
              <a:t>, but what about </a:t>
            </a:r>
            <a:r>
              <a:rPr lang="en-US" i="1" dirty="0" smtClean="0"/>
              <a:t>Architectural Styles </a:t>
            </a:r>
            <a:r>
              <a:rPr lang="en-US" dirty="0" smtClean="0"/>
              <a:t>vs. </a:t>
            </a:r>
            <a:r>
              <a:rPr lang="en-US" i="1" dirty="0" smtClean="0"/>
              <a:t>Architectural Patterns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There </a:t>
            </a:r>
            <a:r>
              <a:rPr lang="en-US" b="1" dirty="0" smtClean="0"/>
              <a:t>are</a:t>
            </a:r>
            <a:r>
              <a:rPr lang="en-US" dirty="0" smtClean="0"/>
              <a:t> documented differences between architectural styles and patterns!</a:t>
            </a:r>
          </a:p>
          <a:p>
            <a:pPr lvl="1"/>
            <a:r>
              <a:rPr lang="en-US" dirty="0" smtClean="0"/>
              <a:t>However, perhaps </a:t>
            </a:r>
            <a:r>
              <a:rPr lang="en-US" dirty="0" err="1" smtClean="0"/>
              <a:t>Buschmann</a:t>
            </a:r>
            <a:r>
              <a:rPr lang="en-US" dirty="0" smtClean="0"/>
              <a:t> et al. [3] put it best by stating that “</a:t>
            </a:r>
            <a:r>
              <a:rPr lang="en-US" i="1" u="sng" dirty="0" smtClean="0"/>
              <a:t>Architectural styles </a:t>
            </a:r>
            <a:r>
              <a:rPr lang="en-US" i="1" dirty="0" smtClean="0"/>
              <a:t>are very similar to our </a:t>
            </a:r>
            <a:r>
              <a:rPr lang="en-US" i="1" u="sng" dirty="0" smtClean="0"/>
              <a:t>architectural patterns</a:t>
            </a:r>
            <a:r>
              <a:rPr lang="en-US" i="1" dirty="0" smtClean="0"/>
              <a:t>.  In fact every architectural style can be described as an architectural pattern.</a:t>
            </a:r>
            <a:r>
              <a:rPr lang="en-US" dirty="0" smtClean="0"/>
              <a:t>”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Architecture Styles and Patterns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533400" y="1676400"/>
            <a:ext cx="8077200" cy="3890665"/>
            <a:chOff x="533400" y="1676400"/>
            <a:chExt cx="8077200" cy="3890665"/>
          </a:xfrm>
        </p:grpSpPr>
        <p:grpSp>
          <p:nvGrpSpPr>
            <p:cNvPr id="27" name="Group 26"/>
            <p:cNvGrpSpPr/>
            <p:nvPr/>
          </p:nvGrpSpPr>
          <p:grpSpPr>
            <a:xfrm>
              <a:off x="1447800" y="3737431"/>
              <a:ext cx="7010400" cy="377369"/>
              <a:chOff x="685800" y="3800475"/>
              <a:chExt cx="7010400" cy="377369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685800" y="3886200"/>
                <a:ext cx="7010400" cy="0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prstDash val="dash"/>
                <a:tailEnd type="stealth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1600200" y="3800475"/>
                <a:ext cx="0" cy="15240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3657600" y="3800475"/>
                <a:ext cx="0" cy="15240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4114800" y="3800475"/>
                <a:ext cx="0" cy="15240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4267200" y="3800475"/>
                <a:ext cx="0" cy="15240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6400800" y="3800475"/>
                <a:ext cx="0" cy="15240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1400175" y="396240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1977</a:t>
                </a:r>
                <a:endParaRPr lang="en-US" sz="8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420150" y="396240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1992</a:t>
                </a:r>
                <a:endParaRPr lang="en-US" sz="800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820200" y="396240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1994</a:t>
                </a:r>
                <a:endParaRPr lang="en-US" sz="800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114800" y="396240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1996</a:t>
                </a:r>
                <a:endParaRPr lang="en-US" sz="800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6163350" y="396240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2012</a:t>
                </a:r>
                <a:endParaRPr lang="en-US" sz="800" dirty="0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533400" y="4191000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The concept of Pattern is introduced for the design of Buildings and Towns</a:t>
              </a:r>
            </a:p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by Christopher Alexander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 rot="5120881">
              <a:off x="2205596" y="4183184"/>
              <a:ext cx="324697" cy="138011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3400" y="3076575"/>
              <a:ext cx="3657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Dwayne E. Perry and Alexander L. Wolf published the notion of Architectural Style for software systems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590800" y="4415135"/>
              <a:ext cx="1676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Gang of Four publishes influential book on Design Patterns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 rot="11826679">
              <a:off x="4033638" y="3350645"/>
              <a:ext cx="415301" cy="251420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 rot="4967904">
              <a:off x="4392178" y="3954709"/>
              <a:ext cx="324697" cy="727563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28800" y="5105400"/>
              <a:ext cx="2819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err="1" smtClean="0">
                  <a:solidFill>
                    <a:srgbClr val="C00000"/>
                  </a:solidFill>
                  <a:latin typeface="Bradley Hand ITC" pitchFamily="66" charset="0"/>
                </a:rPr>
                <a:t>Buschmann</a:t>
              </a:r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 et al. publishes book that “merges” the work on styles and patterns 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46" name="Right Brace 45"/>
            <p:cNvSpPr/>
            <p:nvPr/>
          </p:nvSpPr>
          <p:spPr>
            <a:xfrm rot="5400000" flipH="1">
              <a:off x="6038850" y="2495550"/>
              <a:ext cx="190500" cy="2057400"/>
            </a:xfrm>
            <a:prstGeom prst="rightBrace">
              <a:avLst/>
            </a:prstGeom>
            <a:ln w="63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52600" y="2438400"/>
              <a:ext cx="342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Many other work published on architectural styles, architectural patterns, and design patterns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5086350" y="2819400"/>
              <a:ext cx="1019175" cy="552450"/>
            </a:xfrm>
            <a:custGeom>
              <a:avLst/>
              <a:gdLst>
                <a:gd name="connsiteX0" fmla="*/ 0 w 1019175"/>
                <a:gd name="connsiteY0" fmla="*/ 0 h 904875"/>
                <a:gd name="connsiteX1" fmla="*/ 238125 w 1019175"/>
                <a:gd name="connsiteY1" fmla="*/ 381000 h 904875"/>
                <a:gd name="connsiteX2" fmla="*/ 742950 w 1019175"/>
                <a:gd name="connsiteY2" fmla="*/ 609600 h 904875"/>
                <a:gd name="connsiteX3" fmla="*/ 1019175 w 1019175"/>
                <a:gd name="connsiteY3" fmla="*/ 90487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9175" h="904875">
                  <a:moveTo>
                    <a:pt x="0" y="0"/>
                  </a:moveTo>
                  <a:cubicBezTo>
                    <a:pt x="57150" y="139700"/>
                    <a:pt x="114300" y="279400"/>
                    <a:pt x="238125" y="381000"/>
                  </a:cubicBezTo>
                  <a:cubicBezTo>
                    <a:pt x="361950" y="482600"/>
                    <a:pt x="612775" y="522288"/>
                    <a:pt x="742950" y="609600"/>
                  </a:cubicBezTo>
                  <a:cubicBezTo>
                    <a:pt x="873125" y="696913"/>
                    <a:pt x="946150" y="800894"/>
                    <a:pt x="1019175" y="904875"/>
                  </a:cubicBezTo>
                </a:path>
              </a:pathLst>
            </a:custGeom>
            <a:ln w="635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/>
            <p:cNvGrpSpPr/>
            <p:nvPr/>
          </p:nvGrpSpPr>
          <p:grpSpPr>
            <a:xfrm>
              <a:off x="5791200" y="1828800"/>
              <a:ext cx="1371600" cy="1219200"/>
              <a:chOff x="5181600" y="1600200"/>
              <a:chExt cx="1371600" cy="1219200"/>
            </a:xfrm>
          </p:grpSpPr>
          <p:pic>
            <p:nvPicPr>
              <p:cNvPr id="50" name="Picture 2" descr="C:\Users\cotero\AppData\Local\Microsoft\Windows\Temporary Internet Files\Content.IE5\ES8921MZ\MC900048773[1].wmf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181600" y="2209800"/>
                <a:ext cx="547384" cy="609600"/>
              </a:xfrm>
              <a:prstGeom prst="rect">
                <a:avLst/>
              </a:prstGeom>
              <a:noFill/>
            </p:spPr>
          </p:pic>
          <p:sp>
            <p:nvSpPr>
              <p:cNvPr id="51" name="Cloud Callout 50"/>
              <p:cNvSpPr/>
              <p:nvPr/>
            </p:nvSpPr>
            <p:spPr>
              <a:xfrm>
                <a:off x="5486400" y="1600200"/>
                <a:ext cx="1066800" cy="533400"/>
              </a:xfrm>
              <a:prstGeom prst="cloudCallout">
                <a:avLst>
                  <a:gd name="adj1" fmla="val -31259"/>
                  <a:gd name="adj2" fmla="val 71877"/>
                </a:avLst>
              </a:prstGeom>
              <a:noFill/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638800" y="1685865"/>
                <a:ext cx="914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Is it a style or  a pattern?</a:t>
                </a:r>
                <a:endParaRPr lang="en-US" sz="800" dirty="0"/>
              </a:p>
            </p:txBody>
          </p:sp>
        </p:grpSp>
        <p:sp>
          <p:nvSpPr>
            <p:cNvPr id="53" name="Freeform 52"/>
            <p:cNvSpPr/>
            <p:nvPr/>
          </p:nvSpPr>
          <p:spPr>
            <a:xfrm rot="4967904">
              <a:off x="4336344" y="4300444"/>
              <a:ext cx="1015657" cy="727563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657600" y="1676400"/>
              <a:ext cx="1447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Software Engineer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5086350" y="1800225"/>
              <a:ext cx="742950" cy="628650"/>
            </a:xfrm>
            <a:custGeom>
              <a:avLst/>
              <a:gdLst>
                <a:gd name="connsiteX0" fmla="*/ 0 w 742950"/>
                <a:gd name="connsiteY0" fmla="*/ 0 h 628650"/>
                <a:gd name="connsiteX1" fmla="*/ 523875 w 742950"/>
                <a:gd name="connsiteY1" fmla="*/ 209550 h 628650"/>
                <a:gd name="connsiteX2" fmla="*/ 438150 w 742950"/>
                <a:gd name="connsiteY2" fmla="*/ 476250 h 628650"/>
                <a:gd name="connsiteX3" fmla="*/ 742950 w 742950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628650">
                  <a:moveTo>
                    <a:pt x="0" y="0"/>
                  </a:moveTo>
                  <a:cubicBezTo>
                    <a:pt x="225425" y="65087"/>
                    <a:pt x="450850" y="130175"/>
                    <a:pt x="523875" y="209550"/>
                  </a:cubicBezTo>
                  <a:cubicBezTo>
                    <a:pt x="596900" y="288925"/>
                    <a:pt x="401637" y="406400"/>
                    <a:pt x="438150" y="476250"/>
                  </a:cubicBezTo>
                  <a:cubicBezTo>
                    <a:pt x="474663" y="546100"/>
                    <a:pt x="608806" y="587375"/>
                    <a:pt x="742950" y="628650"/>
                  </a:cubicBezTo>
                </a:path>
              </a:pathLst>
            </a:custGeom>
            <a:ln w="6350"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5486400" y="3962400"/>
              <a:ext cx="1371600" cy="914400"/>
              <a:chOff x="6324600" y="4419600"/>
              <a:chExt cx="1371600" cy="914400"/>
            </a:xfrm>
          </p:grpSpPr>
          <p:pic>
            <p:nvPicPr>
              <p:cNvPr id="33" name="Picture 7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705600" y="4800600"/>
                <a:ext cx="322729" cy="493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4" name="Picture 7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 flipH="1">
                <a:off x="7086600" y="4800600"/>
                <a:ext cx="339436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7" name="Rounded Rectangular Callout 56"/>
              <p:cNvSpPr/>
              <p:nvPr/>
            </p:nvSpPr>
            <p:spPr>
              <a:xfrm>
                <a:off x="6353176" y="4419600"/>
                <a:ext cx="533400" cy="228600"/>
              </a:xfrm>
              <a:prstGeom prst="wedgeRoundRectCallout">
                <a:avLst>
                  <a:gd name="adj1" fmla="val 30162"/>
                  <a:gd name="adj2" fmla="val 104017"/>
                  <a:gd name="adj3" fmla="val 16667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6324600" y="4419600"/>
                <a:ext cx="6858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Is a style!</a:t>
                </a:r>
                <a:endParaRPr lang="en-US" sz="800" dirty="0"/>
              </a:p>
            </p:txBody>
          </p:sp>
          <p:sp>
            <p:nvSpPr>
              <p:cNvPr id="59" name="Rounded Rectangular Callout 58"/>
              <p:cNvSpPr/>
              <p:nvPr/>
            </p:nvSpPr>
            <p:spPr>
              <a:xfrm>
                <a:off x="7038976" y="4419600"/>
                <a:ext cx="609600" cy="228600"/>
              </a:xfrm>
              <a:prstGeom prst="wedgeRoundRectCallout">
                <a:avLst>
                  <a:gd name="adj1" fmla="val -17385"/>
                  <a:gd name="adj2" fmla="val 99849"/>
                  <a:gd name="adj3" fmla="val 16667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7010400" y="4419600"/>
                <a:ext cx="6858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Is a pattern!</a:t>
                </a:r>
                <a:endParaRPr lang="en-US" sz="800" dirty="0"/>
              </a:p>
            </p:txBody>
          </p:sp>
        </p:grpSp>
        <p:sp>
          <p:nvSpPr>
            <p:cNvPr id="69" name="TextBox 68"/>
            <p:cNvSpPr txBox="1"/>
            <p:nvPr/>
          </p:nvSpPr>
          <p:spPr>
            <a:xfrm>
              <a:off x="6172200" y="5257800"/>
              <a:ext cx="2438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Can’t we all just get along? 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6010275" y="4848225"/>
              <a:ext cx="419100" cy="533400"/>
            </a:xfrm>
            <a:custGeom>
              <a:avLst/>
              <a:gdLst>
                <a:gd name="connsiteX0" fmla="*/ 419100 w 419100"/>
                <a:gd name="connsiteY0" fmla="*/ 533400 h 533400"/>
                <a:gd name="connsiteX1" fmla="*/ 19050 w 419100"/>
                <a:gd name="connsiteY1" fmla="*/ 457200 h 533400"/>
                <a:gd name="connsiteX2" fmla="*/ 304800 w 419100"/>
                <a:gd name="connsiteY2" fmla="*/ 257175 h 533400"/>
                <a:gd name="connsiteX3" fmla="*/ 238125 w 419100"/>
                <a:gd name="connsiteY3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00" h="533400">
                  <a:moveTo>
                    <a:pt x="419100" y="533400"/>
                  </a:moveTo>
                  <a:cubicBezTo>
                    <a:pt x="228600" y="518318"/>
                    <a:pt x="38100" y="503237"/>
                    <a:pt x="19050" y="457200"/>
                  </a:cubicBezTo>
                  <a:cubicBezTo>
                    <a:pt x="0" y="411163"/>
                    <a:pt x="268287" y="333375"/>
                    <a:pt x="304800" y="257175"/>
                  </a:cubicBezTo>
                  <a:cubicBezTo>
                    <a:pt x="341313" y="180975"/>
                    <a:pt x="289719" y="90487"/>
                    <a:pt x="238125" y="0"/>
                  </a:cubicBezTo>
                </a:path>
              </a:pathLst>
            </a:custGeom>
            <a:ln w="6350"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Freeform 47"/>
          <p:cNvSpPr/>
          <p:nvPr/>
        </p:nvSpPr>
        <p:spPr>
          <a:xfrm>
            <a:off x="6219825" y="2828925"/>
            <a:ext cx="368300" cy="638175"/>
          </a:xfrm>
          <a:custGeom>
            <a:avLst/>
            <a:gdLst>
              <a:gd name="connsiteX0" fmla="*/ 0 w 368300"/>
              <a:gd name="connsiteY0" fmla="*/ 0 h 638175"/>
              <a:gd name="connsiteX1" fmla="*/ 323850 w 368300"/>
              <a:gd name="connsiteY1" fmla="*/ 104775 h 638175"/>
              <a:gd name="connsiteX2" fmla="*/ 104775 w 368300"/>
              <a:gd name="connsiteY2" fmla="*/ 304800 h 638175"/>
              <a:gd name="connsiteX3" fmla="*/ 342900 w 368300"/>
              <a:gd name="connsiteY3" fmla="*/ 438150 h 638175"/>
              <a:gd name="connsiteX4" fmla="*/ 257175 w 368300"/>
              <a:gd name="connsiteY4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300" h="638175">
                <a:moveTo>
                  <a:pt x="0" y="0"/>
                </a:moveTo>
                <a:cubicBezTo>
                  <a:pt x="153194" y="26987"/>
                  <a:pt x="306388" y="53975"/>
                  <a:pt x="323850" y="104775"/>
                </a:cubicBezTo>
                <a:cubicBezTo>
                  <a:pt x="341312" y="155575"/>
                  <a:pt x="101600" y="249238"/>
                  <a:pt x="104775" y="304800"/>
                </a:cubicBezTo>
                <a:cubicBezTo>
                  <a:pt x="107950" y="360362"/>
                  <a:pt x="317500" y="382588"/>
                  <a:pt x="342900" y="438150"/>
                </a:cubicBezTo>
                <a:cubicBezTo>
                  <a:pt x="368300" y="493713"/>
                  <a:pt x="312737" y="565944"/>
                  <a:pt x="257175" y="6381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Architecture Styles and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243839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Today, the terms </a:t>
            </a:r>
            <a:r>
              <a:rPr lang="en-US" i="1" dirty="0" smtClean="0"/>
              <a:t>architectural styles </a:t>
            </a:r>
            <a:r>
              <a:rPr lang="en-US" dirty="0" smtClean="0"/>
              <a:t>and </a:t>
            </a:r>
            <a:r>
              <a:rPr lang="en-US" i="1" dirty="0" smtClean="0"/>
              <a:t>architectural patterns </a:t>
            </a:r>
            <a:r>
              <a:rPr lang="en-US" dirty="0" smtClean="0"/>
              <a:t>are used to convey fundamental structural and architectural organization for software systems.</a:t>
            </a:r>
          </a:p>
          <a:p>
            <a:pPr lvl="1"/>
            <a:r>
              <a:rPr lang="en-US" dirty="0" smtClean="0"/>
              <a:t>Throughout the rest of the course, </a:t>
            </a:r>
            <a:r>
              <a:rPr lang="en-US" u="sng" dirty="0" smtClean="0"/>
              <a:t>these terms are used interchangeably </a:t>
            </a:r>
            <a:r>
              <a:rPr lang="en-US" dirty="0" smtClean="0"/>
              <a:t>to denote reusable design solutions that occur during the </a:t>
            </a:r>
            <a:r>
              <a:rPr lang="en-US" i="1" dirty="0" smtClean="0"/>
              <a:t>software architecture activity </a:t>
            </a:r>
            <a:r>
              <a:rPr lang="en-US" dirty="0" smtClean="0"/>
              <a:t>of the design process.</a:t>
            </a:r>
          </a:p>
          <a:p>
            <a:pPr lvl="1"/>
            <a:r>
              <a:rPr lang="en-US" dirty="0" smtClean="0"/>
              <a:t>The term </a:t>
            </a:r>
            <a:r>
              <a:rPr lang="en-US" i="1" dirty="0" smtClean="0"/>
              <a:t>Design Patterns</a:t>
            </a:r>
            <a:r>
              <a:rPr lang="en-US" dirty="0" smtClean="0"/>
              <a:t>, as seen later on in the course, is used to denote reusable design solutions that occur during the </a:t>
            </a:r>
            <a:r>
              <a:rPr lang="en-US" i="1" dirty="0" smtClean="0"/>
              <a:t>detailed design activity </a:t>
            </a:r>
            <a:r>
              <a:rPr lang="en-US" dirty="0" smtClean="0"/>
              <a:t>of the design process.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Architectural styles and architectural patterns do not describe the detailed design of systems</a:t>
            </a:r>
          </a:p>
          <a:p>
            <a:pPr lvl="1"/>
            <a:r>
              <a:rPr lang="en-US" dirty="0" smtClean="0"/>
              <a:t> They are used as basis for system decomposition and for analyzing the structure of systems in principled manner.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685800" y="3733800"/>
            <a:ext cx="7924800" cy="2586037"/>
            <a:chOff x="685800" y="3814763"/>
            <a:chExt cx="7924800" cy="2586037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819400" y="3890963"/>
              <a:ext cx="3301804" cy="2509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5791200" y="3814763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Architectural Styles and Patterns exist here!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829175" y="4119563"/>
              <a:ext cx="1400175" cy="400050"/>
            </a:xfrm>
            <a:custGeom>
              <a:avLst/>
              <a:gdLst>
                <a:gd name="connsiteX0" fmla="*/ 1400175 w 1400175"/>
                <a:gd name="connsiteY0" fmla="*/ 0 h 685800"/>
                <a:gd name="connsiteX1" fmla="*/ 971550 w 1400175"/>
                <a:gd name="connsiteY1" fmla="*/ 142875 h 685800"/>
                <a:gd name="connsiteX2" fmla="*/ 723900 w 1400175"/>
                <a:gd name="connsiteY2" fmla="*/ 581025 h 685800"/>
                <a:gd name="connsiteX3" fmla="*/ 0 w 1400175"/>
                <a:gd name="connsiteY3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0175" h="685800">
                  <a:moveTo>
                    <a:pt x="1400175" y="0"/>
                  </a:moveTo>
                  <a:cubicBezTo>
                    <a:pt x="1242219" y="23019"/>
                    <a:pt x="1084263" y="46038"/>
                    <a:pt x="971550" y="142875"/>
                  </a:cubicBezTo>
                  <a:cubicBezTo>
                    <a:pt x="858838" y="239713"/>
                    <a:pt x="885825" y="490538"/>
                    <a:pt x="723900" y="581025"/>
                  </a:cubicBezTo>
                  <a:cubicBezTo>
                    <a:pt x="561975" y="671512"/>
                    <a:pt x="280987" y="678656"/>
                    <a:pt x="0" y="685800"/>
                  </a:cubicBezTo>
                </a:path>
              </a:pathLst>
            </a:custGeom>
            <a:ln w="6350"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719763"/>
              <a:ext cx="2209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Design Patterns exist here!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695575" y="5367338"/>
              <a:ext cx="1266825" cy="504825"/>
            </a:xfrm>
            <a:custGeom>
              <a:avLst/>
              <a:gdLst>
                <a:gd name="connsiteX0" fmla="*/ 0 w 1266825"/>
                <a:gd name="connsiteY0" fmla="*/ 704850 h 738187"/>
                <a:gd name="connsiteX1" fmla="*/ 314325 w 1266825"/>
                <a:gd name="connsiteY1" fmla="*/ 647700 h 738187"/>
                <a:gd name="connsiteX2" fmla="*/ 542925 w 1266825"/>
                <a:gd name="connsiteY2" fmla="*/ 161925 h 738187"/>
                <a:gd name="connsiteX3" fmla="*/ 1266825 w 1266825"/>
                <a:gd name="connsiteY3" fmla="*/ 0 h 73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825" h="738187">
                  <a:moveTo>
                    <a:pt x="0" y="704850"/>
                  </a:moveTo>
                  <a:cubicBezTo>
                    <a:pt x="111919" y="721518"/>
                    <a:pt x="223838" y="738187"/>
                    <a:pt x="314325" y="647700"/>
                  </a:cubicBezTo>
                  <a:cubicBezTo>
                    <a:pt x="404812" y="557213"/>
                    <a:pt x="384175" y="269875"/>
                    <a:pt x="542925" y="161925"/>
                  </a:cubicBezTo>
                  <a:cubicBezTo>
                    <a:pt x="701675" y="53975"/>
                    <a:pt x="984250" y="26987"/>
                    <a:pt x="1266825" y="0"/>
                  </a:cubicBezTo>
                </a:path>
              </a:pathLst>
            </a:custGeom>
            <a:ln w="6350"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00800" y="5334000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C00000"/>
                  </a:solidFill>
                  <a:latin typeface="Bradley Hand ITC" pitchFamily="66" charset="0"/>
                </a:rPr>
                <a:t>Software design model presented in Chapter 1</a:t>
              </a:r>
              <a:endParaRPr lang="en-US" sz="1200" b="1" dirty="0">
                <a:solidFill>
                  <a:srgbClr val="C00000"/>
                </a:solidFill>
                <a:latin typeface="Bradley Hand ITC" pitchFamily="66" charset="0"/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5505450" y="5507038"/>
              <a:ext cx="1228725" cy="731837"/>
            </a:xfrm>
            <a:custGeom>
              <a:avLst/>
              <a:gdLst>
                <a:gd name="connsiteX0" fmla="*/ 1228725 w 1228725"/>
                <a:gd name="connsiteY0" fmla="*/ 55562 h 731837"/>
                <a:gd name="connsiteX1" fmla="*/ 904875 w 1228725"/>
                <a:gd name="connsiteY1" fmla="*/ 93662 h 731837"/>
                <a:gd name="connsiteX2" fmla="*/ 742950 w 1228725"/>
                <a:gd name="connsiteY2" fmla="*/ 617537 h 731837"/>
                <a:gd name="connsiteX3" fmla="*/ 0 w 1228725"/>
                <a:gd name="connsiteY3" fmla="*/ 731837 h 73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8725" h="731837">
                  <a:moveTo>
                    <a:pt x="1228725" y="55562"/>
                  </a:moveTo>
                  <a:cubicBezTo>
                    <a:pt x="1107281" y="27781"/>
                    <a:pt x="985837" y="0"/>
                    <a:pt x="904875" y="93662"/>
                  </a:cubicBezTo>
                  <a:cubicBezTo>
                    <a:pt x="823913" y="187324"/>
                    <a:pt x="893763" y="511175"/>
                    <a:pt x="742950" y="617537"/>
                  </a:cubicBezTo>
                  <a:cubicBezTo>
                    <a:pt x="592138" y="723900"/>
                    <a:pt x="296069" y="727868"/>
                    <a:pt x="0" y="731837"/>
                  </a:cubicBezTo>
                </a:path>
              </a:pathLst>
            </a:custGeom>
            <a:ln w="6350"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Pattern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23621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choice of applying architectural patterns depend on the type of system, requirements, and desired quality attributes.</a:t>
            </a:r>
          </a:p>
          <a:p>
            <a:pPr lvl="1"/>
            <a:r>
              <a:rPr lang="en-US" dirty="0" smtClean="0"/>
              <a:t>These characteristics help guide the choice of selecting one particular pattern over another.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 some cases, more than one architectural pattern can be used in combination to collectively provide the appropriate architectural solution.</a:t>
            </a:r>
          </a:p>
          <a:p>
            <a:endParaRPr lang="en-US" dirty="0" smtClean="0"/>
          </a:p>
          <a:p>
            <a:r>
              <a:rPr lang="en-US" dirty="0" smtClean="0"/>
              <a:t>Architectural patterns can be classified depending on the type of system as shown below: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810000"/>
            <a:ext cx="59531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this session, we presented fundamentals concepts of architectural styles and patterns, including:</a:t>
            </a:r>
          </a:p>
          <a:p>
            <a:pPr lvl="1"/>
            <a:r>
              <a:rPr lang="en-US" dirty="0" smtClean="0"/>
              <a:t>Overview of Architectural Styles and Patterns</a:t>
            </a:r>
          </a:p>
          <a:p>
            <a:pPr lvl="1"/>
            <a:r>
              <a:rPr lang="en-US" dirty="0" smtClean="0"/>
              <a:t>History of Architectural Styles and Patterns</a:t>
            </a:r>
          </a:p>
          <a:p>
            <a:pPr lvl="2"/>
            <a:r>
              <a:rPr lang="en-US" dirty="0" smtClean="0"/>
              <a:t>Origin of styles and patterns</a:t>
            </a:r>
          </a:p>
          <a:p>
            <a:pPr lvl="1"/>
            <a:r>
              <a:rPr lang="en-US" dirty="0" smtClean="0"/>
              <a:t>Classification of styles and patterns</a:t>
            </a:r>
          </a:p>
          <a:p>
            <a:pPr lvl="1"/>
            <a:r>
              <a:rPr lang="en-US" dirty="0" smtClean="0"/>
              <a:t>Types of systems for classifying styles and patterns:</a:t>
            </a:r>
          </a:p>
          <a:p>
            <a:pPr lvl="2"/>
            <a:r>
              <a:rPr lang="en-US" dirty="0" smtClean="0"/>
              <a:t>Data-Centered</a:t>
            </a:r>
          </a:p>
          <a:p>
            <a:pPr lvl="2"/>
            <a:r>
              <a:rPr lang="en-US" dirty="0" smtClean="0"/>
              <a:t>Data flow</a:t>
            </a:r>
          </a:p>
          <a:p>
            <a:pPr lvl="2"/>
            <a:r>
              <a:rPr lang="en-US" dirty="0" smtClean="0"/>
              <a:t>Interactive</a:t>
            </a:r>
          </a:p>
          <a:p>
            <a:pPr lvl="2"/>
            <a:r>
              <a:rPr lang="en-US" dirty="0" smtClean="0"/>
              <a:t>Hierarchical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 the next session, we will discuss two types of systems: Data-centered and Data Flow, together with essential architectural patterns for these systems, including:</a:t>
            </a:r>
          </a:p>
          <a:p>
            <a:pPr lvl="1"/>
            <a:r>
              <a:rPr lang="en-US" dirty="0" smtClean="0"/>
              <a:t>Blackboard</a:t>
            </a:r>
          </a:p>
          <a:p>
            <a:pPr lvl="1"/>
            <a:r>
              <a:rPr lang="en-US" dirty="0" smtClean="0"/>
              <a:t>Pipes-and-Filters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18287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[1] Alexander, Christopher, Sara Ishikawa, Murray Silverstein, Max Jacobson, Ingrid </a:t>
            </a:r>
            <a:r>
              <a:rPr lang="en-US" dirty="0" err="1" smtClean="0"/>
              <a:t>Fiksdahl</a:t>
            </a:r>
            <a:r>
              <a:rPr lang="en-US" dirty="0" smtClean="0"/>
              <a:t>-King, and </a:t>
            </a:r>
            <a:r>
              <a:rPr lang="en-US" dirty="0" err="1" smtClean="0"/>
              <a:t>Shlomo</a:t>
            </a:r>
            <a:r>
              <a:rPr lang="en-US" dirty="0" smtClean="0"/>
              <a:t> Angel.  </a:t>
            </a:r>
            <a:r>
              <a:rPr lang="en-US" i="1" dirty="0" smtClean="0"/>
              <a:t>A Pattern Language: Towns, Buildings, Construction</a:t>
            </a:r>
            <a:r>
              <a:rPr lang="en-US" dirty="0" smtClean="0"/>
              <a:t>.  New York: Oxford University Press, 1977.</a:t>
            </a:r>
          </a:p>
          <a:p>
            <a:r>
              <a:rPr lang="en-US" dirty="0" smtClean="0"/>
              <a:t>[2] Clements, Paul, Rick </a:t>
            </a:r>
            <a:r>
              <a:rPr lang="en-US" dirty="0" err="1" smtClean="0"/>
              <a:t>Kazman</a:t>
            </a:r>
            <a:r>
              <a:rPr lang="en-US" dirty="0" smtClean="0"/>
              <a:t>, and Mark Klein.  </a:t>
            </a:r>
            <a:r>
              <a:rPr lang="en-US" i="1" dirty="0" smtClean="0"/>
              <a:t>Evaluating Software Architectures</a:t>
            </a:r>
            <a:r>
              <a:rPr lang="en-US" dirty="0" smtClean="0"/>
              <a:t>.  Santa Clara, CA: Addison Wesley, 2001.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Va-Wise-Clean-B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UVa-Wise-Clean-BW</Template>
  <TotalTime>10060</TotalTime>
  <Words>1669</Words>
  <Application>Microsoft Office PowerPoint</Application>
  <PresentationFormat>On-screen Show (4:3)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Bradley Hand ITC</vt:lpstr>
      <vt:lpstr>Calibri</vt:lpstr>
      <vt:lpstr>Times New Roman</vt:lpstr>
      <vt:lpstr>Wingdings</vt:lpstr>
      <vt:lpstr>UVa-Wise-Clean-BW</vt:lpstr>
      <vt:lpstr>Chapter 4: Patterns and Styles in Software Architecture</vt:lpstr>
      <vt:lpstr>Session’s Agenda</vt:lpstr>
      <vt:lpstr>Overview of Architecture Styles and Patterns</vt:lpstr>
      <vt:lpstr>Overview of Architecture Styles and Patterns</vt:lpstr>
      <vt:lpstr>Overview of Architecture Styles and Patterns</vt:lpstr>
      <vt:lpstr>History of Architecture Styles and Patterns</vt:lpstr>
      <vt:lpstr>History of Architecture Styles and Patterns</vt:lpstr>
      <vt:lpstr>History of Architecture Styles and Patterns</vt:lpstr>
      <vt:lpstr>History of Architecture Styles and Patterns</vt:lpstr>
      <vt:lpstr>History of Architecture Styles and Patterns</vt:lpstr>
      <vt:lpstr>Architectural Pattern Classification</vt:lpstr>
      <vt:lpstr>What’s Next…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Design: Theory and Practice</dc:title>
  <dc:creator>Carlos E. Otero, Ph.D.</dc:creator>
  <dc:description>This slides may be reproduced only for student use when used in conjunction with Software Engineering Design: Theory and Practice. Any other reproduction or use is prohibited without express written permission of the author.</dc:description>
  <cp:lastModifiedBy>Wan Mohd Nasir Wan Kadir</cp:lastModifiedBy>
  <cp:revision>683</cp:revision>
  <dcterms:created xsi:type="dcterms:W3CDTF">2006-08-16T00:00:00Z</dcterms:created>
  <dcterms:modified xsi:type="dcterms:W3CDTF">2016-03-06T06:05:03Z</dcterms:modified>
</cp:coreProperties>
</file>
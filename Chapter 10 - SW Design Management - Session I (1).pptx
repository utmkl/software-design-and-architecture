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emf" ContentType="image/x-emf"/>
  <Override PartName="/ppt/diagrams/quickStyle1.xml" ContentType="application/vnd.openxmlformats-officedocument.drawingml.diagramStyl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56" r:id="rId2"/>
    <p:sldId id="341" r:id="rId3"/>
    <p:sldId id="343" r:id="rId4"/>
    <p:sldId id="342" r:id="rId5"/>
    <p:sldId id="344" r:id="rId6"/>
    <p:sldId id="345" r:id="rId7"/>
    <p:sldId id="346" r:id="rId8"/>
    <p:sldId id="347" r:id="rId9"/>
    <p:sldId id="348" r:id="rId10"/>
    <p:sldId id="349" r:id="rId11"/>
    <p:sldId id="339" r:id="rId12"/>
    <p:sldId id="351" r:id="rId13"/>
    <p:sldId id="352" r:id="rId14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431" autoAdjust="0"/>
  </p:normalViewPr>
  <p:slideViewPr>
    <p:cSldViewPr>
      <p:cViewPr>
        <p:scale>
          <a:sx n="100" d="100"/>
          <a:sy n="100" d="100"/>
        </p:scale>
        <p:origin x="-1944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9B3429-CB04-447F-9E18-842A92799034}" type="doc">
      <dgm:prSet loTypeId="urn:microsoft.com/office/officeart/2005/8/layout/radial6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3D034F5-573C-4CA2-A0D5-97D9C12BB873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sz="1400" dirty="0" smtClean="0"/>
            <a:t>Design Management Framework</a:t>
          </a:r>
          <a:endParaRPr lang="en-US" sz="1400" dirty="0"/>
        </a:p>
      </dgm:t>
    </dgm:pt>
    <dgm:pt modelId="{1DEBFE3A-170B-4F62-BFF1-756DCD21856F}" type="parTrans" cxnId="{0214B2C9-FE31-4890-BBF2-9F3D87DC4B3A}">
      <dgm:prSet/>
      <dgm:spPr/>
      <dgm:t>
        <a:bodyPr/>
        <a:lstStyle/>
        <a:p>
          <a:endParaRPr lang="en-US"/>
        </a:p>
      </dgm:t>
    </dgm:pt>
    <dgm:pt modelId="{C798C53C-F34F-4E30-9524-8141CCB8C030}" type="sibTrans" cxnId="{0214B2C9-FE31-4890-BBF2-9F3D87DC4B3A}">
      <dgm:prSet/>
      <dgm:spPr/>
      <dgm:t>
        <a:bodyPr/>
        <a:lstStyle/>
        <a:p>
          <a:endParaRPr lang="en-US"/>
        </a:p>
      </dgm:t>
    </dgm:pt>
    <dgm:pt modelId="{6E681D6C-CE37-4FDE-AC05-4A8FB614C94E}">
      <dgm:prSet phldrT="[Text]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en-US" dirty="0" smtClean="0"/>
            <a:t>Execution/</a:t>
          </a:r>
        </a:p>
        <a:p>
          <a:r>
            <a:rPr lang="en-US" dirty="0" smtClean="0"/>
            <a:t>Implementation</a:t>
          </a:r>
          <a:endParaRPr lang="en-US" dirty="0"/>
        </a:p>
      </dgm:t>
    </dgm:pt>
    <dgm:pt modelId="{2E0A1E61-E4AB-4B66-9638-084429790EAD}" type="parTrans" cxnId="{4921B7DB-4655-411E-A93B-65D4942F4281}">
      <dgm:prSet/>
      <dgm:spPr/>
      <dgm:t>
        <a:bodyPr/>
        <a:lstStyle/>
        <a:p>
          <a:endParaRPr lang="en-US"/>
        </a:p>
      </dgm:t>
    </dgm:pt>
    <dgm:pt modelId="{0BB829B1-67A5-4D40-BF88-EECD6BB858CC}" type="sibTrans" cxnId="{4921B7DB-4655-411E-A93B-65D4942F4281}">
      <dgm:prSet/>
      <dgm:spPr/>
      <dgm:t>
        <a:bodyPr/>
        <a:lstStyle/>
        <a:p>
          <a:endParaRPr lang="en-US"/>
        </a:p>
      </dgm:t>
    </dgm:pt>
    <dgm:pt modelId="{62865A87-B26B-4035-8BC4-145F98C8120D}">
      <dgm:prSet phldrT="[Text]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en-US" dirty="0" smtClean="0"/>
            <a:t>Termination</a:t>
          </a:r>
          <a:endParaRPr lang="en-US" dirty="0"/>
        </a:p>
      </dgm:t>
    </dgm:pt>
    <dgm:pt modelId="{E81C7F0F-796F-4D7C-B514-4765D02713E7}" type="parTrans" cxnId="{03271D0C-D299-482C-8A04-6E4C2A0E4A83}">
      <dgm:prSet/>
      <dgm:spPr/>
      <dgm:t>
        <a:bodyPr/>
        <a:lstStyle/>
        <a:p>
          <a:endParaRPr lang="en-US"/>
        </a:p>
      </dgm:t>
    </dgm:pt>
    <dgm:pt modelId="{CA7964B8-B885-4EAD-BB5B-B0FA31AE202F}" type="sibTrans" cxnId="{03271D0C-D299-482C-8A04-6E4C2A0E4A83}">
      <dgm:prSet/>
      <dgm:spPr/>
      <dgm:t>
        <a:bodyPr/>
        <a:lstStyle/>
        <a:p>
          <a:endParaRPr lang="en-US"/>
        </a:p>
      </dgm:t>
    </dgm:pt>
    <dgm:pt modelId="{B60658C5-BD16-46EE-A726-CE77FC8395B0}">
      <dgm:prSet phldrT="[Text]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en-US" dirty="0" smtClean="0"/>
            <a:t>Planning</a:t>
          </a:r>
          <a:endParaRPr lang="en-US" dirty="0"/>
        </a:p>
      </dgm:t>
    </dgm:pt>
    <dgm:pt modelId="{D29933F1-E969-4358-A657-F6E44A8DA579}" type="parTrans" cxnId="{EDFD4091-15D1-4AB5-9796-19BC33D3748B}">
      <dgm:prSet/>
      <dgm:spPr/>
      <dgm:t>
        <a:bodyPr/>
        <a:lstStyle/>
        <a:p>
          <a:endParaRPr lang="en-US"/>
        </a:p>
      </dgm:t>
    </dgm:pt>
    <dgm:pt modelId="{819996B1-CF80-40D8-B55E-DF1F977E4273}" type="sibTrans" cxnId="{EDFD4091-15D1-4AB5-9796-19BC33D3748B}">
      <dgm:prSet/>
      <dgm:spPr/>
      <dgm:t>
        <a:bodyPr/>
        <a:lstStyle/>
        <a:p>
          <a:endParaRPr lang="en-US"/>
        </a:p>
      </dgm:t>
    </dgm:pt>
    <dgm:pt modelId="{368C5F05-DEF8-4F7F-B5CA-1FA88EC017AD}">
      <dgm:prSet phldrT="[Text]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en-US" dirty="0" smtClean="0"/>
            <a:t>Leadership &amp;</a:t>
          </a:r>
        </a:p>
        <a:p>
          <a:r>
            <a:rPr lang="en-US" dirty="0" smtClean="0"/>
            <a:t>Ethics</a:t>
          </a:r>
          <a:endParaRPr lang="en-US" dirty="0"/>
        </a:p>
      </dgm:t>
    </dgm:pt>
    <dgm:pt modelId="{1D3DC8EA-84AA-40E0-A39A-C1AAFD0B1C9C}" type="parTrans" cxnId="{F72DAAD2-308D-4821-964B-65505F5E112D}">
      <dgm:prSet/>
      <dgm:spPr/>
      <dgm:t>
        <a:bodyPr/>
        <a:lstStyle/>
        <a:p>
          <a:endParaRPr lang="en-US"/>
        </a:p>
      </dgm:t>
    </dgm:pt>
    <dgm:pt modelId="{B142AE6A-0B46-4BBE-ACEA-E351C288AC2A}" type="sibTrans" cxnId="{F72DAAD2-308D-4821-964B-65505F5E112D}">
      <dgm:prSet/>
      <dgm:spPr/>
      <dgm:t>
        <a:bodyPr/>
        <a:lstStyle/>
        <a:p>
          <a:endParaRPr lang="en-US"/>
        </a:p>
      </dgm:t>
    </dgm:pt>
    <dgm:pt modelId="{6DC69473-33E0-4FCD-912C-6B113DB066B8}" type="pres">
      <dgm:prSet presAssocID="{AC9B3429-CB04-447F-9E18-842A92799034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C9032A1-DA5B-4973-AE3A-C0B01233E5A7}" type="pres">
      <dgm:prSet presAssocID="{93D034F5-573C-4CA2-A0D5-97D9C12BB873}" presName="centerShape" presStyleLbl="node0" presStyleIdx="0" presStyleCnt="1"/>
      <dgm:spPr/>
      <dgm:t>
        <a:bodyPr/>
        <a:lstStyle/>
        <a:p>
          <a:endParaRPr lang="en-US"/>
        </a:p>
      </dgm:t>
    </dgm:pt>
    <dgm:pt modelId="{DDF5E5A4-1B31-4F46-A264-524CBCCB3A41}" type="pres">
      <dgm:prSet presAssocID="{6E681D6C-CE37-4FDE-AC05-4A8FB614C94E}" presName="node" presStyleLbl="node1" presStyleIdx="0" presStyleCnt="4" custScaleX="150257" custScaleY="15737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8D24AA9-C2A1-40FD-A6F8-AAB6FDDD3CCF}" type="pres">
      <dgm:prSet presAssocID="{6E681D6C-CE37-4FDE-AC05-4A8FB614C94E}" presName="dummy" presStyleCnt="0"/>
      <dgm:spPr/>
    </dgm:pt>
    <dgm:pt modelId="{5B6CCECD-6B8C-4D8C-8C24-4BA6C7F2F999}" type="pres">
      <dgm:prSet presAssocID="{0BB829B1-67A5-4D40-BF88-EECD6BB858CC}" presName="sibTrans" presStyleLbl="sibTrans2D1" presStyleIdx="0" presStyleCnt="4"/>
      <dgm:spPr/>
      <dgm:t>
        <a:bodyPr/>
        <a:lstStyle/>
        <a:p>
          <a:endParaRPr lang="en-US"/>
        </a:p>
      </dgm:t>
    </dgm:pt>
    <dgm:pt modelId="{49D13C8B-FE11-4724-8E3B-FAFF9B635DC4}" type="pres">
      <dgm:prSet presAssocID="{62865A87-B26B-4035-8BC4-145F98C8120D}" presName="node" presStyleLbl="node1" presStyleIdx="1" presStyleCnt="4" custScaleX="150257" custScaleY="15737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B8FA68-5B92-48FC-B3FB-B3B0F86E59E5}" type="pres">
      <dgm:prSet presAssocID="{62865A87-B26B-4035-8BC4-145F98C8120D}" presName="dummy" presStyleCnt="0"/>
      <dgm:spPr/>
    </dgm:pt>
    <dgm:pt modelId="{2641C3A0-95C7-4FB1-A993-C11875F5755E}" type="pres">
      <dgm:prSet presAssocID="{CA7964B8-B885-4EAD-BB5B-B0FA31AE202F}" presName="sibTrans" presStyleLbl="sibTrans2D1" presStyleIdx="1" presStyleCnt="4"/>
      <dgm:spPr/>
      <dgm:t>
        <a:bodyPr/>
        <a:lstStyle/>
        <a:p>
          <a:endParaRPr lang="en-US"/>
        </a:p>
      </dgm:t>
    </dgm:pt>
    <dgm:pt modelId="{90183E5D-2A62-4EB0-9728-62973D471D47}" type="pres">
      <dgm:prSet presAssocID="{368C5F05-DEF8-4F7F-B5CA-1FA88EC017AD}" presName="node" presStyleLbl="node1" presStyleIdx="2" presStyleCnt="4" custScaleX="150257" custScaleY="15737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B2C1F7-1362-450D-BC5A-91BF2F1CCA51}" type="pres">
      <dgm:prSet presAssocID="{368C5F05-DEF8-4F7F-B5CA-1FA88EC017AD}" presName="dummy" presStyleCnt="0"/>
      <dgm:spPr/>
    </dgm:pt>
    <dgm:pt modelId="{E48DC058-211B-419F-9C74-8ADF2F347D6C}" type="pres">
      <dgm:prSet presAssocID="{B142AE6A-0B46-4BBE-ACEA-E351C288AC2A}" presName="sibTrans" presStyleLbl="sibTrans2D1" presStyleIdx="2" presStyleCnt="4"/>
      <dgm:spPr/>
      <dgm:t>
        <a:bodyPr/>
        <a:lstStyle/>
        <a:p>
          <a:endParaRPr lang="en-US"/>
        </a:p>
      </dgm:t>
    </dgm:pt>
    <dgm:pt modelId="{FC253407-3CEC-44E5-803F-66058F81F03D}" type="pres">
      <dgm:prSet presAssocID="{B60658C5-BD16-46EE-A726-CE77FC8395B0}" presName="node" presStyleLbl="node1" presStyleIdx="3" presStyleCnt="4" custScaleX="150257" custScaleY="15737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1235BD1-2ADD-46FF-95F0-4C08D9968C0A}" type="pres">
      <dgm:prSet presAssocID="{B60658C5-BD16-46EE-A726-CE77FC8395B0}" presName="dummy" presStyleCnt="0"/>
      <dgm:spPr/>
    </dgm:pt>
    <dgm:pt modelId="{76654DB4-731B-4CF0-AE98-8BC6B8D84E1C}" type="pres">
      <dgm:prSet presAssocID="{819996B1-CF80-40D8-B55E-DF1F977E4273}" presName="sibTrans" presStyleLbl="sibTrans2D1" presStyleIdx="3" presStyleCnt="4"/>
      <dgm:spPr/>
      <dgm:t>
        <a:bodyPr/>
        <a:lstStyle/>
        <a:p>
          <a:endParaRPr lang="en-US"/>
        </a:p>
      </dgm:t>
    </dgm:pt>
  </dgm:ptLst>
  <dgm:cxnLst>
    <dgm:cxn modelId="{7D6E4395-31D9-4262-96D1-BE5170C6A396}" type="presOf" srcId="{0BB829B1-67A5-4D40-BF88-EECD6BB858CC}" destId="{5B6CCECD-6B8C-4D8C-8C24-4BA6C7F2F999}" srcOrd="0" destOrd="0" presId="urn:microsoft.com/office/officeart/2005/8/layout/radial6"/>
    <dgm:cxn modelId="{DE751F3D-3ACC-4B62-B300-DDED80F03E75}" type="presOf" srcId="{368C5F05-DEF8-4F7F-B5CA-1FA88EC017AD}" destId="{90183E5D-2A62-4EB0-9728-62973D471D47}" srcOrd="0" destOrd="0" presId="urn:microsoft.com/office/officeart/2005/8/layout/radial6"/>
    <dgm:cxn modelId="{BB82F1B0-4272-4607-A6CC-18D557D935F0}" type="presOf" srcId="{62865A87-B26B-4035-8BC4-145F98C8120D}" destId="{49D13C8B-FE11-4724-8E3B-FAFF9B635DC4}" srcOrd="0" destOrd="0" presId="urn:microsoft.com/office/officeart/2005/8/layout/radial6"/>
    <dgm:cxn modelId="{895F60E9-1959-4CFD-8C5B-36186D60B08F}" type="presOf" srcId="{AC9B3429-CB04-447F-9E18-842A92799034}" destId="{6DC69473-33E0-4FCD-912C-6B113DB066B8}" srcOrd="0" destOrd="0" presId="urn:microsoft.com/office/officeart/2005/8/layout/radial6"/>
    <dgm:cxn modelId="{D9E69048-4110-4FF9-8893-240B2011AC43}" type="presOf" srcId="{B60658C5-BD16-46EE-A726-CE77FC8395B0}" destId="{FC253407-3CEC-44E5-803F-66058F81F03D}" srcOrd="0" destOrd="0" presId="urn:microsoft.com/office/officeart/2005/8/layout/radial6"/>
    <dgm:cxn modelId="{2999A88C-24EB-4924-AA7D-AFC19CDF4C41}" type="presOf" srcId="{B142AE6A-0B46-4BBE-ACEA-E351C288AC2A}" destId="{E48DC058-211B-419F-9C74-8ADF2F347D6C}" srcOrd="0" destOrd="0" presId="urn:microsoft.com/office/officeart/2005/8/layout/radial6"/>
    <dgm:cxn modelId="{4E3A3973-0C5A-40F8-8F88-D577F4A8CF1C}" type="presOf" srcId="{819996B1-CF80-40D8-B55E-DF1F977E4273}" destId="{76654DB4-731B-4CF0-AE98-8BC6B8D84E1C}" srcOrd="0" destOrd="0" presId="urn:microsoft.com/office/officeart/2005/8/layout/radial6"/>
    <dgm:cxn modelId="{03271D0C-D299-482C-8A04-6E4C2A0E4A83}" srcId="{93D034F5-573C-4CA2-A0D5-97D9C12BB873}" destId="{62865A87-B26B-4035-8BC4-145F98C8120D}" srcOrd="1" destOrd="0" parTransId="{E81C7F0F-796F-4D7C-B514-4765D02713E7}" sibTransId="{CA7964B8-B885-4EAD-BB5B-B0FA31AE202F}"/>
    <dgm:cxn modelId="{4CDBC053-F368-4ECE-A160-2EBA13DF2059}" type="presOf" srcId="{CA7964B8-B885-4EAD-BB5B-B0FA31AE202F}" destId="{2641C3A0-95C7-4FB1-A993-C11875F5755E}" srcOrd="0" destOrd="0" presId="urn:microsoft.com/office/officeart/2005/8/layout/radial6"/>
    <dgm:cxn modelId="{EDFD4091-15D1-4AB5-9796-19BC33D3748B}" srcId="{93D034F5-573C-4CA2-A0D5-97D9C12BB873}" destId="{B60658C5-BD16-46EE-A726-CE77FC8395B0}" srcOrd="3" destOrd="0" parTransId="{D29933F1-E969-4358-A657-F6E44A8DA579}" sibTransId="{819996B1-CF80-40D8-B55E-DF1F977E4273}"/>
    <dgm:cxn modelId="{F72DAAD2-308D-4821-964B-65505F5E112D}" srcId="{93D034F5-573C-4CA2-A0D5-97D9C12BB873}" destId="{368C5F05-DEF8-4F7F-B5CA-1FA88EC017AD}" srcOrd="2" destOrd="0" parTransId="{1D3DC8EA-84AA-40E0-A39A-C1AAFD0B1C9C}" sibTransId="{B142AE6A-0B46-4BBE-ACEA-E351C288AC2A}"/>
    <dgm:cxn modelId="{A45F6D8F-8195-4488-BD3D-51F97C9D684D}" type="presOf" srcId="{6E681D6C-CE37-4FDE-AC05-4A8FB614C94E}" destId="{DDF5E5A4-1B31-4F46-A264-524CBCCB3A41}" srcOrd="0" destOrd="0" presId="urn:microsoft.com/office/officeart/2005/8/layout/radial6"/>
    <dgm:cxn modelId="{0214B2C9-FE31-4890-BBF2-9F3D87DC4B3A}" srcId="{AC9B3429-CB04-447F-9E18-842A92799034}" destId="{93D034F5-573C-4CA2-A0D5-97D9C12BB873}" srcOrd="0" destOrd="0" parTransId="{1DEBFE3A-170B-4F62-BFF1-756DCD21856F}" sibTransId="{C798C53C-F34F-4E30-9524-8141CCB8C030}"/>
    <dgm:cxn modelId="{DF66D864-8C95-4067-A20A-4B973C924051}" type="presOf" srcId="{93D034F5-573C-4CA2-A0D5-97D9C12BB873}" destId="{4C9032A1-DA5B-4973-AE3A-C0B01233E5A7}" srcOrd="0" destOrd="0" presId="urn:microsoft.com/office/officeart/2005/8/layout/radial6"/>
    <dgm:cxn modelId="{4921B7DB-4655-411E-A93B-65D4942F4281}" srcId="{93D034F5-573C-4CA2-A0D5-97D9C12BB873}" destId="{6E681D6C-CE37-4FDE-AC05-4A8FB614C94E}" srcOrd="0" destOrd="0" parTransId="{2E0A1E61-E4AB-4B66-9638-084429790EAD}" sibTransId="{0BB829B1-67A5-4D40-BF88-EECD6BB858CC}"/>
    <dgm:cxn modelId="{8F5A84D0-4B2C-44E4-8D4A-5E936F33B8DF}" type="presParOf" srcId="{6DC69473-33E0-4FCD-912C-6B113DB066B8}" destId="{4C9032A1-DA5B-4973-AE3A-C0B01233E5A7}" srcOrd="0" destOrd="0" presId="urn:microsoft.com/office/officeart/2005/8/layout/radial6"/>
    <dgm:cxn modelId="{FD202BFC-8BDF-4BB8-9B02-6668B6A6C23C}" type="presParOf" srcId="{6DC69473-33E0-4FCD-912C-6B113DB066B8}" destId="{DDF5E5A4-1B31-4F46-A264-524CBCCB3A41}" srcOrd="1" destOrd="0" presId="urn:microsoft.com/office/officeart/2005/8/layout/radial6"/>
    <dgm:cxn modelId="{4CFE846A-5E46-4C0F-BB8C-258C652F9E02}" type="presParOf" srcId="{6DC69473-33E0-4FCD-912C-6B113DB066B8}" destId="{D8D24AA9-C2A1-40FD-A6F8-AAB6FDDD3CCF}" srcOrd="2" destOrd="0" presId="urn:microsoft.com/office/officeart/2005/8/layout/radial6"/>
    <dgm:cxn modelId="{FEEE4B5F-7AC4-4810-839E-D982E09318DA}" type="presParOf" srcId="{6DC69473-33E0-4FCD-912C-6B113DB066B8}" destId="{5B6CCECD-6B8C-4D8C-8C24-4BA6C7F2F999}" srcOrd="3" destOrd="0" presId="urn:microsoft.com/office/officeart/2005/8/layout/radial6"/>
    <dgm:cxn modelId="{25E0591C-2C6F-4F5F-AEA9-0216C9EEACEB}" type="presParOf" srcId="{6DC69473-33E0-4FCD-912C-6B113DB066B8}" destId="{49D13C8B-FE11-4724-8E3B-FAFF9B635DC4}" srcOrd="4" destOrd="0" presId="urn:microsoft.com/office/officeart/2005/8/layout/radial6"/>
    <dgm:cxn modelId="{DAD0247A-3CED-4F90-B809-E2B2191E4D8F}" type="presParOf" srcId="{6DC69473-33E0-4FCD-912C-6B113DB066B8}" destId="{80B8FA68-5B92-48FC-B3FB-B3B0F86E59E5}" srcOrd="5" destOrd="0" presId="urn:microsoft.com/office/officeart/2005/8/layout/radial6"/>
    <dgm:cxn modelId="{979ECBA9-D987-4436-80E2-DBAD768CAC4A}" type="presParOf" srcId="{6DC69473-33E0-4FCD-912C-6B113DB066B8}" destId="{2641C3A0-95C7-4FB1-A993-C11875F5755E}" srcOrd="6" destOrd="0" presId="urn:microsoft.com/office/officeart/2005/8/layout/radial6"/>
    <dgm:cxn modelId="{E754B4CC-9282-4636-A8E8-A04C394AFE07}" type="presParOf" srcId="{6DC69473-33E0-4FCD-912C-6B113DB066B8}" destId="{90183E5D-2A62-4EB0-9728-62973D471D47}" srcOrd="7" destOrd="0" presId="urn:microsoft.com/office/officeart/2005/8/layout/radial6"/>
    <dgm:cxn modelId="{70C64D77-BFD4-4B49-AE29-36FC1FA00FCC}" type="presParOf" srcId="{6DC69473-33E0-4FCD-912C-6B113DB066B8}" destId="{1FB2C1F7-1362-450D-BC5A-91BF2F1CCA51}" srcOrd="8" destOrd="0" presId="urn:microsoft.com/office/officeart/2005/8/layout/radial6"/>
    <dgm:cxn modelId="{DF0DC8F1-67E6-4C3A-96F1-143FBA79C52C}" type="presParOf" srcId="{6DC69473-33E0-4FCD-912C-6B113DB066B8}" destId="{E48DC058-211B-419F-9C74-8ADF2F347D6C}" srcOrd="9" destOrd="0" presId="urn:microsoft.com/office/officeart/2005/8/layout/radial6"/>
    <dgm:cxn modelId="{D13F2D09-0730-446E-8812-2BC650BFAB52}" type="presParOf" srcId="{6DC69473-33E0-4FCD-912C-6B113DB066B8}" destId="{FC253407-3CEC-44E5-803F-66058F81F03D}" srcOrd="10" destOrd="0" presId="urn:microsoft.com/office/officeart/2005/8/layout/radial6"/>
    <dgm:cxn modelId="{343FA284-1ECB-4BCC-A13B-D1A190F6B49E}" type="presParOf" srcId="{6DC69473-33E0-4FCD-912C-6B113DB066B8}" destId="{41235BD1-2ADD-46FF-95F0-4C08D9968C0A}" srcOrd="11" destOrd="0" presId="urn:microsoft.com/office/officeart/2005/8/layout/radial6"/>
    <dgm:cxn modelId="{0B316168-FF3F-461C-B808-45DA60489A13}" type="presParOf" srcId="{6DC69473-33E0-4FCD-912C-6B113DB066B8}" destId="{76654DB4-731B-4CF0-AE98-8BC6B8D84E1C}" srcOrd="12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76654DB4-731B-4CF0-AE98-8BC6B8D84E1C}">
      <dsp:nvSpPr>
        <dsp:cNvPr id="0" name=""/>
        <dsp:cNvSpPr/>
      </dsp:nvSpPr>
      <dsp:spPr>
        <a:xfrm>
          <a:off x="1560851" y="468651"/>
          <a:ext cx="3126697" cy="3126697"/>
        </a:xfrm>
        <a:prstGeom prst="blockArc">
          <a:avLst>
            <a:gd name="adj1" fmla="val 10800000"/>
            <a:gd name="adj2" fmla="val 16200000"/>
            <a:gd name="adj3" fmla="val 464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8DC058-211B-419F-9C74-8ADF2F347D6C}">
      <dsp:nvSpPr>
        <dsp:cNvPr id="0" name=""/>
        <dsp:cNvSpPr/>
      </dsp:nvSpPr>
      <dsp:spPr>
        <a:xfrm>
          <a:off x="1560851" y="468651"/>
          <a:ext cx="3126697" cy="3126697"/>
        </a:xfrm>
        <a:prstGeom prst="blockArc">
          <a:avLst>
            <a:gd name="adj1" fmla="val 5400000"/>
            <a:gd name="adj2" fmla="val 10800000"/>
            <a:gd name="adj3" fmla="val 464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41C3A0-95C7-4FB1-A993-C11875F5755E}">
      <dsp:nvSpPr>
        <dsp:cNvPr id="0" name=""/>
        <dsp:cNvSpPr/>
      </dsp:nvSpPr>
      <dsp:spPr>
        <a:xfrm>
          <a:off x="1560851" y="468651"/>
          <a:ext cx="3126697" cy="3126697"/>
        </a:xfrm>
        <a:prstGeom prst="blockArc">
          <a:avLst>
            <a:gd name="adj1" fmla="val 0"/>
            <a:gd name="adj2" fmla="val 5400000"/>
            <a:gd name="adj3" fmla="val 464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6CCECD-6B8C-4D8C-8C24-4BA6C7F2F999}">
      <dsp:nvSpPr>
        <dsp:cNvPr id="0" name=""/>
        <dsp:cNvSpPr/>
      </dsp:nvSpPr>
      <dsp:spPr>
        <a:xfrm>
          <a:off x="1560851" y="468651"/>
          <a:ext cx="3126697" cy="3126697"/>
        </a:xfrm>
        <a:prstGeom prst="blockArc">
          <a:avLst>
            <a:gd name="adj1" fmla="val 16200000"/>
            <a:gd name="adj2" fmla="val 0"/>
            <a:gd name="adj3" fmla="val 464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9032A1-DA5B-4973-AE3A-C0B01233E5A7}">
      <dsp:nvSpPr>
        <dsp:cNvPr id="0" name=""/>
        <dsp:cNvSpPr/>
      </dsp:nvSpPr>
      <dsp:spPr>
        <a:xfrm>
          <a:off x="2404169" y="1311969"/>
          <a:ext cx="1440060" cy="1440060"/>
        </a:xfrm>
        <a:prstGeom prst="ellipse">
          <a:avLst/>
        </a:prstGeom>
        <a:solidFill>
          <a:schemeClr val="accent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Design Management Framework</a:t>
          </a:r>
          <a:endParaRPr lang="en-US" sz="1400" kern="1200" dirty="0"/>
        </a:p>
      </dsp:txBody>
      <dsp:txXfrm>
        <a:off x="2404169" y="1311969"/>
        <a:ext cx="1440060" cy="1440060"/>
      </dsp:txXfrm>
    </dsp:sp>
    <dsp:sp modelId="{DDF5E5A4-1B31-4F46-A264-524CBCCB3A41}">
      <dsp:nvSpPr>
        <dsp:cNvPr id="0" name=""/>
        <dsp:cNvSpPr/>
      </dsp:nvSpPr>
      <dsp:spPr>
        <a:xfrm>
          <a:off x="2366872" y="-288272"/>
          <a:ext cx="1514654" cy="1586427"/>
        </a:xfrm>
        <a:prstGeom prst="ellipse">
          <a:avLst/>
        </a:prstGeom>
        <a:solidFill>
          <a:schemeClr val="tx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Execution/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Implementation</a:t>
          </a:r>
          <a:endParaRPr lang="en-US" sz="1200" kern="1200" dirty="0"/>
        </a:p>
      </dsp:txBody>
      <dsp:txXfrm>
        <a:off x="2366872" y="-288272"/>
        <a:ext cx="1514654" cy="1586427"/>
      </dsp:txXfrm>
    </dsp:sp>
    <dsp:sp modelId="{49D13C8B-FE11-4724-8E3B-FAFF9B635DC4}">
      <dsp:nvSpPr>
        <dsp:cNvPr id="0" name=""/>
        <dsp:cNvSpPr/>
      </dsp:nvSpPr>
      <dsp:spPr>
        <a:xfrm>
          <a:off x="3893931" y="1238786"/>
          <a:ext cx="1514654" cy="1586427"/>
        </a:xfrm>
        <a:prstGeom prst="ellipse">
          <a:avLst/>
        </a:prstGeom>
        <a:solidFill>
          <a:schemeClr val="tx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Termination</a:t>
          </a:r>
          <a:endParaRPr lang="en-US" sz="1200" kern="1200" dirty="0"/>
        </a:p>
      </dsp:txBody>
      <dsp:txXfrm>
        <a:off x="3893931" y="1238786"/>
        <a:ext cx="1514654" cy="1586427"/>
      </dsp:txXfrm>
    </dsp:sp>
    <dsp:sp modelId="{90183E5D-2A62-4EB0-9728-62973D471D47}">
      <dsp:nvSpPr>
        <dsp:cNvPr id="0" name=""/>
        <dsp:cNvSpPr/>
      </dsp:nvSpPr>
      <dsp:spPr>
        <a:xfrm>
          <a:off x="2366872" y="2765845"/>
          <a:ext cx="1514654" cy="1586427"/>
        </a:xfrm>
        <a:prstGeom prst="ellipse">
          <a:avLst/>
        </a:prstGeom>
        <a:solidFill>
          <a:schemeClr val="tx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Leadership &amp;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Ethics</a:t>
          </a:r>
          <a:endParaRPr lang="en-US" sz="1200" kern="1200" dirty="0"/>
        </a:p>
      </dsp:txBody>
      <dsp:txXfrm>
        <a:off x="2366872" y="2765845"/>
        <a:ext cx="1514654" cy="1586427"/>
      </dsp:txXfrm>
    </dsp:sp>
    <dsp:sp modelId="{FC253407-3CEC-44E5-803F-66058F81F03D}">
      <dsp:nvSpPr>
        <dsp:cNvPr id="0" name=""/>
        <dsp:cNvSpPr/>
      </dsp:nvSpPr>
      <dsp:spPr>
        <a:xfrm>
          <a:off x="839813" y="1238786"/>
          <a:ext cx="1514654" cy="1586427"/>
        </a:xfrm>
        <a:prstGeom prst="ellipse">
          <a:avLst/>
        </a:prstGeom>
        <a:solidFill>
          <a:schemeClr val="tx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Planning</a:t>
          </a:r>
          <a:endParaRPr lang="en-US" sz="1200" kern="1200" dirty="0"/>
        </a:p>
      </dsp:txBody>
      <dsp:txXfrm>
        <a:off x="839813" y="1238786"/>
        <a:ext cx="1514654" cy="15864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170238" cy="479425"/>
          </a:xfrm>
          <a:prstGeom prst="rect">
            <a:avLst/>
          </a:prstGeom>
        </p:spPr>
        <p:txBody>
          <a:bodyPr vert="horz" lIns="91427" tIns="45714" rIns="91427" bIns="457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1"/>
            <a:ext cx="3170238" cy="479425"/>
          </a:xfrm>
          <a:prstGeom prst="rect">
            <a:avLst/>
          </a:prstGeom>
        </p:spPr>
        <p:txBody>
          <a:bodyPr vert="horz" lIns="91427" tIns="45714" rIns="91427" bIns="45714" rtlCol="0"/>
          <a:lstStyle>
            <a:lvl1pPr algn="r">
              <a:defRPr sz="1200"/>
            </a:lvl1pPr>
          </a:lstStyle>
          <a:p>
            <a:fld id="{26E96256-41CF-4671-AFBD-B3C5DBE5BCD7}" type="datetimeFigureOut">
              <a:rPr lang="en-US" smtClean="0"/>
              <a:pPr/>
              <a:t>11/15/2012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189"/>
            <a:ext cx="3170238" cy="479425"/>
          </a:xfrm>
          <a:prstGeom prst="rect">
            <a:avLst/>
          </a:prstGeom>
        </p:spPr>
        <p:txBody>
          <a:bodyPr vert="horz" lIns="91427" tIns="45714" rIns="91427" bIns="457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9"/>
            <a:ext cx="3170238" cy="479425"/>
          </a:xfrm>
          <a:prstGeom prst="rect">
            <a:avLst/>
          </a:prstGeom>
        </p:spPr>
        <p:txBody>
          <a:bodyPr vert="horz" lIns="91427" tIns="45714" rIns="91427" bIns="45714" rtlCol="0" anchor="b"/>
          <a:lstStyle>
            <a:lvl1pPr algn="r">
              <a:defRPr sz="1200"/>
            </a:lvl1pPr>
          </a:lstStyle>
          <a:p>
            <a:fld id="{7B0AF5A9-246F-454B-A86E-D7AAB8A76C8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9219871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r">
              <a:defRPr sz="1300"/>
            </a:lvl1pPr>
          </a:lstStyle>
          <a:p>
            <a:fld id="{49B3061A-7F4E-4E3A-A627-E1FC384385A9}" type="datetimeFigureOut">
              <a:rPr lang="en-US" smtClean="0"/>
              <a:pPr/>
              <a:t>11/15/2012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7" tIns="48324" rIns="96647" bIns="483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47" tIns="48324" rIns="96647" bIns="483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r">
              <a:defRPr sz="1300"/>
            </a:lvl1pPr>
          </a:lstStyle>
          <a:p>
            <a:fld id="{C58D7772-57C4-43FE-B30D-FBB40B6BD3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67202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Software Design</a:t>
            </a:r>
            <a:r>
              <a:rPr lang="en-US" baseline="0" dirty="0" smtClean="0"/>
              <a:t> + Management Practices = Software Design Management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D7772-57C4-43FE-B30D-FBB40B6BD3D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74953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Two stakeholders of the software system have different opinions regarding the quality of the product produced.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D7772-57C4-43FE-B30D-FBB40B6BD3D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282057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D7772-57C4-43FE-B30D-FBB40B6BD3D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76064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685800"/>
            <a:ext cx="9144000" cy="1066800"/>
          </a:xfrm>
        </p:spPr>
        <p:txBody>
          <a:bodyPr>
            <a:normAutofit/>
          </a:bodyPr>
          <a:lstStyle>
            <a:lvl1pPr algn="ctr">
              <a:defRPr sz="2400" b="1" cap="small" baseline="0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752599"/>
            <a:ext cx="9144000" cy="4572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small" baseline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84950"/>
            <a:ext cx="990600" cy="27305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8E146812-51FF-4609-8A40-02FC8C31783E}" type="datetime1">
              <a:rPr lang="en-US" smtClean="0"/>
              <a:pPr/>
              <a:t>11/15/2012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47800" y="6584950"/>
            <a:ext cx="6096000" cy="27305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 smtClean="0"/>
              <a:t>Software Engineering Design: Theory and Practice. Copyright 2012 by Carlos E. Otero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43800" y="6553200"/>
            <a:ext cx="1143000" cy="3048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Box 7"/>
          <p:cNvSpPr txBox="1">
            <a:spLocks noChangeArrowheads="1"/>
          </p:cNvSpPr>
          <p:nvPr userDrawn="1"/>
        </p:nvSpPr>
        <p:spPr bwMode="auto">
          <a:xfrm>
            <a:off x="1676400" y="2713434"/>
            <a:ext cx="6477000" cy="2800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Software Engineering Design: Theory and Practice</a:t>
            </a:r>
            <a:r>
              <a:rPr lang="en-US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by </a:t>
            </a:r>
            <a:r>
              <a:rPr lang="en-US" sz="1600" b="0" dirty="0" smtClean="0">
                <a:latin typeface="Times New Roman" pitchFamily="18" charset="0"/>
                <a:cs typeface="Times New Roman" pitchFamily="18" charset="0"/>
              </a:rPr>
              <a:t>Carlos</a:t>
            </a:r>
            <a:r>
              <a:rPr lang="en-US" sz="1600" b="0" baseline="0" dirty="0" smtClean="0">
                <a:latin typeface="Times New Roman" pitchFamily="18" charset="0"/>
                <a:cs typeface="Times New Roman" pitchFamily="18" charset="0"/>
              </a:rPr>
              <a:t> E. Otero</a:t>
            </a:r>
            <a:endParaRPr lang="en-US" sz="1200" b="0" dirty="0">
              <a:latin typeface="Times New Roman" pitchFamily="18" charset="0"/>
              <a:cs typeface="Times New Roman" pitchFamily="18" charset="0"/>
            </a:endParaRPr>
          </a:p>
          <a:p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Slides copyright ©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2012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by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Carlos E. Otero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endParaRPr lang="en-US" sz="1800" b="1" i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b="1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For non-profit educational use only</a:t>
            </a:r>
            <a:endParaRPr lang="en-US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May be reproduced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only for 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student use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when 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used in conjunction with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Software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Engineering Design: Theory and Practice. 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Any other reproduction or use is prohibited without the express written permission of the author.</a:t>
            </a:r>
          </a:p>
          <a:p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All copyright information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must appear 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if these slides are posted on a website for student use.</a:t>
            </a:r>
          </a:p>
        </p:txBody>
      </p:sp>
      <p:pic>
        <p:nvPicPr>
          <p:cNvPr id="10" name="Picture 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62800" y="3200400"/>
            <a:ext cx="762000" cy="1102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4800599"/>
          </a:xfrm>
        </p:spPr>
        <p:txBody>
          <a:bodyPr/>
          <a:lstStyle>
            <a:lvl1pPr>
              <a:buFont typeface="Wingdings" pitchFamily="2" charset="2"/>
              <a:buChar char="Ø"/>
              <a:defRPr sz="2000"/>
            </a:lvl1pPr>
            <a:lvl2pPr>
              <a:buFont typeface="Wingdings" pitchFamily="2" charset="2"/>
              <a:buChar char="ü"/>
              <a:defRPr sz="1800"/>
            </a:lvl2pPr>
            <a:lvl3pPr>
              <a:buFont typeface="Wingdings" pitchFamily="2" charset="2"/>
              <a:buChar char="§"/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84950"/>
            <a:ext cx="990600" cy="273050"/>
          </a:xfrm>
          <a:prstGeom prst="rect">
            <a:avLst/>
          </a:prstGeom>
        </p:spPr>
        <p:txBody>
          <a:bodyPr/>
          <a:lstStyle>
            <a:lvl1pPr>
              <a:defRPr sz="1000" i="1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F3FBCFF5-EE4F-4FFF-A0F1-127D95D6DEF9}" type="datetime1">
              <a:rPr lang="en-US" smtClean="0"/>
              <a:pPr/>
              <a:t>11/15/2012</a:t>
            </a:fld>
            <a:endParaRPr lang="en-US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47800" y="6584950"/>
            <a:ext cx="6096000" cy="27305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43800" y="6553200"/>
            <a:ext cx="1143000" cy="304800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62078"/>
            <a:ext cx="990600" cy="304800"/>
          </a:xfrm>
          <a:prstGeom prst="rect">
            <a:avLst/>
          </a:prstGeom>
        </p:spPr>
        <p:txBody>
          <a:bodyPr/>
          <a:lstStyle/>
          <a:p>
            <a:fld id="{ED229BA3-A27B-42AB-9F31-42418016249D}" type="datetime1">
              <a:rPr lang="en-US" smtClean="0"/>
              <a:pPr/>
              <a:t>11/15/2012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47800" y="6562078"/>
            <a:ext cx="60960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43800" y="6562078"/>
            <a:ext cx="11430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F0BB3435-0E9A-4626-BE17-A8762A108CF2}" type="datetime1">
              <a:rPr lang="en-US" smtClean="0"/>
              <a:pPr/>
              <a:t>11/15/2012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004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A8E9BC6D-F3D4-4CAF-ACEC-494A57D202E4}" type="datetime1">
              <a:rPr lang="en-US" smtClean="0"/>
              <a:pPr/>
              <a:t>11/15/2012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E15860A7-5D37-4EAC-8EFD-51F43FFA3B5E}" type="datetime1">
              <a:rPr lang="en-US" smtClean="0"/>
              <a:pPr/>
              <a:t>11/15/2012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061ED6DB-E37C-45C5-85AA-C10B399F13E3}" type="datetime1">
              <a:rPr lang="en-US" smtClean="0"/>
              <a:pPr/>
              <a:t>11/15/2012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DA6BCD18-5551-42D7-A5DD-C6871E4D3FB5}" type="datetime1">
              <a:rPr lang="en-US" smtClean="0"/>
              <a:pPr/>
              <a:t>11/15/2012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480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25C7B514-375B-4C9F-AB19-638794D6AC42}" type="datetime1">
              <a:rPr lang="en-US" smtClean="0"/>
              <a:pPr/>
              <a:t>11/15/2012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480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41643C31-6BED-43CE-92EC-61FE9F1B16F6}" type="datetime1">
              <a:rPr lang="en-US" smtClean="0"/>
              <a:pPr/>
              <a:t>11/15/2012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718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999D3834-0217-485F-B8FA-819EC68F0E18}" type="datetime1">
              <a:rPr lang="en-US" smtClean="0"/>
              <a:pPr/>
              <a:t>11/15/2012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03238"/>
            <a:ext cx="82296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229600" cy="4754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 bwMode="auto">
          <a:xfrm>
            <a:off x="219722" y="228600"/>
            <a:ext cx="8686800" cy="6324600"/>
          </a:xfrm>
          <a:prstGeom prst="roundRect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84950"/>
            <a:ext cx="990600" cy="273050"/>
          </a:xfrm>
          <a:prstGeom prst="rect">
            <a:avLst/>
          </a:prstGeom>
        </p:spPr>
        <p:txBody>
          <a:bodyPr/>
          <a:lstStyle>
            <a:lvl1pPr>
              <a:defRPr sz="1000" i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714859E5-2B7A-4354-9302-A47E7090D679}" type="datetime1">
              <a:rPr lang="en-US" smtClean="0"/>
              <a:pPr/>
              <a:t>11/15/2012</a:t>
            </a:fld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7800" y="6584950"/>
            <a:ext cx="6096000" cy="273050"/>
          </a:xfrm>
          <a:prstGeom prst="rect">
            <a:avLst/>
          </a:prstGeom>
        </p:spPr>
        <p:txBody>
          <a:bodyPr/>
          <a:lstStyle>
            <a:lvl1pPr algn="ctr">
              <a:defRPr sz="1000" i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smtClean="0"/>
              <a:t>Enterprise Software Architecture</a:t>
            </a:r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553200"/>
            <a:ext cx="1143000" cy="304800"/>
          </a:xfrm>
          <a:prstGeom prst="rect">
            <a:avLst/>
          </a:prstGeom>
        </p:spPr>
        <p:txBody>
          <a:bodyPr/>
          <a:lstStyle>
            <a:lvl1pPr algn="r">
              <a:defRPr sz="1000" i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2400" b="1" kern="1200" cap="small" baseline="0">
          <a:solidFill>
            <a:schemeClr val="tx1"/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Chapter 10: </a:t>
            </a:r>
            <a:r>
              <a:rPr lang="en-US" dirty="0" smtClean="0"/>
              <a:t>Management, Leadership</a:t>
            </a:r>
            <a:r>
              <a:rPr lang="en-US" dirty="0" smtClean="0"/>
              <a:t>, and Ethics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Session I: Design Management Framework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05638-2204-47C5-8D02-0990D6B01040}" type="datetime1">
              <a:rPr lang="en-US" smtClean="0"/>
              <a:pPr/>
              <a:t>11/15/2012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066800" y="1414790"/>
            <a:ext cx="7086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latin typeface="Times New Roman" pitchFamily="18" charset="0"/>
                <a:cs typeface="Times New Roman" pitchFamily="18" charset="0"/>
              </a:rPr>
              <a:t>-- Dr. L. Daniel Otero, Florida Institute of Technology --</a:t>
            </a:r>
            <a:endParaRPr lang="en-US" sz="11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Session’s 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4876799"/>
          </a:xfrm>
        </p:spPr>
        <p:txBody>
          <a:bodyPr>
            <a:normAutofit/>
          </a:bodyPr>
          <a:lstStyle/>
          <a:p>
            <a:r>
              <a:rPr lang="en-US" dirty="0" smtClean="0"/>
              <a:t>Software Design Management</a:t>
            </a:r>
          </a:p>
          <a:p>
            <a:pPr lvl="1"/>
            <a:r>
              <a:rPr lang="en-US" dirty="0" smtClean="0"/>
              <a:t>What is software design management? </a:t>
            </a:r>
          </a:p>
          <a:p>
            <a:pPr lvl="1"/>
            <a:r>
              <a:rPr lang="en-US" dirty="0"/>
              <a:t>W</a:t>
            </a:r>
            <a:r>
              <a:rPr lang="en-US" dirty="0" smtClean="0"/>
              <a:t>hy </a:t>
            </a:r>
            <a:r>
              <a:rPr lang="en-US" dirty="0"/>
              <a:t>study software design management</a:t>
            </a:r>
            <a:r>
              <a:rPr lang="en-US" dirty="0" smtClean="0"/>
              <a:t>?</a:t>
            </a:r>
          </a:p>
          <a:p>
            <a:pPr lvl="1"/>
            <a:endParaRPr lang="en-US" dirty="0" smtClean="0"/>
          </a:p>
          <a:p>
            <a:endParaRPr lang="en-US" dirty="0"/>
          </a:p>
          <a:p>
            <a:r>
              <a:rPr lang="en-US" dirty="0" smtClean="0"/>
              <a:t>A Design Management Framework</a:t>
            </a:r>
          </a:p>
          <a:p>
            <a:pPr lvl="1"/>
            <a:r>
              <a:rPr lang="en-US" dirty="0" smtClean="0"/>
              <a:t>Quality in software design</a:t>
            </a:r>
          </a:p>
          <a:p>
            <a:pPr lvl="1"/>
            <a:r>
              <a:rPr lang="en-US" dirty="0" smtClean="0"/>
              <a:t>Typical project lifecycle</a:t>
            </a:r>
          </a:p>
          <a:p>
            <a:pPr lvl="1"/>
            <a:r>
              <a:rPr lang="en-US" dirty="0" smtClean="0"/>
              <a:t>Typical performance measures in project phases</a:t>
            </a:r>
          </a:p>
          <a:p>
            <a:pPr lvl="1"/>
            <a:r>
              <a:rPr lang="en-US" dirty="0" smtClean="0"/>
              <a:t>Components of the design management framework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What’s next…</a:t>
            </a:r>
          </a:p>
          <a:p>
            <a:pPr lvl="1"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E7354-941D-4A10-A419-5D3E5FF7573C}" type="datetime1">
              <a:rPr lang="en-US" smtClean="0"/>
              <a:pPr/>
              <a:t>11/15/2012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14475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Design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is software design management?</a:t>
            </a:r>
          </a:p>
          <a:p>
            <a:pPr lvl="1"/>
            <a:r>
              <a:rPr lang="en-US" u="sng" dirty="0" smtClean="0"/>
              <a:t>Software </a:t>
            </a:r>
            <a:r>
              <a:rPr lang="en-US" u="sng" dirty="0"/>
              <a:t>design</a:t>
            </a:r>
            <a:r>
              <a:rPr lang="en-US" dirty="0"/>
              <a:t> is the process of transforming functional and non-functional requirements into models that describe a technical </a:t>
            </a:r>
            <a:r>
              <a:rPr lang="en-US" dirty="0" smtClean="0"/>
              <a:t>solution.</a:t>
            </a:r>
          </a:p>
          <a:p>
            <a:pPr lvl="2"/>
            <a:r>
              <a:rPr lang="en-US" dirty="0" smtClean="0"/>
              <a:t>Can </a:t>
            </a:r>
            <a:r>
              <a:rPr lang="en-US" dirty="0"/>
              <a:t>be viewed as a complex decision </a:t>
            </a:r>
            <a:r>
              <a:rPr lang="en-US" dirty="0" smtClean="0"/>
              <a:t>problem since</a:t>
            </a:r>
          </a:p>
          <a:p>
            <a:pPr lvl="3"/>
            <a:r>
              <a:rPr lang="en-US" dirty="0"/>
              <a:t>there are many ways to design a software system, and </a:t>
            </a:r>
          </a:p>
          <a:p>
            <a:pPr lvl="3"/>
            <a:r>
              <a:rPr lang="en-US" dirty="0"/>
              <a:t>software engineers must make design decisions to achieve the required goals of the software system in the most effective manner</a:t>
            </a:r>
            <a:endParaRPr lang="en-US" dirty="0" smtClean="0"/>
          </a:p>
          <a:p>
            <a:pPr lvl="3"/>
            <a:endParaRPr lang="en-US" dirty="0" smtClean="0"/>
          </a:p>
          <a:p>
            <a:pPr lvl="1"/>
            <a:r>
              <a:rPr lang="en-US" u="sng" dirty="0" smtClean="0"/>
              <a:t>Management</a:t>
            </a:r>
            <a:r>
              <a:rPr lang="en-US" dirty="0" smtClean="0"/>
              <a:t> is a </a:t>
            </a:r>
            <a:r>
              <a:rPr lang="en-US" i="1" dirty="0"/>
              <a:t>set of activities </a:t>
            </a:r>
            <a:r>
              <a:rPr lang="en-US" dirty="0" smtClean="0"/>
              <a:t>directed </a:t>
            </a:r>
            <a:r>
              <a:rPr lang="en-US" dirty="0"/>
              <a:t>at an organization's </a:t>
            </a:r>
            <a:r>
              <a:rPr lang="en-US" i="1" dirty="0" smtClean="0"/>
              <a:t>resources</a:t>
            </a:r>
            <a:r>
              <a:rPr lang="en-US" dirty="0" smtClean="0"/>
              <a:t> to achieve </a:t>
            </a:r>
            <a:r>
              <a:rPr lang="en-US" dirty="0"/>
              <a:t>organizational goals in an </a:t>
            </a:r>
            <a:r>
              <a:rPr lang="en-US" dirty="0" smtClean="0"/>
              <a:t>efficient and effective manner.</a:t>
            </a:r>
          </a:p>
          <a:p>
            <a:pPr lvl="2"/>
            <a:r>
              <a:rPr lang="en-US" dirty="0" smtClean="0"/>
              <a:t>Activities: planning </a:t>
            </a:r>
            <a:r>
              <a:rPr lang="en-US" dirty="0"/>
              <a:t>and decision making, organizing, leading, and </a:t>
            </a:r>
            <a:r>
              <a:rPr lang="en-US" dirty="0" smtClean="0"/>
              <a:t>controlling</a:t>
            </a:r>
          </a:p>
          <a:p>
            <a:pPr lvl="2"/>
            <a:r>
              <a:rPr lang="en-US" dirty="0" smtClean="0"/>
              <a:t>Resources: human, financial</a:t>
            </a:r>
            <a:r>
              <a:rPr lang="en-US" dirty="0"/>
              <a:t>, physical, and information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In the design phase, </a:t>
            </a:r>
            <a:r>
              <a:rPr lang="en-US" dirty="0"/>
              <a:t>management refers to </a:t>
            </a:r>
            <a:r>
              <a:rPr lang="en-US" dirty="0" smtClean="0"/>
              <a:t>activities </a:t>
            </a:r>
            <a:r>
              <a:rPr lang="en-US" dirty="0"/>
              <a:t>required to efficiently create </a:t>
            </a:r>
            <a:r>
              <a:rPr lang="en-US" i="1" dirty="0"/>
              <a:t>quality</a:t>
            </a:r>
            <a:r>
              <a:rPr lang="en-US" dirty="0"/>
              <a:t> design artifacts, within schedule and budget </a:t>
            </a:r>
            <a:r>
              <a:rPr lang="en-US" dirty="0" smtClean="0"/>
              <a:t>constraints.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11/15/2012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94835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Design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Why study software design management?</a:t>
            </a:r>
          </a:p>
          <a:p>
            <a:pPr lvl="1"/>
            <a:r>
              <a:rPr lang="en-US" dirty="0"/>
              <a:t>In large-scale software projects, software design management is essential to plan, organize, staff, track, and lead the activities required to carry out successfully the software architecture and detailed design steps.  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To understand relevant managerial techniques and concepts </a:t>
            </a:r>
          </a:p>
          <a:p>
            <a:pPr lvl="2"/>
            <a:r>
              <a:rPr lang="en-US" dirty="0" smtClean="0"/>
              <a:t>This will help to effectively </a:t>
            </a:r>
            <a:r>
              <a:rPr lang="en-US" dirty="0"/>
              <a:t>use </a:t>
            </a:r>
            <a:r>
              <a:rPr lang="en-US" dirty="0" smtClean="0"/>
              <a:t>resources </a:t>
            </a:r>
            <a:r>
              <a:rPr lang="en-US" dirty="0"/>
              <a:t>to achieve the various goals </a:t>
            </a:r>
            <a:r>
              <a:rPr lang="en-US" dirty="0" smtClean="0"/>
              <a:t>for </a:t>
            </a:r>
            <a:r>
              <a:rPr lang="en-US" dirty="0"/>
              <a:t>each main component in the design phase (i.e., software architecture, detailed design, and documentation).</a:t>
            </a:r>
            <a:endParaRPr lang="en-US" dirty="0" smtClean="0"/>
          </a:p>
          <a:p>
            <a:pPr lvl="2"/>
            <a:r>
              <a:rPr lang="en-US" dirty="0" smtClean="0"/>
              <a:t>Effective use of resources is key </a:t>
            </a:r>
            <a:r>
              <a:rPr lang="en-US" dirty="0"/>
              <a:t>to the success of software design </a:t>
            </a:r>
            <a:r>
              <a:rPr lang="en-US" dirty="0" smtClean="0"/>
              <a:t>management.  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In the general sense, </a:t>
            </a:r>
            <a:r>
              <a:rPr lang="en-US" dirty="0"/>
              <a:t>software design management is needed </a:t>
            </a:r>
            <a:r>
              <a:rPr lang="en-US" dirty="0" smtClean="0"/>
              <a:t>to:</a:t>
            </a:r>
          </a:p>
          <a:p>
            <a:pPr lvl="2"/>
            <a:r>
              <a:rPr lang="en-US" dirty="0" smtClean="0"/>
              <a:t>Control/monitor design processes</a:t>
            </a:r>
          </a:p>
          <a:p>
            <a:pPr lvl="2"/>
            <a:r>
              <a:rPr lang="en-US" dirty="0" smtClean="0"/>
              <a:t>Manage the resources </a:t>
            </a:r>
            <a:r>
              <a:rPr lang="en-US" dirty="0"/>
              <a:t>necessary for completing quality design artifacts according to organizational </a:t>
            </a:r>
            <a:r>
              <a:rPr lang="en-US" dirty="0" smtClean="0"/>
              <a:t>goals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11/15/2012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60981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Concept of Quality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Quality is a </a:t>
            </a:r>
            <a:r>
              <a:rPr lang="en-US" dirty="0" smtClean="0"/>
              <a:t>performance </a:t>
            </a:r>
            <a:r>
              <a:rPr lang="en-US" dirty="0"/>
              <a:t>measure for a service provided or a product produced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Quality is </a:t>
            </a:r>
            <a:r>
              <a:rPr lang="en-US" i="1" dirty="0"/>
              <a:t>relative</a:t>
            </a:r>
            <a:r>
              <a:rPr lang="en-US" dirty="0"/>
              <a:t> to a particular </a:t>
            </a:r>
            <a:r>
              <a:rPr lang="en-US" dirty="0" smtClean="0"/>
              <a:t>stakeholder.  For example:</a:t>
            </a:r>
          </a:p>
          <a:p>
            <a:pPr lvl="1"/>
            <a:r>
              <a:rPr lang="en-US" dirty="0" smtClean="0"/>
              <a:t>A </a:t>
            </a:r>
            <a:r>
              <a:rPr lang="en-US" dirty="0">
                <a:solidFill>
                  <a:srgbClr val="FF0000"/>
                </a:solidFill>
              </a:rPr>
              <a:t>personal website </a:t>
            </a:r>
            <a:r>
              <a:rPr lang="en-US" dirty="0"/>
              <a:t>can be classified as high-quality by the programmer that developed it, and as low quality by user clients</a:t>
            </a:r>
            <a:r>
              <a:rPr lang="en-US" dirty="0" smtClean="0"/>
              <a:t>.  Why?     </a:t>
            </a:r>
          </a:p>
          <a:p>
            <a:pPr lvl="2"/>
            <a:r>
              <a:rPr lang="en-US" dirty="0" smtClean="0"/>
              <a:t>Because both stakeholders </a:t>
            </a:r>
            <a:r>
              <a:rPr lang="en-US" dirty="0"/>
              <a:t>have different parameters by which they measure </a:t>
            </a:r>
            <a:r>
              <a:rPr lang="en-US" dirty="0" smtClean="0"/>
              <a:t>quality  </a:t>
            </a:r>
          </a:p>
          <a:p>
            <a:pPr lvl="3"/>
            <a:r>
              <a:rPr lang="en-US" dirty="0" smtClean="0"/>
              <a:t>The </a:t>
            </a:r>
            <a:r>
              <a:rPr lang="en-US" dirty="0"/>
              <a:t>programmer may perceive quality in terms of being able to use appropriate colors and organize the website to run on a particular web browser.  </a:t>
            </a:r>
            <a:endParaRPr lang="en-US" dirty="0" smtClean="0"/>
          </a:p>
          <a:p>
            <a:pPr lvl="3"/>
            <a:r>
              <a:rPr lang="en-US" dirty="0" smtClean="0"/>
              <a:t>A </a:t>
            </a:r>
            <a:r>
              <a:rPr lang="en-US" dirty="0"/>
              <a:t>client using a different web browser may not see the website’s organization and colors as intended; thus perceiving the website’s quality as poor. 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Although the </a:t>
            </a:r>
            <a:r>
              <a:rPr lang="en-US" dirty="0" smtClean="0">
                <a:solidFill>
                  <a:srgbClr val="FF0000"/>
                </a:solidFill>
              </a:rPr>
              <a:t>quality</a:t>
            </a:r>
            <a:r>
              <a:rPr lang="en-US" dirty="0" smtClean="0"/>
              <a:t> </a:t>
            </a:r>
            <a:r>
              <a:rPr lang="en-US" dirty="0"/>
              <a:t>of a software design can be assessed in various </a:t>
            </a:r>
            <a:r>
              <a:rPr lang="en-US" dirty="0" smtClean="0"/>
              <a:t>ways, from </a:t>
            </a:r>
            <a:r>
              <a:rPr lang="en-US" dirty="0"/>
              <a:t>a management's perspective, quality of software design tends to be evaluated in terms of </a:t>
            </a:r>
            <a:r>
              <a:rPr lang="en-US" i="1" dirty="0">
                <a:solidFill>
                  <a:srgbClr val="FF0000"/>
                </a:solidFill>
              </a:rPr>
              <a:t>cost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and </a:t>
            </a:r>
            <a:r>
              <a:rPr lang="en-US" i="1" dirty="0">
                <a:solidFill>
                  <a:srgbClr val="FF0000"/>
                </a:solidFill>
              </a:rPr>
              <a:t>scheduling</a:t>
            </a:r>
            <a:r>
              <a:rPr lang="en-US" dirty="0"/>
              <a:t>. </a:t>
            </a:r>
            <a:endParaRPr lang="en-US" dirty="0" smtClean="0"/>
          </a:p>
          <a:p>
            <a:pPr lvl="1"/>
            <a:r>
              <a:rPr lang="en-US" dirty="0" smtClean="0"/>
              <a:t>Thus, it is important to understand project </a:t>
            </a:r>
            <a:r>
              <a:rPr lang="en-US" dirty="0"/>
              <a:t>management techniques that can be used to keep </a:t>
            </a:r>
            <a:r>
              <a:rPr lang="en-US" dirty="0" smtClean="0"/>
              <a:t>design </a:t>
            </a:r>
            <a:r>
              <a:rPr lang="en-US" dirty="0"/>
              <a:t>artifacts within cost and schedule thresholds.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11/15/2012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3075" name="Picture 3" descr="C:\Users\lotero\AppData\Local\Microsoft\Windows\Temporary Internet Files\Content.IE5\U5Y39UI7\MC900366090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200399"/>
            <a:ext cx="1194096" cy="92171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441621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Management Framework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is beneficial to view the design </a:t>
            </a:r>
            <a:r>
              <a:rPr lang="en-US" dirty="0"/>
              <a:t>phase as a </a:t>
            </a:r>
            <a:r>
              <a:rPr lang="en-US" dirty="0" smtClean="0"/>
              <a:t>project.  Why?</a:t>
            </a:r>
          </a:p>
          <a:p>
            <a:pPr lvl="1"/>
            <a:r>
              <a:rPr lang="en-US" dirty="0" smtClean="0"/>
              <a:t>Project </a:t>
            </a:r>
            <a:r>
              <a:rPr lang="en-US" dirty="0"/>
              <a:t>management techniques can be directly applied to </a:t>
            </a:r>
            <a:r>
              <a:rPr lang="en-US" dirty="0" smtClean="0"/>
              <a:t>the </a:t>
            </a:r>
            <a:r>
              <a:rPr lang="en-US" dirty="0"/>
              <a:t>design </a:t>
            </a:r>
            <a:r>
              <a:rPr lang="en-US" dirty="0" smtClean="0"/>
              <a:t>phase</a:t>
            </a:r>
          </a:p>
          <a:p>
            <a:pPr lvl="2"/>
            <a:r>
              <a:rPr lang="en-US" dirty="0" smtClean="0"/>
              <a:t>This will help to </a:t>
            </a:r>
            <a:r>
              <a:rPr lang="en-US" dirty="0"/>
              <a:t>efficiently and effectively manage the software </a:t>
            </a:r>
            <a:r>
              <a:rPr lang="en-US" dirty="0" smtClean="0"/>
              <a:t>design </a:t>
            </a:r>
            <a:r>
              <a:rPr lang="en-US" dirty="0"/>
              <a:t>activities </a:t>
            </a:r>
            <a:endParaRPr lang="en-US" dirty="0" smtClean="0"/>
          </a:p>
          <a:p>
            <a:pPr lvl="2"/>
            <a:r>
              <a:rPr lang="en-US" dirty="0" smtClean="0"/>
              <a:t>E.g., </a:t>
            </a:r>
            <a:r>
              <a:rPr lang="en-US" dirty="0"/>
              <a:t>the life cycle of the design phase can be represented </a:t>
            </a:r>
            <a:r>
              <a:rPr lang="en-US" dirty="0" smtClean="0"/>
              <a:t>with </a:t>
            </a:r>
            <a:r>
              <a:rPr lang="en-US" dirty="0"/>
              <a:t>three stages </a:t>
            </a:r>
            <a:r>
              <a:rPr lang="en-US" dirty="0" smtClean="0"/>
              <a:t>as in:</a:t>
            </a:r>
          </a:p>
          <a:p>
            <a:pPr lvl="2"/>
            <a:endParaRPr lang="en-US" dirty="0"/>
          </a:p>
          <a:p>
            <a:pPr lvl="2"/>
            <a:endParaRPr lang="en-US" dirty="0" smtClean="0"/>
          </a:p>
          <a:p>
            <a:pPr lvl="2"/>
            <a:endParaRPr lang="en-US" dirty="0"/>
          </a:p>
          <a:p>
            <a:pPr lvl="2"/>
            <a:endParaRPr lang="en-US" dirty="0" smtClean="0"/>
          </a:p>
          <a:p>
            <a:pPr lvl="2"/>
            <a:endParaRPr lang="en-US" dirty="0"/>
          </a:p>
          <a:p>
            <a:pPr lvl="2"/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11/15/2012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8" name="Picture 7"/>
          <p:cNvPicPr/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345" y="2590800"/>
            <a:ext cx="3183255" cy="363791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4419600" y="2799714"/>
            <a:ext cx="4419600" cy="3677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This life cycle represents a typical project </a:t>
            </a:r>
            <a:r>
              <a:rPr lang="en-US" dirty="0" smtClean="0"/>
              <a:t>pattern</a:t>
            </a:r>
          </a:p>
          <a:p>
            <a:pPr lvl="1"/>
            <a:r>
              <a:rPr lang="en-US" dirty="0" smtClean="0"/>
              <a:t>Contributions </a:t>
            </a:r>
            <a:r>
              <a:rPr lang="en-US" dirty="0"/>
              <a:t>to a project’s completion </a:t>
            </a:r>
            <a:r>
              <a:rPr lang="en-US" dirty="0" smtClean="0"/>
              <a:t>are:</a:t>
            </a:r>
          </a:p>
          <a:p>
            <a:pPr lvl="2"/>
            <a:r>
              <a:rPr lang="en-US" dirty="0" smtClean="0"/>
              <a:t>Relatively </a:t>
            </a:r>
            <a:r>
              <a:rPr lang="en-US" dirty="0"/>
              <a:t>small during the initial and termination phases </a:t>
            </a:r>
            <a:endParaRPr lang="en-US" dirty="0" smtClean="0"/>
          </a:p>
          <a:p>
            <a:pPr lvl="2"/>
            <a:r>
              <a:rPr lang="en-US" dirty="0" smtClean="0"/>
              <a:t>Significantly </a:t>
            </a:r>
            <a:r>
              <a:rPr lang="en-US" dirty="0"/>
              <a:t>high during the implementation </a:t>
            </a:r>
            <a:r>
              <a:rPr lang="en-US" dirty="0" smtClean="0"/>
              <a:t>phase</a:t>
            </a:r>
          </a:p>
          <a:p>
            <a:r>
              <a:rPr lang="en-US" dirty="0" smtClean="0"/>
              <a:t>When defining </a:t>
            </a:r>
            <a:r>
              <a:rPr lang="en-US" dirty="0"/>
              <a:t>a life cycle structure for a </a:t>
            </a:r>
            <a:r>
              <a:rPr lang="en-US" dirty="0" smtClean="0"/>
              <a:t>project, we can </a:t>
            </a:r>
            <a:r>
              <a:rPr lang="en-US" dirty="0">
                <a:solidFill>
                  <a:srgbClr val="FF0000"/>
                </a:solidFill>
              </a:rPr>
              <a:t>decompose</a:t>
            </a:r>
            <a:r>
              <a:rPr lang="en-US" dirty="0"/>
              <a:t> </a:t>
            </a:r>
            <a:r>
              <a:rPr lang="en-US" dirty="0" smtClean="0"/>
              <a:t>a project </a:t>
            </a:r>
            <a:r>
              <a:rPr lang="en-US" dirty="0"/>
              <a:t>into its appropriate </a:t>
            </a:r>
            <a:r>
              <a:rPr lang="en-US" dirty="0" smtClean="0"/>
              <a:t>stages, and </a:t>
            </a:r>
            <a:r>
              <a:rPr lang="en-US" dirty="0" smtClean="0">
                <a:solidFill>
                  <a:srgbClr val="FF0000"/>
                </a:solidFill>
              </a:rPr>
              <a:t>manage each stage individually</a:t>
            </a:r>
            <a:r>
              <a:rPr lang="en-US" dirty="0" smtClean="0"/>
              <a:t>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556479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Lifecycle Stages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In the </a:t>
            </a:r>
            <a:r>
              <a:rPr lang="en-US" dirty="0">
                <a:solidFill>
                  <a:srgbClr val="FF0000"/>
                </a:solidFill>
              </a:rPr>
              <a:t>initial </a:t>
            </a:r>
            <a:r>
              <a:rPr lang="en-US" dirty="0" smtClean="0">
                <a:solidFill>
                  <a:srgbClr val="FF0000"/>
                </a:solidFill>
              </a:rPr>
              <a:t>stage</a:t>
            </a:r>
            <a:r>
              <a:rPr lang="en-US" dirty="0" smtClean="0"/>
              <a:t>, there are two main objectives:</a:t>
            </a:r>
            <a:endParaRPr lang="en-US" dirty="0" smtClean="0">
              <a:solidFill>
                <a:srgbClr val="FF0000"/>
              </a:solidFill>
            </a:endParaRPr>
          </a:p>
          <a:p>
            <a:pPr lvl="1"/>
            <a:r>
              <a:rPr lang="en-US" dirty="0" smtClean="0"/>
              <a:t>Achieve </a:t>
            </a:r>
            <a:r>
              <a:rPr lang="en-US" dirty="0"/>
              <a:t>a clear understanding of the tasks to be accomplished and the resources that are necessary to successfully complete the tasks.  </a:t>
            </a:r>
            <a:endParaRPr lang="en-US" dirty="0" smtClean="0"/>
          </a:p>
          <a:p>
            <a:pPr lvl="1"/>
            <a:r>
              <a:rPr lang="en-US" dirty="0"/>
              <a:t>D</a:t>
            </a:r>
            <a:r>
              <a:rPr lang="en-US" dirty="0" smtClean="0"/>
              <a:t>evelop </a:t>
            </a:r>
            <a:r>
              <a:rPr lang="en-US" dirty="0"/>
              <a:t>a plan to complete the project’s tasks within schedule and budget constraints. 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initial phase is characterized by planning activities. </a:t>
            </a:r>
            <a:endParaRPr lang="en-US" dirty="0" smtClean="0"/>
          </a:p>
          <a:p>
            <a:pPr lvl="1"/>
            <a:r>
              <a:rPr lang="en-US" dirty="0" smtClean="0"/>
              <a:t>Although </a:t>
            </a:r>
            <a:r>
              <a:rPr lang="en-US" dirty="0"/>
              <a:t>some of the artifacts resulting from this phase (e.g., schedule) may be deliverables to clients, this phase is not viewed as contributing significantly to the percentage project completion.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implementation stage</a:t>
            </a:r>
            <a:r>
              <a:rPr lang="en-US" dirty="0" smtClean="0"/>
              <a:t> is where: </a:t>
            </a:r>
          </a:p>
          <a:p>
            <a:pPr lvl="1"/>
            <a:r>
              <a:rPr lang="en-US" dirty="0" smtClean="0"/>
              <a:t>Most </a:t>
            </a:r>
            <a:r>
              <a:rPr lang="en-US" dirty="0"/>
              <a:t>of the effort is employed </a:t>
            </a:r>
            <a:endParaRPr lang="en-US" dirty="0" smtClean="0"/>
          </a:p>
          <a:p>
            <a:pPr lvl="1"/>
            <a:r>
              <a:rPr lang="en-US" dirty="0" smtClean="0"/>
              <a:t>Most </a:t>
            </a:r>
            <a:r>
              <a:rPr lang="en-US" dirty="0"/>
              <a:t>of the design project deliverables are achieved, including completed design </a:t>
            </a:r>
            <a:r>
              <a:rPr lang="en-US" dirty="0" smtClean="0"/>
              <a:t>documents</a:t>
            </a:r>
          </a:p>
          <a:p>
            <a:pPr lvl="1"/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percent project completion is the </a:t>
            </a:r>
            <a:r>
              <a:rPr lang="en-US" dirty="0" smtClean="0"/>
              <a:t>highest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11/15/2012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72201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 in the Lifecycle Stages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the </a:t>
            </a:r>
            <a:r>
              <a:rPr lang="en-US" dirty="0" smtClean="0">
                <a:solidFill>
                  <a:srgbClr val="FF0000"/>
                </a:solidFill>
              </a:rPr>
              <a:t>termination stage</a:t>
            </a:r>
            <a:r>
              <a:rPr lang="en-US" dirty="0" smtClean="0"/>
              <a:t>, </a:t>
            </a:r>
            <a:endParaRPr lang="en-US" dirty="0" smtClean="0">
              <a:solidFill>
                <a:srgbClr val="FF0000"/>
              </a:solidFill>
            </a:endParaRPr>
          </a:p>
          <a:p>
            <a:pPr lvl="1"/>
            <a:r>
              <a:rPr lang="en-US" dirty="0" smtClean="0"/>
              <a:t>Key </a:t>
            </a:r>
            <a:r>
              <a:rPr lang="en-US" dirty="0"/>
              <a:t>activities involve verification that everything is in place for a smooth transition into the code construction phase.  </a:t>
            </a:r>
            <a:r>
              <a:rPr lang="en-US" dirty="0" smtClean="0"/>
              <a:t>Examples of activities are:</a:t>
            </a:r>
            <a:endParaRPr lang="en-US" dirty="0"/>
          </a:p>
          <a:p>
            <a:pPr lvl="2"/>
            <a:r>
              <a:rPr lang="en-US" dirty="0" smtClean="0"/>
              <a:t>Making </a:t>
            </a:r>
            <a:r>
              <a:rPr lang="en-US" dirty="0"/>
              <a:t>sure that the latest versions of the design documents are securely stored according to configuration management </a:t>
            </a:r>
            <a:r>
              <a:rPr lang="en-US" dirty="0" smtClean="0"/>
              <a:t>procedures </a:t>
            </a:r>
          </a:p>
          <a:p>
            <a:pPr lvl="2"/>
            <a:r>
              <a:rPr lang="en-US" dirty="0" smtClean="0"/>
              <a:t>Updating </a:t>
            </a:r>
            <a:r>
              <a:rPr lang="en-US" dirty="0"/>
              <a:t>schedule and cost current </a:t>
            </a:r>
            <a:r>
              <a:rPr lang="en-US" dirty="0" smtClean="0"/>
              <a:t>values</a:t>
            </a:r>
          </a:p>
          <a:p>
            <a:pPr lvl="2"/>
            <a:r>
              <a:rPr lang="en-US" dirty="0" smtClean="0"/>
              <a:t>Re-evaluating </a:t>
            </a:r>
            <a:r>
              <a:rPr lang="en-US" dirty="0"/>
              <a:t>schedule and budget plans based on the resulting performance measures of the design </a:t>
            </a:r>
            <a:r>
              <a:rPr lang="en-US" dirty="0" smtClean="0"/>
              <a:t>phase</a:t>
            </a:r>
          </a:p>
          <a:p>
            <a:pPr lvl="2"/>
            <a:r>
              <a:rPr lang="en-US" dirty="0" smtClean="0"/>
              <a:t>Communicating </a:t>
            </a:r>
            <a:r>
              <a:rPr lang="en-US" dirty="0"/>
              <a:t>results to upper management. 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design documents generated in this stage are critical for the robustness and maintainability of the software designed.  </a:t>
            </a:r>
            <a:endParaRPr lang="en-US" dirty="0" smtClean="0"/>
          </a:p>
          <a:p>
            <a:pPr lvl="1"/>
            <a:r>
              <a:rPr lang="en-US" dirty="0" smtClean="0"/>
              <a:t>However</a:t>
            </a:r>
            <a:r>
              <a:rPr lang="en-US" dirty="0"/>
              <a:t>, the relative impact of this stage to project completion is not viewed as significant as that of the implementation phase. 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11/15/2012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8925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Managing Lifecycle Stages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lifecycle stages of a design project must </a:t>
            </a:r>
            <a:r>
              <a:rPr lang="en-US" dirty="0"/>
              <a:t>be </a:t>
            </a:r>
            <a:r>
              <a:rPr lang="en-US" i="1" dirty="0"/>
              <a:t>individually managed </a:t>
            </a:r>
            <a:r>
              <a:rPr lang="en-US" dirty="0"/>
              <a:t>to ensure </a:t>
            </a:r>
            <a:r>
              <a:rPr lang="en-US" dirty="0" smtClean="0"/>
              <a:t>acceptable </a:t>
            </a:r>
            <a:r>
              <a:rPr lang="en-US" dirty="0"/>
              <a:t>levels of quality and performance measures. </a:t>
            </a:r>
            <a:endParaRPr lang="en-US" dirty="0" smtClean="0"/>
          </a:p>
          <a:p>
            <a:pPr lvl="1"/>
            <a:r>
              <a:rPr lang="en-US" dirty="0" smtClean="0"/>
              <a:t>What does this means?</a:t>
            </a:r>
          </a:p>
          <a:p>
            <a:pPr lvl="2"/>
            <a:r>
              <a:rPr lang="en-US" dirty="0" smtClean="0"/>
              <a:t>For </a:t>
            </a:r>
            <a:r>
              <a:rPr lang="en-US" dirty="0"/>
              <a:t>example, an important outcome of the </a:t>
            </a:r>
            <a:r>
              <a:rPr lang="en-US" i="1" dirty="0"/>
              <a:t>planning stage </a:t>
            </a:r>
            <a:r>
              <a:rPr lang="en-US" dirty="0"/>
              <a:t>is a clear understanding of the tasks to be accomplished and the resources that are necessary to successfully complete the tasks.  </a:t>
            </a:r>
            <a:endParaRPr lang="en-US" dirty="0" smtClean="0"/>
          </a:p>
          <a:p>
            <a:pPr lvl="3"/>
            <a:r>
              <a:rPr lang="en-US" dirty="0" smtClean="0"/>
              <a:t>Various </a:t>
            </a:r>
            <a:r>
              <a:rPr lang="en-US" dirty="0"/>
              <a:t>project management techniques exist to help achieve this outcome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is important to know how to apply </a:t>
            </a:r>
            <a:r>
              <a:rPr lang="en-US" dirty="0" smtClean="0"/>
              <a:t>appropriate project </a:t>
            </a:r>
            <a:r>
              <a:rPr lang="en-US" dirty="0"/>
              <a:t>management techniques to </a:t>
            </a:r>
            <a:r>
              <a:rPr lang="en-US" dirty="0" smtClean="0"/>
              <a:t>each of the design project stages </a:t>
            </a:r>
          </a:p>
          <a:p>
            <a:pPr lvl="1"/>
            <a:r>
              <a:rPr lang="en-US" dirty="0" smtClean="0"/>
              <a:t>Afterwards, </a:t>
            </a:r>
            <a:r>
              <a:rPr lang="en-US" i="1" dirty="0" smtClean="0"/>
              <a:t>peer reviews </a:t>
            </a:r>
            <a:r>
              <a:rPr lang="en-US" dirty="0" smtClean="0"/>
              <a:t>will help </a:t>
            </a:r>
            <a:r>
              <a:rPr lang="en-US" dirty="0"/>
              <a:t>ensure that the objectives of the planning stage are achieved.  </a:t>
            </a:r>
            <a:endParaRPr lang="en-US" dirty="0" smtClean="0"/>
          </a:p>
          <a:p>
            <a:pPr lvl="2"/>
            <a:r>
              <a:rPr lang="en-US" dirty="0" smtClean="0"/>
              <a:t>Peer </a:t>
            </a:r>
            <a:r>
              <a:rPr lang="en-US" dirty="0"/>
              <a:t>reviews must be conducted throughout these stages to </a:t>
            </a:r>
            <a:endParaRPr lang="en-US" dirty="0" smtClean="0"/>
          </a:p>
          <a:p>
            <a:pPr marL="914400" lvl="2" indent="0">
              <a:buNone/>
            </a:pPr>
            <a:r>
              <a:rPr lang="en-US" dirty="0"/>
              <a:t> </a:t>
            </a:r>
            <a:r>
              <a:rPr lang="en-US" dirty="0" smtClean="0"/>
              <a:t>   minimize </a:t>
            </a:r>
            <a:r>
              <a:rPr lang="en-US" dirty="0"/>
              <a:t>the propagation of errors to subsequent stages and </a:t>
            </a:r>
            <a:endParaRPr lang="en-US" dirty="0" smtClean="0"/>
          </a:p>
          <a:p>
            <a:pPr marL="914400" lvl="2" indent="0">
              <a:buNone/>
            </a:pPr>
            <a:r>
              <a:rPr lang="en-US" dirty="0"/>
              <a:t> </a:t>
            </a:r>
            <a:r>
              <a:rPr lang="en-US" dirty="0" smtClean="0"/>
              <a:t>   apply </a:t>
            </a:r>
            <a:r>
              <a:rPr lang="en-US" dirty="0"/>
              <a:t>corrective actions.</a:t>
            </a:r>
          </a:p>
          <a:p>
            <a:pPr lvl="3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11/15/2012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026" name="Picture 2" descr="C:\Users\lotero\AppData\Local\Microsoft\Windows\Temporary Internet Files\Content.IE5\CFJTCN01\MC900056119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0074" y="5105400"/>
            <a:ext cx="1344061" cy="1143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802476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Management Framework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Each of the </a:t>
            </a:r>
            <a:r>
              <a:rPr lang="en-US" dirty="0" smtClean="0">
                <a:solidFill>
                  <a:srgbClr val="FF0000"/>
                </a:solidFill>
              </a:rPr>
              <a:t>design project lifecycle stages</a:t>
            </a:r>
            <a:r>
              <a:rPr lang="en-US" dirty="0" smtClean="0"/>
              <a:t> are associated with different performance measures. For example:</a:t>
            </a:r>
          </a:p>
          <a:p>
            <a:pPr lvl="1"/>
            <a:r>
              <a:rPr lang="en-US" dirty="0" smtClean="0"/>
              <a:t>In the planning stage, performance measures such as the following are relevant:</a:t>
            </a:r>
          </a:p>
          <a:p>
            <a:pPr lvl="2"/>
            <a:r>
              <a:rPr lang="en-US" dirty="0" smtClean="0"/>
              <a:t>Thoroughness </a:t>
            </a:r>
            <a:r>
              <a:rPr lang="en-US" dirty="0"/>
              <a:t>(everything is considered), </a:t>
            </a:r>
            <a:endParaRPr lang="en-US" dirty="0" smtClean="0"/>
          </a:p>
          <a:p>
            <a:pPr lvl="2"/>
            <a:r>
              <a:rPr lang="en-US" dirty="0" smtClean="0"/>
              <a:t>Completeness </a:t>
            </a:r>
            <a:r>
              <a:rPr lang="en-US" dirty="0"/>
              <a:t>(complete definition of plans), </a:t>
            </a:r>
            <a:endParaRPr lang="en-US" dirty="0" smtClean="0"/>
          </a:p>
          <a:p>
            <a:pPr lvl="2"/>
            <a:r>
              <a:rPr lang="en-US" dirty="0" smtClean="0"/>
              <a:t>Accuracy </a:t>
            </a:r>
            <a:r>
              <a:rPr lang="en-US" dirty="0"/>
              <a:t>of estimates.  </a:t>
            </a:r>
            <a:endParaRPr lang="en-US" dirty="0" smtClean="0"/>
          </a:p>
          <a:p>
            <a:pPr lvl="1"/>
            <a:r>
              <a:rPr lang="en-US" dirty="0" smtClean="0"/>
              <a:t>In </a:t>
            </a:r>
            <a:r>
              <a:rPr lang="en-US" dirty="0"/>
              <a:t>the execution/implementation </a:t>
            </a:r>
            <a:r>
              <a:rPr lang="en-US" dirty="0" smtClean="0"/>
              <a:t>stage, </a:t>
            </a:r>
          </a:p>
          <a:p>
            <a:pPr lvl="2"/>
            <a:r>
              <a:rPr lang="en-US" dirty="0"/>
              <a:t>Q</a:t>
            </a:r>
            <a:r>
              <a:rPr lang="en-US" dirty="0" smtClean="0"/>
              <a:t>uality </a:t>
            </a:r>
            <a:r>
              <a:rPr lang="en-US" dirty="0"/>
              <a:t>is a function of a series of technical attributes of software designs.  </a:t>
            </a:r>
            <a:endParaRPr lang="en-US" dirty="0" smtClean="0"/>
          </a:p>
          <a:p>
            <a:pPr lvl="2"/>
            <a:r>
              <a:rPr lang="en-US" dirty="0" smtClean="0"/>
              <a:t>Managing </a:t>
            </a:r>
            <a:r>
              <a:rPr lang="en-US" dirty="0"/>
              <a:t>during this stage is mainly a monitoring approach to make sure that the plan is been followed, and take corrective actions if necessary.  </a:t>
            </a:r>
            <a:endParaRPr lang="en-US" dirty="0" smtClean="0"/>
          </a:p>
          <a:p>
            <a:endParaRPr lang="en-US" dirty="0"/>
          </a:p>
          <a:p>
            <a:r>
              <a:rPr lang="en-US" i="1" dirty="0" smtClean="0">
                <a:solidFill>
                  <a:srgbClr val="FF0000"/>
                </a:solidFill>
              </a:rPr>
              <a:t>Leadership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/>
              <a:t>and </a:t>
            </a:r>
            <a:r>
              <a:rPr lang="en-US" i="1" dirty="0">
                <a:solidFill>
                  <a:srgbClr val="FF0000"/>
                </a:solidFill>
              </a:rPr>
              <a:t>good ethical conduct </a:t>
            </a:r>
            <a:r>
              <a:rPr lang="en-US" dirty="0" smtClean="0"/>
              <a:t> are important </a:t>
            </a:r>
            <a:r>
              <a:rPr lang="en-US" dirty="0"/>
              <a:t>factors that affect the effectiveness of managing </a:t>
            </a:r>
            <a:r>
              <a:rPr lang="en-US" dirty="0" smtClean="0"/>
              <a:t>each lifecycle stage. 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11/15/2012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03295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Management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Thus, an appropriate design management framework is one that considers the following 4 areas: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11/15/2012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="" xmlns:p14="http://schemas.microsoft.com/office/powerpoint/2010/main" val="2080040717"/>
              </p:ext>
            </p:extLst>
          </p:nvPr>
        </p:nvGraphicFramePr>
        <p:xfrm>
          <a:off x="1524000" y="2133600"/>
          <a:ext cx="62484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3251602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Next…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This session accomplished the following:</a:t>
            </a:r>
          </a:p>
          <a:p>
            <a:pPr lvl="1"/>
            <a:r>
              <a:rPr lang="en-US" dirty="0"/>
              <a:t>Defined </a:t>
            </a:r>
            <a:r>
              <a:rPr lang="en-US" dirty="0" smtClean="0"/>
              <a:t>software </a:t>
            </a:r>
            <a:r>
              <a:rPr lang="en-US" dirty="0"/>
              <a:t>design </a:t>
            </a:r>
            <a:r>
              <a:rPr lang="en-US" dirty="0" smtClean="0"/>
              <a:t>management </a:t>
            </a:r>
            <a:endParaRPr lang="en-US" dirty="0"/>
          </a:p>
          <a:p>
            <a:pPr lvl="1"/>
            <a:r>
              <a:rPr lang="en-US" dirty="0" smtClean="0"/>
              <a:t>Understood the importance of studying </a:t>
            </a:r>
            <a:r>
              <a:rPr lang="en-US" dirty="0"/>
              <a:t>software design </a:t>
            </a:r>
            <a:r>
              <a:rPr lang="en-US" dirty="0" smtClean="0"/>
              <a:t>management</a:t>
            </a:r>
            <a:endParaRPr lang="en-US" dirty="0"/>
          </a:p>
          <a:p>
            <a:pPr lvl="1"/>
            <a:r>
              <a:rPr lang="en-US" dirty="0" smtClean="0"/>
              <a:t>Discussed the concept of quality in software design management</a:t>
            </a:r>
          </a:p>
          <a:p>
            <a:pPr lvl="1"/>
            <a:r>
              <a:rPr lang="en-US" dirty="0" smtClean="0"/>
              <a:t>Described the stages of a typical </a:t>
            </a:r>
            <a:r>
              <a:rPr lang="en-US" dirty="0"/>
              <a:t>project lifecycle</a:t>
            </a:r>
          </a:p>
          <a:p>
            <a:pPr lvl="1"/>
            <a:r>
              <a:rPr lang="en-US" dirty="0" smtClean="0"/>
              <a:t>Described typical </a:t>
            </a:r>
            <a:r>
              <a:rPr lang="en-US" dirty="0"/>
              <a:t>performance measures in project phases</a:t>
            </a:r>
          </a:p>
          <a:p>
            <a:pPr lvl="1"/>
            <a:r>
              <a:rPr lang="en-US" dirty="0" smtClean="0"/>
              <a:t>Defined a design </a:t>
            </a:r>
            <a:r>
              <a:rPr lang="en-US" dirty="0"/>
              <a:t>management </a:t>
            </a:r>
            <a:r>
              <a:rPr lang="en-US" dirty="0" smtClean="0"/>
              <a:t>framework composed of four components:</a:t>
            </a:r>
          </a:p>
          <a:p>
            <a:pPr lvl="2"/>
            <a:r>
              <a:rPr lang="en-US" dirty="0" smtClean="0"/>
              <a:t>Planning</a:t>
            </a:r>
          </a:p>
          <a:p>
            <a:pPr lvl="2"/>
            <a:r>
              <a:rPr lang="en-US" dirty="0" smtClean="0"/>
              <a:t>Implementation/Execution</a:t>
            </a:r>
          </a:p>
          <a:p>
            <a:pPr lvl="2"/>
            <a:r>
              <a:rPr lang="en-US" dirty="0" smtClean="0"/>
              <a:t>Termination</a:t>
            </a:r>
          </a:p>
          <a:p>
            <a:pPr lvl="2"/>
            <a:r>
              <a:rPr lang="en-US" dirty="0" smtClean="0"/>
              <a:t>Leadership &amp; Ethics</a:t>
            </a:r>
            <a:endParaRPr lang="en-US" dirty="0"/>
          </a:p>
          <a:p>
            <a:endParaRPr lang="en-US" dirty="0"/>
          </a:p>
          <a:p>
            <a:r>
              <a:rPr lang="en-US" dirty="0" smtClean="0"/>
              <a:t>Next session will focus on the planning component of the design management framework, </a:t>
            </a:r>
          </a:p>
          <a:p>
            <a:pPr lvl="1"/>
            <a:r>
              <a:rPr lang="en-US" dirty="0" smtClean="0"/>
              <a:t>This session will focus on managerial concepts and techniques that are relevant to the planning phase. 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11/15/2012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798828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11/15/2012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2051" name="Picture 3" descr="C:\Users\lotero\AppData\Local\Microsoft\Windows\Temporary Internet Files\Content.IE5\CFJTCN01\MC900441428[1]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133600"/>
            <a:ext cx="2666771" cy="266677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802496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UVa-Wise-Clean-BW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UVa-Wise-Clean-BW</Template>
  <TotalTime>9655</TotalTime>
  <Words>1381</Words>
  <Application>Microsoft Office PowerPoint</Application>
  <PresentationFormat>On-screen Show (4:3)</PresentationFormat>
  <Paragraphs>181</Paragraphs>
  <Slides>13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UVa-Wise-Clean-BW</vt:lpstr>
      <vt:lpstr>Chapter 10: Management, Leadership, and Ethics</vt:lpstr>
      <vt:lpstr>Session’s Agenda</vt:lpstr>
      <vt:lpstr>Software Design Management</vt:lpstr>
      <vt:lpstr>Software Design Management</vt:lpstr>
      <vt:lpstr>The Concept of Quality</vt:lpstr>
      <vt:lpstr>Design Management Framework</vt:lpstr>
      <vt:lpstr>Lifecycle Stages</vt:lpstr>
      <vt:lpstr>Objectives in the Lifecycle Stages</vt:lpstr>
      <vt:lpstr>Managing Lifecycle Stages</vt:lpstr>
      <vt:lpstr>Design Management Framework</vt:lpstr>
      <vt:lpstr>Design Management Framework</vt:lpstr>
      <vt:lpstr>What’s Next…</vt:lpstr>
      <vt:lpstr>Questions?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 Design: Theory and Practice</dc:title>
  <dc:creator>Carlos E. Otero, Ph.D.</dc:creator>
  <dc:description>This slides may be reproduced only for student use when used in conjunction with Software Engineering Design: Theory and Practice. Any other reproduction or use is prohibited without express written permission of the author.</dc:description>
  <cp:lastModifiedBy>cotero</cp:lastModifiedBy>
  <cp:revision>682</cp:revision>
  <cp:lastPrinted>2012-11-06T14:54:20Z</cp:lastPrinted>
  <dcterms:created xsi:type="dcterms:W3CDTF">2006-08-16T00:00:00Z</dcterms:created>
  <dcterms:modified xsi:type="dcterms:W3CDTF">2012-11-15T14:50:56Z</dcterms:modified>
</cp:coreProperties>
</file>
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370" r:id="rId4"/>
    <p:sldId id="369" r:id="rId5"/>
    <p:sldId id="371" r:id="rId6"/>
    <p:sldId id="372" r:id="rId7"/>
    <p:sldId id="373" r:id="rId8"/>
    <p:sldId id="374" r:id="rId9"/>
    <p:sldId id="375" r:id="rId10"/>
    <p:sldId id="376" r:id="rId11"/>
    <p:sldId id="377" r:id="rId12"/>
    <p:sldId id="378" r:id="rId13"/>
    <p:sldId id="386" r:id="rId14"/>
    <p:sldId id="384" r:id="rId15"/>
    <p:sldId id="381" r:id="rId16"/>
    <p:sldId id="382" r:id="rId17"/>
    <p:sldId id="383" r:id="rId18"/>
    <p:sldId id="379" r:id="rId19"/>
    <p:sldId id="387" r:id="rId20"/>
    <p:sldId id="336"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CE9F4C-F1BC-47A2-BAEA-F688974E43E1}" type="doc">
      <dgm:prSet loTypeId="urn:microsoft.com/office/officeart/2005/8/layout/gear1" loCatId="process" qsTypeId="urn:microsoft.com/office/officeart/2005/8/quickstyle/simple1" qsCatId="simple" csTypeId="urn:microsoft.com/office/officeart/2005/8/colors/accent0_1" csCatId="mainScheme" phldr="1"/>
      <dgm:spPr/>
    </dgm:pt>
    <dgm:pt modelId="{919CAA4E-63D7-400B-8967-313E7839D02E}">
      <dgm:prSet phldrT="[Text]"/>
      <dgm:spPr>
        <a:ln w="6350"/>
      </dgm:spPr>
      <dgm:t>
        <a:bodyPr/>
        <a:lstStyle/>
        <a:p>
          <a:endParaRPr lang="en-US" dirty="0" smtClean="0"/>
        </a:p>
        <a:p>
          <a:endParaRPr lang="en-US" dirty="0"/>
        </a:p>
      </dgm:t>
    </dgm:pt>
    <dgm:pt modelId="{EEDAB319-9095-4396-AA92-B5EA918BBA11}" type="parTrans" cxnId="{4709F192-1B95-444F-8C71-678AE8B1A392}">
      <dgm:prSet/>
      <dgm:spPr/>
      <dgm:t>
        <a:bodyPr/>
        <a:lstStyle/>
        <a:p>
          <a:endParaRPr lang="en-US"/>
        </a:p>
      </dgm:t>
    </dgm:pt>
    <dgm:pt modelId="{0E89A09F-7F24-4B95-B31C-809C716859B1}" type="sibTrans" cxnId="{4709F192-1B95-444F-8C71-678AE8B1A392}">
      <dgm:prSet/>
      <dgm:spPr/>
      <dgm:t>
        <a:bodyPr/>
        <a:lstStyle/>
        <a:p>
          <a:endParaRPr lang="en-US"/>
        </a:p>
      </dgm:t>
    </dgm:pt>
    <dgm:pt modelId="{C68C061A-A027-4659-AC8F-60A131893727}">
      <dgm:prSet phldrT="[Text]"/>
      <dgm:spPr>
        <a:ln w="6350"/>
      </dgm:spPr>
      <dgm:t>
        <a:bodyPr/>
        <a:lstStyle/>
        <a:p>
          <a:endParaRPr lang="en-US" dirty="0"/>
        </a:p>
      </dgm:t>
    </dgm:pt>
    <dgm:pt modelId="{90AA2D81-190B-46AD-BDFF-C2F5CEC8B451}" type="parTrans" cxnId="{3657F600-FB8E-49D0-A1F2-97C618514CD3}">
      <dgm:prSet/>
      <dgm:spPr/>
      <dgm:t>
        <a:bodyPr/>
        <a:lstStyle/>
        <a:p>
          <a:endParaRPr lang="en-US"/>
        </a:p>
      </dgm:t>
    </dgm:pt>
    <dgm:pt modelId="{3A62CEA5-9E50-4356-B21C-B8FDAF0C7122}" type="sibTrans" cxnId="{3657F600-FB8E-49D0-A1F2-97C618514CD3}">
      <dgm:prSet/>
      <dgm:spPr/>
      <dgm:t>
        <a:bodyPr/>
        <a:lstStyle/>
        <a:p>
          <a:endParaRPr lang="en-US"/>
        </a:p>
      </dgm:t>
    </dgm:pt>
    <dgm:pt modelId="{44E25586-B296-430F-9376-9805570EE4BA}">
      <dgm:prSet phldrT="[Text]"/>
      <dgm:spPr>
        <a:ln w="6350"/>
      </dgm:spPr>
      <dgm:t>
        <a:bodyPr/>
        <a:lstStyle/>
        <a:p>
          <a:endParaRPr lang="en-US" dirty="0"/>
        </a:p>
      </dgm:t>
    </dgm:pt>
    <dgm:pt modelId="{CCBD4AAD-6E36-4C3C-98F7-4030A0953756}" type="parTrans" cxnId="{A2ED2562-903F-4914-948D-2FDB5433ED68}">
      <dgm:prSet/>
      <dgm:spPr/>
      <dgm:t>
        <a:bodyPr/>
        <a:lstStyle/>
        <a:p>
          <a:endParaRPr lang="en-US"/>
        </a:p>
      </dgm:t>
    </dgm:pt>
    <dgm:pt modelId="{020112C7-5F39-4F4B-9720-AF905FEB40EA}" type="sibTrans" cxnId="{A2ED2562-903F-4914-948D-2FDB5433ED68}">
      <dgm:prSet/>
      <dgm:spPr/>
      <dgm:t>
        <a:bodyPr/>
        <a:lstStyle/>
        <a:p>
          <a:endParaRPr lang="en-US"/>
        </a:p>
      </dgm:t>
    </dgm:pt>
    <dgm:pt modelId="{5FE689EB-B6FA-4B01-884E-42C2CF2923BB}" type="pres">
      <dgm:prSet presAssocID="{D2CE9F4C-F1BC-47A2-BAEA-F688974E43E1}" presName="composite" presStyleCnt="0">
        <dgm:presLayoutVars>
          <dgm:chMax val="3"/>
          <dgm:animLvl val="lvl"/>
          <dgm:resizeHandles val="exact"/>
        </dgm:presLayoutVars>
      </dgm:prSet>
      <dgm:spPr/>
    </dgm:pt>
    <dgm:pt modelId="{914ED104-3EA9-442D-83BB-73BDB619C473}" type="pres">
      <dgm:prSet presAssocID="{919CAA4E-63D7-400B-8967-313E7839D02E}" presName="gear1" presStyleLbl="node1" presStyleIdx="0" presStyleCnt="3">
        <dgm:presLayoutVars>
          <dgm:chMax val="1"/>
          <dgm:bulletEnabled val="1"/>
        </dgm:presLayoutVars>
      </dgm:prSet>
      <dgm:spPr/>
      <dgm:t>
        <a:bodyPr/>
        <a:lstStyle/>
        <a:p>
          <a:endParaRPr lang="en-US"/>
        </a:p>
      </dgm:t>
    </dgm:pt>
    <dgm:pt modelId="{18387023-6AF7-412A-95CA-A1199DA1D431}" type="pres">
      <dgm:prSet presAssocID="{919CAA4E-63D7-400B-8967-313E7839D02E}" presName="gear1srcNode" presStyleLbl="node1" presStyleIdx="0" presStyleCnt="3"/>
      <dgm:spPr/>
      <dgm:t>
        <a:bodyPr/>
        <a:lstStyle/>
        <a:p>
          <a:endParaRPr lang="en-US"/>
        </a:p>
      </dgm:t>
    </dgm:pt>
    <dgm:pt modelId="{08396CCB-65B4-40A0-90EC-2B71FAAB1463}" type="pres">
      <dgm:prSet presAssocID="{919CAA4E-63D7-400B-8967-313E7839D02E}" presName="gear1dstNode" presStyleLbl="node1" presStyleIdx="0" presStyleCnt="3"/>
      <dgm:spPr/>
      <dgm:t>
        <a:bodyPr/>
        <a:lstStyle/>
        <a:p>
          <a:endParaRPr lang="en-US"/>
        </a:p>
      </dgm:t>
    </dgm:pt>
    <dgm:pt modelId="{C6B1C1F7-BF8C-4327-AB5D-B6144A2C8CA0}" type="pres">
      <dgm:prSet presAssocID="{C68C061A-A027-4659-AC8F-60A131893727}" presName="gear2" presStyleLbl="node1" presStyleIdx="1" presStyleCnt="3">
        <dgm:presLayoutVars>
          <dgm:chMax val="1"/>
          <dgm:bulletEnabled val="1"/>
        </dgm:presLayoutVars>
      </dgm:prSet>
      <dgm:spPr/>
      <dgm:t>
        <a:bodyPr/>
        <a:lstStyle/>
        <a:p>
          <a:endParaRPr lang="en-US"/>
        </a:p>
      </dgm:t>
    </dgm:pt>
    <dgm:pt modelId="{4FBD5985-49DB-4241-9862-852B040C080C}" type="pres">
      <dgm:prSet presAssocID="{C68C061A-A027-4659-AC8F-60A131893727}" presName="gear2srcNode" presStyleLbl="node1" presStyleIdx="1" presStyleCnt="3"/>
      <dgm:spPr/>
      <dgm:t>
        <a:bodyPr/>
        <a:lstStyle/>
        <a:p>
          <a:endParaRPr lang="en-US"/>
        </a:p>
      </dgm:t>
    </dgm:pt>
    <dgm:pt modelId="{94B318EF-1BC1-4C4F-A4C0-A4CE398018FF}" type="pres">
      <dgm:prSet presAssocID="{C68C061A-A027-4659-AC8F-60A131893727}" presName="gear2dstNode" presStyleLbl="node1" presStyleIdx="1" presStyleCnt="3"/>
      <dgm:spPr/>
      <dgm:t>
        <a:bodyPr/>
        <a:lstStyle/>
        <a:p>
          <a:endParaRPr lang="en-US"/>
        </a:p>
      </dgm:t>
    </dgm:pt>
    <dgm:pt modelId="{F22CCAF6-4FC9-43FA-9EC9-CBB9415524D2}" type="pres">
      <dgm:prSet presAssocID="{44E25586-B296-430F-9376-9805570EE4BA}" presName="gear3" presStyleLbl="node1" presStyleIdx="2" presStyleCnt="3"/>
      <dgm:spPr/>
      <dgm:t>
        <a:bodyPr/>
        <a:lstStyle/>
        <a:p>
          <a:endParaRPr lang="en-US"/>
        </a:p>
      </dgm:t>
    </dgm:pt>
    <dgm:pt modelId="{43186FEA-D2E2-48A9-91DB-99E37FF3DA6B}" type="pres">
      <dgm:prSet presAssocID="{44E25586-B296-430F-9376-9805570EE4BA}" presName="gear3tx" presStyleLbl="node1" presStyleIdx="2" presStyleCnt="3">
        <dgm:presLayoutVars>
          <dgm:chMax val="1"/>
          <dgm:bulletEnabled val="1"/>
        </dgm:presLayoutVars>
      </dgm:prSet>
      <dgm:spPr/>
      <dgm:t>
        <a:bodyPr/>
        <a:lstStyle/>
        <a:p>
          <a:endParaRPr lang="en-US"/>
        </a:p>
      </dgm:t>
    </dgm:pt>
    <dgm:pt modelId="{B3CACF1E-1DE0-4CCC-844E-8160ED1D79FC}" type="pres">
      <dgm:prSet presAssocID="{44E25586-B296-430F-9376-9805570EE4BA}" presName="gear3srcNode" presStyleLbl="node1" presStyleIdx="2" presStyleCnt="3"/>
      <dgm:spPr/>
      <dgm:t>
        <a:bodyPr/>
        <a:lstStyle/>
        <a:p>
          <a:endParaRPr lang="en-US"/>
        </a:p>
      </dgm:t>
    </dgm:pt>
    <dgm:pt modelId="{19ED2F33-DC80-46DB-B461-AB4ADB6C38C1}" type="pres">
      <dgm:prSet presAssocID="{44E25586-B296-430F-9376-9805570EE4BA}" presName="gear3dstNode" presStyleLbl="node1" presStyleIdx="2" presStyleCnt="3"/>
      <dgm:spPr/>
      <dgm:t>
        <a:bodyPr/>
        <a:lstStyle/>
        <a:p>
          <a:endParaRPr lang="en-US"/>
        </a:p>
      </dgm:t>
    </dgm:pt>
    <dgm:pt modelId="{2E1215D3-6615-4069-8033-D973F9AFAEB0}" type="pres">
      <dgm:prSet presAssocID="{0E89A09F-7F24-4B95-B31C-809C716859B1}" presName="connector1" presStyleLbl="sibTrans2D1" presStyleIdx="0" presStyleCnt="3"/>
      <dgm:spPr/>
      <dgm:t>
        <a:bodyPr/>
        <a:lstStyle/>
        <a:p>
          <a:endParaRPr lang="en-US"/>
        </a:p>
      </dgm:t>
    </dgm:pt>
    <dgm:pt modelId="{4465D33A-DEC9-4707-BB4B-3F545C854EAC}" type="pres">
      <dgm:prSet presAssocID="{3A62CEA5-9E50-4356-B21C-B8FDAF0C7122}" presName="connector2" presStyleLbl="sibTrans2D1" presStyleIdx="1" presStyleCnt="3"/>
      <dgm:spPr/>
      <dgm:t>
        <a:bodyPr/>
        <a:lstStyle/>
        <a:p>
          <a:endParaRPr lang="en-US"/>
        </a:p>
      </dgm:t>
    </dgm:pt>
    <dgm:pt modelId="{0474347A-38AD-4A9B-9A32-240E67D1D2EC}" type="pres">
      <dgm:prSet presAssocID="{020112C7-5F39-4F4B-9720-AF905FEB40EA}" presName="connector3" presStyleLbl="sibTrans2D1" presStyleIdx="2" presStyleCnt="3"/>
      <dgm:spPr/>
      <dgm:t>
        <a:bodyPr/>
        <a:lstStyle/>
        <a:p>
          <a:endParaRPr lang="en-US"/>
        </a:p>
      </dgm:t>
    </dgm:pt>
  </dgm:ptLst>
  <dgm:cxnLst>
    <dgm:cxn modelId="{4709F192-1B95-444F-8C71-678AE8B1A392}" srcId="{D2CE9F4C-F1BC-47A2-BAEA-F688974E43E1}" destId="{919CAA4E-63D7-400B-8967-313E7839D02E}" srcOrd="0" destOrd="0" parTransId="{EEDAB319-9095-4396-AA92-B5EA918BBA11}" sibTransId="{0E89A09F-7F24-4B95-B31C-809C716859B1}"/>
    <dgm:cxn modelId="{350F8442-0370-4046-B617-8F5E7685C665}" type="presOf" srcId="{C68C061A-A027-4659-AC8F-60A131893727}" destId="{C6B1C1F7-BF8C-4327-AB5D-B6144A2C8CA0}" srcOrd="0" destOrd="0" presId="urn:microsoft.com/office/officeart/2005/8/layout/gear1"/>
    <dgm:cxn modelId="{5AC6B004-A790-428D-BA6D-2BDB7C227104}" type="presOf" srcId="{C68C061A-A027-4659-AC8F-60A131893727}" destId="{94B318EF-1BC1-4C4F-A4C0-A4CE398018FF}" srcOrd="2" destOrd="0" presId="urn:microsoft.com/office/officeart/2005/8/layout/gear1"/>
    <dgm:cxn modelId="{3657F600-FB8E-49D0-A1F2-97C618514CD3}" srcId="{D2CE9F4C-F1BC-47A2-BAEA-F688974E43E1}" destId="{C68C061A-A027-4659-AC8F-60A131893727}" srcOrd="1" destOrd="0" parTransId="{90AA2D81-190B-46AD-BDFF-C2F5CEC8B451}" sibTransId="{3A62CEA5-9E50-4356-B21C-B8FDAF0C7122}"/>
    <dgm:cxn modelId="{458E371A-E16D-41B5-98C3-4C6376016B2E}" type="presOf" srcId="{020112C7-5F39-4F4B-9720-AF905FEB40EA}" destId="{0474347A-38AD-4A9B-9A32-240E67D1D2EC}" srcOrd="0" destOrd="0" presId="urn:microsoft.com/office/officeart/2005/8/layout/gear1"/>
    <dgm:cxn modelId="{0F6FD4F9-3828-433B-94C5-FBC2EBA63F21}" type="presOf" srcId="{44E25586-B296-430F-9376-9805570EE4BA}" destId="{F22CCAF6-4FC9-43FA-9EC9-CBB9415524D2}" srcOrd="0" destOrd="0" presId="urn:microsoft.com/office/officeart/2005/8/layout/gear1"/>
    <dgm:cxn modelId="{A6DD8BBF-8477-4DE4-A5AA-4A3D88560C6A}" type="presOf" srcId="{44E25586-B296-430F-9376-9805570EE4BA}" destId="{19ED2F33-DC80-46DB-B461-AB4ADB6C38C1}" srcOrd="3" destOrd="0" presId="urn:microsoft.com/office/officeart/2005/8/layout/gear1"/>
    <dgm:cxn modelId="{69B2393A-82FA-4DE5-AA8C-C7623F233836}" type="presOf" srcId="{D2CE9F4C-F1BC-47A2-BAEA-F688974E43E1}" destId="{5FE689EB-B6FA-4B01-884E-42C2CF2923BB}" srcOrd="0" destOrd="0" presId="urn:microsoft.com/office/officeart/2005/8/layout/gear1"/>
    <dgm:cxn modelId="{C25AC2CC-9EB1-4FF7-B2C1-F9C483BD3B6D}" type="presOf" srcId="{919CAA4E-63D7-400B-8967-313E7839D02E}" destId="{18387023-6AF7-412A-95CA-A1199DA1D431}" srcOrd="1" destOrd="0" presId="urn:microsoft.com/office/officeart/2005/8/layout/gear1"/>
    <dgm:cxn modelId="{D404D5FD-BE9E-4A65-B48E-12ACA5D3034E}" type="presOf" srcId="{44E25586-B296-430F-9376-9805570EE4BA}" destId="{43186FEA-D2E2-48A9-91DB-99E37FF3DA6B}" srcOrd="1" destOrd="0" presId="urn:microsoft.com/office/officeart/2005/8/layout/gear1"/>
    <dgm:cxn modelId="{A2ED2562-903F-4914-948D-2FDB5433ED68}" srcId="{D2CE9F4C-F1BC-47A2-BAEA-F688974E43E1}" destId="{44E25586-B296-430F-9376-9805570EE4BA}" srcOrd="2" destOrd="0" parTransId="{CCBD4AAD-6E36-4C3C-98F7-4030A0953756}" sibTransId="{020112C7-5F39-4F4B-9720-AF905FEB40EA}"/>
    <dgm:cxn modelId="{0E4EBE6C-DB2F-4173-85B7-0E91A8EEBFBF}" type="presOf" srcId="{0E89A09F-7F24-4B95-B31C-809C716859B1}" destId="{2E1215D3-6615-4069-8033-D973F9AFAEB0}" srcOrd="0" destOrd="0" presId="urn:microsoft.com/office/officeart/2005/8/layout/gear1"/>
    <dgm:cxn modelId="{EFB72F70-76F1-4789-B977-AA2489E30D2C}" type="presOf" srcId="{919CAA4E-63D7-400B-8967-313E7839D02E}" destId="{914ED104-3EA9-442D-83BB-73BDB619C473}" srcOrd="0" destOrd="0" presId="urn:microsoft.com/office/officeart/2005/8/layout/gear1"/>
    <dgm:cxn modelId="{309D28B6-7879-45A9-9B19-34F8BFA93C68}" type="presOf" srcId="{C68C061A-A027-4659-AC8F-60A131893727}" destId="{4FBD5985-49DB-4241-9862-852B040C080C}" srcOrd="1" destOrd="0" presId="urn:microsoft.com/office/officeart/2005/8/layout/gear1"/>
    <dgm:cxn modelId="{0D48EBA2-2D43-4958-A3B7-515E698ACC56}" type="presOf" srcId="{3A62CEA5-9E50-4356-B21C-B8FDAF0C7122}" destId="{4465D33A-DEC9-4707-BB4B-3F545C854EAC}" srcOrd="0" destOrd="0" presId="urn:microsoft.com/office/officeart/2005/8/layout/gear1"/>
    <dgm:cxn modelId="{5AD563FD-D31D-4B16-9817-ACE6CC60567C}" type="presOf" srcId="{44E25586-B296-430F-9376-9805570EE4BA}" destId="{B3CACF1E-1DE0-4CCC-844E-8160ED1D79FC}" srcOrd="2" destOrd="0" presId="urn:microsoft.com/office/officeart/2005/8/layout/gear1"/>
    <dgm:cxn modelId="{ACF0B27E-2388-4BD5-9BEA-E32403FCC17D}" type="presOf" srcId="{919CAA4E-63D7-400B-8967-313E7839D02E}" destId="{08396CCB-65B4-40A0-90EC-2B71FAAB1463}" srcOrd="2" destOrd="0" presId="urn:microsoft.com/office/officeart/2005/8/layout/gear1"/>
    <dgm:cxn modelId="{05F5952B-3FEE-4493-93BA-BBBAB8D056C4}" type="presParOf" srcId="{5FE689EB-B6FA-4B01-884E-42C2CF2923BB}" destId="{914ED104-3EA9-442D-83BB-73BDB619C473}" srcOrd="0" destOrd="0" presId="urn:microsoft.com/office/officeart/2005/8/layout/gear1"/>
    <dgm:cxn modelId="{45C466A8-A220-4159-B8E9-E3B9278C94C6}" type="presParOf" srcId="{5FE689EB-B6FA-4B01-884E-42C2CF2923BB}" destId="{18387023-6AF7-412A-95CA-A1199DA1D431}" srcOrd="1" destOrd="0" presId="urn:microsoft.com/office/officeart/2005/8/layout/gear1"/>
    <dgm:cxn modelId="{16459915-7A88-4642-849C-E51A6BB5A60D}" type="presParOf" srcId="{5FE689EB-B6FA-4B01-884E-42C2CF2923BB}" destId="{08396CCB-65B4-40A0-90EC-2B71FAAB1463}" srcOrd="2" destOrd="0" presId="urn:microsoft.com/office/officeart/2005/8/layout/gear1"/>
    <dgm:cxn modelId="{DC6FF36F-1D1C-49D7-A9C0-238CF84C76A2}" type="presParOf" srcId="{5FE689EB-B6FA-4B01-884E-42C2CF2923BB}" destId="{C6B1C1F7-BF8C-4327-AB5D-B6144A2C8CA0}" srcOrd="3" destOrd="0" presId="urn:microsoft.com/office/officeart/2005/8/layout/gear1"/>
    <dgm:cxn modelId="{FC3F9630-217D-4CE1-A389-A3285D09BF68}" type="presParOf" srcId="{5FE689EB-B6FA-4B01-884E-42C2CF2923BB}" destId="{4FBD5985-49DB-4241-9862-852B040C080C}" srcOrd="4" destOrd="0" presId="urn:microsoft.com/office/officeart/2005/8/layout/gear1"/>
    <dgm:cxn modelId="{EE976F35-E6D0-435F-B255-45EA6839DA3E}" type="presParOf" srcId="{5FE689EB-B6FA-4B01-884E-42C2CF2923BB}" destId="{94B318EF-1BC1-4C4F-A4C0-A4CE398018FF}" srcOrd="5" destOrd="0" presId="urn:microsoft.com/office/officeart/2005/8/layout/gear1"/>
    <dgm:cxn modelId="{3EE34395-8807-4CEC-B3F3-27B14FDA434E}" type="presParOf" srcId="{5FE689EB-B6FA-4B01-884E-42C2CF2923BB}" destId="{F22CCAF6-4FC9-43FA-9EC9-CBB9415524D2}" srcOrd="6" destOrd="0" presId="urn:microsoft.com/office/officeart/2005/8/layout/gear1"/>
    <dgm:cxn modelId="{1CE18782-FE0E-4621-908C-D094C894DEBB}" type="presParOf" srcId="{5FE689EB-B6FA-4B01-884E-42C2CF2923BB}" destId="{43186FEA-D2E2-48A9-91DB-99E37FF3DA6B}" srcOrd="7" destOrd="0" presId="urn:microsoft.com/office/officeart/2005/8/layout/gear1"/>
    <dgm:cxn modelId="{CB84DC41-1FB9-4E16-8DBF-1AED90468231}" type="presParOf" srcId="{5FE689EB-B6FA-4B01-884E-42C2CF2923BB}" destId="{B3CACF1E-1DE0-4CCC-844E-8160ED1D79FC}" srcOrd="8" destOrd="0" presId="urn:microsoft.com/office/officeart/2005/8/layout/gear1"/>
    <dgm:cxn modelId="{169520A0-1F67-4218-8632-10DB03EAF54A}" type="presParOf" srcId="{5FE689EB-B6FA-4B01-884E-42C2CF2923BB}" destId="{19ED2F33-DC80-46DB-B461-AB4ADB6C38C1}" srcOrd="9" destOrd="0" presId="urn:microsoft.com/office/officeart/2005/8/layout/gear1"/>
    <dgm:cxn modelId="{02BF3ABB-B81E-48B5-8643-FF9A0168926B}" type="presParOf" srcId="{5FE689EB-B6FA-4B01-884E-42C2CF2923BB}" destId="{2E1215D3-6615-4069-8033-D973F9AFAEB0}" srcOrd="10" destOrd="0" presId="urn:microsoft.com/office/officeart/2005/8/layout/gear1"/>
    <dgm:cxn modelId="{39A135C2-A5AF-4C9F-885F-C94F2C413988}" type="presParOf" srcId="{5FE689EB-B6FA-4B01-884E-42C2CF2923BB}" destId="{4465D33A-DEC9-4707-BB4B-3F545C854EAC}" srcOrd="11" destOrd="0" presId="urn:microsoft.com/office/officeart/2005/8/layout/gear1"/>
    <dgm:cxn modelId="{5A7253C9-D47B-42DB-B425-9CE503EEAA77}" type="presParOf" srcId="{5FE689EB-B6FA-4B01-884E-42C2CF2923BB}" destId="{0474347A-38AD-4A9B-9A32-240E67D1D2EC}" srcOrd="12" destOrd="0" presId="urn:microsoft.com/office/officeart/2005/8/layout/gear1"/>
  </dgm:cxnLst>
  <dgm:bg>
    <a:noFill/>
  </dgm:bg>
  <dgm:whole>
    <a:ln>
      <a:noFill/>
    </a:ln>
  </dgm:whole>
  <dgm:extLst>
    <a:ext uri="http://schemas.microsoft.com/office/drawing/2008/diagram">
      <dsp:dataModelExt xmlns:dsp="http://schemas.microsoft.com/office/drawing/2008/diagram" xmlns=""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CE9F4C-F1BC-47A2-BAEA-F688974E43E1}" type="doc">
      <dgm:prSet loTypeId="urn:microsoft.com/office/officeart/2005/8/layout/gear1" loCatId="process" qsTypeId="urn:microsoft.com/office/officeart/2005/8/quickstyle/simple1" qsCatId="simple" csTypeId="urn:microsoft.com/office/officeart/2005/8/colors/accent0_1" csCatId="mainScheme" phldr="1"/>
      <dgm:spPr/>
    </dgm:pt>
    <dgm:pt modelId="{919CAA4E-63D7-400B-8967-313E7839D02E}">
      <dgm:prSet phldrT="[Text]"/>
      <dgm:spPr>
        <a:ln w="6350"/>
      </dgm:spPr>
      <dgm:t>
        <a:bodyPr/>
        <a:lstStyle/>
        <a:p>
          <a:endParaRPr lang="en-US" dirty="0" smtClean="0"/>
        </a:p>
        <a:p>
          <a:endParaRPr lang="en-US" dirty="0"/>
        </a:p>
      </dgm:t>
    </dgm:pt>
    <dgm:pt modelId="{EEDAB319-9095-4396-AA92-B5EA918BBA11}" type="parTrans" cxnId="{4709F192-1B95-444F-8C71-678AE8B1A392}">
      <dgm:prSet/>
      <dgm:spPr/>
      <dgm:t>
        <a:bodyPr/>
        <a:lstStyle/>
        <a:p>
          <a:endParaRPr lang="en-US"/>
        </a:p>
      </dgm:t>
    </dgm:pt>
    <dgm:pt modelId="{0E89A09F-7F24-4B95-B31C-809C716859B1}" type="sibTrans" cxnId="{4709F192-1B95-444F-8C71-678AE8B1A392}">
      <dgm:prSet/>
      <dgm:spPr/>
      <dgm:t>
        <a:bodyPr/>
        <a:lstStyle/>
        <a:p>
          <a:endParaRPr lang="en-US"/>
        </a:p>
      </dgm:t>
    </dgm:pt>
    <dgm:pt modelId="{C68C061A-A027-4659-AC8F-60A131893727}">
      <dgm:prSet phldrT="[Text]"/>
      <dgm:spPr>
        <a:ln w="6350"/>
      </dgm:spPr>
      <dgm:t>
        <a:bodyPr/>
        <a:lstStyle/>
        <a:p>
          <a:endParaRPr lang="en-US" dirty="0"/>
        </a:p>
      </dgm:t>
    </dgm:pt>
    <dgm:pt modelId="{90AA2D81-190B-46AD-BDFF-C2F5CEC8B451}" type="parTrans" cxnId="{3657F600-FB8E-49D0-A1F2-97C618514CD3}">
      <dgm:prSet/>
      <dgm:spPr/>
      <dgm:t>
        <a:bodyPr/>
        <a:lstStyle/>
        <a:p>
          <a:endParaRPr lang="en-US"/>
        </a:p>
      </dgm:t>
    </dgm:pt>
    <dgm:pt modelId="{3A62CEA5-9E50-4356-B21C-B8FDAF0C7122}" type="sibTrans" cxnId="{3657F600-FB8E-49D0-A1F2-97C618514CD3}">
      <dgm:prSet/>
      <dgm:spPr/>
      <dgm:t>
        <a:bodyPr/>
        <a:lstStyle/>
        <a:p>
          <a:endParaRPr lang="en-US"/>
        </a:p>
      </dgm:t>
    </dgm:pt>
    <dgm:pt modelId="{44E25586-B296-430F-9376-9805570EE4BA}">
      <dgm:prSet phldrT="[Text]"/>
      <dgm:spPr>
        <a:ln w="6350"/>
      </dgm:spPr>
      <dgm:t>
        <a:bodyPr/>
        <a:lstStyle/>
        <a:p>
          <a:endParaRPr lang="en-US" dirty="0"/>
        </a:p>
      </dgm:t>
    </dgm:pt>
    <dgm:pt modelId="{CCBD4AAD-6E36-4C3C-98F7-4030A0953756}" type="parTrans" cxnId="{A2ED2562-903F-4914-948D-2FDB5433ED68}">
      <dgm:prSet/>
      <dgm:spPr/>
      <dgm:t>
        <a:bodyPr/>
        <a:lstStyle/>
        <a:p>
          <a:endParaRPr lang="en-US"/>
        </a:p>
      </dgm:t>
    </dgm:pt>
    <dgm:pt modelId="{020112C7-5F39-4F4B-9720-AF905FEB40EA}" type="sibTrans" cxnId="{A2ED2562-903F-4914-948D-2FDB5433ED68}">
      <dgm:prSet/>
      <dgm:spPr/>
      <dgm:t>
        <a:bodyPr/>
        <a:lstStyle/>
        <a:p>
          <a:endParaRPr lang="en-US"/>
        </a:p>
      </dgm:t>
    </dgm:pt>
    <dgm:pt modelId="{5FE689EB-B6FA-4B01-884E-42C2CF2923BB}" type="pres">
      <dgm:prSet presAssocID="{D2CE9F4C-F1BC-47A2-BAEA-F688974E43E1}" presName="composite" presStyleCnt="0">
        <dgm:presLayoutVars>
          <dgm:chMax val="3"/>
          <dgm:animLvl val="lvl"/>
          <dgm:resizeHandles val="exact"/>
        </dgm:presLayoutVars>
      </dgm:prSet>
      <dgm:spPr/>
    </dgm:pt>
    <dgm:pt modelId="{914ED104-3EA9-442D-83BB-73BDB619C473}" type="pres">
      <dgm:prSet presAssocID="{919CAA4E-63D7-400B-8967-313E7839D02E}" presName="gear1" presStyleLbl="node1" presStyleIdx="0" presStyleCnt="3">
        <dgm:presLayoutVars>
          <dgm:chMax val="1"/>
          <dgm:bulletEnabled val="1"/>
        </dgm:presLayoutVars>
      </dgm:prSet>
      <dgm:spPr/>
      <dgm:t>
        <a:bodyPr/>
        <a:lstStyle/>
        <a:p>
          <a:endParaRPr lang="en-US"/>
        </a:p>
      </dgm:t>
    </dgm:pt>
    <dgm:pt modelId="{18387023-6AF7-412A-95CA-A1199DA1D431}" type="pres">
      <dgm:prSet presAssocID="{919CAA4E-63D7-400B-8967-313E7839D02E}" presName="gear1srcNode" presStyleLbl="node1" presStyleIdx="0" presStyleCnt="3"/>
      <dgm:spPr/>
      <dgm:t>
        <a:bodyPr/>
        <a:lstStyle/>
        <a:p>
          <a:endParaRPr lang="en-US"/>
        </a:p>
      </dgm:t>
    </dgm:pt>
    <dgm:pt modelId="{08396CCB-65B4-40A0-90EC-2B71FAAB1463}" type="pres">
      <dgm:prSet presAssocID="{919CAA4E-63D7-400B-8967-313E7839D02E}" presName="gear1dstNode" presStyleLbl="node1" presStyleIdx="0" presStyleCnt="3"/>
      <dgm:spPr/>
      <dgm:t>
        <a:bodyPr/>
        <a:lstStyle/>
        <a:p>
          <a:endParaRPr lang="en-US"/>
        </a:p>
      </dgm:t>
    </dgm:pt>
    <dgm:pt modelId="{C6B1C1F7-BF8C-4327-AB5D-B6144A2C8CA0}" type="pres">
      <dgm:prSet presAssocID="{C68C061A-A027-4659-AC8F-60A131893727}" presName="gear2" presStyleLbl="node1" presStyleIdx="1" presStyleCnt="3">
        <dgm:presLayoutVars>
          <dgm:chMax val="1"/>
          <dgm:bulletEnabled val="1"/>
        </dgm:presLayoutVars>
      </dgm:prSet>
      <dgm:spPr/>
      <dgm:t>
        <a:bodyPr/>
        <a:lstStyle/>
        <a:p>
          <a:endParaRPr lang="en-US"/>
        </a:p>
      </dgm:t>
    </dgm:pt>
    <dgm:pt modelId="{4FBD5985-49DB-4241-9862-852B040C080C}" type="pres">
      <dgm:prSet presAssocID="{C68C061A-A027-4659-AC8F-60A131893727}" presName="gear2srcNode" presStyleLbl="node1" presStyleIdx="1" presStyleCnt="3"/>
      <dgm:spPr/>
      <dgm:t>
        <a:bodyPr/>
        <a:lstStyle/>
        <a:p>
          <a:endParaRPr lang="en-US"/>
        </a:p>
      </dgm:t>
    </dgm:pt>
    <dgm:pt modelId="{94B318EF-1BC1-4C4F-A4C0-A4CE398018FF}" type="pres">
      <dgm:prSet presAssocID="{C68C061A-A027-4659-AC8F-60A131893727}" presName="gear2dstNode" presStyleLbl="node1" presStyleIdx="1" presStyleCnt="3"/>
      <dgm:spPr/>
      <dgm:t>
        <a:bodyPr/>
        <a:lstStyle/>
        <a:p>
          <a:endParaRPr lang="en-US"/>
        </a:p>
      </dgm:t>
    </dgm:pt>
    <dgm:pt modelId="{F22CCAF6-4FC9-43FA-9EC9-CBB9415524D2}" type="pres">
      <dgm:prSet presAssocID="{44E25586-B296-430F-9376-9805570EE4BA}" presName="gear3" presStyleLbl="node1" presStyleIdx="2" presStyleCnt="3"/>
      <dgm:spPr/>
      <dgm:t>
        <a:bodyPr/>
        <a:lstStyle/>
        <a:p>
          <a:endParaRPr lang="en-US"/>
        </a:p>
      </dgm:t>
    </dgm:pt>
    <dgm:pt modelId="{43186FEA-D2E2-48A9-91DB-99E37FF3DA6B}" type="pres">
      <dgm:prSet presAssocID="{44E25586-B296-430F-9376-9805570EE4BA}" presName="gear3tx" presStyleLbl="node1" presStyleIdx="2" presStyleCnt="3">
        <dgm:presLayoutVars>
          <dgm:chMax val="1"/>
          <dgm:bulletEnabled val="1"/>
        </dgm:presLayoutVars>
      </dgm:prSet>
      <dgm:spPr/>
      <dgm:t>
        <a:bodyPr/>
        <a:lstStyle/>
        <a:p>
          <a:endParaRPr lang="en-US"/>
        </a:p>
      </dgm:t>
    </dgm:pt>
    <dgm:pt modelId="{B3CACF1E-1DE0-4CCC-844E-8160ED1D79FC}" type="pres">
      <dgm:prSet presAssocID="{44E25586-B296-430F-9376-9805570EE4BA}" presName="gear3srcNode" presStyleLbl="node1" presStyleIdx="2" presStyleCnt="3"/>
      <dgm:spPr/>
      <dgm:t>
        <a:bodyPr/>
        <a:lstStyle/>
        <a:p>
          <a:endParaRPr lang="en-US"/>
        </a:p>
      </dgm:t>
    </dgm:pt>
    <dgm:pt modelId="{19ED2F33-DC80-46DB-B461-AB4ADB6C38C1}" type="pres">
      <dgm:prSet presAssocID="{44E25586-B296-430F-9376-9805570EE4BA}" presName="gear3dstNode" presStyleLbl="node1" presStyleIdx="2" presStyleCnt="3"/>
      <dgm:spPr/>
      <dgm:t>
        <a:bodyPr/>
        <a:lstStyle/>
        <a:p>
          <a:endParaRPr lang="en-US"/>
        </a:p>
      </dgm:t>
    </dgm:pt>
    <dgm:pt modelId="{2E1215D3-6615-4069-8033-D973F9AFAEB0}" type="pres">
      <dgm:prSet presAssocID="{0E89A09F-7F24-4B95-B31C-809C716859B1}" presName="connector1" presStyleLbl="sibTrans2D1" presStyleIdx="0" presStyleCnt="3"/>
      <dgm:spPr/>
      <dgm:t>
        <a:bodyPr/>
        <a:lstStyle/>
        <a:p>
          <a:endParaRPr lang="en-US"/>
        </a:p>
      </dgm:t>
    </dgm:pt>
    <dgm:pt modelId="{4465D33A-DEC9-4707-BB4B-3F545C854EAC}" type="pres">
      <dgm:prSet presAssocID="{3A62CEA5-9E50-4356-B21C-B8FDAF0C7122}" presName="connector2" presStyleLbl="sibTrans2D1" presStyleIdx="1" presStyleCnt="3"/>
      <dgm:spPr/>
      <dgm:t>
        <a:bodyPr/>
        <a:lstStyle/>
        <a:p>
          <a:endParaRPr lang="en-US"/>
        </a:p>
      </dgm:t>
    </dgm:pt>
    <dgm:pt modelId="{0474347A-38AD-4A9B-9A32-240E67D1D2EC}" type="pres">
      <dgm:prSet presAssocID="{020112C7-5F39-4F4B-9720-AF905FEB40EA}" presName="connector3" presStyleLbl="sibTrans2D1" presStyleIdx="2" presStyleCnt="3"/>
      <dgm:spPr/>
      <dgm:t>
        <a:bodyPr/>
        <a:lstStyle/>
        <a:p>
          <a:endParaRPr lang="en-US"/>
        </a:p>
      </dgm:t>
    </dgm:pt>
  </dgm:ptLst>
  <dgm:cxnLst>
    <dgm:cxn modelId="{06F2B4E2-6802-4DE8-9856-83230CF5B1D1}" type="presOf" srcId="{44E25586-B296-430F-9376-9805570EE4BA}" destId="{F22CCAF6-4FC9-43FA-9EC9-CBB9415524D2}" srcOrd="0" destOrd="0" presId="urn:microsoft.com/office/officeart/2005/8/layout/gear1"/>
    <dgm:cxn modelId="{4709F192-1B95-444F-8C71-678AE8B1A392}" srcId="{D2CE9F4C-F1BC-47A2-BAEA-F688974E43E1}" destId="{919CAA4E-63D7-400B-8967-313E7839D02E}" srcOrd="0" destOrd="0" parTransId="{EEDAB319-9095-4396-AA92-B5EA918BBA11}" sibTransId="{0E89A09F-7F24-4B95-B31C-809C716859B1}"/>
    <dgm:cxn modelId="{1C507FF6-7880-4124-9DBB-CEEAB61846E2}" type="presOf" srcId="{44E25586-B296-430F-9376-9805570EE4BA}" destId="{B3CACF1E-1DE0-4CCC-844E-8160ED1D79FC}" srcOrd="2" destOrd="0" presId="urn:microsoft.com/office/officeart/2005/8/layout/gear1"/>
    <dgm:cxn modelId="{842CD585-820B-4A4C-8F07-386F52075631}" type="presOf" srcId="{C68C061A-A027-4659-AC8F-60A131893727}" destId="{94B318EF-1BC1-4C4F-A4C0-A4CE398018FF}" srcOrd="2" destOrd="0" presId="urn:microsoft.com/office/officeart/2005/8/layout/gear1"/>
    <dgm:cxn modelId="{D74B7B5F-B118-414A-93F6-746AD56B5E17}" type="presOf" srcId="{C68C061A-A027-4659-AC8F-60A131893727}" destId="{C6B1C1F7-BF8C-4327-AB5D-B6144A2C8CA0}" srcOrd="0" destOrd="0" presId="urn:microsoft.com/office/officeart/2005/8/layout/gear1"/>
    <dgm:cxn modelId="{8AA4A6C7-A4AB-422F-A38E-3EF2F37E6632}" type="presOf" srcId="{D2CE9F4C-F1BC-47A2-BAEA-F688974E43E1}" destId="{5FE689EB-B6FA-4B01-884E-42C2CF2923BB}" srcOrd="0" destOrd="0" presId="urn:microsoft.com/office/officeart/2005/8/layout/gear1"/>
    <dgm:cxn modelId="{3657F600-FB8E-49D0-A1F2-97C618514CD3}" srcId="{D2CE9F4C-F1BC-47A2-BAEA-F688974E43E1}" destId="{C68C061A-A027-4659-AC8F-60A131893727}" srcOrd="1" destOrd="0" parTransId="{90AA2D81-190B-46AD-BDFF-C2F5CEC8B451}" sibTransId="{3A62CEA5-9E50-4356-B21C-B8FDAF0C7122}"/>
    <dgm:cxn modelId="{EC3B611C-62A5-4AA3-A924-F11CC36FAE79}" type="presOf" srcId="{919CAA4E-63D7-400B-8967-313E7839D02E}" destId="{914ED104-3EA9-442D-83BB-73BDB619C473}" srcOrd="0" destOrd="0" presId="urn:microsoft.com/office/officeart/2005/8/layout/gear1"/>
    <dgm:cxn modelId="{581D4D91-8DE6-4780-8D40-664345F216BA}" type="presOf" srcId="{0E89A09F-7F24-4B95-B31C-809C716859B1}" destId="{2E1215D3-6615-4069-8033-D973F9AFAEB0}" srcOrd="0" destOrd="0" presId="urn:microsoft.com/office/officeart/2005/8/layout/gear1"/>
    <dgm:cxn modelId="{426893A9-B18D-49EC-B8DE-3809A962E15D}" type="presOf" srcId="{3A62CEA5-9E50-4356-B21C-B8FDAF0C7122}" destId="{4465D33A-DEC9-4707-BB4B-3F545C854EAC}" srcOrd="0" destOrd="0" presId="urn:microsoft.com/office/officeart/2005/8/layout/gear1"/>
    <dgm:cxn modelId="{43D17742-A80E-4606-B680-1924419FCC6A}" type="presOf" srcId="{44E25586-B296-430F-9376-9805570EE4BA}" destId="{43186FEA-D2E2-48A9-91DB-99E37FF3DA6B}" srcOrd="1" destOrd="0" presId="urn:microsoft.com/office/officeart/2005/8/layout/gear1"/>
    <dgm:cxn modelId="{D8CDDC93-A8D6-4074-98AC-2FB136D00365}" type="presOf" srcId="{44E25586-B296-430F-9376-9805570EE4BA}" destId="{19ED2F33-DC80-46DB-B461-AB4ADB6C38C1}" srcOrd="3" destOrd="0" presId="urn:microsoft.com/office/officeart/2005/8/layout/gear1"/>
    <dgm:cxn modelId="{C4EFAB64-0D7B-4ABD-888B-A6717789C458}" type="presOf" srcId="{919CAA4E-63D7-400B-8967-313E7839D02E}" destId="{08396CCB-65B4-40A0-90EC-2B71FAAB1463}" srcOrd="2" destOrd="0" presId="urn:microsoft.com/office/officeart/2005/8/layout/gear1"/>
    <dgm:cxn modelId="{5FAACCA9-3F9F-4263-9E0F-3B75D653FDCE}" type="presOf" srcId="{919CAA4E-63D7-400B-8967-313E7839D02E}" destId="{18387023-6AF7-412A-95CA-A1199DA1D431}" srcOrd="1" destOrd="0" presId="urn:microsoft.com/office/officeart/2005/8/layout/gear1"/>
    <dgm:cxn modelId="{A2ED2562-903F-4914-948D-2FDB5433ED68}" srcId="{D2CE9F4C-F1BC-47A2-BAEA-F688974E43E1}" destId="{44E25586-B296-430F-9376-9805570EE4BA}" srcOrd="2" destOrd="0" parTransId="{CCBD4AAD-6E36-4C3C-98F7-4030A0953756}" sibTransId="{020112C7-5F39-4F4B-9720-AF905FEB40EA}"/>
    <dgm:cxn modelId="{1A4ADDFF-B6A6-4BD0-8F2D-9DC0C89EF85F}" type="presOf" srcId="{020112C7-5F39-4F4B-9720-AF905FEB40EA}" destId="{0474347A-38AD-4A9B-9A32-240E67D1D2EC}" srcOrd="0" destOrd="0" presId="urn:microsoft.com/office/officeart/2005/8/layout/gear1"/>
    <dgm:cxn modelId="{4749488F-304F-4E83-8499-13EA2EA74097}" type="presOf" srcId="{C68C061A-A027-4659-AC8F-60A131893727}" destId="{4FBD5985-49DB-4241-9862-852B040C080C}" srcOrd="1" destOrd="0" presId="urn:microsoft.com/office/officeart/2005/8/layout/gear1"/>
    <dgm:cxn modelId="{7B6A85E2-877D-4DF0-948A-34955D1A7A90}" type="presParOf" srcId="{5FE689EB-B6FA-4B01-884E-42C2CF2923BB}" destId="{914ED104-3EA9-442D-83BB-73BDB619C473}" srcOrd="0" destOrd="0" presId="urn:microsoft.com/office/officeart/2005/8/layout/gear1"/>
    <dgm:cxn modelId="{AE47B3E4-2775-47A1-A675-A95229C9BFD9}" type="presParOf" srcId="{5FE689EB-B6FA-4B01-884E-42C2CF2923BB}" destId="{18387023-6AF7-412A-95CA-A1199DA1D431}" srcOrd="1" destOrd="0" presId="urn:microsoft.com/office/officeart/2005/8/layout/gear1"/>
    <dgm:cxn modelId="{ECCECC93-8F08-4101-BCC6-98B9C8125771}" type="presParOf" srcId="{5FE689EB-B6FA-4B01-884E-42C2CF2923BB}" destId="{08396CCB-65B4-40A0-90EC-2B71FAAB1463}" srcOrd="2" destOrd="0" presId="urn:microsoft.com/office/officeart/2005/8/layout/gear1"/>
    <dgm:cxn modelId="{AF2A9D18-ACAF-4C18-81C7-6CF663FF46F9}" type="presParOf" srcId="{5FE689EB-B6FA-4B01-884E-42C2CF2923BB}" destId="{C6B1C1F7-BF8C-4327-AB5D-B6144A2C8CA0}" srcOrd="3" destOrd="0" presId="urn:microsoft.com/office/officeart/2005/8/layout/gear1"/>
    <dgm:cxn modelId="{91C347C3-886A-4D78-B433-CCE78B7085BB}" type="presParOf" srcId="{5FE689EB-B6FA-4B01-884E-42C2CF2923BB}" destId="{4FBD5985-49DB-4241-9862-852B040C080C}" srcOrd="4" destOrd="0" presId="urn:microsoft.com/office/officeart/2005/8/layout/gear1"/>
    <dgm:cxn modelId="{D178B53E-24D3-4DB0-BA3B-20A8B7A111FC}" type="presParOf" srcId="{5FE689EB-B6FA-4B01-884E-42C2CF2923BB}" destId="{94B318EF-1BC1-4C4F-A4C0-A4CE398018FF}" srcOrd="5" destOrd="0" presId="urn:microsoft.com/office/officeart/2005/8/layout/gear1"/>
    <dgm:cxn modelId="{AE018335-14E2-4A7A-8D5C-9B9C25A0D281}" type="presParOf" srcId="{5FE689EB-B6FA-4B01-884E-42C2CF2923BB}" destId="{F22CCAF6-4FC9-43FA-9EC9-CBB9415524D2}" srcOrd="6" destOrd="0" presId="urn:microsoft.com/office/officeart/2005/8/layout/gear1"/>
    <dgm:cxn modelId="{ACF59C28-999F-42ED-A26E-47D332F6E740}" type="presParOf" srcId="{5FE689EB-B6FA-4B01-884E-42C2CF2923BB}" destId="{43186FEA-D2E2-48A9-91DB-99E37FF3DA6B}" srcOrd="7" destOrd="0" presId="urn:microsoft.com/office/officeart/2005/8/layout/gear1"/>
    <dgm:cxn modelId="{E72B85A7-F339-44C8-8DA4-808D788829BD}" type="presParOf" srcId="{5FE689EB-B6FA-4B01-884E-42C2CF2923BB}" destId="{B3CACF1E-1DE0-4CCC-844E-8160ED1D79FC}" srcOrd="8" destOrd="0" presId="urn:microsoft.com/office/officeart/2005/8/layout/gear1"/>
    <dgm:cxn modelId="{81B714DE-4765-438D-ADAE-721305CF3BDE}" type="presParOf" srcId="{5FE689EB-B6FA-4B01-884E-42C2CF2923BB}" destId="{19ED2F33-DC80-46DB-B461-AB4ADB6C38C1}" srcOrd="9" destOrd="0" presId="urn:microsoft.com/office/officeart/2005/8/layout/gear1"/>
    <dgm:cxn modelId="{6185DD6B-1B89-4291-9A86-4A329E462198}" type="presParOf" srcId="{5FE689EB-B6FA-4B01-884E-42C2CF2923BB}" destId="{2E1215D3-6615-4069-8033-D973F9AFAEB0}" srcOrd="10" destOrd="0" presId="urn:microsoft.com/office/officeart/2005/8/layout/gear1"/>
    <dgm:cxn modelId="{5148B41D-20E6-47E5-AA43-5004CC97A3B5}" type="presParOf" srcId="{5FE689EB-B6FA-4B01-884E-42C2CF2923BB}" destId="{4465D33A-DEC9-4707-BB4B-3F545C854EAC}" srcOrd="11" destOrd="0" presId="urn:microsoft.com/office/officeart/2005/8/layout/gear1"/>
    <dgm:cxn modelId="{444CC056-1C70-4325-8E71-0D179647F178}" type="presParOf" srcId="{5FE689EB-B6FA-4B01-884E-42C2CF2923BB}" destId="{0474347A-38AD-4A9B-9A32-240E67D1D2EC}" srcOrd="12" destOrd="0" presId="urn:microsoft.com/office/officeart/2005/8/layout/gear1"/>
  </dgm:cxnLst>
  <dgm:bg>
    <a:noFill/>
  </dgm:bg>
  <dgm:whole>
    <a:ln>
      <a:noFill/>
    </a:ln>
  </dgm:whole>
  <dgm:extLst>
    <a:ext uri="http://schemas.microsoft.com/office/drawing/2008/diagram">
      <dsp:dataModelExt xmlns:dsp="http://schemas.microsoft.com/office/drawing/2008/diagram" xmlns="" relId="rId13"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14ED104-3EA9-442D-83BB-73BDB619C473}">
      <dsp:nvSpPr>
        <dsp:cNvPr id="0" name=""/>
        <dsp:cNvSpPr/>
      </dsp:nvSpPr>
      <dsp:spPr>
        <a:xfrm>
          <a:off x="780352" y="243498"/>
          <a:ext cx="217222" cy="217222"/>
        </a:xfrm>
        <a:prstGeom prst="gear9">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n-US" sz="500" kern="1200" dirty="0" smtClean="0"/>
        </a:p>
        <a:p>
          <a:pPr lvl="0" algn="ctr" defTabSz="222250">
            <a:lnSpc>
              <a:spcPct val="90000"/>
            </a:lnSpc>
            <a:spcBef>
              <a:spcPct val="0"/>
            </a:spcBef>
            <a:spcAft>
              <a:spcPct val="35000"/>
            </a:spcAft>
          </a:pPr>
          <a:endParaRPr lang="en-US" sz="500" kern="1200" dirty="0"/>
        </a:p>
      </dsp:txBody>
      <dsp:txXfrm>
        <a:off x="780352" y="243498"/>
        <a:ext cx="217222" cy="217222"/>
      </dsp:txXfrm>
    </dsp:sp>
    <dsp:sp modelId="{C6B1C1F7-BF8C-4327-AB5D-B6144A2C8CA0}">
      <dsp:nvSpPr>
        <dsp:cNvPr id="0" name=""/>
        <dsp:cNvSpPr/>
      </dsp:nvSpPr>
      <dsp:spPr>
        <a:xfrm>
          <a:off x="653968" y="192154"/>
          <a:ext cx="157980" cy="157980"/>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n-US" sz="500" kern="1200" dirty="0"/>
        </a:p>
      </dsp:txBody>
      <dsp:txXfrm>
        <a:off x="653968" y="192154"/>
        <a:ext cx="157980" cy="157980"/>
      </dsp:txXfrm>
    </dsp:sp>
    <dsp:sp modelId="{F22CCAF6-4FC9-43FA-9EC9-CBB9415524D2}">
      <dsp:nvSpPr>
        <dsp:cNvPr id="0" name=""/>
        <dsp:cNvSpPr/>
      </dsp:nvSpPr>
      <dsp:spPr>
        <a:xfrm rot="20700000">
          <a:off x="742453" y="83164"/>
          <a:ext cx="154788" cy="154788"/>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n-US" sz="500" kern="1200" dirty="0"/>
        </a:p>
      </dsp:txBody>
      <dsp:txXfrm>
        <a:off x="776402" y="117114"/>
        <a:ext cx="86889" cy="86889"/>
      </dsp:txXfrm>
    </dsp:sp>
    <dsp:sp modelId="{2E1215D3-6615-4069-8033-D973F9AFAEB0}">
      <dsp:nvSpPr>
        <dsp:cNvPr id="0" name=""/>
        <dsp:cNvSpPr/>
      </dsp:nvSpPr>
      <dsp:spPr>
        <a:xfrm>
          <a:off x="743848" y="219108"/>
          <a:ext cx="278045" cy="278045"/>
        </a:xfrm>
        <a:prstGeom prst="circularArrow">
          <a:avLst>
            <a:gd name="adj1" fmla="val 4688"/>
            <a:gd name="adj2" fmla="val 299029"/>
            <a:gd name="adj3" fmla="val 2193869"/>
            <a:gd name="adj4" fmla="val 17055806"/>
            <a:gd name="adj5" fmla="val 5469"/>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5D33A-DEC9-4707-BB4B-3F545C854EAC}">
      <dsp:nvSpPr>
        <dsp:cNvPr id="0" name=""/>
        <dsp:cNvSpPr/>
      </dsp:nvSpPr>
      <dsp:spPr>
        <a:xfrm>
          <a:off x="625990" y="168832"/>
          <a:ext cx="202017" cy="202017"/>
        </a:xfrm>
        <a:prstGeom prst="leftCircularArrow">
          <a:avLst>
            <a:gd name="adj1" fmla="val 6452"/>
            <a:gd name="adj2" fmla="val 429999"/>
            <a:gd name="adj3" fmla="val 10489124"/>
            <a:gd name="adj4" fmla="val 14837806"/>
            <a:gd name="adj5" fmla="val 7527"/>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74347A-38AD-4A9B-9A32-240E67D1D2EC}">
      <dsp:nvSpPr>
        <dsp:cNvPr id="0" name=""/>
        <dsp:cNvSpPr/>
      </dsp:nvSpPr>
      <dsp:spPr>
        <a:xfrm>
          <a:off x="706649" y="60892"/>
          <a:ext cx="217815" cy="217815"/>
        </a:xfrm>
        <a:prstGeom prst="circularArrow">
          <a:avLst>
            <a:gd name="adj1" fmla="val 5984"/>
            <a:gd name="adj2" fmla="val 394124"/>
            <a:gd name="adj3" fmla="val 13313824"/>
            <a:gd name="adj4" fmla="val 10508221"/>
            <a:gd name="adj5" fmla="val 698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10/3/2012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10/3/2012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10/3/2012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10/3/2012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10/3/2012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10/3/2012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10/3/2012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10/3/2012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10/3/2012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10/3/2012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10/3/2012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7.wmf"/><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image" Target="../media/image16.wmf"/><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image" Target="../media/image19.png"/><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18.jpe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4: Patterns and Styles in</a:t>
            </a:r>
            <a:br>
              <a:rPr lang="en-US" dirty="0" smtClean="0"/>
            </a:br>
            <a:r>
              <a:rPr lang="en-US" dirty="0" smtClean="0"/>
              <a:t>Software Architecture</a:t>
            </a:r>
            <a:endParaRPr lang="en-US" dirty="0"/>
          </a:p>
        </p:txBody>
      </p:sp>
      <p:sp>
        <p:nvSpPr>
          <p:cNvPr id="3" name="Subtitle 2"/>
          <p:cNvSpPr>
            <a:spLocks noGrp="1"/>
          </p:cNvSpPr>
          <p:nvPr>
            <p:ph type="subTitle" idx="1"/>
          </p:nvPr>
        </p:nvSpPr>
        <p:spPr/>
        <p:txBody>
          <a:bodyPr>
            <a:normAutofit/>
          </a:bodyPr>
          <a:lstStyle/>
          <a:p>
            <a:r>
              <a:rPr lang="en-US" dirty="0" smtClean="0"/>
              <a:t>Session III: Interactive and Hierarchical Systems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10/3/2012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a:bodyPr>
          <a:lstStyle/>
          <a:p>
            <a:pPr lvl="2"/>
            <a:endParaRPr lang="en-US" dirty="0" smtClean="0"/>
          </a:p>
          <a:p>
            <a:r>
              <a:rPr lang="en-US" dirty="0" smtClean="0"/>
              <a:t>Distributed Systems (cont)</a:t>
            </a:r>
          </a:p>
          <a:p>
            <a:pPr lvl="1"/>
            <a:r>
              <a:rPr lang="en-US" dirty="0" smtClean="0"/>
              <a:t>Overview</a:t>
            </a:r>
          </a:p>
          <a:p>
            <a:pPr lvl="1"/>
            <a:r>
              <a:rPr lang="en-US" dirty="0" smtClean="0"/>
              <a:t>Patterns</a:t>
            </a:r>
          </a:p>
          <a:p>
            <a:pPr lvl="2"/>
            <a:r>
              <a:rPr lang="en-US" dirty="0" smtClean="0"/>
              <a:t>Broker</a:t>
            </a:r>
          </a:p>
          <a:p>
            <a:pPr lvl="2"/>
            <a:endParaRPr lang="en-US" dirty="0" smtClean="0"/>
          </a:p>
          <a:p>
            <a:r>
              <a:rPr lang="en-US" dirty="0" smtClean="0"/>
              <a:t>Interactive Systems</a:t>
            </a:r>
          </a:p>
          <a:p>
            <a:pPr lvl="1"/>
            <a:r>
              <a:rPr lang="en-US" dirty="0" smtClean="0"/>
              <a:t>Overview</a:t>
            </a:r>
          </a:p>
          <a:p>
            <a:pPr lvl="1"/>
            <a:r>
              <a:rPr lang="en-US" dirty="0" smtClean="0"/>
              <a:t>Patterns</a:t>
            </a:r>
          </a:p>
          <a:p>
            <a:pPr lvl="2"/>
            <a:r>
              <a:rPr lang="en-US" dirty="0" smtClean="0"/>
              <a:t>Model-View-Controller</a:t>
            </a:r>
          </a:p>
          <a:p>
            <a:pPr lvl="2"/>
            <a:endParaRPr lang="en-US" dirty="0" smtClean="0"/>
          </a:p>
          <a:p>
            <a:r>
              <a:rPr lang="en-US" dirty="0" smtClean="0"/>
              <a:t>Hierarchical Systems</a:t>
            </a:r>
          </a:p>
          <a:p>
            <a:pPr lvl="1"/>
            <a:r>
              <a:rPr lang="en-US" dirty="0" smtClean="0"/>
              <a:t>Main program and Subroutine</a:t>
            </a:r>
          </a:p>
          <a:p>
            <a:pPr lvl="1"/>
            <a:r>
              <a:rPr lang="en-US" dirty="0" smtClean="0"/>
              <a:t>Layered</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10/3/2012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Systems</a:t>
            </a:r>
            <a:endParaRPr lang="en-US" dirty="0"/>
          </a:p>
        </p:txBody>
      </p:sp>
      <p:sp>
        <p:nvSpPr>
          <p:cNvPr id="3" name="Content Placeholder 2"/>
          <p:cNvSpPr>
            <a:spLocks noGrp="1"/>
          </p:cNvSpPr>
          <p:nvPr>
            <p:ph idx="1"/>
          </p:nvPr>
        </p:nvSpPr>
        <p:spPr>
          <a:xfrm>
            <a:off x="457200" y="1371601"/>
            <a:ext cx="8229600" cy="5181599"/>
          </a:xfrm>
        </p:spPr>
        <p:txBody>
          <a:bodyPr>
            <a:normAutofit lnSpcReduction="10000"/>
          </a:bodyPr>
          <a:lstStyle/>
          <a:p>
            <a:r>
              <a:rPr lang="en-US" dirty="0" smtClean="0"/>
              <a:t>As refresher, distributed systems are decomposed into multiple processes that (typically) collaborate through the network.</a:t>
            </a:r>
          </a:p>
          <a:p>
            <a:pPr lvl="1"/>
            <a:r>
              <a:rPr lang="en-US" dirty="0" smtClean="0"/>
              <a:t>These systems are ubiquitous in today’s modern systems thanks to wireless, mobile, and internet technology.</a:t>
            </a:r>
          </a:p>
          <a:p>
            <a:pPr lvl="1"/>
            <a:r>
              <a:rPr lang="en-US" dirty="0" smtClean="0"/>
              <a:t>These types of distributed systems are easy to spot, since their deployment architecture entails multiple physical nodes.</a:t>
            </a:r>
          </a:p>
          <a:p>
            <a:pPr lvl="1"/>
            <a:r>
              <a:rPr lang="en-US" dirty="0" smtClean="0"/>
              <a:t>However, with the advent of multi-core processors, distributed architectures are also relevant to software that executes on a single node with multiprocessor capability.</a:t>
            </a:r>
          </a:p>
          <a:p>
            <a:endParaRPr lang="en-US" dirty="0" smtClean="0"/>
          </a:p>
          <a:p>
            <a:r>
              <a:rPr lang="en-US" dirty="0" smtClean="0"/>
              <a:t>Some examples of distributed systems include:</a:t>
            </a:r>
          </a:p>
          <a:p>
            <a:pPr lvl="1"/>
            <a:r>
              <a:rPr lang="en-US" dirty="0" smtClean="0"/>
              <a:t>Internet systems, web services, file- or music-sharing systems, high-performance systems, etc.</a:t>
            </a:r>
          </a:p>
          <a:p>
            <a:pPr lvl="1">
              <a:buNone/>
            </a:pPr>
            <a:endParaRPr lang="en-US" dirty="0" smtClean="0"/>
          </a:p>
          <a:p>
            <a:r>
              <a:rPr lang="en-US" dirty="0" smtClean="0"/>
              <a:t>Common architectural patterns for distributed systems include:</a:t>
            </a:r>
          </a:p>
          <a:p>
            <a:pPr lvl="1"/>
            <a:r>
              <a:rPr lang="en-US" dirty="0" smtClean="0"/>
              <a:t>Client-Server Pattern (we discussed this one in last session)</a:t>
            </a:r>
          </a:p>
          <a:p>
            <a:pPr lvl="1"/>
            <a:r>
              <a:rPr lang="en-US" b="1" i="1" dirty="0" smtClean="0"/>
              <a:t>Broker Pattern</a:t>
            </a:r>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3" name="Content Placeholder 2"/>
          <p:cNvSpPr>
            <a:spLocks noGrp="1"/>
          </p:cNvSpPr>
          <p:nvPr>
            <p:ph idx="1"/>
          </p:nvPr>
        </p:nvSpPr>
        <p:spPr/>
        <p:txBody>
          <a:bodyPr>
            <a:normAutofit lnSpcReduction="10000"/>
          </a:bodyPr>
          <a:lstStyle/>
          <a:p>
            <a:r>
              <a:rPr lang="en-US" dirty="0" smtClean="0"/>
              <a:t>The Broker architectural pattern provides mechanisms for achieving better flexibility between clients and servers in a distributed environment.	</a:t>
            </a:r>
          </a:p>
          <a:p>
            <a:pPr lvl="1"/>
            <a:r>
              <a:rPr lang="en-US" dirty="0" smtClean="0"/>
              <a:t>In a typical client-server system, clients are tightly coupled with servers.</a:t>
            </a:r>
          </a:p>
          <a:p>
            <a:pPr lvl="1"/>
            <a:r>
              <a:rPr lang="en-US" dirty="0" smtClean="0"/>
              <a:t>This leads to complexity for systems that need to provide services from multiple servers hosted at different locations.</a:t>
            </a:r>
          </a:p>
          <a:p>
            <a:pPr lvl="1"/>
            <a:endParaRPr lang="en-US" dirty="0" smtClean="0"/>
          </a:p>
          <a:p>
            <a:r>
              <a:rPr lang="en-US" dirty="0" smtClean="0"/>
              <a:t>In some software systems, clients (in a distributed environment) need to be able to access services from multiple servers without known their actual locations or particular details of communication.</a:t>
            </a:r>
          </a:p>
          <a:p>
            <a:pPr lvl="1"/>
            <a:r>
              <a:rPr lang="en-US" dirty="0" smtClean="0"/>
              <a:t>When these concerns are separated, it leads to systems that are flexible and interoperable.</a:t>
            </a:r>
          </a:p>
          <a:p>
            <a:endParaRPr lang="en-US" dirty="0" smtClean="0"/>
          </a:p>
          <a:p>
            <a:r>
              <a:rPr lang="en-US" dirty="0" smtClean="0"/>
              <a:t>The broker pattern decreases coupling between client and servers by mediating between them so that one client can transparently access the services of multiple servers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3" name="Content Placeholder 2"/>
          <p:cNvSpPr>
            <a:spLocks noGrp="1"/>
          </p:cNvSpPr>
          <p:nvPr>
            <p:ph idx="1"/>
          </p:nvPr>
        </p:nvSpPr>
        <p:spPr>
          <a:xfrm>
            <a:off x="457200" y="1371601"/>
            <a:ext cx="8229600" cy="3047999"/>
          </a:xfrm>
        </p:spPr>
        <p:txBody>
          <a:bodyPr/>
          <a:lstStyle/>
          <a:p>
            <a:r>
              <a:rPr lang="en-US" dirty="0" smtClean="0"/>
              <a:t>The Broker architectural pattern includes the following components:</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An box-and-line example of the broker architecture is presented below.</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1524000" y="1905000"/>
            <a:ext cx="5895975" cy="16859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048000" y="5029200"/>
            <a:ext cx="2914650" cy="990600"/>
          </a:xfrm>
          <a:prstGeom prst="rect">
            <a:avLst/>
          </a:prstGeom>
          <a:noFill/>
          <a:ln w="9525">
            <a:noFill/>
            <a:miter lim="800000"/>
            <a:headEnd/>
            <a:tailEnd/>
          </a:ln>
        </p:spPr>
      </p:pic>
      <p:sp>
        <p:nvSpPr>
          <p:cNvPr id="9" name="TextBox 8"/>
          <p:cNvSpPr txBox="1"/>
          <p:nvPr/>
        </p:nvSpPr>
        <p:spPr>
          <a:xfrm>
            <a:off x="457200" y="5334000"/>
            <a:ext cx="2514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Client relies on the Broker component to access the services from the server</a:t>
            </a:r>
            <a:endParaRPr lang="en-US" sz="1400" b="1" dirty="0">
              <a:solidFill>
                <a:srgbClr val="C00000"/>
              </a:solidFill>
              <a:latin typeface="Bradley Hand ITC" pitchFamily="66" charset="0"/>
            </a:endParaRPr>
          </a:p>
        </p:txBody>
      </p:sp>
      <p:sp>
        <p:nvSpPr>
          <p:cNvPr id="10" name="TextBox 9"/>
          <p:cNvSpPr txBox="1"/>
          <p:nvPr/>
        </p:nvSpPr>
        <p:spPr>
          <a:xfrm>
            <a:off x="6172200" y="4495800"/>
            <a:ext cx="21336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Broker can communicate with other Brokers that provide access to services from other servers</a:t>
            </a:r>
            <a:endParaRPr lang="en-US" sz="1400" b="1" dirty="0">
              <a:solidFill>
                <a:srgbClr val="C00000"/>
              </a:solidFill>
              <a:latin typeface="Bradley Hand ITC" pitchFamily="66" charset="0"/>
            </a:endParaRPr>
          </a:p>
        </p:txBody>
      </p:sp>
      <p:sp>
        <p:nvSpPr>
          <p:cNvPr id="11" name="Freeform 10"/>
          <p:cNvSpPr/>
          <p:nvPr/>
        </p:nvSpPr>
        <p:spPr>
          <a:xfrm>
            <a:off x="2657475" y="5467350"/>
            <a:ext cx="428625" cy="476250"/>
          </a:xfrm>
          <a:custGeom>
            <a:avLst/>
            <a:gdLst>
              <a:gd name="connsiteX0" fmla="*/ 0 w 428625"/>
              <a:gd name="connsiteY0" fmla="*/ 476250 h 476250"/>
              <a:gd name="connsiteX1" fmla="*/ 228600 w 428625"/>
              <a:gd name="connsiteY1" fmla="*/ 352425 h 476250"/>
              <a:gd name="connsiteX2" fmla="*/ 190500 w 428625"/>
              <a:gd name="connsiteY2" fmla="*/ 123825 h 476250"/>
              <a:gd name="connsiteX3" fmla="*/ 428625 w 428625"/>
              <a:gd name="connsiteY3" fmla="*/ 0 h 476250"/>
            </a:gdLst>
            <a:ahLst/>
            <a:cxnLst>
              <a:cxn ang="0">
                <a:pos x="connsiteX0" y="connsiteY0"/>
              </a:cxn>
              <a:cxn ang="0">
                <a:pos x="connsiteX1" y="connsiteY1"/>
              </a:cxn>
              <a:cxn ang="0">
                <a:pos x="connsiteX2" y="connsiteY2"/>
              </a:cxn>
              <a:cxn ang="0">
                <a:pos x="connsiteX3" y="connsiteY3"/>
              </a:cxn>
            </a:cxnLst>
            <a:rect l="l" t="t" r="r" b="b"/>
            <a:pathLst>
              <a:path w="428625" h="476250">
                <a:moveTo>
                  <a:pt x="0" y="476250"/>
                </a:moveTo>
                <a:cubicBezTo>
                  <a:pt x="98425" y="443706"/>
                  <a:pt x="196850" y="411162"/>
                  <a:pt x="228600" y="352425"/>
                </a:cubicBezTo>
                <a:cubicBezTo>
                  <a:pt x="260350" y="293688"/>
                  <a:pt x="157163" y="182562"/>
                  <a:pt x="190500" y="123825"/>
                </a:cubicBezTo>
                <a:cubicBezTo>
                  <a:pt x="223837" y="65088"/>
                  <a:pt x="326231" y="32544"/>
                  <a:pt x="4286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4676775" y="4667250"/>
            <a:ext cx="1552575" cy="381000"/>
          </a:xfrm>
          <a:custGeom>
            <a:avLst/>
            <a:gdLst>
              <a:gd name="connsiteX0" fmla="*/ 1552575 w 1552575"/>
              <a:gd name="connsiteY0" fmla="*/ 0 h 381000"/>
              <a:gd name="connsiteX1" fmla="*/ 1152525 w 1552575"/>
              <a:gd name="connsiteY1" fmla="*/ 152400 h 381000"/>
              <a:gd name="connsiteX2" fmla="*/ 447675 w 1552575"/>
              <a:gd name="connsiteY2" fmla="*/ 66675 h 381000"/>
              <a:gd name="connsiteX3" fmla="*/ 0 w 1552575"/>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552575" h="381000">
                <a:moveTo>
                  <a:pt x="1552575" y="0"/>
                </a:moveTo>
                <a:cubicBezTo>
                  <a:pt x="1444625" y="70644"/>
                  <a:pt x="1336675" y="141288"/>
                  <a:pt x="1152525" y="152400"/>
                </a:cubicBezTo>
                <a:cubicBezTo>
                  <a:pt x="968375" y="163512"/>
                  <a:pt x="639762" y="28575"/>
                  <a:pt x="447675" y="66675"/>
                </a:cubicBezTo>
                <a:cubicBezTo>
                  <a:pt x="255588" y="104775"/>
                  <a:pt x="127794" y="242887"/>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4581525" y="5295900"/>
            <a:ext cx="3419475" cy="1077912"/>
          </a:xfrm>
          <a:custGeom>
            <a:avLst/>
            <a:gdLst>
              <a:gd name="connsiteX0" fmla="*/ 3419475 w 3419475"/>
              <a:gd name="connsiteY0" fmla="*/ 0 h 1077912"/>
              <a:gd name="connsiteX1" fmla="*/ 3086100 w 3419475"/>
              <a:gd name="connsiteY1" fmla="*/ 552450 h 1077912"/>
              <a:gd name="connsiteX2" fmla="*/ 1752600 w 3419475"/>
              <a:gd name="connsiteY2" fmla="*/ 828675 h 1077912"/>
              <a:gd name="connsiteX3" fmla="*/ 485775 w 3419475"/>
              <a:gd name="connsiteY3" fmla="*/ 1066800 h 1077912"/>
              <a:gd name="connsiteX4" fmla="*/ 0 w 3419475"/>
              <a:gd name="connsiteY4" fmla="*/ 762000 h 1077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475" h="1077912">
                <a:moveTo>
                  <a:pt x="3419475" y="0"/>
                </a:moveTo>
                <a:cubicBezTo>
                  <a:pt x="3391694" y="207169"/>
                  <a:pt x="3363913" y="414338"/>
                  <a:pt x="3086100" y="552450"/>
                </a:cubicBezTo>
                <a:cubicBezTo>
                  <a:pt x="2808288" y="690563"/>
                  <a:pt x="1752600" y="828675"/>
                  <a:pt x="1752600" y="828675"/>
                </a:cubicBezTo>
                <a:cubicBezTo>
                  <a:pt x="1319213" y="914400"/>
                  <a:pt x="777875" y="1077912"/>
                  <a:pt x="485775" y="1066800"/>
                </a:cubicBezTo>
                <a:cubicBezTo>
                  <a:pt x="193675" y="1055688"/>
                  <a:pt x="96837" y="908844"/>
                  <a:pt x="0" y="762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3" name="Content Placeholder 2"/>
          <p:cNvSpPr>
            <a:spLocks noGrp="1"/>
          </p:cNvSpPr>
          <p:nvPr>
            <p:ph idx="1"/>
          </p:nvPr>
        </p:nvSpPr>
        <p:spPr>
          <a:xfrm>
            <a:off x="457200" y="1371601"/>
            <a:ext cx="8229600" cy="2590799"/>
          </a:xfrm>
        </p:spPr>
        <p:txBody>
          <a:bodyPr>
            <a:normAutofit fontScale="92500"/>
          </a:bodyPr>
          <a:lstStyle/>
          <a:p>
            <a:r>
              <a:rPr lang="en-US" dirty="0" smtClean="0"/>
              <a:t>Consider the typical DVR system found in many houses today.</a:t>
            </a:r>
          </a:p>
          <a:p>
            <a:pPr lvl="1"/>
            <a:r>
              <a:rPr lang="en-US" dirty="0" smtClean="0"/>
              <a:t>In this example, there are two DVRs</a:t>
            </a:r>
          </a:p>
          <a:p>
            <a:pPr lvl="2"/>
            <a:r>
              <a:rPr lang="en-US" dirty="0" smtClean="0"/>
              <a:t>One in the family room</a:t>
            </a:r>
          </a:p>
          <a:p>
            <a:pPr lvl="2"/>
            <a:r>
              <a:rPr lang="en-US" dirty="0" smtClean="0"/>
              <a:t>The other in a bedroom</a:t>
            </a:r>
          </a:p>
          <a:p>
            <a:pPr lvl="1"/>
            <a:r>
              <a:rPr lang="en-US" dirty="0" smtClean="0"/>
              <a:t>DVR services can be accessed from inside the house, using the home office PC.</a:t>
            </a:r>
          </a:p>
          <a:p>
            <a:pPr lvl="2"/>
            <a:r>
              <a:rPr lang="en-US" dirty="0" smtClean="0"/>
              <a:t>This could be done in many ways, but for simplicity, assume that access is obtained via the browser, using a Java Applet, Microsoft Active X, etc.</a:t>
            </a:r>
          </a:p>
          <a:p>
            <a:pPr lvl="2"/>
            <a:r>
              <a:rPr lang="en-US" dirty="0" smtClean="0"/>
              <a:t>To gain some insight into the physical architecture of the system, take a look at the following deployment diagram.</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905000" y="4343400"/>
            <a:ext cx="5638800" cy="16097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3" name="Content Placeholder 2"/>
          <p:cNvSpPr>
            <a:spLocks noGrp="1"/>
          </p:cNvSpPr>
          <p:nvPr>
            <p:ph idx="1"/>
          </p:nvPr>
        </p:nvSpPr>
        <p:spPr>
          <a:xfrm>
            <a:off x="457200" y="1371601"/>
            <a:ext cx="8229600" cy="609599"/>
          </a:xfrm>
        </p:spPr>
        <p:txBody>
          <a:bodyPr/>
          <a:lstStyle/>
          <a:p>
            <a:r>
              <a:rPr lang="en-US" dirty="0" smtClean="0"/>
              <a:t>The logical architecture can be designed as seen below:</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28" name="Group 27"/>
          <p:cNvGrpSpPr/>
          <p:nvPr/>
        </p:nvGrpSpPr>
        <p:grpSpPr>
          <a:xfrm>
            <a:off x="228600" y="2057400"/>
            <a:ext cx="8686800" cy="4075331"/>
            <a:chOff x="228600" y="2438400"/>
            <a:chExt cx="8686800" cy="4075331"/>
          </a:xfrm>
        </p:grpSpPr>
        <p:pic>
          <p:nvPicPr>
            <p:cNvPr id="3074" name="Picture 2"/>
            <p:cNvPicPr>
              <a:picLocks noChangeAspect="1" noChangeArrowheads="1"/>
            </p:cNvPicPr>
            <p:nvPr/>
          </p:nvPicPr>
          <p:blipFill>
            <a:blip r:embed="rId2" cstate="print"/>
            <a:srcRect/>
            <a:stretch>
              <a:fillRect/>
            </a:stretch>
          </p:blipFill>
          <p:spPr bwMode="auto">
            <a:xfrm>
              <a:off x="2286000" y="2438400"/>
              <a:ext cx="5391150" cy="3190875"/>
            </a:xfrm>
            <a:prstGeom prst="rect">
              <a:avLst/>
            </a:prstGeom>
            <a:noFill/>
            <a:ln w="9525">
              <a:noFill/>
              <a:miter lim="800000"/>
              <a:headEnd/>
              <a:tailEnd/>
            </a:ln>
          </p:spPr>
        </p:pic>
        <p:sp>
          <p:nvSpPr>
            <p:cNvPr id="10" name="TextBox 9"/>
            <p:cNvSpPr txBox="1"/>
            <p:nvPr/>
          </p:nvSpPr>
          <p:spPr>
            <a:xfrm>
              <a:off x="304800" y="2895600"/>
              <a:ext cx="1981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Provides transparency between remote and local components so that remote component appears as local</a:t>
              </a:r>
              <a:endParaRPr lang="en-US" sz="1200" b="1" dirty="0">
                <a:solidFill>
                  <a:srgbClr val="C00000"/>
                </a:solidFill>
                <a:latin typeface="Bradley Hand ITC" pitchFamily="66" charset="0"/>
              </a:endParaRPr>
            </a:p>
          </p:txBody>
        </p:sp>
        <p:sp>
          <p:nvSpPr>
            <p:cNvPr id="11" name="Freeform 10"/>
            <p:cNvSpPr/>
            <p:nvPr/>
          </p:nvSpPr>
          <p:spPr>
            <a:xfrm>
              <a:off x="2028825" y="3714750"/>
              <a:ext cx="419100" cy="228600"/>
            </a:xfrm>
            <a:custGeom>
              <a:avLst/>
              <a:gdLst>
                <a:gd name="connsiteX0" fmla="*/ 0 w 419100"/>
                <a:gd name="connsiteY0" fmla="*/ 0 h 228600"/>
                <a:gd name="connsiteX1" fmla="*/ 104775 w 419100"/>
                <a:gd name="connsiteY1" fmla="*/ 190500 h 228600"/>
                <a:gd name="connsiteX2" fmla="*/ 419100 w 419100"/>
                <a:gd name="connsiteY2" fmla="*/ 228600 h 228600"/>
              </a:gdLst>
              <a:ahLst/>
              <a:cxnLst>
                <a:cxn ang="0">
                  <a:pos x="connsiteX0" y="connsiteY0"/>
                </a:cxn>
                <a:cxn ang="0">
                  <a:pos x="connsiteX1" y="connsiteY1"/>
                </a:cxn>
                <a:cxn ang="0">
                  <a:pos x="connsiteX2" y="connsiteY2"/>
                </a:cxn>
              </a:cxnLst>
              <a:rect l="l" t="t" r="r" b="b"/>
              <a:pathLst>
                <a:path w="419100" h="228600">
                  <a:moveTo>
                    <a:pt x="0" y="0"/>
                  </a:moveTo>
                  <a:cubicBezTo>
                    <a:pt x="17462" y="76200"/>
                    <a:pt x="34925" y="152400"/>
                    <a:pt x="104775" y="190500"/>
                  </a:cubicBezTo>
                  <a:cubicBezTo>
                    <a:pt x="174625" y="228600"/>
                    <a:pt x="296862" y="228600"/>
                    <a:pt x="419100" y="228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85800" y="42672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Mediates between client and server</a:t>
              </a:r>
              <a:endParaRPr lang="en-US" sz="1200" b="1" dirty="0">
                <a:solidFill>
                  <a:srgbClr val="C00000"/>
                </a:solidFill>
                <a:latin typeface="Bradley Hand ITC" pitchFamily="66" charset="0"/>
              </a:endParaRPr>
            </a:p>
          </p:txBody>
        </p:sp>
        <p:sp>
          <p:nvSpPr>
            <p:cNvPr id="13" name="Freeform 12"/>
            <p:cNvSpPr/>
            <p:nvPr/>
          </p:nvSpPr>
          <p:spPr>
            <a:xfrm>
              <a:off x="2057400" y="4648200"/>
              <a:ext cx="419100" cy="228600"/>
            </a:xfrm>
            <a:custGeom>
              <a:avLst/>
              <a:gdLst>
                <a:gd name="connsiteX0" fmla="*/ 0 w 419100"/>
                <a:gd name="connsiteY0" fmla="*/ 0 h 228600"/>
                <a:gd name="connsiteX1" fmla="*/ 104775 w 419100"/>
                <a:gd name="connsiteY1" fmla="*/ 190500 h 228600"/>
                <a:gd name="connsiteX2" fmla="*/ 419100 w 419100"/>
                <a:gd name="connsiteY2" fmla="*/ 228600 h 228600"/>
              </a:gdLst>
              <a:ahLst/>
              <a:cxnLst>
                <a:cxn ang="0">
                  <a:pos x="connsiteX0" y="connsiteY0"/>
                </a:cxn>
                <a:cxn ang="0">
                  <a:pos x="connsiteX1" y="connsiteY1"/>
                </a:cxn>
                <a:cxn ang="0">
                  <a:pos x="connsiteX2" y="connsiteY2"/>
                </a:cxn>
              </a:cxnLst>
              <a:rect l="l" t="t" r="r" b="b"/>
              <a:pathLst>
                <a:path w="419100" h="228600">
                  <a:moveTo>
                    <a:pt x="0" y="0"/>
                  </a:moveTo>
                  <a:cubicBezTo>
                    <a:pt x="17462" y="76200"/>
                    <a:pt x="34925" y="152400"/>
                    <a:pt x="104775" y="190500"/>
                  </a:cubicBezTo>
                  <a:cubicBezTo>
                    <a:pt x="174625" y="228600"/>
                    <a:pt x="296862" y="228600"/>
                    <a:pt x="419100" y="228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rot="16388010">
              <a:off x="4103709" y="5451476"/>
              <a:ext cx="585629" cy="564661"/>
            </a:xfrm>
            <a:custGeom>
              <a:avLst/>
              <a:gdLst>
                <a:gd name="connsiteX0" fmla="*/ 0 w 419100"/>
                <a:gd name="connsiteY0" fmla="*/ 0 h 228600"/>
                <a:gd name="connsiteX1" fmla="*/ 104775 w 419100"/>
                <a:gd name="connsiteY1" fmla="*/ 190500 h 228600"/>
                <a:gd name="connsiteX2" fmla="*/ 419100 w 419100"/>
                <a:gd name="connsiteY2" fmla="*/ 228600 h 228600"/>
              </a:gdLst>
              <a:ahLst/>
              <a:cxnLst>
                <a:cxn ang="0">
                  <a:pos x="connsiteX0" y="connsiteY0"/>
                </a:cxn>
                <a:cxn ang="0">
                  <a:pos x="connsiteX1" y="connsiteY1"/>
                </a:cxn>
                <a:cxn ang="0">
                  <a:pos x="connsiteX2" y="connsiteY2"/>
                </a:cxn>
              </a:cxnLst>
              <a:rect l="l" t="t" r="r" b="b"/>
              <a:pathLst>
                <a:path w="419100" h="228600">
                  <a:moveTo>
                    <a:pt x="0" y="0"/>
                  </a:moveTo>
                  <a:cubicBezTo>
                    <a:pt x="17462" y="76200"/>
                    <a:pt x="34925" y="152400"/>
                    <a:pt x="104775" y="190500"/>
                  </a:cubicBezTo>
                  <a:cubicBezTo>
                    <a:pt x="174625" y="228600"/>
                    <a:pt x="296862" y="228600"/>
                    <a:pt x="419100" y="228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4191000" y="5943600"/>
              <a:ext cx="3429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Delegate the responsibility of providing this interface to the DvrServerProxy component</a:t>
              </a:r>
              <a:endParaRPr lang="en-US" sz="1200" b="1" dirty="0">
                <a:solidFill>
                  <a:srgbClr val="C00000"/>
                </a:solidFill>
                <a:latin typeface="Bradley Hand ITC" pitchFamily="66" charset="0"/>
              </a:endParaRPr>
            </a:p>
          </p:txBody>
        </p:sp>
        <p:sp>
          <p:nvSpPr>
            <p:cNvPr id="16" name="TextBox 15"/>
            <p:cNvSpPr txBox="1"/>
            <p:nvPr/>
          </p:nvSpPr>
          <p:spPr>
            <a:xfrm>
              <a:off x="7229475" y="561975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remote control interface</a:t>
              </a:r>
              <a:endParaRPr lang="en-US" sz="1200" b="1" dirty="0">
                <a:solidFill>
                  <a:srgbClr val="C00000"/>
                </a:solidFill>
                <a:latin typeface="Bradley Hand ITC" pitchFamily="66" charset="0"/>
              </a:endParaRPr>
            </a:p>
          </p:txBody>
        </p:sp>
        <p:sp>
          <p:nvSpPr>
            <p:cNvPr id="17" name="Freeform 16"/>
            <p:cNvSpPr/>
            <p:nvPr/>
          </p:nvSpPr>
          <p:spPr>
            <a:xfrm>
              <a:off x="6648450" y="5376863"/>
              <a:ext cx="1019175" cy="500062"/>
            </a:xfrm>
            <a:custGeom>
              <a:avLst/>
              <a:gdLst>
                <a:gd name="connsiteX0" fmla="*/ 1019175 w 1019175"/>
                <a:gd name="connsiteY0" fmla="*/ 500062 h 500062"/>
                <a:gd name="connsiteX1" fmla="*/ 561975 w 1019175"/>
                <a:gd name="connsiteY1" fmla="*/ 376237 h 500062"/>
                <a:gd name="connsiteX2" fmla="*/ 323850 w 1019175"/>
                <a:gd name="connsiteY2" fmla="*/ 61912 h 500062"/>
                <a:gd name="connsiteX3" fmla="*/ 0 w 1019175"/>
                <a:gd name="connsiteY3" fmla="*/ 4762 h 500062"/>
              </a:gdLst>
              <a:ahLst/>
              <a:cxnLst>
                <a:cxn ang="0">
                  <a:pos x="connsiteX0" y="connsiteY0"/>
                </a:cxn>
                <a:cxn ang="0">
                  <a:pos x="connsiteX1" y="connsiteY1"/>
                </a:cxn>
                <a:cxn ang="0">
                  <a:pos x="connsiteX2" y="connsiteY2"/>
                </a:cxn>
                <a:cxn ang="0">
                  <a:pos x="connsiteX3" y="connsiteY3"/>
                </a:cxn>
              </a:cxnLst>
              <a:rect l="l" t="t" r="r" b="b"/>
              <a:pathLst>
                <a:path w="1019175" h="500062">
                  <a:moveTo>
                    <a:pt x="1019175" y="500062"/>
                  </a:moveTo>
                  <a:cubicBezTo>
                    <a:pt x="848518" y="474662"/>
                    <a:pt x="677862" y="449262"/>
                    <a:pt x="561975" y="376237"/>
                  </a:cubicBezTo>
                  <a:cubicBezTo>
                    <a:pt x="446088" y="303212"/>
                    <a:pt x="417512" y="123824"/>
                    <a:pt x="323850" y="61912"/>
                  </a:cubicBezTo>
                  <a:cubicBezTo>
                    <a:pt x="230188" y="0"/>
                    <a:pt x="115094" y="2381"/>
                    <a:pt x="0" y="47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295400" y="5867400"/>
              <a:ext cx="2895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DvrBroker requires IDvrRemoteControl to enable recordings, access list of recorded shows, or get some other information</a:t>
              </a:r>
              <a:endParaRPr lang="en-US" sz="1200" b="1" dirty="0">
                <a:solidFill>
                  <a:srgbClr val="C00000"/>
                </a:solidFill>
                <a:latin typeface="Bradley Hand ITC" pitchFamily="66" charset="0"/>
              </a:endParaRPr>
            </a:p>
          </p:txBody>
        </p:sp>
        <p:sp>
          <p:nvSpPr>
            <p:cNvPr id="20" name="TextBox 19"/>
            <p:cNvSpPr txBox="1"/>
            <p:nvPr/>
          </p:nvSpPr>
          <p:spPr>
            <a:xfrm>
              <a:off x="228600" y="4953000"/>
              <a:ext cx="2057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needs of this required interface have been delegated to an unnamed port</a:t>
              </a:r>
              <a:endParaRPr lang="en-US" sz="1200" b="1" dirty="0">
                <a:solidFill>
                  <a:srgbClr val="C00000"/>
                </a:solidFill>
                <a:latin typeface="Bradley Hand ITC" pitchFamily="66" charset="0"/>
              </a:endParaRPr>
            </a:p>
          </p:txBody>
        </p:sp>
        <p:sp>
          <p:nvSpPr>
            <p:cNvPr id="21" name="Freeform 20"/>
            <p:cNvSpPr/>
            <p:nvPr/>
          </p:nvSpPr>
          <p:spPr>
            <a:xfrm>
              <a:off x="1981200" y="5391150"/>
              <a:ext cx="1362075" cy="304800"/>
            </a:xfrm>
            <a:custGeom>
              <a:avLst/>
              <a:gdLst>
                <a:gd name="connsiteX0" fmla="*/ 0 w 1362075"/>
                <a:gd name="connsiteY0" fmla="*/ 57150 h 304800"/>
                <a:gd name="connsiteX1" fmla="*/ 400050 w 1362075"/>
                <a:gd name="connsiteY1" fmla="*/ 295275 h 304800"/>
                <a:gd name="connsiteX2" fmla="*/ 904875 w 1362075"/>
                <a:gd name="connsiteY2" fmla="*/ 114300 h 304800"/>
                <a:gd name="connsiteX3" fmla="*/ 1362075 w 1362075"/>
                <a:gd name="connsiteY3" fmla="*/ 0 h 304800"/>
              </a:gdLst>
              <a:ahLst/>
              <a:cxnLst>
                <a:cxn ang="0">
                  <a:pos x="connsiteX0" y="connsiteY0"/>
                </a:cxn>
                <a:cxn ang="0">
                  <a:pos x="connsiteX1" y="connsiteY1"/>
                </a:cxn>
                <a:cxn ang="0">
                  <a:pos x="connsiteX2" y="connsiteY2"/>
                </a:cxn>
                <a:cxn ang="0">
                  <a:pos x="connsiteX3" y="connsiteY3"/>
                </a:cxn>
              </a:cxnLst>
              <a:rect l="l" t="t" r="r" b="b"/>
              <a:pathLst>
                <a:path w="1362075" h="304800">
                  <a:moveTo>
                    <a:pt x="0" y="57150"/>
                  </a:moveTo>
                  <a:cubicBezTo>
                    <a:pt x="124618" y="171450"/>
                    <a:pt x="249237" y="285750"/>
                    <a:pt x="400050" y="295275"/>
                  </a:cubicBezTo>
                  <a:cubicBezTo>
                    <a:pt x="550863" y="304800"/>
                    <a:pt x="744538" y="163513"/>
                    <a:pt x="904875" y="114300"/>
                  </a:cubicBezTo>
                  <a:cubicBezTo>
                    <a:pt x="1065213" y="65088"/>
                    <a:pt x="1213644" y="32544"/>
                    <a:pt x="13620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5391150" y="5419725"/>
              <a:ext cx="638175" cy="561975"/>
            </a:xfrm>
            <a:custGeom>
              <a:avLst/>
              <a:gdLst>
                <a:gd name="connsiteX0" fmla="*/ 0 w 638175"/>
                <a:gd name="connsiteY0" fmla="*/ 561975 h 561975"/>
                <a:gd name="connsiteX1" fmla="*/ 104775 w 638175"/>
                <a:gd name="connsiteY1" fmla="*/ 419100 h 561975"/>
                <a:gd name="connsiteX2" fmla="*/ 485775 w 638175"/>
                <a:gd name="connsiteY2" fmla="*/ 342900 h 561975"/>
                <a:gd name="connsiteX3" fmla="*/ 638175 w 638175"/>
                <a:gd name="connsiteY3" fmla="*/ 0 h 561975"/>
              </a:gdLst>
              <a:ahLst/>
              <a:cxnLst>
                <a:cxn ang="0">
                  <a:pos x="connsiteX0" y="connsiteY0"/>
                </a:cxn>
                <a:cxn ang="0">
                  <a:pos x="connsiteX1" y="connsiteY1"/>
                </a:cxn>
                <a:cxn ang="0">
                  <a:pos x="connsiteX2" y="connsiteY2"/>
                </a:cxn>
                <a:cxn ang="0">
                  <a:pos x="connsiteX3" y="connsiteY3"/>
                </a:cxn>
              </a:cxnLst>
              <a:rect l="l" t="t" r="r" b="b"/>
              <a:pathLst>
                <a:path w="638175" h="561975">
                  <a:moveTo>
                    <a:pt x="0" y="561975"/>
                  </a:moveTo>
                  <a:cubicBezTo>
                    <a:pt x="11906" y="508793"/>
                    <a:pt x="23813" y="455612"/>
                    <a:pt x="104775" y="419100"/>
                  </a:cubicBezTo>
                  <a:cubicBezTo>
                    <a:pt x="185737" y="382588"/>
                    <a:pt x="396875" y="412750"/>
                    <a:pt x="485775" y="342900"/>
                  </a:cubicBezTo>
                  <a:cubicBezTo>
                    <a:pt x="574675" y="273050"/>
                    <a:pt x="606425" y="136525"/>
                    <a:pt x="6381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7620000" y="3581400"/>
              <a:ext cx="12954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Allow remote clients to interface with the DvrSystem as if they were local</a:t>
              </a:r>
              <a:endParaRPr lang="en-US" sz="1200" b="1" dirty="0">
                <a:solidFill>
                  <a:srgbClr val="C00000"/>
                </a:solidFill>
                <a:latin typeface="Bradley Hand ITC" pitchFamily="66" charset="0"/>
              </a:endParaRPr>
            </a:p>
          </p:txBody>
        </p:sp>
        <p:sp>
          <p:nvSpPr>
            <p:cNvPr id="25" name="Freeform 24"/>
            <p:cNvSpPr/>
            <p:nvPr/>
          </p:nvSpPr>
          <p:spPr>
            <a:xfrm>
              <a:off x="7458075" y="3886200"/>
              <a:ext cx="400050" cy="1038225"/>
            </a:xfrm>
            <a:custGeom>
              <a:avLst/>
              <a:gdLst>
                <a:gd name="connsiteX0" fmla="*/ 400050 w 400050"/>
                <a:gd name="connsiteY0" fmla="*/ 9525 h 1038225"/>
                <a:gd name="connsiteX1" fmla="*/ 142875 w 400050"/>
                <a:gd name="connsiteY1" fmla="*/ 142875 h 1038225"/>
                <a:gd name="connsiteX2" fmla="*/ 114300 w 400050"/>
                <a:gd name="connsiteY2" fmla="*/ 866775 h 1038225"/>
                <a:gd name="connsiteX3" fmla="*/ 0 w 400050"/>
                <a:gd name="connsiteY3" fmla="*/ 1038225 h 1038225"/>
              </a:gdLst>
              <a:ahLst/>
              <a:cxnLst>
                <a:cxn ang="0">
                  <a:pos x="connsiteX0" y="connsiteY0"/>
                </a:cxn>
                <a:cxn ang="0">
                  <a:pos x="connsiteX1" y="connsiteY1"/>
                </a:cxn>
                <a:cxn ang="0">
                  <a:pos x="connsiteX2" y="connsiteY2"/>
                </a:cxn>
                <a:cxn ang="0">
                  <a:pos x="connsiteX3" y="connsiteY3"/>
                </a:cxn>
              </a:cxnLst>
              <a:rect l="l" t="t" r="r" b="b"/>
              <a:pathLst>
                <a:path w="400050" h="1038225">
                  <a:moveTo>
                    <a:pt x="400050" y="9525"/>
                  </a:moveTo>
                  <a:cubicBezTo>
                    <a:pt x="295275" y="4762"/>
                    <a:pt x="190500" y="0"/>
                    <a:pt x="142875" y="142875"/>
                  </a:cubicBezTo>
                  <a:cubicBezTo>
                    <a:pt x="95250" y="285750"/>
                    <a:pt x="138112" y="717550"/>
                    <a:pt x="114300" y="866775"/>
                  </a:cubicBezTo>
                  <a:cubicBezTo>
                    <a:pt x="90488" y="1016000"/>
                    <a:pt x="45244" y="1027112"/>
                    <a:pt x="0" y="10382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7620000" y="2438400"/>
              <a:ext cx="1295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Local component that interfaces with the actual DVR hardware</a:t>
              </a:r>
              <a:endParaRPr lang="en-US" sz="1200" b="1" dirty="0">
                <a:solidFill>
                  <a:srgbClr val="C00000"/>
                </a:solidFill>
                <a:latin typeface="Bradley Hand ITC" pitchFamily="66" charset="0"/>
              </a:endParaRPr>
            </a:p>
          </p:txBody>
        </p:sp>
        <p:sp>
          <p:nvSpPr>
            <p:cNvPr id="27" name="Freeform 26"/>
            <p:cNvSpPr/>
            <p:nvPr/>
          </p:nvSpPr>
          <p:spPr>
            <a:xfrm>
              <a:off x="7467600" y="3152775"/>
              <a:ext cx="276225" cy="752475"/>
            </a:xfrm>
            <a:custGeom>
              <a:avLst/>
              <a:gdLst>
                <a:gd name="connsiteX0" fmla="*/ 276225 w 276225"/>
                <a:gd name="connsiteY0" fmla="*/ 0 h 752475"/>
                <a:gd name="connsiteX1" fmla="*/ 142875 w 276225"/>
                <a:gd name="connsiteY1" fmla="*/ 104775 h 752475"/>
                <a:gd name="connsiteX2" fmla="*/ 114300 w 276225"/>
                <a:gd name="connsiteY2" fmla="*/ 590550 h 752475"/>
                <a:gd name="connsiteX3" fmla="*/ 0 w 276225"/>
                <a:gd name="connsiteY3" fmla="*/ 752475 h 752475"/>
              </a:gdLst>
              <a:ahLst/>
              <a:cxnLst>
                <a:cxn ang="0">
                  <a:pos x="connsiteX0" y="connsiteY0"/>
                </a:cxn>
                <a:cxn ang="0">
                  <a:pos x="connsiteX1" y="connsiteY1"/>
                </a:cxn>
                <a:cxn ang="0">
                  <a:pos x="connsiteX2" y="connsiteY2"/>
                </a:cxn>
                <a:cxn ang="0">
                  <a:pos x="connsiteX3" y="connsiteY3"/>
                </a:cxn>
              </a:cxnLst>
              <a:rect l="l" t="t" r="r" b="b"/>
              <a:pathLst>
                <a:path w="276225" h="752475">
                  <a:moveTo>
                    <a:pt x="276225" y="0"/>
                  </a:moveTo>
                  <a:cubicBezTo>
                    <a:pt x="223043" y="3175"/>
                    <a:pt x="169862" y="6350"/>
                    <a:pt x="142875" y="104775"/>
                  </a:cubicBezTo>
                  <a:cubicBezTo>
                    <a:pt x="115888" y="203200"/>
                    <a:pt x="138113" y="482600"/>
                    <a:pt x="114300" y="590550"/>
                  </a:cubicBezTo>
                  <a:cubicBezTo>
                    <a:pt x="90488" y="698500"/>
                    <a:pt x="45244" y="725487"/>
                    <a:pt x="0" y="752475"/>
                  </a:cubicBezTo>
                </a:path>
              </a:pathLst>
            </a:custGeom>
            <a:ln w="6350">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9" name="TextBox 28"/>
          <p:cNvSpPr txBox="1"/>
          <p:nvPr/>
        </p:nvSpPr>
        <p:spPr>
          <a:xfrm>
            <a:off x="7086600" y="838200"/>
            <a:ext cx="1600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Remember, this is NOT the physical view of the system!!</a:t>
            </a:r>
            <a:endParaRPr lang="en-US" sz="1200" b="1" dirty="0">
              <a:solidFill>
                <a:srgbClr val="C00000"/>
              </a:solidFill>
              <a:latin typeface="Bradley Hand ITC"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2057400" y="1447800"/>
            <a:ext cx="4981575" cy="4276725"/>
          </a:xfrm>
          <a:prstGeom prst="rect">
            <a:avLst/>
          </a:prstGeom>
          <a:noFill/>
          <a:ln w="9525">
            <a:noFill/>
            <a:miter lim="800000"/>
            <a:headEnd/>
            <a:tailEnd/>
          </a:ln>
        </p:spPr>
      </p:pic>
      <p:sp>
        <p:nvSpPr>
          <p:cNvPr id="8" name="TextBox 7"/>
          <p:cNvSpPr txBox="1"/>
          <p:nvPr/>
        </p:nvSpPr>
        <p:spPr>
          <a:xfrm>
            <a:off x="457200" y="2362200"/>
            <a:ext cx="1600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Initializing the Broker System</a:t>
            </a:r>
            <a:endParaRPr lang="en-US" sz="1400" b="1" dirty="0">
              <a:solidFill>
                <a:srgbClr val="C00000"/>
              </a:solidFill>
              <a:latin typeface="Bradley Hand ITC" pitchFamily="66" charset="0"/>
            </a:endParaRPr>
          </a:p>
        </p:txBody>
      </p:sp>
      <p:sp>
        <p:nvSpPr>
          <p:cNvPr id="12" name="TextBox 11"/>
          <p:cNvSpPr txBox="1"/>
          <p:nvPr/>
        </p:nvSpPr>
        <p:spPr>
          <a:xfrm>
            <a:off x="7086600" y="2209800"/>
            <a:ext cx="1600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Remember, this is NOT the physical view of the system!!</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1905000" y="1524000"/>
            <a:ext cx="5210175" cy="4581525"/>
          </a:xfrm>
          <a:prstGeom prst="rect">
            <a:avLst/>
          </a:prstGeom>
          <a:noFill/>
          <a:ln w="9525">
            <a:noFill/>
            <a:miter lim="800000"/>
            <a:headEnd/>
            <a:tailEnd/>
          </a:ln>
        </p:spPr>
      </p:pic>
      <p:sp>
        <p:nvSpPr>
          <p:cNvPr id="8" name="TextBox 7"/>
          <p:cNvSpPr txBox="1"/>
          <p:nvPr/>
        </p:nvSpPr>
        <p:spPr>
          <a:xfrm>
            <a:off x="7162800" y="4953000"/>
            <a:ext cx="12954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An async message is received  with the response</a:t>
            </a:r>
            <a:endParaRPr lang="en-US" sz="1400" b="1" dirty="0">
              <a:solidFill>
                <a:srgbClr val="C00000"/>
              </a:solidFill>
              <a:latin typeface="Bradley Hand ITC" pitchFamily="66" charset="0"/>
            </a:endParaRPr>
          </a:p>
        </p:txBody>
      </p:sp>
      <p:sp>
        <p:nvSpPr>
          <p:cNvPr id="9" name="Freeform 8"/>
          <p:cNvSpPr/>
          <p:nvPr/>
        </p:nvSpPr>
        <p:spPr>
          <a:xfrm>
            <a:off x="6696075" y="5048250"/>
            <a:ext cx="657225" cy="19208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57200" y="2362200"/>
            <a:ext cx="1828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Requesting for available disk space</a:t>
            </a:r>
            <a:endParaRPr lang="en-US" sz="1400" b="1" dirty="0">
              <a:solidFill>
                <a:srgbClr val="C00000"/>
              </a:solidFill>
              <a:latin typeface="Bradley Hand ITC" pitchFamily="66" charset="0"/>
            </a:endParaRPr>
          </a:p>
        </p:txBody>
      </p:sp>
      <p:sp>
        <p:nvSpPr>
          <p:cNvPr id="11" name="TextBox 10"/>
          <p:cNvSpPr txBox="1"/>
          <p:nvPr/>
        </p:nvSpPr>
        <p:spPr>
          <a:xfrm>
            <a:off x="7086600" y="3200400"/>
            <a:ext cx="1905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An async message is sent out to the server</a:t>
            </a:r>
            <a:endParaRPr lang="en-US" sz="1400" b="1" dirty="0">
              <a:solidFill>
                <a:srgbClr val="C00000"/>
              </a:solidFill>
              <a:latin typeface="Bradley Hand ITC" pitchFamily="66" charset="0"/>
            </a:endParaRPr>
          </a:p>
        </p:txBody>
      </p:sp>
      <p:sp>
        <p:nvSpPr>
          <p:cNvPr id="12" name="Freeform 11"/>
          <p:cNvSpPr/>
          <p:nvPr/>
        </p:nvSpPr>
        <p:spPr>
          <a:xfrm>
            <a:off x="6772275" y="3562350"/>
            <a:ext cx="428625" cy="638175"/>
          </a:xfrm>
          <a:custGeom>
            <a:avLst/>
            <a:gdLst>
              <a:gd name="connsiteX0" fmla="*/ 428625 w 428625"/>
              <a:gd name="connsiteY0" fmla="*/ 0 h 638175"/>
              <a:gd name="connsiteX1" fmla="*/ 276225 w 428625"/>
              <a:gd name="connsiteY1" fmla="*/ 133350 h 638175"/>
              <a:gd name="connsiteX2" fmla="*/ 228600 w 428625"/>
              <a:gd name="connsiteY2" fmla="*/ 476250 h 638175"/>
              <a:gd name="connsiteX3" fmla="*/ 0 w 428625"/>
              <a:gd name="connsiteY3" fmla="*/ 638175 h 638175"/>
            </a:gdLst>
            <a:ahLst/>
            <a:cxnLst>
              <a:cxn ang="0">
                <a:pos x="connsiteX0" y="connsiteY0"/>
              </a:cxn>
              <a:cxn ang="0">
                <a:pos x="connsiteX1" y="connsiteY1"/>
              </a:cxn>
              <a:cxn ang="0">
                <a:pos x="connsiteX2" y="connsiteY2"/>
              </a:cxn>
              <a:cxn ang="0">
                <a:pos x="connsiteX3" y="connsiteY3"/>
              </a:cxn>
            </a:cxnLst>
            <a:rect l="l" t="t" r="r" b="b"/>
            <a:pathLst>
              <a:path w="428625" h="638175">
                <a:moveTo>
                  <a:pt x="428625" y="0"/>
                </a:moveTo>
                <a:cubicBezTo>
                  <a:pt x="369093" y="26987"/>
                  <a:pt x="309562" y="53975"/>
                  <a:pt x="276225" y="133350"/>
                </a:cubicBezTo>
                <a:cubicBezTo>
                  <a:pt x="242888" y="212725"/>
                  <a:pt x="274637" y="392113"/>
                  <a:pt x="228600" y="476250"/>
                </a:cubicBezTo>
                <a:cubicBezTo>
                  <a:pt x="182563" y="560387"/>
                  <a:pt x="91281" y="599281"/>
                  <a:pt x="0" y="6381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7086600" y="2209800"/>
            <a:ext cx="1600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Remember, this is NOT the physical view of the system!!</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17" name="Group 16"/>
          <p:cNvGrpSpPr/>
          <p:nvPr/>
        </p:nvGrpSpPr>
        <p:grpSpPr>
          <a:xfrm>
            <a:off x="609600" y="1738313"/>
            <a:ext cx="8001000" cy="3890307"/>
            <a:chOff x="990600" y="1738313"/>
            <a:chExt cx="8001000" cy="3890307"/>
          </a:xfrm>
        </p:grpSpPr>
        <p:pic>
          <p:nvPicPr>
            <p:cNvPr id="6146" name="Picture 2"/>
            <p:cNvPicPr>
              <a:picLocks noChangeAspect="1" noChangeArrowheads="1"/>
            </p:cNvPicPr>
            <p:nvPr/>
          </p:nvPicPr>
          <p:blipFill>
            <a:blip r:embed="rId2" cstate="print"/>
            <a:srcRect/>
            <a:stretch>
              <a:fillRect/>
            </a:stretch>
          </p:blipFill>
          <p:spPr bwMode="auto">
            <a:xfrm>
              <a:off x="2576513" y="1738313"/>
              <a:ext cx="3990975" cy="3381375"/>
            </a:xfrm>
            <a:prstGeom prst="rect">
              <a:avLst/>
            </a:prstGeom>
            <a:noFill/>
            <a:ln w="9525">
              <a:noFill/>
              <a:miter lim="800000"/>
              <a:headEnd/>
              <a:tailEnd/>
            </a:ln>
          </p:spPr>
        </p:pic>
        <p:sp>
          <p:nvSpPr>
            <p:cNvPr id="8" name="TextBox 7"/>
            <p:cNvSpPr txBox="1"/>
            <p:nvPr/>
          </p:nvSpPr>
          <p:spPr>
            <a:xfrm>
              <a:off x="6324600" y="2667000"/>
              <a:ext cx="2057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Retrieve the message id to determine that it is a get free space command</a:t>
              </a:r>
              <a:endParaRPr lang="en-US" sz="1400" b="1" dirty="0">
                <a:solidFill>
                  <a:srgbClr val="C00000"/>
                </a:solidFill>
                <a:latin typeface="Bradley Hand ITC" pitchFamily="66" charset="0"/>
              </a:endParaRPr>
            </a:p>
          </p:txBody>
        </p:sp>
        <p:sp>
          <p:nvSpPr>
            <p:cNvPr id="9" name="Freeform 8"/>
            <p:cNvSpPr/>
            <p:nvPr/>
          </p:nvSpPr>
          <p:spPr>
            <a:xfrm>
              <a:off x="5781675" y="2838450"/>
              <a:ext cx="657225" cy="19208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990600" y="2286000"/>
              <a:ext cx="1524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Meanwhile, on the server side…</a:t>
              </a:r>
              <a:endParaRPr lang="en-US" sz="1400" b="1" dirty="0">
                <a:solidFill>
                  <a:srgbClr val="C00000"/>
                </a:solidFill>
                <a:latin typeface="Bradley Hand ITC" pitchFamily="66" charset="0"/>
              </a:endParaRPr>
            </a:p>
          </p:txBody>
        </p:sp>
        <p:sp>
          <p:nvSpPr>
            <p:cNvPr id="11" name="TextBox 10"/>
            <p:cNvSpPr txBox="1"/>
            <p:nvPr/>
          </p:nvSpPr>
          <p:spPr>
            <a:xfrm>
              <a:off x="6400800" y="3505200"/>
              <a:ext cx="2514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Requests the free space data from the actual DVR system</a:t>
              </a:r>
              <a:endParaRPr lang="en-US" sz="1400" b="1" dirty="0">
                <a:solidFill>
                  <a:srgbClr val="C00000"/>
                </a:solidFill>
                <a:latin typeface="Bradley Hand ITC" pitchFamily="66" charset="0"/>
              </a:endParaRPr>
            </a:p>
          </p:txBody>
        </p:sp>
        <p:sp>
          <p:nvSpPr>
            <p:cNvPr id="12" name="Freeform 11"/>
            <p:cNvSpPr/>
            <p:nvPr/>
          </p:nvSpPr>
          <p:spPr>
            <a:xfrm>
              <a:off x="6248400" y="3886200"/>
              <a:ext cx="657225" cy="19208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6019800" y="4648200"/>
              <a:ext cx="29718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Package the response in whatever format the system requires for transmission over the network</a:t>
              </a:r>
              <a:endParaRPr lang="en-US" sz="1400" b="1" dirty="0">
                <a:solidFill>
                  <a:srgbClr val="C00000"/>
                </a:solidFill>
                <a:latin typeface="Bradley Hand ITC" pitchFamily="66" charset="0"/>
              </a:endParaRPr>
            </a:p>
          </p:txBody>
        </p:sp>
        <p:sp>
          <p:nvSpPr>
            <p:cNvPr id="14" name="Freeform 13"/>
            <p:cNvSpPr/>
            <p:nvPr/>
          </p:nvSpPr>
          <p:spPr>
            <a:xfrm rot="1241727">
              <a:off x="4951599" y="4717321"/>
              <a:ext cx="1295400" cy="228600"/>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4038600" y="5105400"/>
              <a:ext cx="1600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Send the response to the broker</a:t>
              </a:r>
              <a:endParaRPr lang="en-US" sz="1400" b="1" dirty="0">
                <a:solidFill>
                  <a:srgbClr val="C00000"/>
                </a:solidFill>
                <a:latin typeface="Bradley Hand ITC" pitchFamily="66" charset="0"/>
              </a:endParaRPr>
            </a:p>
          </p:txBody>
        </p:sp>
        <p:sp>
          <p:nvSpPr>
            <p:cNvPr id="16" name="Freeform 15"/>
            <p:cNvSpPr/>
            <p:nvPr/>
          </p:nvSpPr>
          <p:spPr>
            <a:xfrm rot="1241727">
              <a:off x="3283019" y="5070244"/>
              <a:ext cx="1076337" cy="23285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 Architectural Pattern</a:t>
            </a:r>
            <a:endParaRPr lang="en-US" dirty="0"/>
          </a:p>
        </p:txBody>
      </p:sp>
      <p:sp>
        <p:nvSpPr>
          <p:cNvPr id="3" name="Content Placeholder 2"/>
          <p:cNvSpPr>
            <a:spLocks noGrp="1"/>
          </p:cNvSpPr>
          <p:nvPr>
            <p:ph idx="1"/>
          </p:nvPr>
        </p:nvSpPr>
        <p:spPr/>
        <p:txBody>
          <a:bodyPr/>
          <a:lstStyle/>
          <a:p>
            <a:r>
              <a:rPr lang="en-US" dirty="0" smtClean="0"/>
              <a:t>Quality properties of the Broker architectural pattern include the ones specified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1638300" y="2428875"/>
            <a:ext cx="5867400" cy="20002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Systems</a:t>
            </a:r>
            <a:endParaRPr lang="en-US" dirty="0"/>
          </a:p>
        </p:txBody>
      </p:sp>
      <p:sp>
        <p:nvSpPr>
          <p:cNvPr id="3" name="Content Placeholder 2"/>
          <p:cNvSpPr>
            <a:spLocks noGrp="1"/>
          </p:cNvSpPr>
          <p:nvPr>
            <p:ph idx="1"/>
          </p:nvPr>
        </p:nvSpPr>
        <p:spPr>
          <a:xfrm>
            <a:off x="457200" y="1371601"/>
            <a:ext cx="8229600" cy="3428999"/>
          </a:xfrm>
        </p:spPr>
        <p:txBody>
          <a:bodyPr>
            <a:normAutofit fontScale="92500"/>
          </a:bodyPr>
          <a:lstStyle/>
          <a:p>
            <a:r>
              <a:rPr lang="en-US" dirty="0" smtClean="0"/>
              <a:t>Interactive systems support user interactions, typically through user interfaces.</a:t>
            </a:r>
          </a:p>
          <a:p>
            <a:pPr lvl="1"/>
            <a:r>
              <a:rPr lang="en-US" dirty="0" smtClean="0"/>
              <a:t>When designing these systems, two main quality attributes are of interest:</a:t>
            </a:r>
          </a:p>
          <a:p>
            <a:pPr lvl="2"/>
            <a:r>
              <a:rPr lang="en-US" dirty="0" smtClean="0"/>
              <a:t>Usability</a:t>
            </a:r>
          </a:p>
          <a:p>
            <a:pPr lvl="2"/>
            <a:r>
              <a:rPr lang="en-US" dirty="0" smtClean="0"/>
              <a:t>Modifiability</a:t>
            </a:r>
          </a:p>
          <a:p>
            <a:pPr lvl="2"/>
            <a:endParaRPr lang="en-US" dirty="0" smtClean="0"/>
          </a:p>
          <a:p>
            <a:r>
              <a:rPr lang="en-US" dirty="0" smtClean="0"/>
              <a:t>The mainstream architectural pattern employed in most interactive systems is the Model-View-Controller (MVC).</a:t>
            </a:r>
          </a:p>
          <a:p>
            <a:endParaRPr lang="en-US" dirty="0" smtClean="0"/>
          </a:p>
          <a:p>
            <a:r>
              <a:rPr lang="en-US" dirty="0" smtClean="0"/>
              <a:t>The MVC pattern is used in interactive applications that require flexible incorporation of human-computer interfaces.  With the MVC, systems are decomposed into three main types of components:</a:t>
            </a:r>
          </a:p>
          <a:p>
            <a:pPr lvl="1"/>
            <a:endParaRPr lang="en-US" dirty="0" smtClean="0"/>
          </a:p>
          <a:p>
            <a:pPr lvl="1"/>
            <a:endParaRPr lang="en-US" dirty="0" smtClean="0"/>
          </a:p>
          <a:p>
            <a:pPr lvl="1"/>
            <a:endParaRPr lang="en-US" dirty="0" smtClean="0"/>
          </a:p>
          <a:p>
            <a:pPr lvl="1"/>
            <a:endParaRPr lang="en-US" dirty="0" smtClean="0"/>
          </a:p>
          <a:p>
            <a:pPr lvl="1"/>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26" name="Picture 2"/>
          <p:cNvPicPr>
            <a:picLocks noChangeAspect="1" noChangeArrowheads="1"/>
          </p:cNvPicPr>
          <p:nvPr/>
        </p:nvPicPr>
        <p:blipFill>
          <a:blip r:embed="rId2" cstate="print"/>
          <a:srcRect/>
          <a:stretch>
            <a:fillRect/>
          </a:stretch>
        </p:blipFill>
        <p:spPr bwMode="auto">
          <a:xfrm>
            <a:off x="1752600" y="4876800"/>
            <a:ext cx="5905500" cy="1133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Model-View-Controller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grpSp>
        <p:nvGrpSpPr>
          <p:cNvPr id="46" name="Group 45"/>
          <p:cNvGrpSpPr/>
          <p:nvPr/>
        </p:nvGrpSpPr>
        <p:grpSpPr>
          <a:xfrm>
            <a:off x="3048000" y="1600200"/>
            <a:ext cx="2590800" cy="2044244"/>
            <a:chOff x="5943600" y="3733800"/>
            <a:chExt cx="2590800" cy="2044244"/>
          </a:xfrm>
        </p:grpSpPr>
        <p:grpSp>
          <p:nvGrpSpPr>
            <p:cNvPr id="23" name="Group 22"/>
            <p:cNvGrpSpPr/>
            <p:nvPr/>
          </p:nvGrpSpPr>
          <p:grpSpPr>
            <a:xfrm>
              <a:off x="6324600" y="3733800"/>
              <a:ext cx="2209800" cy="1878688"/>
              <a:chOff x="2209800" y="3670756"/>
              <a:chExt cx="2209800" cy="1878688"/>
            </a:xfrm>
          </p:grpSpPr>
          <p:pic>
            <p:nvPicPr>
              <p:cNvPr id="24" name="Picture 3"/>
              <p:cNvPicPr>
                <a:picLocks noChangeAspect="1" noChangeArrowheads="1"/>
              </p:cNvPicPr>
              <p:nvPr/>
            </p:nvPicPr>
            <p:blipFill>
              <a:blip r:embed="rId2" cstate="print"/>
              <a:srcRect/>
              <a:stretch>
                <a:fillRect/>
              </a:stretch>
            </p:blipFill>
            <p:spPr bwMode="auto">
              <a:xfrm>
                <a:off x="2819400" y="3867150"/>
                <a:ext cx="485775" cy="504825"/>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3352800" y="3886200"/>
                <a:ext cx="466725" cy="485775"/>
              </a:xfrm>
              <a:prstGeom prst="rect">
                <a:avLst/>
              </a:prstGeom>
              <a:noFill/>
              <a:ln w="9525">
                <a:noFill/>
                <a:miter lim="800000"/>
                <a:headEnd/>
                <a:tailEnd/>
              </a:ln>
            </p:spPr>
          </p:pic>
          <p:pic>
            <p:nvPicPr>
              <p:cNvPr id="26" name="Picture 5"/>
              <p:cNvPicPr>
                <a:picLocks noChangeAspect="1" noChangeArrowheads="1"/>
              </p:cNvPicPr>
              <p:nvPr/>
            </p:nvPicPr>
            <p:blipFill>
              <a:blip r:embed="rId4" cstate="print"/>
              <a:srcRect/>
              <a:stretch>
                <a:fillRect/>
              </a:stretch>
            </p:blipFill>
            <p:spPr bwMode="auto">
              <a:xfrm>
                <a:off x="3886200" y="3867149"/>
                <a:ext cx="533400" cy="481781"/>
              </a:xfrm>
              <a:prstGeom prst="rect">
                <a:avLst/>
              </a:prstGeom>
              <a:noFill/>
              <a:ln w="9525">
                <a:noFill/>
                <a:miter lim="800000"/>
                <a:headEnd/>
                <a:tailEnd/>
              </a:ln>
            </p:spPr>
          </p:pic>
          <p:pic>
            <p:nvPicPr>
              <p:cNvPr id="27" name="Picture 6"/>
              <p:cNvPicPr>
                <a:picLocks noChangeAspect="1" noChangeArrowheads="1"/>
              </p:cNvPicPr>
              <p:nvPr/>
            </p:nvPicPr>
            <p:blipFill>
              <a:blip r:embed="rId5" cstate="print"/>
              <a:srcRect/>
              <a:stretch>
                <a:fillRect/>
              </a:stretch>
            </p:blipFill>
            <p:spPr bwMode="auto">
              <a:xfrm>
                <a:off x="2286000" y="3867150"/>
                <a:ext cx="504825" cy="504825"/>
              </a:xfrm>
              <a:prstGeom prst="rect">
                <a:avLst/>
              </a:prstGeom>
              <a:noFill/>
              <a:ln w="9525">
                <a:noFill/>
                <a:miter lim="800000"/>
                <a:headEnd/>
                <a:tailEnd/>
              </a:ln>
            </p:spPr>
          </p:pic>
          <p:sp>
            <p:nvSpPr>
              <p:cNvPr id="28" name="Flowchart: Magnetic Disk 27"/>
              <p:cNvSpPr/>
              <p:nvPr/>
            </p:nvSpPr>
            <p:spPr>
              <a:xfrm>
                <a:off x="3124200" y="4953000"/>
                <a:ext cx="457200" cy="381000"/>
              </a:xfrm>
              <a:prstGeom prst="flowChartMagneticDisk">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2505075" y="4343400"/>
                <a:ext cx="619125" cy="800100"/>
              </a:xfrm>
              <a:custGeom>
                <a:avLst/>
                <a:gdLst>
                  <a:gd name="connsiteX0" fmla="*/ 619125 w 619125"/>
                  <a:gd name="connsiteY0" fmla="*/ 800100 h 800100"/>
                  <a:gd name="connsiteX1" fmla="*/ 276225 w 619125"/>
                  <a:gd name="connsiteY1" fmla="*/ 685800 h 800100"/>
                  <a:gd name="connsiteX2" fmla="*/ 257175 w 619125"/>
                  <a:gd name="connsiteY2" fmla="*/ 371475 h 800100"/>
                  <a:gd name="connsiteX3" fmla="*/ 57150 w 619125"/>
                  <a:gd name="connsiteY3" fmla="*/ 200025 h 800100"/>
                  <a:gd name="connsiteX4" fmla="*/ 0 w 619125"/>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5" h="800100">
                    <a:moveTo>
                      <a:pt x="619125" y="800100"/>
                    </a:moveTo>
                    <a:cubicBezTo>
                      <a:pt x="477837" y="778668"/>
                      <a:pt x="336550" y="757237"/>
                      <a:pt x="276225" y="685800"/>
                    </a:cubicBezTo>
                    <a:cubicBezTo>
                      <a:pt x="215900" y="614363"/>
                      <a:pt x="293687" y="452437"/>
                      <a:pt x="257175" y="371475"/>
                    </a:cubicBezTo>
                    <a:cubicBezTo>
                      <a:pt x="220663" y="290513"/>
                      <a:pt x="100013" y="261938"/>
                      <a:pt x="57150" y="200025"/>
                    </a:cubicBezTo>
                    <a:cubicBezTo>
                      <a:pt x="14288" y="138113"/>
                      <a:pt x="7144" y="69056"/>
                      <a:pt x="0" y="0"/>
                    </a:cubicBezTo>
                  </a:path>
                </a:pathLst>
              </a:custGeom>
              <a:ln w="6350">
                <a:solidFill>
                  <a:schemeClr val="tx1"/>
                </a:solidFill>
                <a:prstDash val="das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Freeform 29"/>
              <p:cNvSpPr/>
              <p:nvPr/>
            </p:nvSpPr>
            <p:spPr>
              <a:xfrm>
                <a:off x="3011488" y="4352925"/>
                <a:ext cx="207962" cy="590550"/>
              </a:xfrm>
              <a:custGeom>
                <a:avLst/>
                <a:gdLst>
                  <a:gd name="connsiteX0" fmla="*/ 207962 w 207962"/>
                  <a:gd name="connsiteY0" fmla="*/ 590550 h 590550"/>
                  <a:gd name="connsiteX1" fmla="*/ 7937 w 207962"/>
                  <a:gd name="connsiteY1" fmla="*/ 400050 h 590550"/>
                  <a:gd name="connsiteX2" fmla="*/ 160337 w 207962"/>
                  <a:gd name="connsiteY2" fmla="*/ 209550 h 590550"/>
                  <a:gd name="connsiteX3" fmla="*/ 74612 w 207962"/>
                  <a:gd name="connsiteY3" fmla="*/ 0 h 590550"/>
                </a:gdLst>
                <a:ahLst/>
                <a:cxnLst>
                  <a:cxn ang="0">
                    <a:pos x="connsiteX0" y="connsiteY0"/>
                  </a:cxn>
                  <a:cxn ang="0">
                    <a:pos x="connsiteX1" y="connsiteY1"/>
                  </a:cxn>
                  <a:cxn ang="0">
                    <a:pos x="connsiteX2" y="connsiteY2"/>
                  </a:cxn>
                  <a:cxn ang="0">
                    <a:pos x="connsiteX3" y="connsiteY3"/>
                  </a:cxn>
                </a:cxnLst>
                <a:rect l="l" t="t" r="r" b="b"/>
                <a:pathLst>
                  <a:path w="207962" h="590550">
                    <a:moveTo>
                      <a:pt x="207962" y="590550"/>
                    </a:moveTo>
                    <a:cubicBezTo>
                      <a:pt x="111918" y="527050"/>
                      <a:pt x="15874" y="463550"/>
                      <a:pt x="7937" y="400050"/>
                    </a:cubicBezTo>
                    <a:cubicBezTo>
                      <a:pt x="0" y="336550"/>
                      <a:pt x="149225" y="276225"/>
                      <a:pt x="160337" y="209550"/>
                    </a:cubicBezTo>
                    <a:cubicBezTo>
                      <a:pt x="171450" y="142875"/>
                      <a:pt x="123031" y="71437"/>
                      <a:pt x="74612" y="0"/>
                    </a:cubicBezTo>
                  </a:path>
                </a:pathLst>
              </a:cu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Freeform 30"/>
              <p:cNvSpPr/>
              <p:nvPr/>
            </p:nvSpPr>
            <p:spPr>
              <a:xfrm>
                <a:off x="3448050" y="4343400"/>
                <a:ext cx="290513" cy="609600"/>
              </a:xfrm>
              <a:custGeom>
                <a:avLst/>
                <a:gdLst>
                  <a:gd name="connsiteX0" fmla="*/ 0 w 290513"/>
                  <a:gd name="connsiteY0" fmla="*/ 609600 h 609600"/>
                  <a:gd name="connsiteX1" fmla="*/ 171450 w 290513"/>
                  <a:gd name="connsiteY1" fmla="*/ 466725 h 609600"/>
                  <a:gd name="connsiteX2" fmla="*/ 85725 w 290513"/>
                  <a:gd name="connsiteY2" fmla="*/ 285750 h 609600"/>
                  <a:gd name="connsiteX3" fmla="*/ 266700 w 290513"/>
                  <a:gd name="connsiteY3" fmla="*/ 161925 h 609600"/>
                  <a:gd name="connsiteX4" fmla="*/ 228600 w 290513"/>
                  <a:gd name="connsiteY4" fmla="*/ 0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513" h="609600">
                    <a:moveTo>
                      <a:pt x="0" y="609600"/>
                    </a:moveTo>
                    <a:cubicBezTo>
                      <a:pt x="78581" y="565150"/>
                      <a:pt x="157163" y="520700"/>
                      <a:pt x="171450" y="466725"/>
                    </a:cubicBezTo>
                    <a:cubicBezTo>
                      <a:pt x="185738" y="412750"/>
                      <a:pt x="69850" y="336550"/>
                      <a:pt x="85725" y="285750"/>
                    </a:cubicBezTo>
                    <a:cubicBezTo>
                      <a:pt x="101600" y="234950"/>
                      <a:pt x="242888" y="209550"/>
                      <a:pt x="266700" y="161925"/>
                    </a:cubicBezTo>
                    <a:cubicBezTo>
                      <a:pt x="290513" y="114300"/>
                      <a:pt x="259556" y="57150"/>
                      <a:pt x="228600" y="0"/>
                    </a:cubicBezTo>
                  </a:path>
                </a:pathLst>
              </a:cu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a:off x="3590925" y="4362450"/>
                <a:ext cx="676275" cy="771525"/>
              </a:xfrm>
              <a:custGeom>
                <a:avLst/>
                <a:gdLst>
                  <a:gd name="connsiteX0" fmla="*/ 0 w 676275"/>
                  <a:gd name="connsiteY0" fmla="*/ 771525 h 771525"/>
                  <a:gd name="connsiteX1" fmla="*/ 371475 w 676275"/>
                  <a:gd name="connsiteY1" fmla="*/ 581025 h 771525"/>
                  <a:gd name="connsiteX2" fmla="*/ 352425 w 676275"/>
                  <a:gd name="connsiteY2" fmla="*/ 285750 h 771525"/>
                  <a:gd name="connsiteX3" fmla="*/ 619125 w 676275"/>
                  <a:gd name="connsiteY3" fmla="*/ 142875 h 771525"/>
                  <a:gd name="connsiteX4" fmla="*/ 676275 w 676275"/>
                  <a:gd name="connsiteY4" fmla="*/ 0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5" h="771525">
                    <a:moveTo>
                      <a:pt x="0" y="771525"/>
                    </a:moveTo>
                    <a:cubicBezTo>
                      <a:pt x="156369" y="716756"/>
                      <a:pt x="312738" y="661988"/>
                      <a:pt x="371475" y="581025"/>
                    </a:cubicBezTo>
                    <a:cubicBezTo>
                      <a:pt x="430213" y="500063"/>
                      <a:pt x="311150" y="358775"/>
                      <a:pt x="352425" y="285750"/>
                    </a:cubicBezTo>
                    <a:cubicBezTo>
                      <a:pt x="393700" y="212725"/>
                      <a:pt x="565150" y="190500"/>
                      <a:pt x="619125" y="142875"/>
                    </a:cubicBezTo>
                    <a:cubicBezTo>
                      <a:pt x="673100" y="95250"/>
                      <a:pt x="674687" y="47625"/>
                      <a:pt x="676275" y="0"/>
                    </a:cubicBezTo>
                  </a:path>
                </a:pathLst>
              </a:cu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3048000" y="5334000"/>
                <a:ext cx="598241" cy="215444"/>
              </a:xfrm>
              <a:prstGeom prst="rect">
                <a:avLst/>
              </a:prstGeom>
              <a:noFill/>
            </p:spPr>
            <p:txBody>
              <a:bodyPr wrap="none" rtlCol="0">
                <a:spAutoFit/>
              </a:bodyPr>
              <a:lstStyle/>
              <a:p>
                <a:r>
                  <a:rPr lang="en-US" sz="800" dirty="0" smtClean="0"/>
                  <a:t>Core Data</a:t>
                </a:r>
                <a:endParaRPr lang="en-US" sz="800" dirty="0"/>
              </a:p>
            </p:txBody>
          </p:sp>
          <p:sp>
            <p:nvSpPr>
              <p:cNvPr id="34" name="TextBox 33"/>
              <p:cNvSpPr txBox="1"/>
              <p:nvPr/>
            </p:nvSpPr>
            <p:spPr>
              <a:xfrm>
                <a:off x="2209800" y="3676650"/>
                <a:ext cx="607859" cy="215444"/>
              </a:xfrm>
              <a:prstGeom prst="rect">
                <a:avLst/>
              </a:prstGeom>
              <a:noFill/>
            </p:spPr>
            <p:txBody>
              <a:bodyPr wrap="none" rtlCol="0">
                <a:spAutoFit/>
              </a:bodyPr>
              <a:lstStyle/>
              <a:p>
                <a:r>
                  <a:rPr lang="en-US" sz="800" dirty="0" smtClean="0"/>
                  <a:t>Line Chart</a:t>
                </a:r>
                <a:endParaRPr lang="en-US" sz="800" dirty="0"/>
              </a:p>
            </p:txBody>
          </p:sp>
          <p:sp>
            <p:nvSpPr>
              <p:cNvPr id="35" name="TextBox 34"/>
              <p:cNvSpPr txBox="1"/>
              <p:nvPr/>
            </p:nvSpPr>
            <p:spPr>
              <a:xfrm>
                <a:off x="2777001" y="3670756"/>
                <a:ext cx="575799" cy="215444"/>
              </a:xfrm>
              <a:prstGeom prst="rect">
                <a:avLst/>
              </a:prstGeom>
              <a:noFill/>
            </p:spPr>
            <p:txBody>
              <a:bodyPr wrap="none" rtlCol="0">
                <a:spAutoFit/>
              </a:bodyPr>
              <a:lstStyle/>
              <a:p>
                <a:r>
                  <a:rPr lang="en-US" sz="800" dirty="0" smtClean="0"/>
                  <a:t>Bar Chart</a:t>
                </a:r>
                <a:endParaRPr lang="en-US" sz="800" dirty="0"/>
              </a:p>
            </p:txBody>
          </p:sp>
          <p:sp>
            <p:nvSpPr>
              <p:cNvPr id="36" name="TextBox 35"/>
              <p:cNvSpPr txBox="1"/>
              <p:nvPr/>
            </p:nvSpPr>
            <p:spPr>
              <a:xfrm>
                <a:off x="3276600" y="3670756"/>
                <a:ext cx="562975" cy="215444"/>
              </a:xfrm>
              <a:prstGeom prst="rect">
                <a:avLst/>
              </a:prstGeom>
              <a:noFill/>
            </p:spPr>
            <p:txBody>
              <a:bodyPr wrap="none" rtlCol="0">
                <a:spAutoFit/>
              </a:bodyPr>
              <a:lstStyle/>
              <a:p>
                <a:r>
                  <a:rPr lang="en-US" sz="800" dirty="0" smtClean="0"/>
                  <a:t>Pie Chart</a:t>
                </a:r>
                <a:endParaRPr lang="en-US" sz="800" dirty="0"/>
              </a:p>
            </p:txBody>
          </p:sp>
          <p:sp>
            <p:nvSpPr>
              <p:cNvPr id="37" name="TextBox 36"/>
              <p:cNvSpPr txBox="1"/>
              <p:nvPr/>
            </p:nvSpPr>
            <p:spPr>
              <a:xfrm>
                <a:off x="3929504" y="3670756"/>
                <a:ext cx="413896" cy="215444"/>
              </a:xfrm>
              <a:prstGeom prst="rect">
                <a:avLst/>
              </a:prstGeom>
              <a:noFill/>
            </p:spPr>
            <p:txBody>
              <a:bodyPr wrap="none" rtlCol="0">
                <a:spAutoFit/>
              </a:bodyPr>
              <a:lstStyle/>
              <a:p>
                <a:r>
                  <a:rPr lang="en-US" sz="800" dirty="0" smtClean="0"/>
                  <a:t>Table</a:t>
                </a:r>
                <a:endParaRPr lang="en-US" sz="800" dirty="0"/>
              </a:p>
            </p:txBody>
          </p:sp>
        </p:grpSp>
        <p:sp>
          <p:nvSpPr>
            <p:cNvPr id="43" name="TextBox 42"/>
            <p:cNvSpPr txBox="1"/>
            <p:nvPr/>
          </p:nvSpPr>
          <p:spPr>
            <a:xfrm>
              <a:off x="6248400" y="5562600"/>
              <a:ext cx="482824" cy="215444"/>
            </a:xfrm>
            <a:prstGeom prst="rect">
              <a:avLst/>
            </a:prstGeom>
            <a:noFill/>
          </p:spPr>
          <p:txBody>
            <a:bodyPr wrap="none" rtlCol="0">
              <a:spAutoFit/>
            </a:bodyPr>
            <a:lstStyle/>
            <a:p>
              <a:r>
                <a:rPr lang="en-US" sz="800" dirty="0" smtClean="0"/>
                <a:t>Data In</a:t>
              </a:r>
              <a:endParaRPr lang="en-US" sz="800" dirty="0"/>
            </a:p>
          </p:txBody>
        </p:sp>
        <p:sp>
          <p:nvSpPr>
            <p:cNvPr id="44" name="Freeform 43"/>
            <p:cNvSpPr/>
            <p:nvPr/>
          </p:nvSpPr>
          <p:spPr>
            <a:xfrm>
              <a:off x="6686550" y="5334000"/>
              <a:ext cx="552450" cy="342900"/>
            </a:xfrm>
            <a:custGeom>
              <a:avLst/>
              <a:gdLst>
                <a:gd name="connsiteX0" fmla="*/ 0 w 552450"/>
                <a:gd name="connsiteY0" fmla="*/ 552450 h 552450"/>
                <a:gd name="connsiteX1" fmla="*/ 314325 w 552450"/>
                <a:gd name="connsiteY1" fmla="*/ 419100 h 552450"/>
                <a:gd name="connsiteX2" fmla="*/ 323850 w 552450"/>
                <a:gd name="connsiteY2" fmla="*/ 171450 h 552450"/>
                <a:gd name="connsiteX3" fmla="*/ 552450 w 552450"/>
                <a:gd name="connsiteY3" fmla="*/ 0 h 552450"/>
              </a:gdLst>
              <a:ahLst/>
              <a:cxnLst>
                <a:cxn ang="0">
                  <a:pos x="connsiteX0" y="connsiteY0"/>
                </a:cxn>
                <a:cxn ang="0">
                  <a:pos x="connsiteX1" y="connsiteY1"/>
                </a:cxn>
                <a:cxn ang="0">
                  <a:pos x="connsiteX2" y="connsiteY2"/>
                </a:cxn>
                <a:cxn ang="0">
                  <a:pos x="connsiteX3" y="connsiteY3"/>
                </a:cxn>
              </a:cxnLst>
              <a:rect l="l" t="t" r="r" b="b"/>
              <a:pathLst>
                <a:path w="552450" h="552450">
                  <a:moveTo>
                    <a:pt x="0" y="552450"/>
                  </a:moveTo>
                  <a:cubicBezTo>
                    <a:pt x="130175" y="517525"/>
                    <a:pt x="260350" y="482600"/>
                    <a:pt x="314325" y="419100"/>
                  </a:cubicBezTo>
                  <a:cubicBezTo>
                    <a:pt x="368300" y="355600"/>
                    <a:pt x="284163" y="241300"/>
                    <a:pt x="323850" y="171450"/>
                  </a:cubicBezTo>
                  <a:cubicBezTo>
                    <a:pt x="363537" y="101600"/>
                    <a:pt x="457993" y="50800"/>
                    <a:pt x="552450" y="0"/>
                  </a:cubicBezTo>
                </a:path>
              </a:pathLst>
            </a:custGeom>
            <a:ln w="63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5943600" y="4572000"/>
              <a:ext cx="838200" cy="584775"/>
            </a:xfrm>
            <a:prstGeom prst="rect">
              <a:avLst/>
            </a:prstGeom>
            <a:noFill/>
          </p:spPr>
          <p:txBody>
            <a:bodyPr wrap="square" rtlCol="0">
              <a:spAutoFit/>
            </a:bodyPr>
            <a:lstStyle/>
            <a:p>
              <a:pPr algn="ctr"/>
              <a:r>
                <a:rPr lang="en-US" sz="800" dirty="0" smtClean="0"/>
                <a:t>Different representation of the same data.</a:t>
              </a:r>
              <a:endParaRPr lang="en-US" sz="800" dirty="0"/>
            </a:p>
          </p:txBody>
        </p:sp>
      </p:grpSp>
      <p:sp>
        <p:nvSpPr>
          <p:cNvPr id="39" name="TextBox 38"/>
          <p:cNvSpPr txBox="1"/>
          <p:nvPr/>
        </p:nvSpPr>
        <p:spPr>
          <a:xfrm>
            <a:off x="609600" y="1524000"/>
            <a:ext cx="25908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Consider the popular example where data needs to be represented in different formats</a:t>
            </a:r>
            <a:endParaRPr lang="en-US" sz="1400" b="1" dirty="0">
              <a:solidFill>
                <a:srgbClr val="C00000"/>
              </a:solidFill>
              <a:latin typeface="Bradley Hand ITC" pitchFamily="66" charset="0"/>
            </a:endParaRPr>
          </a:p>
        </p:txBody>
      </p:sp>
      <p:sp>
        <p:nvSpPr>
          <p:cNvPr id="40" name="TextBox 39"/>
          <p:cNvSpPr txBox="1"/>
          <p:nvPr/>
        </p:nvSpPr>
        <p:spPr>
          <a:xfrm>
            <a:off x="5943600" y="1905000"/>
            <a:ext cx="2743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When data changes, all views are updated to reflect the changes.</a:t>
            </a:r>
            <a:endParaRPr lang="en-US" sz="1400" b="1" dirty="0">
              <a:solidFill>
                <a:srgbClr val="C00000"/>
              </a:solidFill>
              <a:latin typeface="Bradley Hand ITC" pitchFamily="66" charset="0"/>
            </a:endParaRPr>
          </a:p>
        </p:txBody>
      </p:sp>
      <p:sp>
        <p:nvSpPr>
          <p:cNvPr id="41" name="Freeform 40"/>
          <p:cNvSpPr/>
          <p:nvPr/>
        </p:nvSpPr>
        <p:spPr>
          <a:xfrm>
            <a:off x="5343525" y="2257425"/>
            <a:ext cx="800100" cy="595313"/>
          </a:xfrm>
          <a:custGeom>
            <a:avLst/>
            <a:gdLst>
              <a:gd name="connsiteX0" fmla="*/ 800100 w 800100"/>
              <a:gd name="connsiteY0" fmla="*/ 0 h 595313"/>
              <a:gd name="connsiteX1" fmla="*/ 466725 w 800100"/>
              <a:gd name="connsiteY1" fmla="*/ 257175 h 595313"/>
              <a:gd name="connsiteX2" fmla="*/ 390525 w 800100"/>
              <a:gd name="connsiteY2" fmla="*/ 542925 h 595313"/>
              <a:gd name="connsiteX3" fmla="*/ 0 w 800100"/>
              <a:gd name="connsiteY3" fmla="*/ 571500 h 595313"/>
            </a:gdLst>
            <a:ahLst/>
            <a:cxnLst>
              <a:cxn ang="0">
                <a:pos x="connsiteX0" y="connsiteY0"/>
              </a:cxn>
              <a:cxn ang="0">
                <a:pos x="connsiteX1" y="connsiteY1"/>
              </a:cxn>
              <a:cxn ang="0">
                <a:pos x="connsiteX2" y="connsiteY2"/>
              </a:cxn>
              <a:cxn ang="0">
                <a:pos x="connsiteX3" y="connsiteY3"/>
              </a:cxn>
            </a:cxnLst>
            <a:rect l="l" t="t" r="r" b="b"/>
            <a:pathLst>
              <a:path w="800100" h="595313">
                <a:moveTo>
                  <a:pt x="800100" y="0"/>
                </a:moveTo>
                <a:cubicBezTo>
                  <a:pt x="667543" y="83344"/>
                  <a:pt x="534987" y="166688"/>
                  <a:pt x="466725" y="257175"/>
                </a:cubicBezTo>
                <a:cubicBezTo>
                  <a:pt x="398463" y="347662"/>
                  <a:pt x="468313" y="490538"/>
                  <a:pt x="390525" y="542925"/>
                </a:cubicBezTo>
                <a:cubicBezTo>
                  <a:pt x="312738" y="595313"/>
                  <a:pt x="156369" y="583406"/>
                  <a:pt x="0" y="571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0" name="Group 59"/>
          <p:cNvGrpSpPr/>
          <p:nvPr/>
        </p:nvGrpSpPr>
        <p:grpSpPr>
          <a:xfrm>
            <a:off x="533400" y="3981450"/>
            <a:ext cx="8458200" cy="2266950"/>
            <a:chOff x="381000" y="3581400"/>
            <a:chExt cx="8458200" cy="2266950"/>
          </a:xfrm>
        </p:grpSpPr>
        <p:pic>
          <p:nvPicPr>
            <p:cNvPr id="38" name="Picture 3"/>
            <p:cNvPicPr>
              <a:picLocks noChangeAspect="1" noChangeArrowheads="1"/>
            </p:cNvPicPr>
            <p:nvPr/>
          </p:nvPicPr>
          <p:blipFill>
            <a:blip r:embed="rId6" cstate="print"/>
            <a:srcRect/>
            <a:stretch>
              <a:fillRect/>
            </a:stretch>
          </p:blipFill>
          <p:spPr bwMode="auto">
            <a:xfrm>
              <a:off x="2362200" y="4267200"/>
              <a:ext cx="4238625" cy="1581150"/>
            </a:xfrm>
            <a:prstGeom prst="rect">
              <a:avLst/>
            </a:prstGeom>
            <a:noFill/>
            <a:ln w="9525">
              <a:noFill/>
              <a:miter lim="800000"/>
              <a:headEnd/>
              <a:tailEnd/>
            </a:ln>
          </p:spPr>
        </p:pic>
        <p:sp>
          <p:nvSpPr>
            <p:cNvPr id="47" name="TextBox 46"/>
            <p:cNvSpPr txBox="1"/>
            <p:nvPr/>
          </p:nvSpPr>
          <p:spPr>
            <a:xfrm>
              <a:off x="457200" y="3581400"/>
              <a:ext cx="2362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Box-and-line diagram of the MVC architectural pattern</a:t>
              </a:r>
              <a:endParaRPr lang="en-US" sz="1400" b="1" dirty="0">
                <a:solidFill>
                  <a:srgbClr val="C00000"/>
                </a:solidFill>
                <a:latin typeface="Bradley Hand ITC" pitchFamily="66" charset="0"/>
              </a:endParaRPr>
            </a:p>
          </p:txBody>
        </p:sp>
        <p:sp>
          <p:nvSpPr>
            <p:cNvPr id="48" name="Freeform 47"/>
            <p:cNvSpPr/>
            <p:nvPr/>
          </p:nvSpPr>
          <p:spPr>
            <a:xfrm>
              <a:off x="1581150" y="4127500"/>
              <a:ext cx="857250" cy="625475"/>
            </a:xfrm>
            <a:custGeom>
              <a:avLst/>
              <a:gdLst>
                <a:gd name="connsiteX0" fmla="*/ 0 w 857250"/>
                <a:gd name="connsiteY0" fmla="*/ 6350 h 625475"/>
                <a:gd name="connsiteX1" fmla="*/ 285750 w 857250"/>
                <a:gd name="connsiteY1" fmla="*/ 82550 h 625475"/>
                <a:gd name="connsiteX2" fmla="*/ 438150 w 857250"/>
                <a:gd name="connsiteY2" fmla="*/ 501650 h 625475"/>
                <a:gd name="connsiteX3" fmla="*/ 857250 w 857250"/>
                <a:gd name="connsiteY3" fmla="*/ 625475 h 625475"/>
              </a:gdLst>
              <a:ahLst/>
              <a:cxnLst>
                <a:cxn ang="0">
                  <a:pos x="connsiteX0" y="connsiteY0"/>
                </a:cxn>
                <a:cxn ang="0">
                  <a:pos x="connsiteX1" y="connsiteY1"/>
                </a:cxn>
                <a:cxn ang="0">
                  <a:pos x="connsiteX2" y="connsiteY2"/>
                </a:cxn>
                <a:cxn ang="0">
                  <a:pos x="connsiteX3" y="connsiteY3"/>
                </a:cxn>
              </a:cxnLst>
              <a:rect l="l" t="t" r="r" b="b"/>
              <a:pathLst>
                <a:path w="857250" h="625475">
                  <a:moveTo>
                    <a:pt x="0" y="6350"/>
                  </a:moveTo>
                  <a:cubicBezTo>
                    <a:pt x="106362" y="3175"/>
                    <a:pt x="212725" y="0"/>
                    <a:pt x="285750" y="82550"/>
                  </a:cubicBezTo>
                  <a:cubicBezTo>
                    <a:pt x="358775" y="165100"/>
                    <a:pt x="342900" y="411163"/>
                    <a:pt x="438150" y="501650"/>
                  </a:cubicBezTo>
                  <a:cubicBezTo>
                    <a:pt x="533400" y="592137"/>
                    <a:pt x="695325" y="608806"/>
                    <a:pt x="857250" y="6254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381000" y="5257800"/>
              <a:ext cx="1752600" cy="430887"/>
            </a:xfrm>
            <a:prstGeom prst="rect">
              <a:avLst/>
            </a:prstGeom>
            <a:noFill/>
          </p:spPr>
          <p:txBody>
            <a:bodyPr wrap="square" rtlCol="0">
              <a:spAutoFit/>
            </a:bodyPr>
            <a:lstStyle/>
            <a:p>
              <a:r>
                <a:rPr lang="en-US" sz="1100" b="1" u="sng" dirty="0" smtClean="0">
                  <a:solidFill>
                    <a:srgbClr val="C00000"/>
                  </a:solidFill>
                  <a:latin typeface="Bradley Hand ITC" pitchFamily="66" charset="0"/>
                </a:rPr>
                <a:t>Model</a:t>
              </a:r>
              <a:r>
                <a:rPr lang="en-US" sz="1100" b="1" dirty="0" smtClean="0">
                  <a:solidFill>
                    <a:srgbClr val="C00000"/>
                  </a:solidFill>
                  <a:latin typeface="Bradley Hand ITC" pitchFamily="66" charset="0"/>
                </a:rPr>
                <a:t>:  Encapsulates core data and functionality</a:t>
              </a:r>
              <a:endParaRPr lang="en-US" sz="1100" b="1" dirty="0">
                <a:solidFill>
                  <a:srgbClr val="C00000"/>
                </a:solidFill>
                <a:latin typeface="Bradley Hand ITC" pitchFamily="66" charset="0"/>
              </a:endParaRPr>
            </a:p>
          </p:txBody>
        </p:sp>
        <p:sp>
          <p:nvSpPr>
            <p:cNvPr id="52" name="TextBox 51"/>
            <p:cNvSpPr txBox="1"/>
            <p:nvPr/>
          </p:nvSpPr>
          <p:spPr>
            <a:xfrm>
              <a:off x="6705600" y="3810000"/>
              <a:ext cx="1524000" cy="938719"/>
            </a:xfrm>
            <a:prstGeom prst="rect">
              <a:avLst/>
            </a:prstGeom>
            <a:noFill/>
          </p:spPr>
          <p:txBody>
            <a:bodyPr wrap="square" rtlCol="0">
              <a:spAutoFit/>
            </a:bodyPr>
            <a:lstStyle/>
            <a:p>
              <a:r>
                <a:rPr lang="en-US" sz="1100" b="1" u="sng" dirty="0" smtClean="0">
                  <a:solidFill>
                    <a:srgbClr val="C00000"/>
                  </a:solidFill>
                  <a:latin typeface="Bradley Hand ITC" pitchFamily="66" charset="0"/>
                </a:rPr>
                <a:t>View</a:t>
              </a:r>
              <a:r>
                <a:rPr lang="en-US" sz="1100" b="1" dirty="0" smtClean="0">
                  <a:solidFill>
                    <a:srgbClr val="C00000"/>
                  </a:solidFill>
                  <a:latin typeface="Bradley Hand ITC" pitchFamily="66" charset="0"/>
                </a:rPr>
                <a:t>:  Display information to the user.  Every View is associated with a Controller.</a:t>
              </a:r>
              <a:endParaRPr lang="en-US" sz="1100" b="1" dirty="0">
                <a:solidFill>
                  <a:srgbClr val="C00000"/>
                </a:solidFill>
                <a:latin typeface="Bradley Hand ITC" pitchFamily="66" charset="0"/>
              </a:endParaRPr>
            </a:p>
          </p:txBody>
        </p:sp>
        <p:sp>
          <p:nvSpPr>
            <p:cNvPr id="53" name="TextBox 52"/>
            <p:cNvSpPr txBox="1"/>
            <p:nvPr/>
          </p:nvSpPr>
          <p:spPr>
            <a:xfrm>
              <a:off x="6705600" y="4876800"/>
              <a:ext cx="2133600" cy="430887"/>
            </a:xfrm>
            <a:prstGeom prst="rect">
              <a:avLst/>
            </a:prstGeom>
            <a:noFill/>
          </p:spPr>
          <p:txBody>
            <a:bodyPr wrap="square" rtlCol="0">
              <a:spAutoFit/>
            </a:bodyPr>
            <a:lstStyle/>
            <a:p>
              <a:r>
                <a:rPr lang="en-US" sz="1100" b="1" u="sng" dirty="0" smtClean="0">
                  <a:solidFill>
                    <a:srgbClr val="C00000"/>
                  </a:solidFill>
                  <a:latin typeface="Bradley Hand ITC" pitchFamily="66" charset="0"/>
                </a:rPr>
                <a:t>Controller</a:t>
              </a:r>
              <a:r>
                <a:rPr lang="en-US" sz="1100" b="1" dirty="0" smtClean="0">
                  <a:solidFill>
                    <a:srgbClr val="C00000"/>
                  </a:solidFill>
                  <a:latin typeface="Bradley Hand ITC" pitchFamily="66" charset="0"/>
                </a:rPr>
                <a:t>: Receives input and translates it to service requests.</a:t>
              </a:r>
              <a:endParaRPr lang="en-US" sz="1100" b="1" dirty="0">
                <a:solidFill>
                  <a:srgbClr val="C00000"/>
                </a:solidFill>
                <a:latin typeface="Bradley Hand ITC" pitchFamily="66" charset="0"/>
              </a:endParaRPr>
            </a:p>
          </p:txBody>
        </p:sp>
        <p:sp>
          <p:nvSpPr>
            <p:cNvPr id="54" name="Freeform 53"/>
            <p:cNvSpPr/>
            <p:nvPr/>
          </p:nvSpPr>
          <p:spPr>
            <a:xfrm>
              <a:off x="6219825" y="5010150"/>
              <a:ext cx="514350" cy="192088"/>
            </a:xfrm>
            <a:custGeom>
              <a:avLst/>
              <a:gdLst>
                <a:gd name="connsiteX0" fmla="*/ 514350 w 514350"/>
                <a:gd name="connsiteY0" fmla="*/ 0 h 192088"/>
                <a:gd name="connsiteX1" fmla="*/ 381000 w 514350"/>
                <a:gd name="connsiteY1" fmla="*/ 76200 h 192088"/>
                <a:gd name="connsiteX2" fmla="*/ 142875 w 514350"/>
                <a:gd name="connsiteY2" fmla="*/ 180975 h 192088"/>
                <a:gd name="connsiteX3" fmla="*/ 0 w 514350"/>
                <a:gd name="connsiteY3" fmla="*/ 142875 h 192088"/>
              </a:gdLst>
              <a:ahLst/>
              <a:cxnLst>
                <a:cxn ang="0">
                  <a:pos x="connsiteX0" y="connsiteY0"/>
                </a:cxn>
                <a:cxn ang="0">
                  <a:pos x="connsiteX1" y="connsiteY1"/>
                </a:cxn>
                <a:cxn ang="0">
                  <a:pos x="connsiteX2" y="connsiteY2"/>
                </a:cxn>
                <a:cxn ang="0">
                  <a:pos x="connsiteX3" y="connsiteY3"/>
                </a:cxn>
              </a:cxnLst>
              <a:rect l="l" t="t" r="r" b="b"/>
              <a:pathLst>
                <a:path w="514350" h="192088">
                  <a:moveTo>
                    <a:pt x="514350" y="0"/>
                  </a:moveTo>
                  <a:cubicBezTo>
                    <a:pt x="478631" y="23019"/>
                    <a:pt x="442912" y="46038"/>
                    <a:pt x="381000" y="76200"/>
                  </a:cubicBezTo>
                  <a:cubicBezTo>
                    <a:pt x="319088" y="106362"/>
                    <a:pt x="206375" y="169863"/>
                    <a:pt x="142875" y="180975"/>
                  </a:cubicBezTo>
                  <a:cubicBezTo>
                    <a:pt x="79375" y="192088"/>
                    <a:pt x="39687" y="167481"/>
                    <a:pt x="0" y="142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Freeform 55"/>
            <p:cNvSpPr/>
            <p:nvPr/>
          </p:nvSpPr>
          <p:spPr>
            <a:xfrm>
              <a:off x="6219825" y="3932238"/>
              <a:ext cx="542925" cy="449262"/>
            </a:xfrm>
            <a:custGeom>
              <a:avLst/>
              <a:gdLst>
                <a:gd name="connsiteX0" fmla="*/ 542925 w 542925"/>
                <a:gd name="connsiteY0" fmla="*/ 20637 h 449262"/>
                <a:gd name="connsiteX1" fmla="*/ 381000 w 542925"/>
                <a:gd name="connsiteY1" fmla="*/ 58737 h 449262"/>
                <a:gd name="connsiteX2" fmla="*/ 219075 w 542925"/>
                <a:gd name="connsiteY2" fmla="*/ 373062 h 449262"/>
                <a:gd name="connsiteX3" fmla="*/ 0 w 542925"/>
                <a:gd name="connsiteY3" fmla="*/ 449262 h 449262"/>
              </a:gdLst>
              <a:ahLst/>
              <a:cxnLst>
                <a:cxn ang="0">
                  <a:pos x="connsiteX0" y="connsiteY0"/>
                </a:cxn>
                <a:cxn ang="0">
                  <a:pos x="connsiteX1" y="connsiteY1"/>
                </a:cxn>
                <a:cxn ang="0">
                  <a:pos x="connsiteX2" y="connsiteY2"/>
                </a:cxn>
                <a:cxn ang="0">
                  <a:pos x="connsiteX3" y="connsiteY3"/>
                </a:cxn>
              </a:cxnLst>
              <a:rect l="l" t="t" r="r" b="b"/>
              <a:pathLst>
                <a:path w="542925" h="449262">
                  <a:moveTo>
                    <a:pt x="542925" y="20637"/>
                  </a:moveTo>
                  <a:cubicBezTo>
                    <a:pt x="488950" y="10318"/>
                    <a:pt x="434975" y="0"/>
                    <a:pt x="381000" y="58737"/>
                  </a:cubicBezTo>
                  <a:cubicBezTo>
                    <a:pt x="327025" y="117475"/>
                    <a:pt x="282575" y="307975"/>
                    <a:pt x="219075" y="373062"/>
                  </a:cubicBezTo>
                  <a:cubicBezTo>
                    <a:pt x="155575" y="438149"/>
                    <a:pt x="77787" y="443705"/>
                    <a:pt x="0" y="4492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Freeform 56"/>
            <p:cNvSpPr/>
            <p:nvPr/>
          </p:nvSpPr>
          <p:spPr>
            <a:xfrm>
              <a:off x="1676400" y="5029200"/>
              <a:ext cx="838200" cy="228600"/>
            </a:xfrm>
            <a:custGeom>
              <a:avLst/>
              <a:gdLst>
                <a:gd name="connsiteX0" fmla="*/ 0 w 371475"/>
                <a:gd name="connsiteY0" fmla="*/ 0 h 469900"/>
                <a:gd name="connsiteX1" fmla="*/ 76200 w 371475"/>
                <a:gd name="connsiteY1" fmla="*/ 104775 h 469900"/>
                <a:gd name="connsiteX2" fmla="*/ 123825 w 371475"/>
                <a:gd name="connsiteY2" fmla="*/ 409575 h 469900"/>
                <a:gd name="connsiteX3" fmla="*/ 371475 w 371475"/>
                <a:gd name="connsiteY3" fmla="*/ 466725 h 469900"/>
              </a:gdLst>
              <a:ahLst/>
              <a:cxnLst>
                <a:cxn ang="0">
                  <a:pos x="connsiteX0" y="connsiteY0"/>
                </a:cxn>
                <a:cxn ang="0">
                  <a:pos x="connsiteX1" y="connsiteY1"/>
                </a:cxn>
                <a:cxn ang="0">
                  <a:pos x="connsiteX2" y="connsiteY2"/>
                </a:cxn>
                <a:cxn ang="0">
                  <a:pos x="connsiteX3" y="connsiteY3"/>
                </a:cxn>
              </a:cxnLst>
              <a:rect l="l" t="t" r="r" b="b"/>
              <a:pathLst>
                <a:path w="371475" h="469900">
                  <a:moveTo>
                    <a:pt x="0" y="0"/>
                  </a:moveTo>
                  <a:cubicBezTo>
                    <a:pt x="27781" y="18256"/>
                    <a:pt x="55563" y="36513"/>
                    <a:pt x="76200" y="104775"/>
                  </a:cubicBezTo>
                  <a:cubicBezTo>
                    <a:pt x="96838" y="173038"/>
                    <a:pt x="74613" y="349250"/>
                    <a:pt x="123825" y="409575"/>
                  </a:cubicBezTo>
                  <a:cubicBezTo>
                    <a:pt x="173037" y="469900"/>
                    <a:pt x="272256" y="468312"/>
                    <a:pt x="371475" y="466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TextBox 57"/>
            <p:cNvSpPr txBox="1"/>
            <p:nvPr/>
          </p:nvSpPr>
          <p:spPr>
            <a:xfrm>
              <a:off x="457200" y="4724400"/>
              <a:ext cx="1752600" cy="430887"/>
            </a:xfrm>
            <a:prstGeom prst="rect">
              <a:avLst/>
            </a:prstGeom>
            <a:noFill/>
          </p:spPr>
          <p:txBody>
            <a:bodyPr wrap="square" rtlCol="0">
              <a:spAutoFit/>
            </a:bodyPr>
            <a:lstStyle/>
            <a:p>
              <a:r>
                <a:rPr lang="en-US" sz="1100" b="1" dirty="0" smtClean="0">
                  <a:solidFill>
                    <a:srgbClr val="C00000"/>
                  </a:solidFill>
                  <a:latin typeface="Bradley Hand ITC" pitchFamily="66" charset="0"/>
                </a:rPr>
                <a:t>When Model changes, it updates its Views</a:t>
              </a:r>
              <a:endParaRPr lang="en-US" sz="1100" b="1" dirty="0">
                <a:solidFill>
                  <a:srgbClr val="C00000"/>
                </a:solidFill>
                <a:latin typeface="Bradley Hand ITC" pitchFamily="66" charset="0"/>
              </a:endParaRPr>
            </a:p>
          </p:txBody>
        </p:sp>
        <p:sp>
          <p:nvSpPr>
            <p:cNvPr id="59" name="Freeform 58"/>
            <p:cNvSpPr/>
            <p:nvPr/>
          </p:nvSpPr>
          <p:spPr>
            <a:xfrm>
              <a:off x="1905000" y="5486400"/>
              <a:ext cx="457200" cy="228600"/>
            </a:xfrm>
            <a:custGeom>
              <a:avLst/>
              <a:gdLst>
                <a:gd name="connsiteX0" fmla="*/ 0 w 371475"/>
                <a:gd name="connsiteY0" fmla="*/ 0 h 469900"/>
                <a:gd name="connsiteX1" fmla="*/ 76200 w 371475"/>
                <a:gd name="connsiteY1" fmla="*/ 104775 h 469900"/>
                <a:gd name="connsiteX2" fmla="*/ 123825 w 371475"/>
                <a:gd name="connsiteY2" fmla="*/ 409575 h 469900"/>
                <a:gd name="connsiteX3" fmla="*/ 371475 w 371475"/>
                <a:gd name="connsiteY3" fmla="*/ 466725 h 469900"/>
              </a:gdLst>
              <a:ahLst/>
              <a:cxnLst>
                <a:cxn ang="0">
                  <a:pos x="connsiteX0" y="connsiteY0"/>
                </a:cxn>
                <a:cxn ang="0">
                  <a:pos x="connsiteX1" y="connsiteY1"/>
                </a:cxn>
                <a:cxn ang="0">
                  <a:pos x="connsiteX2" y="connsiteY2"/>
                </a:cxn>
                <a:cxn ang="0">
                  <a:pos x="connsiteX3" y="connsiteY3"/>
                </a:cxn>
              </a:cxnLst>
              <a:rect l="l" t="t" r="r" b="b"/>
              <a:pathLst>
                <a:path w="371475" h="469900">
                  <a:moveTo>
                    <a:pt x="0" y="0"/>
                  </a:moveTo>
                  <a:cubicBezTo>
                    <a:pt x="27781" y="18256"/>
                    <a:pt x="55563" y="36513"/>
                    <a:pt x="76200" y="104775"/>
                  </a:cubicBezTo>
                  <a:cubicBezTo>
                    <a:pt x="96838" y="173038"/>
                    <a:pt x="74613" y="349250"/>
                    <a:pt x="123825" y="409575"/>
                  </a:cubicBezTo>
                  <a:cubicBezTo>
                    <a:pt x="173037" y="469900"/>
                    <a:pt x="272256" y="468312"/>
                    <a:pt x="371475" y="466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62" name="Straight Connector 61"/>
          <p:cNvCxnSpPr/>
          <p:nvPr/>
        </p:nvCxnSpPr>
        <p:spPr>
          <a:xfrm>
            <a:off x="228600" y="38100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88" name="Group 87"/>
          <p:cNvGrpSpPr/>
          <p:nvPr/>
        </p:nvGrpSpPr>
        <p:grpSpPr>
          <a:xfrm>
            <a:off x="228600" y="381000"/>
            <a:ext cx="8610600" cy="6096000"/>
            <a:chOff x="228600" y="381000"/>
            <a:chExt cx="8610600" cy="6096000"/>
          </a:xfrm>
        </p:grpSpPr>
        <p:cxnSp>
          <p:nvCxnSpPr>
            <p:cNvPr id="165" name="Straight Connector 164"/>
            <p:cNvCxnSpPr/>
            <p:nvPr/>
          </p:nvCxnSpPr>
          <p:spPr>
            <a:xfrm flipV="1">
              <a:off x="6867525" y="838200"/>
              <a:ext cx="0" cy="2743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6029325" y="3962400"/>
              <a:ext cx="381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4962525" y="5867400"/>
              <a:ext cx="1905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V="1">
              <a:off x="6867525" y="4114800"/>
              <a:ext cx="0" cy="17526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4962525" y="4572000"/>
              <a:ext cx="10668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6029325" y="3962400"/>
              <a:ext cx="0" cy="6096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4962525" y="838200"/>
              <a:ext cx="1905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flipH="1">
              <a:off x="6029325" y="3733800"/>
              <a:ext cx="381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a:off x="6029325" y="2895600"/>
              <a:ext cx="0" cy="838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4962525" y="2895600"/>
              <a:ext cx="10668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1914525" y="5466347"/>
              <a:ext cx="795909" cy="886054"/>
              <a:chOff x="1209675" y="4343400"/>
              <a:chExt cx="795909" cy="886054"/>
            </a:xfrm>
          </p:grpSpPr>
          <p:pic>
            <p:nvPicPr>
              <p:cNvPr id="12291" name="Picture 3" descr="C:\Users\cotero\AppData\Local\Microsoft\Windows\Temporary Internet Files\Content.IE5\6QQ1AAQV\MC900389206[1].wmf"/>
              <p:cNvPicPr>
                <a:picLocks noChangeAspect="1" noChangeArrowheads="1"/>
              </p:cNvPicPr>
              <p:nvPr/>
            </p:nvPicPr>
            <p:blipFill>
              <a:blip r:embed="rId2" cstate="print"/>
              <a:srcRect/>
              <a:stretch>
                <a:fillRect/>
              </a:stretch>
            </p:blipFill>
            <p:spPr bwMode="auto">
              <a:xfrm>
                <a:off x="1219200" y="4343400"/>
                <a:ext cx="786384" cy="886054"/>
              </a:xfrm>
              <a:prstGeom prst="rect">
                <a:avLst/>
              </a:prstGeom>
              <a:noFill/>
            </p:spPr>
          </p:pic>
          <p:sp>
            <p:nvSpPr>
              <p:cNvPr id="14" name="Rectangle 13"/>
              <p:cNvSpPr/>
              <p:nvPr/>
            </p:nvSpPr>
            <p:spPr>
              <a:xfrm>
                <a:off x="1209675" y="4467225"/>
                <a:ext cx="17145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292" name="Picture 4" descr="C:\Users\cotero\AppData\Local\Microsoft\Windows\Temporary Internet Files\Content.IE5\MFZE6V1B\MC900238192[1].wmf"/>
            <p:cNvPicPr>
              <a:picLocks noChangeAspect="1" noChangeArrowheads="1"/>
            </p:cNvPicPr>
            <p:nvPr/>
          </p:nvPicPr>
          <p:blipFill>
            <a:blip r:embed="rId3" cstate="print"/>
            <a:srcRect/>
            <a:stretch>
              <a:fillRect/>
            </a:stretch>
          </p:blipFill>
          <p:spPr bwMode="auto">
            <a:xfrm flipH="1">
              <a:off x="3667125" y="5666601"/>
              <a:ext cx="228600" cy="405937"/>
            </a:xfrm>
            <a:prstGeom prst="rect">
              <a:avLst/>
            </a:prstGeom>
            <a:noFill/>
          </p:spPr>
        </p:pic>
        <p:sp>
          <p:nvSpPr>
            <p:cNvPr id="33" name="Rectangle 32"/>
            <p:cNvSpPr/>
            <p:nvPr/>
          </p:nvSpPr>
          <p:spPr>
            <a:xfrm>
              <a:off x="3892381" y="5438001"/>
              <a:ext cx="1066800" cy="685800"/>
            </a:xfrm>
            <a:prstGeom prst="rect">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4124325" y="5895201"/>
              <a:ext cx="606256" cy="215444"/>
            </a:xfrm>
            <a:prstGeom prst="rect">
              <a:avLst/>
            </a:prstGeom>
            <a:noFill/>
          </p:spPr>
          <p:txBody>
            <a:bodyPr wrap="none" rtlCol="0">
              <a:spAutoFit/>
            </a:bodyPr>
            <a:lstStyle/>
            <a:p>
              <a:r>
                <a:rPr lang="en-US" sz="800" dirty="0" smtClean="0"/>
                <a:t>Controller</a:t>
              </a:r>
              <a:endParaRPr lang="en-US" sz="800" dirty="0"/>
            </a:p>
          </p:txBody>
        </p:sp>
        <p:graphicFrame>
          <p:nvGraphicFramePr>
            <p:cNvPr id="44" name="Diagram 43"/>
            <p:cNvGraphicFramePr/>
            <p:nvPr/>
          </p:nvGraphicFramePr>
          <p:xfrm>
            <a:off x="3590925" y="5438001"/>
            <a:ext cx="1600200" cy="533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66" name="Straight Connector 65"/>
            <p:cNvCxnSpPr/>
            <p:nvPr/>
          </p:nvCxnSpPr>
          <p:spPr>
            <a:xfrm flipH="1" flipV="1">
              <a:off x="2371725" y="5285601"/>
              <a:ext cx="1371601" cy="38100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endCxn id="12291" idx="2"/>
            </p:cNvCxnSpPr>
            <p:nvPr/>
          </p:nvCxnSpPr>
          <p:spPr>
            <a:xfrm flipH="1">
              <a:off x="2317242" y="6047601"/>
              <a:ext cx="1502283" cy="30480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4962525" y="4572000"/>
              <a:ext cx="1828800" cy="646331"/>
            </a:xfrm>
            <a:prstGeom prst="rect">
              <a:avLst/>
            </a:prstGeom>
            <a:noFill/>
          </p:spPr>
          <p:txBody>
            <a:bodyPr wrap="square" rtlCol="0">
              <a:spAutoFit/>
            </a:bodyPr>
            <a:lstStyle/>
            <a:p>
              <a:r>
                <a:rPr lang="en-US" sz="1200" b="1" dirty="0" smtClean="0">
                  <a:solidFill>
                    <a:srgbClr val="C00000"/>
                  </a:solidFill>
                  <a:latin typeface="Bradley Hand ITC" pitchFamily="66" charset="0"/>
                </a:rPr>
                <a:t>3. View is updated to display results of service request. </a:t>
              </a:r>
              <a:endParaRPr lang="en-US" sz="1200" b="1" dirty="0">
                <a:solidFill>
                  <a:srgbClr val="C00000"/>
                </a:solidFill>
                <a:latin typeface="Bradley Hand ITC" pitchFamily="66" charset="0"/>
              </a:endParaRPr>
            </a:p>
          </p:txBody>
        </p:sp>
        <p:sp>
          <p:nvSpPr>
            <p:cNvPr id="109" name="TextBox 108"/>
            <p:cNvSpPr txBox="1"/>
            <p:nvPr/>
          </p:nvSpPr>
          <p:spPr>
            <a:xfrm>
              <a:off x="542925" y="4752201"/>
              <a:ext cx="3048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1. Small screen, no room for buttons, therefore, use speech to interact with system</a:t>
              </a:r>
              <a:endParaRPr lang="en-US" sz="1200" b="1" dirty="0">
                <a:solidFill>
                  <a:srgbClr val="C00000"/>
                </a:solidFill>
                <a:latin typeface="Bradley Hand ITC" pitchFamily="66" charset="0"/>
              </a:endParaRPr>
            </a:p>
          </p:txBody>
        </p:sp>
        <p:sp>
          <p:nvSpPr>
            <p:cNvPr id="111" name="Freeform 110"/>
            <p:cNvSpPr/>
            <p:nvPr/>
          </p:nvSpPr>
          <p:spPr>
            <a:xfrm>
              <a:off x="542924" y="5057001"/>
              <a:ext cx="1524001" cy="685800"/>
            </a:xfrm>
            <a:custGeom>
              <a:avLst/>
              <a:gdLst>
                <a:gd name="connsiteX0" fmla="*/ 268287 w 1477962"/>
                <a:gd name="connsiteY0" fmla="*/ 0 h 1019175"/>
                <a:gd name="connsiteX1" fmla="*/ 201612 w 1477962"/>
                <a:gd name="connsiteY1" fmla="*/ 485775 h 1019175"/>
                <a:gd name="connsiteX2" fmla="*/ 1477962 w 1477962"/>
                <a:gd name="connsiteY2" fmla="*/ 1019175 h 1019175"/>
              </a:gdLst>
              <a:ahLst/>
              <a:cxnLst>
                <a:cxn ang="0">
                  <a:pos x="connsiteX0" y="connsiteY0"/>
                </a:cxn>
                <a:cxn ang="0">
                  <a:pos x="connsiteX1" y="connsiteY1"/>
                </a:cxn>
                <a:cxn ang="0">
                  <a:pos x="connsiteX2" y="connsiteY2"/>
                </a:cxn>
              </a:cxnLst>
              <a:rect l="l" t="t" r="r" b="b"/>
              <a:pathLst>
                <a:path w="1477962" h="1019175">
                  <a:moveTo>
                    <a:pt x="268287" y="0"/>
                  </a:moveTo>
                  <a:cubicBezTo>
                    <a:pt x="134143" y="157956"/>
                    <a:pt x="0" y="315913"/>
                    <a:pt x="201612" y="485775"/>
                  </a:cubicBezTo>
                  <a:cubicBezTo>
                    <a:pt x="403224" y="655637"/>
                    <a:pt x="940593" y="837406"/>
                    <a:pt x="1477962" y="10191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TextBox 111"/>
            <p:cNvSpPr txBox="1"/>
            <p:nvPr/>
          </p:nvSpPr>
          <p:spPr>
            <a:xfrm>
              <a:off x="2600325" y="5590401"/>
              <a:ext cx="1109027" cy="338554"/>
            </a:xfrm>
            <a:prstGeom prst="rect">
              <a:avLst/>
            </a:prstGeom>
            <a:noFill/>
          </p:spPr>
          <p:txBody>
            <a:bodyPr wrap="square" rtlCol="0">
              <a:spAutoFit/>
            </a:bodyPr>
            <a:lstStyle/>
            <a:p>
              <a:r>
                <a:rPr lang="en-US" sz="800" dirty="0" smtClean="0"/>
                <a:t>“Find single family home in Lakeland, FL”</a:t>
              </a:r>
              <a:endParaRPr lang="en-US" sz="800" dirty="0"/>
            </a:p>
          </p:txBody>
        </p:sp>
        <p:sp>
          <p:nvSpPr>
            <p:cNvPr id="113" name="TextBox 112"/>
            <p:cNvSpPr txBox="1"/>
            <p:nvPr/>
          </p:nvSpPr>
          <p:spPr>
            <a:xfrm>
              <a:off x="4962525" y="5638800"/>
              <a:ext cx="1828800" cy="215444"/>
            </a:xfrm>
            <a:prstGeom prst="rect">
              <a:avLst/>
            </a:prstGeom>
            <a:noFill/>
          </p:spPr>
          <p:txBody>
            <a:bodyPr wrap="square" rtlCol="0">
              <a:spAutoFit/>
            </a:bodyPr>
            <a:lstStyle/>
            <a:p>
              <a:r>
                <a:rPr lang="en-US" sz="800" dirty="0" smtClean="0"/>
                <a:t>sendCommand(FIND, SFH, 33803)</a:t>
              </a:r>
              <a:endParaRPr lang="en-US" sz="800" dirty="0"/>
            </a:p>
          </p:txBody>
        </p:sp>
        <p:sp>
          <p:nvSpPr>
            <p:cNvPr id="76" name="Rectangle 75"/>
            <p:cNvSpPr/>
            <p:nvPr/>
          </p:nvSpPr>
          <p:spPr>
            <a:xfrm>
              <a:off x="6381750" y="3575506"/>
              <a:ext cx="914400" cy="533400"/>
            </a:xfrm>
            <a:prstGeom prst="rect">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p:cNvSpPr txBox="1"/>
            <p:nvPr/>
          </p:nvSpPr>
          <p:spPr>
            <a:xfrm>
              <a:off x="6381750" y="3899356"/>
              <a:ext cx="914400" cy="215444"/>
            </a:xfrm>
            <a:prstGeom prst="rect">
              <a:avLst/>
            </a:prstGeom>
            <a:noFill/>
          </p:spPr>
          <p:txBody>
            <a:bodyPr wrap="square" rtlCol="0">
              <a:spAutoFit/>
            </a:bodyPr>
            <a:lstStyle/>
            <a:p>
              <a:pPr algn="ctr"/>
              <a:r>
                <a:rPr lang="en-US" sz="800" dirty="0" smtClean="0"/>
                <a:t>Model</a:t>
              </a:r>
              <a:endParaRPr lang="en-US" sz="800" dirty="0"/>
            </a:p>
          </p:txBody>
        </p:sp>
        <p:sp>
          <p:nvSpPr>
            <p:cNvPr id="82" name="Flowchart: Magnetic Disk 81"/>
            <p:cNvSpPr/>
            <p:nvPr/>
          </p:nvSpPr>
          <p:spPr>
            <a:xfrm>
              <a:off x="6648450" y="3670756"/>
              <a:ext cx="381000" cy="228600"/>
            </a:xfrm>
            <a:prstGeom prst="flowChartMagneticDisk">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p:cNvSpPr txBox="1"/>
            <p:nvPr/>
          </p:nvSpPr>
          <p:spPr>
            <a:xfrm>
              <a:off x="7067550" y="4186535"/>
              <a:ext cx="1628775"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Real estate data resides here.  The model encapsulates core data and functionality</a:t>
              </a:r>
              <a:endParaRPr lang="en-US" sz="1200" b="1" dirty="0">
                <a:solidFill>
                  <a:srgbClr val="C00000"/>
                </a:solidFill>
                <a:latin typeface="Bradley Hand ITC" pitchFamily="66" charset="0"/>
              </a:endParaRPr>
            </a:p>
          </p:txBody>
        </p:sp>
        <p:sp>
          <p:nvSpPr>
            <p:cNvPr id="115" name="Freeform 114"/>
            <p:cNvSpPr/>
            <p:nvPr/>
          </p:nvSpPr>
          <p:spPr>
            <a:xfrm>
              <a:off x="6943725" y="4114800"/>
              <a:ext cx="304799" cy="304800"/>
            </a:xfrm>
            <a:custGeom>
              <a:avLst/>
              <a:gdLst>
                <a:gd name="connsiteX0" fmla="*/ 609600 w 609600"/>
                <a:gd name="connsiteY0" fmla="*/ 295275 h 295275"/>
                <a:gd name="connsiteX1" fmla="*/ 333375 w 609600"/>
                <a:gd name="connsiteY1" fmla="*/ 266700 h 295275"/>
                <a:gd name="connsiteX2" fmla="*/ 276225 w 609600"/>
                <a:gd name="connsiteY2" fmla="*/ 123825 h 295275"/>
                <a:gd name="connsiteX3" fmla="*/ 0 w 609600"/>
                <a:gd name="connsiteY3" fmla="*/ 0 h 295275"/>
              </a:gdLst>
              <a:ahLst/>
              <a:cxnLst>
                <a:cxn ang="0">
                  <a:pos x="connsiteX0" y="connsiteY0"/>
                </a:cxn>
                <a:cxn ang="0">
                  <a:pos x="connsiteX1" y="connsiteY1"/>
                </a:cxn>
                <a:cxn ang="0">
                  <a:pos x="connsiteX2" y="connsiteY2"/>
                </a:cxn>
                <a:cxn ang="0">
                  <a:pos x="connsiteX3" y="connsiteY3"/>
                </a:cxn>
              </a:cxnLst>
              <a:rect l="l" t="t" r="r" b="b"/>
              <a:pathLst>
                <a:path w="609600" h="295275">
                  <a:moveTo>
                    <a:pt x="609600" y="295275"/>
                  </a:moveTo>
                  <a:cubicBezTo>
                    <a:pt x="499269" y="295275"/>
                    <a:pt x="388938" y="295275"/>
                    <a:pt x="333375" y="266700"/>
                  </a:cubicBezTo>
                  <a:cubicBezTo>
                    <a:pt x="277813" y="238125"/>
                    <a:pt x="331787" y="168275"/>
                    <a:pt x="276225" y="123825"/>
                  </a:cubicBezTo>
                  <a:cubicBezTo>
                    <a:pt x="220663" y="79375"/>
                    <a:pt x="110331" y="3968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TextBox 83"/>
            <p:cNvSpPr txBox="1"/>
            <p:nvPr/>
          </p:nvSpPr>
          <p:spPr>
            <a:xfrm>
              <a:off x="228600" y="1600200"/>
              <a:ext cx="3057525"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1. Very large screen, Use hand gestures to interact  with control buttons in the systems</a:t>
              </a:r>
              <a:endParaRPr lang="en-US" sz="1200" b="1" dirty="0">
                <a:solidFill>
                  <a:srgbClr val="C00000"/>
                </a:solidFill>
                <a:latin typeface="Bradley Hand ITC" pitchFamily="66" charset="0"/>
              </a:endParaRPr>
            </a:p>
          </p:txBody>
        </p:sp>
        <p:sp>
          <p:nvSpPr>
            <p:cNvPr id="116" name="Freeform 115"/>
            <p:cNvSpPr/>
            <p:nvPr/>
          </p:nvSpPr>
          <p:spPr>
            <a:xfrm flipV="1">
              <a:off x="847725" y="990600"/>
              <a:ext cx="1066799" cy="609600"/>
            </a:xfrm>
            <a:custGeom>
              <a:avLst/>
              <a:gdLst>
                <a:gd name="connsiteX0" fmla="*/ 268287 w 1477962"/>
                <a:gd name="connsiteY0" fmla="*/ 0 h 1019175"/>
                <a:gd name="connsiteX1" fmla="*/ 201612 w 1477962"/>
                <a:gd name="connsiteY1" fmla="*/ 485775 h 1019175"/>
                <a:gd name="connsiteX2" fmla="*/ 1477962 w 1477962"/>
                <a:gd name="connsiteY2" fmla="*/ 1019175 h 1019175"/>
              </a:gdLst>
              <a:ahLst/>
              <a:cxnLst>
                <a:cxn ang="0">
                  <a:pos x="connsiteX0" y="connsiteY0"/>
                </a:cxn>
                <a:cxn ang="0">
                  <a:pos x="connsiteX1" y="connsiteY1"/>
                </a:cxn>
                <a:cxn ang="0">
                  <a:pos x="connsiteX2" y="connsiteY2"/>
                </a:cxn>
              </a:cxnLst>
              <a:rect l="l" t="t" r="r" b="b"/>
              <a:pathLst>
                <a:path w="1477962" h="1019175">
                  <a:moveTo>
                    <a:pt x="268287" y="0"/>
                  </a:moveTo>
                  <a:cubicBezTo>
                    <a:pt x="134143" y="157956"/>
                    <a:pt x="0" y="315913"/>
                    <a:pt x="201612" y="485775"/>
                  </a:cubicBezTo>
                  <a:cubicBezTo>
                    <a:pt x="403224" y="655637"/>
                    <a:pt x="940593" y="837406"/>
                    <a:pt x="1477962" y="10191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64" name="Group 163"/>
            <p:cNvGrpSpPr/>
            <p:nvPr/>
          </p:nvGrpSpPr>
          <p:grpSpPr>
            <a:xfrm>
              <a:off x="1914525" y="457200"/>
              <a:ext cx="3276600" cy="962254"/>
              <a:chOff x="1828800" y="1323201"/>
              <a:chExt cx="3276600" cy="962254"/>
            </a:xfrm>
          </p:grpSpPr>
          <p:grpSp>
            <p:nvGrpSpPr>
              <p:cNvPr id="13" name="Group 12"/>
              <p:cNvGrpSpPr/>
              <p:nvPr/>
            </p:nvGrpSpPr>
            <p:grpSpPr>
              <a:xfrm>
                <a:off x="1828800" y="1399401"/>
                <a:ext cx="981075" cy="886054"/>
                <a:chOff x="3352800" y="4267200"/>
                <a:chExt cx="981075" cy="886054"/>
              </a:xfrm>
            </p:grpSpPr>
            <p:pic>
              <p:nvPicPr>
                <p:cNvPr id="9" name="Picture 3" descr="C:\Users\cotero\AppData\Local\Microsoft\Windows\Temporary Internet Files\Content.IE5\6QQ1AAQV\MC900389206[1].wmf"/>
                <p:cNvPicPr>
                  <a:picLocks noChangeAspect="1" noChangeArrowheads="1"/>
                </p:cNvPicPr>
                <p:nvPr/>
              </p:nvPicPr>
              <p:blipFill>
                <a:blip r:embed="rId2" cstate="print"/>
                <a:srcRect/>
                <a:stretch>
                  <a:fillRect/>
                </a:stretch>
              </p:blipFill>
              <p:spPr bwMode="auto">
                <a:xfrm>
                  <a:off x="3352800" y="4267200"/>
                  <a:ext cx="786384" cy="886054"/>
                </a:xfrm>
                <a:prstGeom prst="rect">
                  <a:avLst/>
                </a:prstGeom>
                <a:noFill/>
              </p:spPr>
            </p:pic>
            <p:sp>
              <p:nvSpPr>
                <p:cNvPr id="10" name="Rectangle 9"/>
                <p:cNvSpPr/>
                <p:nvPr/>
              </p:nvSpPr>
              <p:spPr>
                <a:xfrm>
                  <a:off x="3952875" y="4267200"/>
                  <a:ext cx="3810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762375" y="4400550"/>
                  <a:ext cx="9525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19525" y="4286250"/>
                  <a:ext cx="17145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p:cNvSpPr/>
              <p:nvPr/>
            </p:nvSpPr>
            <p:spPr>
              <a:xfrm>
                <a:off x="3810000" y="1399401"/>
                <a:ext cx="1066800" cy="685800"/>
              </a:xfrm>
              <a:prstGeom prst="rect">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p:cNvGrpSpPr/>
              <p:nvPr/>
            </p:nvGrpSpPr>
            <p:grpSpPr>
              <a:xfrm>
                <a:off x="4038600" y="1323201"/>
                <a:ext cx="609600" cy="152400"/>
                <a:chOff x="4953000" y="5465763"/>
                <a:chExt cx="762000" cy="173037"/>
              </a:xfrm>
            </p:grpSpPr>
            <p:grpSp>
              <p:nvGrpSpPr>
                <p:cNvPr id="19" name="Group 18"/>
                <p:cNvGrpSpPr/>
                <p:nvPr/>
              </p:nvGrpSpPr>
              <p:grpSpPr>
                <a:xfrm>
                  <a:off x="4953000" y="5465763"/>
                  <a:ext cx="363538" cy="173037"/>
                  <a:chOff x="4770437" y="5465763"/>
                  <a:chExt cx="546101" cy="196849"/>
                </a:xfrm>
              </p:grpSpPr>
              <p:sp>
                <p:nvSpPr>
                  <p:cNvPr id="16" name="Freeform 15"/>
                  <p:cNvSpPr/>
                  <p:nvPr/>
                </p:nvSpPr>
                <p:spPr>
                  <a:xfrm>
                    <a:off x="4770437" y="5465763"/>
                    <a:ext cx="546101" cy="196849"/>
                  </a:xfrm>
                  <a:custGeom>
                    <a:avLst/>
                    <a:gdLst>
                      <a:gd name="connsiteX0" fmla="*/ 1588 w 546101"/>
                      <a:gd name="connsiteY0" fmla="*/ 96837 h 196849"/>
                      <a:gd name="connsiteX1" fmla="*/ 258763 w 546101"/>
                      <a:gd name="connsiteY1" fmla="*/ 1587 h 196849"/>
                      <a:gd name="connsiteX2" fmla="*/ 544513 w 546101"/>
                      <a:gd name="connsiteY2" fmla="*/ 87312 h 196849"/>
                      <a:gd name="connsiteX3" fmla="*/ 249238 w 546101"/>
                      <a:gd name="connsiteY3" fmla="*/ 192087 h 196849"/>
                      <a:gd name="connsiteX4" fmla="*/ 1588 w 546101"/>
                      <a:gd name="connsiteY4" fmla="*/ 96837 h 196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1" h="196849">
                        <a:moveTo>
                          <a:pt x="1588" y="96837"/>
                        </a:moveTo>
                        <a:cubicBezTo>
                          <a:pt x="3176" y="65087"/>
                          <a:pt x="168276" y="3174"/>
                          <a:pt x="258763" y="1587"/>
                        </a:cubicBezTo>
                        <a:cubicBezTo>
                          <a:pt x="349250" y="0"/>
                          <a:pt x="546101" y="55562"/>
                          <a:pt x="544513" y="87312"/>
                        </a:cubicBezTo>
                        <a:cubicBezTo>
                          <a:pt x="542925" y="119062"/>
                          <a:pt x="339725" y="187325"/>
                          <a:pt x="249238" y="192087"/>
                        </a:cubicBezTo>
                        <a:cubicBezTo>
                          <a:pt x="158751" y="196849"/>
                          <a:pt x="0" y="128587"/>
                          <a:pt x="1588" y="96837"/>
                        </a:cubicBezTo>
                        <a:close/>
                      </a:path>
                    </a:pathLst>
                  </a:cu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953000" y="5486400"/>
                    <a:ext cx="152400" cy="152400"/>
                  </a:xfrm>
                  <a:prstGeom prst="ellipse">
                    <a:avLst/>
                  </a:prstGeom>
                  <a:solidFill>
                    <a:schemeClr val="accent3">
                      <a:lumMod val="40000"/>
                      <a:lumOff val="6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5000625" y="5524500"/>
                    <a:ext cx="76200" cy="76200"/>
                  </a:xfrm>
                  <a:prstGeom prst="ellipse">
                    <a:avLst/>
                  </a:prstGeom>
                  <a:solidFill>
                    <a:schemeClr val="accent3">
                      <a:lumMod val="5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p:cNvGrpSpPr/>
                <p:nvPr/>
              </p:nvGrpSpPr>
              <p:grpSpPr>
                <a:xfrm flipH="1">
                  <a:off x="5334000" y="5486400"/>
                  <a:ext cx="381000" cy="152400"/>
                  <a:chOff x="4770437" y="5465763"/>
                  <a:chExt cx="546101" cy="196849"/>
                </a:xfrm>
              </p:grpSpPr>
              <p:sp>
                <p:nvSpPr>
                  <p:cNvPr id="21" name="Freeform 20"/>
                  <p:cNvSpPr/>
                  <p:nvPr/>
                </p:nvSpPr>
                <p:spPr>
                  <a:xfrm>
                    <a:off x="4770437" y="5465763"/>
                    <a:ext cx="546101" cy="196849"/>
                  </a:xfrm>
                  <a:custGeom>
                    <a:avLst/>
                    <a:gdLst>
                      <a:gd name="connsiteX0" fmla="*/ 1588 w 546101"/>
                      <a:gd name="connsiteY0" fmla="*/ 96837 h 196849"/>
                      <a:gd name="connsiteX1" fmla="*/ 258763 w 546101"/>
                      <a:gd name="connsiteY1" fmla="*/ 1587 h 196849"/>
                      <a:gd name="connsiteX2" fmla="*/ 544513 w 546101"/>
                      <a:gd name="connsiteY2" fmla="*/ 87312 h 196849"/>
                      <a:gd name="connsiteX3" fmla="*/ 249238 w 546101"/>
                      <a:gd name="connsiteY3" fmla="*/ 192087 h 196849"/>
                      <a:gd name="connsiteX4" fmla="*/ 1588 w 546101"/>
                      <a:gd name="connsiteY4" fmla="*/ 96837 h 196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1" h="196849">
                        <a:moveTo>
                          <a:pt x="1588" y="96837"/>
                        </a:moveTo>
                        <a:cubicBezTo>
                          <a:pt x="3176" y="65087"/>
                          <a:pt x="168276" y="3174"/>
                          <a:pt x="258763" y="1587"/>
                        </a:cubicBezTo>
                        <a:cubicBezTo>
                          <a:pt x="349250" y="0"/>
                          <a:pt x="546101" y="55562"/>
                          <a:pt x="544513" y="87312"/>
                        </a:cubicBezTo>
                        <a:cubicBezTo>
                          <a:pt x="542925" y="119062"/>
                          <a:pt x="339725" y="187325"/>
                          <a:pt x="249238" y="192087"/>
                        </a:cubicBezTo>
                        <a:cubicBezTo>
                          <a:pt x="158751" y="196849"/>
                          <a:pt x="0" y="128587"/>
                          <a:pt x="1588" y="96837"/>
                        </a:cubicBezTo>
                        <a:close/>
                      </a:path>
                    </a:pathLst>
                  </a:cu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953000" y="5486400"/>
                    <a:ext cx="152400" cy="152400"/>
                  </a:xfrm>
                  <a:prstGeom prst="ellipse">
                    <a:avLst/>
                  </a:prstGeom>
                  <a:solidFill>
                    <a:schemeClr val="accent3">
                      <a:lumMod val="40000"/>
                      <a:lumOff val="6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000625" y="5524500"/>
                    <a:ext cx="76200" cy="76200"/>
                  </a:xfrm>
                  <a:prstGeom prst="ellipse">
                    <a:avLst/>
                  </a:prstGeom>
                  <a:solidFill>
                    <a:schemeClr val="accent3">
                      <a:lumMod val="5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aphicFrame>
            <p:nvGraphicFramePr>
              <p:cNvPr id="25" name="Diagram 24"/>
              <p:cNvGraphicFramePr/>
              <p:nvPr/>
            </p:nvGraphicFramePr>
            <p:xfrm>
              <a:off x="3505200" y="1408926"/>
              <a:ext cx="1600200" cy="5334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8" name="TextBox 27"/>
              <p:cNvSpPr txBox="1"/>
              <p:nvPr/>
            </p:nvSpPr>
            <p:spPr>
              <a:xfrm>
                <a:off x="4041944" y="1856601"/>
                <a:ext cx="606256" cy="215444"/>
              </a:xfrm>
              <a:prstGeom prst="rect">
                <a:avLst/>
              </a:prstGeom>
              <a:noFill/>
            </p:spPr>
            <p:txBody>
              <a:bodyPr wrap="none" rtlCol="0">
                <a:spAutoFit/>
              </a:bodyPr>
              <a:lstStyle/>
              <a:p>
                <a:r>
                  <a:rPr lang="en-US" sz="800" dirty="0" smtClean="0"/>
                  <a:t>Controller</a:t>
                </a:r>
                <a:endParaRPr lang="en-US" sz="800" dirty="0"/>
              </a:p>
            </p:txBody>
          </p:sp>
          <p:cxnSp>
            <p:nvCxnSpPr>
              <p:cNvPr id="61" name="Straight Connector 60"/>
              <p:cNvCxnSpPr>
                <a:stCxn id="16" idx="1"/>
                <a:endCxn id="9" idx="0"/>
              </p:cNvCxnSpPr>
              <p:nvPr/>
            </p:nvCxnSpPr>
            <p:spPr>
              <a:xfrm flipH="1">
                <a:off x="2221992" y="1324430"/>
                <a:ext cx="1954414" cy="74971"/>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21" idx="3"/>
                <a:endCxn id="9" idx="2"/>
              </p:cNvCxnSpPr>
              <p:nvPr/>
            </p:nvCxnSpPr>
            <p:spPr>
              <a:xfrm flipH="1">
                <a:off x="2221992" y="1472354"/>
                <a:ext cx="2287099" cy="813101"/>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85" name="TextBox 84"/>
            <p:cNvSpPr txBox="1"/>
            <p:nvPr/>
          </p:nvSpPr>
          <p:spPr>
            <a:xfrm>
              <a:off x="5038725" y="381000"/>
              <a:ext cx="3048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2. Controller uses hand-gesture recognition to translate input to a service request</a:t>
              </a:r>
              <a:endParaRPr lang="en-US" sz="1200" b="1" dirty="0">
                <a:solidFill>
                  <a:srgbClr val="C00000"/>
                </a:solidFill>
                <a:latin typeface="Bradley Hand ITC" pitchFamily="66" charset="0"/>
              </a:endParaRPr>
            </a:p>
          </p:txBody>
        </p:sp>
        <p:sp>
          <p:nvSpPr>
            <p:cNvPr id="127" name="Rectangle 126"/>
            <p:cNvSpPr/>
            <p:nvPr/>
          </p:nvSpPr>
          <p:spPr>
            <a:xfrm>
              <a:off x="3305175" y="1390650"/>
              <a:ext cx="2190750" cy="1657350"/>
            </a:xfrm>
            <a:prstGeom prst="rect">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p:cNvGrpSpPr/>
            <p:nvPr/>
          </p:nvGrpSpPr>
          <p:grpSpPr>
            <a:xfrm>
              <a:off x="3438525" y="1600200"/>
              <a:ext cx="1905000" cy="1371600"/>
              <a:chOff x="5257800" y="1447800"/>
              <a:chExt cx="2286000" cy="1693817"/>
            </a:xfrm>
          </p:grpSpPr>
          <p:pic>
            <p:nvPicPr>
              <p:cNvPr id="47" name="Picture 2" descr="C:\Users\cotero\AppData\Local\Microsoft\Windows\Temporary Internet Files\Content.IE5\MFZE6V1B\MP900439529[1].jpg"/>
              <p:cNvPicPr>
                <a:picLocks noChangeAspect="1" noChangeArrowheads="1"/>
              </p:cNvPicPr>
              <p:nvPr/>
            </p:nvPicPr>
            <p:blipFill>
              <a:blip r:embed="rId14" cstate="print"/>
              <a:srcRect/>
              <a:stretch>
                <a:fillRect/>
              </a:stretch>
            </p:blipFill>
            <p:spPr bwMode="auto">
              <a:xfrm>
                <a:off x="5257800" y="1447800"/>
                <a:ext cx="2286000" cy="1693817"/>
              </a:xfrm>
              <a:prstGeom prst="rect">
                <a:avLst/>
              </a:prstGeom>
              <a:noFill/>
            </p:spPr>
          </p:pic>
          <p:pic>
            <p:nvPicPr>
              <p:cNvPr id="12294" name="Picture 6"/>
              <p:cNvPicPr>
                <a:picLocks noChangeAspect="1" noChangeArrowheads="1"/>
              </p:cNvPicPr>
              <p:nvPr/>
            </p:nvPicPr>
            <p:blipFill>
              <a:blip r:embed="rId15" cstate="print"/>
              <a:srcRect/>
              <a:stretch>
                <a:fillRect/>
              </a:stretch>
            </p:blipFill>
            <p:spPr bwMode="auto">
              <a:xfrm>
                <a:off x="5391150" y="1933575"/>
                <a:ext cx="2009775" cy="1038225"/>
              </a:xfrm>
              <a:prstGeom prst="rect">
                <a:avLst/>
              </a:prstGeom>
              <a:noFill/>
              <a:ln w="9525">
                <a:noFill/>
                <a:miter lim="800000"/>
                <a:headEnd/>
                <a:tailEnd/>
              </a:ln>
            </p:spPr>
          </p:pic>
          <p:sp>
            <p:nvSpPr>
              <p:cNvPr id="49" name="Rectangle 48"/>
              <p:cNvSpPr/>
              <p:nvPr/>
            </p:nvSpPr>
            <p:spPr>
              <a:xfrm>
                <a:off x="5486400" y="1676400"/>
                <a:ext cx="304800" cy="152400"/>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5867400" y="1676400"/>
                <a:ext cx="304800" cy="152400"/>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248400" y="1676400"/>
                <a:ext cx="304800" cy="152400"/>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629400" y="1676400"/>
                <a:ext cx="304800" cy="152400"/>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7010400" y="1676400"/>
                <a:ext cx="304800" cy="152400"/>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7" name="TextBox 116"/>
            <p:cNvSpPr txBox="1"/>
            <p:nvPr/>
          </p:nvSpPr>
          <p:spPr>
            <a:xfrm>
              <a:off x="3286125" y="3124200"/>
              <a:ext cx="990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view of the data</a:t>
              </a:r>
              <a:endParaRPr lang="en-US" sz="1200" b="1" dirty="0">
                <a:solidFill>
                  <a:srgbClr val="C00000"/>
                </a:solidFill>
                <a:latin typeface="Bradley Hand ITC" pitchFamily="66" charset="0"/>
              </a:endParaRPr>
            </a:p>
          </p:txBody>
        </p:sp>
        <p:sp>
          <p:nvSpPr>
            <p:cNvPr id="118" name="Freeform 117"/>
            <p:cNvSpPr/>
            <p:nvPr/>
          </p:nvSpPr>
          <p:spPr>
            <a:xfrm rot="19329222" flipH="1" flipV="1">
              <a:off x="4069603" y="3203407"/>
              <a:ext cx="319780" cy="179645"/>
            </a:xfrm>
            <a:custGeom>
              <a:avLst/>
              <a:gdLst>
                <a:gd name="connsiteX0" fmla="*/ 685800 w 685800"/>
                <a:gd name="connsiteY0" fmla="*/ 0 h 352425"/>
                <a:gd name="connsiteX1" fmla="*/ 390525 w 685800"/>
                <a:gd name="connsiteY1" fmla="*/ 95250 h 352425"/>
                <a:gd name="connsiteX2" fmla="*/ 266700 w 685800"/>
                <a:gd name="connsiteY2" fmla="*/ 276225 h 352425"/>
                <a:gd name="connsiteX3" fmla="*/ 0 w 685800"/>
                <a:gd name="connsiteY3" fmla="*/ 352425 h 352425"/>
              </a:gdLst>
              <a:ahLst/>
              <a:cxnLst>
                <a:cxn ang="0">
                  <a:pos x="connsiteX0" y="connsiteY0"/>
                </a:cxn>
                <a:cxn ang="0">
                  <a:pos x="connsiteX1" y="connsiteY1"/>
                </a:cxn>
                <a:cxn ang="0">
                  <a:pos x="connsiteX2" y="connsiteY2"/>
                </a:cxn>
                <a:cxn ang="0">
                  <a:pos x="connsiteX3" y="connsiteY3"/>
                </a:cxn>
              </a:cxnLst>
              <a:rect l="l" t="t" r="r" b="b"/>
              <a:pathLst>
                <a:path w="685800" h="352425">
                  <a:moveTo>
                    <a:pt x="685800" y="0"/>
                  </a:moveTo>
                  <a:cubicBezTo>
                    <a:pt x="573087" y="24606"/>
                    <a:pt x="460375" y="49213"/>
                    <a:pt x="390525" y="95250"/>
                  </a:cubicBezTo>
                  <a:cubicBezTo>
                    <a:pt x="320675" y="141287"/>
                    <a:pt x="331787" y="233363"/>
                    <a:pt x="266700" y="276225"/>
                  </a:cubicBezTo>
                  <a:cubicBezTo>
                    <a:pt x="201613" y="319087"/>
                    <a:pt x="100806" y="335756"/>
                    <a:pt x="0" y="352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4" name="TextBox 123"/>
            <p:cNvSpPr txBox="1"/>
            <p:nvPr/>
          </p:nvSpPr>
          <p:spPr>
            <a:xfrm>
              <a:off x="3286125" y="1422856"/>
              <a:ext cx="2209800" cy="215444"/>
            </a:xfrm>
            <a:prstGeom prst="rect">
              <a:avLst/>
            </a:prstGeom>
            <a:noFill/>
          </p:spPr>
          <p:txBody>
            <a:bodyPr wrap="square" rtlCol="0">
              <a:spAutoFit/>
            </a:bodyPr>
            <a:lstStyle/>
            <a:p>
              <a:pPr algn="ctr"/>
              <a:r>
                <a:rPr lang="en-US" sz="800" dirty="0" smtClean="0"/>
                <a:t>View</a:t>
              </a:r>
              <a:endParaRPr lang="en-US" sz="800" dirty="0"/>
            </a:p>
          </p:txBody>
        </p:sp>
        <p:sp>
          <p:nvSpPr>
            <p:cNvPr id="126" name="Rectangle 125"/>
            <p:cNvSpPr/>
            <p:nvPr/>
          </p:nvSpPr>
          <p:spPr>
            <a:xfrm>
              <a:off x="3819525" y="4415135"/>
              <a:ext cx="1143000" cy="842665"/>
            </a:xfrm>
            <a:prstGeom prst="rect">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p:cNvGrpSpPr/>
            <p:nvPr/>
          </p:nvGrpSpPr>
          <p:grpSpPr>
            <a:xfrm>
              <a:off x="3971925" y="4605635"/>
              <a:ext cx="838200" cy="575965"/>
              <a:chOff x="5638800" y="5029200"/>
              <a:chExt cx="1219200" cy="762000"/>
            </a:xfrm>
          </p:grpSpPr>
          <p:sp>
            <p:nvSpPr>
              <p:cNvPr id="12296" name="laptop"/>
              <p:cNvSpPr>
                <a:spLocks noEditPoints="1" noChangeArrowheads="1"/>
              </p:cNvSpPr>
              <p:nvPr/>
            </p:nvSpPr>
            <p:spPr bwMode="auto">
              <a:xfrm>
                <a:off x="5638800" y="5029200"/>
                <a:ext cx="1219200" cy="762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pic>
            <p:nvPicPr>
              <p:cNvPr id="58" name="Picture 6"/>
              <p:cNvPicPr>
                <a:picLocks noChangeAspect="1" noChangeArrowheads="1"/>
              </p:cNvPicPr>
              <p:nvPr/>
            </p:nvPicPr>
            <p:blipFill>
              <a:blip r:embed="rId16" cstate="print"/>
              <a:srcRect/>
              <a:stretch>
                <a:fillRect/>
              </a:stretch>
            </p:blipFill>
            <p:spPr bwMode="auto">
              <a:xfrm>
                <a:off x="5876925" y="5095876"/>
                <a:ext cx="762001" cy="380999"/>
              </a:xfrm>
              <a:prstGeom prst="rect">
                <a:avLst/>
              </a:prstGeom>
              <a:noFill/>
              <a:ln w="9525">
                <a:noFill/>
                <a:miter lim="800000"/>
                <a:headEnd/>
                <a:tailEnd/>
              </a:ln>
            </p:spPr>
          </p:pic>
        </p:grpSp>
        <p:sp>
          <p:nvSpPr>
            <p:cNvPr id="119" name="TextBox 118"/>
            <p:cNvSpPr txBox="1"/>
            <p:nvPr/>
          </p:nvSpPr>
          <p:spPr>
            <a:xfrm>
              <a:off x="4657725" y="3733800"/>
              <a:ext cx="1066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Another view of the data</a:t>
              </a:r>
              <a:endParaRPr lang="en-US" sz="1200" b="1" dirty="0">
                <a:solidFill>
                  <a:srgbClr val="C00000"/>
                </a:solidFill>
                <a:latin typeface="Bradley Hand ITC" pitchFamily="66" charset="0"/>
              </a:endParaRPr>
            </a:p>
          </p:txBody>
        </p:sp>
        <p:sp>
          <p:nvSpPr>
            <p:cNvPr id="120" name="Freeform 119"/>
            <p:cNvSpPr/>
            <p:nvPr/>
          </p:nvSpPr>
          <p:spPr>
            <a:xfrm rot="20044152" flipV="1">
              <a:off x="4459928" y="4110395"/>
              <a:ext cx="381000" cy="228600"/>
            </a:xfrm>
            <a:custGeom>
              <a:avLst/>
              <a:gdLst>
                <a:gd name="connsiteX0" fmla="*/ 609600 w 609600"/>
                <a:gd name="connsiteY0" fmla="*/ 295275 h 295275"/>
                <a:gd name="connsiteX1" fmla="*/ 333375 w 609600"/>
                <a:gd name="connsiteY1" fmla="*/ 266700 h 295275"/>
                <a:gd name="connsiteX2" fmla="*/ 276225 w 609600"/>
                <a:gd name="connsiteY2" fmla="*/ 123825 h 295275"/>
                <a:gd name="connsiteX3" fmla="*/ 0 w 609600"/>
                <a:gd name="connsiteY3" fmla="*/ 0 h 295275"/>
              </a:gdLst>
              <a:ahLst/>
              <a:cxnLst>
                <a:cxn ang="0">
                  <a:pos x="connsiteX0" y="connsiteY0"/>
                </a:cxn>
                <a:cxn ang="0">
                  <a:pos x="connsiteX1" y="connsiteY1"/>
                </a:cxn>
                <a:cxn ang="0">
                  <a:pos x="connsiteX2" y="connsiteY2"/>
                </a:cxn>
                <a:cxn ang="0">
                  <a:pos x="connsiteX3" y="connsiteY3"/>
                </a:cxn>
              </a:cxnLst>
              <a:rect l="l" t="t" r="r" b="b"/>
              <a:pathLst>
                <a:path w="609600" h="295275">
                  <a:moveTo>
                    <a:pt x="609600" y="295275"/>
                  </a:moveTo>
                  <a:cubicBezTo>
                    <a:pt x="499269" y="295275"/>
                    <a:pt x="388938" y="295275"/>
                    <a:pt x="333375" y="266700"/>
                  </a:cubicBezTo>
                  <a:cubicBezTo>
                    <a:pt x="277813" y="238125"/>
                    <a:pt x="331787" y="168275"/>
                    <a:pt x="276225" y="123825"/>
                  </a:cubicBezTo>
                  <a:cubicBezTo>
                    <a:pt x="220663" y="79375"/>
                    <a:pt x="110331" y="3968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5" name="TextBox 124"/>
            <p:cNvSpPr txBox="1"/>
            <p:nvPr/>
          </p:nvSpPr>
          <p:spPr>
            <a:xfrm>
              <a:off x="3819525" y="4415134"/>
              <a:ext cx="1143000" cy="215444"/>
            </a:xfrm>
            <a:prstGeom prst="rect">
              <a:avLst/>
            </a:prstGeom>
            <a:noFill/>
          </p:spPr>
          <p:txBody>
            <a:bodyPr wrap="square" rtlCol="0">
              <a:spAutoFit/>
            </a:bodyPr>
            <a:lstStyle/>
            <a:p>
              <a:pPr algn="ctr"/>
              <a:r>
                <a:rPr lang="en-US" sz="800" dirty="0" smtClean="0"/>
                <a:t>View</a:t>
              </a:r>
              <a:endParaRPr lang="en-US" sz="800" dirty="0"/>
            </a:p>
          </p:txBody>
        </p:sp>
        <p:sp>
          <p:nvSpPr>
            <p:cNvPr id="128" name="Freeform 127"/>
            <p:cNvSpPr/>
            <p:nvPr/>
          </p:nvSpPr>
          <p:spPr>
            <a:xfrm>
              <a:off x="5010150" y="6009501"/>
              <a:ext cx="314325" cy="257175"/>
            </a:xfrm>
            <a:custGeom>
              <a:avLst/>
              <a:gdLst>
                <a:gd name="connsiteX0" fmla="*/ 314325 w 314325"/>
                <a:gd name="connsiteY0" fmla="*/ 257175 h 257175"/>
                <a:gd name="connsiteX1" fmla="*/ 200025 w 314325"/>
                <a:gd name="connsiteY1" fmla="*/ 190500 h 257175"/>
                <a:gd name="connsiteX2" fmla="*/ 142875 w 314325"/>
                <a:gd name="connsiteY2" fmla="*/ 47625 h 257175"/>
                <a:gd name="connsiteX3" fmla="*/ 0 w 314325"/>
                <a:gd name="connsiteY3" fmla="*/ 0 h 257175"/>
              </a:gdLst>
              <a:ahLst/>
              <a:cxnLst>
                <a:cxn ang="0">
                  <a:pos x="connsiteX0" y="connsiteY0"/>
                </a:cxn>
                <a:cxn ang="0">
                  <a:pos x="connsiteX1" y="connsiteY1"/>
                </a:cxn>
                <a:cxn ang="0">
                  <a:pos x="connsiteX2" y="connsiteY2"/>
                </a:cxn>
                <a:cxn ang="0">
                  <a:pos x="connsiteX3" y="connsiteY3"/>
                </a:cxn>
              </a:cxnLst>
              <a:rect l="l" t="t" r="r" b="b"/>
              <a:pathLst>
                <a:path w="314325" h="257175">
                  <a:moveTo>
                    <a:pt x="314325" y="257175"/>
                  </a:moveTo>
                  <a:cubicBezTo>
                    <a:pt x="271462" y="241300"/>
                    <a:pt x="228600" y="225425"/>
                    <a:pt x="200025" y="190500"/>
                  </a:cubicBezTo>
                  <a:cubicBezTo>
                    <a:pt x="171450" y="155575"/>
                    <a:pt x="176212" y="79375"/>
                    <a:pt x="142875" y="47625"/>
                  </a:cubicBezTo>
                  <a:cubicBezTo>
                    <a:pt x="109538" y="15875"/>
                    <a:pt x="54769" y="793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78" name="Group 177"/>
            <p:cNvGrpSpPr/>
            <p:nvPr/>
          </p:nvGrpSpPr>
          <p:grpSpPr>
            <a:xfrm>
              <a:off x="771525" y="2771775"/>
              <a:ext cx="1828800" cy="1419225"/>
              <a:chOff x="685800" y="2238375"/>
              <a:chExt cx="1828800" cy="1419225"/>
            </a:xfrm>
          </p:grpSpPr>
          <p:sp>
            <p:nvSpPr>
              <p:cNvPr id="176" name="Rectangle 175"/>
              <p:cNvSpPr/>
              <p:nvPr/>
            </p:nvSpPr>
            <p:spPr>
              <a:xfrm>
                <a:off x="685800" y="2238375"/>
                <a:ext cx="1752600" cy="1419225"/>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TextBox 172"/>
              <p:cNvSpPr txBox="1"/>
              <p:nvPr/>
            </p:nvSpPr>
            <p:spPr>
              <a:xfrm>
                <a:off x="685800" y="2238375"/>
                <a:ext cx="1752600" cy="430887"/>
              </a:xfrm>
              <a:prstGeom prst="rect">
                <a:avLst/>
              </a:prstGeom>
              <a:noFill/>
            </p:spPr>
            <p:txBody>
              <a:bodyPr wrap="square" rtlCol="0">
                <a:spAutoFit/>
              </a:bodyPr>
              <a:lstStyle/>
              <a:p>
                <a:r>
                  <a:rPr lang="en-US" sz="1100" b="1" u="sng" dirty="0" smtClean="0">
                    <a:solidFill>
                      <a:srgbClr val="C00000"/>
                    </a:solidFill>
                    <a:latin typeface="Bradley Hand ITC" pitchFamily="66" charset="0"/>
                  </a:rPr>
                  <a:t>Model</a:t>
                </a:r>
                <a:r>
                  <a:rPr lang="en-US" sz="1100" b="1" dirty="0" smtClean="0">
                    <a:solidFill>
                      <a:srgbClr val="C00000"/>
                    </a:solidFill>
                    <a:latin typeface="Bradley Hand ITC" pitchFamily="66" charset="0"/>
                  </a:rPr>
                  <a:t>:  Encapsulates core data and functionality</a:t>
                </a:r>
                <a:endParaRPr lang="en-US" sz="1100" b="1" dirty="0">
                  <a:solidFill>
                    <a:srgbClr val="C00000"/>
                  </a:solidFill>
                  <a:latin typeface="Bradley Hand ITC" pitchFamily="66" charset="0"/>
                </a:endParaRPr>
              </a:p>
            </p:txBody>
          </p:sp>
          <p:sp>
            <p:nvSpPr>
              <p:cNvPr id="174" name="TextBox 173"/>
              <p:cNvSpPr txBox="1"/>
              <p:nvPr/>
            </p:nvSpPr>
            <p:spPr>
              <a:xfrm>
                <a:off x="685800" y="2667000"/>
                <a:ext cx="1828800" cy="430887"/>
              </a:xfrm>
              <a:prstGeom prst="rect">
                <a:avLst/>
              </a:prstGeom>
              <a:noFill/>
            </p:spPr>
            <p:txBody>
              <a:bodyPr wrap="square" rtlCol="0">
                <a:spAutoFit/>
              </a:bodyPr>
              <a:lstStyle/>
              <a:p>
                <a:r>
                  <a:rPr lang="en-US" sz="1100" b="1" u="sng" dirty="0" smtClean="0">
                    <a:solidFill>
                      <a:srgbClr val="C00000"/>
                    </a:solidFill>
                    <a:latin typeface="Bradley Hand ITC" pitchFamily="66" charset="0"/>
                  </a:rPr>
                  <a:t>View</a:t>
                </a:r>
                <a:r>
                  <a:rPr lang="en-US" sz="1100" b="1" dirty="0" smtClean="0">
                    <a:solidFill>
                      <a:srgbClr val="C00000"/>
                    </a:solidFill>
                    <a:latin typeface="Bradley Hand ITC" pitchFamily="66" charset="0"/>
                  </a:rPr>
                  <a:t>:  Display information to the user</a:t>
                </a:r>
                <a:endParaRPr lang="en-US" sz="1100" b="1" dirty="0">
                  <a:solidFill>
                    <a:srgbClr val="C00000"/>
                  </a:solidFill>
                  <a:latin typeface="Bradley Hand ITC" pitchFamily="66" charset="0"/>
                </a:endParaRPr>
              </a:p>
            </p:txBody>
          </p:sp>
          <p:sp>
            <p:nvSpPr>
              <p:cNvPr id="175" name="TextBox 174"/>
              <p:cNvSpPr txBox="1"/>
              <p:nvPr/>
            </p:nvSpPr>
            <p:spPr>
              <a:xfrm>
                <a:off x="685800" y="3048000"/>
                <a:ext cx="1828800" cy="600164"/>
              </a:xfrm>
              <a:prstGeom prst="rect">
                <a:avLst/>
              </a:prstGeom>
              <a:noFill/>
            </p:spPr>
            <p:txBody>
              <a:bodyPr wrap="square" rtlCol="0">
                <a:spAutoFit/>
              </a:bodyPr>
              <a:lstStyle/>
              <a:p>
                <a:r>
                  <a:rPr lang="en-US" sz="1100" b="1" u="sng" dirty="0" smtClean="0">
                    <a:solidFill>
                      <a:srgbClr val="C00000"/>
                    </a:solidFill>
                    <a:latin typeface="Bradley Hand ITC" pitchFamily="66" charset="0"/>
                  </a:rPr>
                  <a:t>Controller</a:t>
                </a:r>
                <a:r>
                  <a:rPr lang="en-US" sz="1100" b="1" dirty="0" smtClean="0">
                    <a:solidFill>
                      <a:srgbClr val="C00000"/>
                    </a:solidFill>
                    <a:latin typeface="Bradley Hand ITC" pitchFamily="66" charset="0"/>
                  </a:rPr>
                  <a:t>: Receives input and translates it to service requests.</a:t>
                </a:r>
                <a:endParaRPr lang="en-US" sz="1100" b="1" dirty="0">
                  <a:solidFill>
                    <a:srgbClr val="C00000"/>
                  </a:solidFill>
                  <a:latin typeface="Bradley Hand ITC" pitchFamily="66" charset="0"/>
                </a:endParaRPr>
              </a:p>
            </p:txBody>
          </p:sp>
        </p:grpSp>
        <p:sp>
          <p:nvSpPr>
            <p:cNvPr id="179" name="TextBox 178"/>
            <p:cNvSpPr txBox="1"/>
            <p:nvPr/>
          </p:nvSpPr>
          <p:spPr>
            <a:xfrm>
              <a:off x="5267325" y="6015335"/>
              <a:ext cx="2667000" cy="461665"/>
            </a:xfrm>
            <a:prstGeom prst="rect">
              <a:avLst/>
            </a:prstGeom>
            <a:noFill/>
          </p:spPr>
          <p:txBody>
            <a:bodyPr wrap="square" rtlCol="0">
              <a:spAutoFit/>
            </a:bodyPr>
            <a:lstStyle/>
            <a:p>
              <a:r>
                <a:rPr lang="en-US" sz="1200" b="1" dirty="0" smtClean="0">
                  <a:solidFill>
                    <a:srgbClr val="C00000"/>
                  </a:solidFill>
                  <a:latin typeface="Bradley Hand ITC" pitchFamily="66" charset="0"/>
                </a:rPr>
                <a:t>2. Controller uses speech recognition to translate input to a service request</a:t>
              </a:r>
              <a:endParaRPr lang="en-US" sz="1200" b="1" dirty="0">
                <a:solidFill>
                  <a:srgbClr val="C00000"/>
                </a:solidFill>
                <a:latin typeface="Bradley Hand ITC" pitchFamily="66" charset="0"/>
              </a:endParaRPr>
            </a:p>
          </p:txBody>
        </p:sp>
        <p:sp>
          <p:nvSpPr>
            <p:cNvPr id="180" name="TextBox 179"/>
            <p:cNvSpPr txBox="1"/>
            <p:nvPr/>
          </p:nvSpPr>
          <p:spPr>
            <a:xfrm>
              <a:off x="5038725" y="838200"/>
              <a:ext cx="1828800" cy="215444"/>
            </a:xfrm>
            <a:prstGeom prst="rect">
              <a:avLst/>
            </a:prstGeom>
            <a:noFill/>
          </p:spPr>
          <p:txBody>
            <a:bodyPr wrap="square" rtlCol="0">
              <a:spAutoFit/>
            </a:bodyPr>
            <a:lstStyle/>
            <a:p>
              <a:r>
                <a:rPr lang="en-US" sz="800" dirty="0" smtClean="0"/>
                <a:t>sendCommand(FIND, SFH, 33803)</a:t>
              </a:r>
              <a:endParaRPr lang="en-US" sz="800" dirty="0"/>
            </a:p>
          </p:txBody>
        </p:sp>
        <p:sp>
          <p:nvSpPr>
            <p:cNvPr id="181" name="TextBox 180"/>
            <p:cNvSpPr txBox="1"/>
            <p:nvPr/>
          </p:nvSpPr>
          <p:spPr>
            <a:xfrm>
              <a:off x="5495925" y="2249269"/>
              <a:ext cx="1371600" cy="646331"/>
            </a:xfrm>
            <a:prstGeom prst="rect">
              <a:avLst/>
            </a:prstGeom>
            <a:noFill/>
          </p:spPr>
          <p:txBody>
            <a:bodyPr wrap="square" rtlCol="0">
              <a:spAutoFit/>
            </a:bodyPr>
            <a:lstStyle/>
            <a:p>
              <a:r>
                <a:rPr lang="en-US" sz="1200" b="1" dirty="0" smtClean="0">
                  <a:solidFill>
                    <a:srgbClr val="C00000"/>
                  </a:solidFill>
                  <a:latin typeface="Bradley Hand ITC" pitchFamily="66" charset="0"/>
                </a:rPr>
                <a:t>3. View is updated to display results of service request. </a:t>
              </a:r>
              <a:endParaRPr lang="en-US" sz="1200" b="1" dirty="0">
                <a:solidFill>
                  <a:srgbClr val="C00000"/>
                </a:solidFill>
                <a:latin typeface="Bradley Hand ITC" pitchFamily="66" charset="0"/>
              </a:endParaRPr>
            </a:p>
          </p:txBody>
        </p:sp>
        <p:sp>
          <p:nvSpPr>
            <p:cNvPr id="182" name="TextBox 181"/>
            <p:cNvSpPr txBox="1"/>
            <p:nvPr/>
          </p:nvSpPr>
          <p:spPr>
            <a:xfrm>
              <a:off x="7086600" y="1295400"/>
              <a:ext cx="1628775" cy="46166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Not a UML diagram!</a:t>
              </a:r>
              <a:endParaRPr lang="en-US" sz="1200" b="1" dirty="0">
                <a:solidFill>
                  <a:srgbClr val="C00000"/>
                </a:solidFill>
                <a:latin typeface="Bradley Hand ITC" pitchFamily="66" charset="0"/>
              </a:endParaRPr>
            </a:p>
          </p:txBody>
        </p:sp>
        <p:sp>
          <p:nvSpPr>
            <p:cNvPr id="185" name="TextBox 184"/>
            <p:cNvSpPr txBox="1"/>
            <p:nvPr/>
          </p:nvSpPr>
          <p:spPr>
            <a:xfrm>
              <a:off x="6934200" y="2438400"/>
              <a:ext cx="1905000" cy="523220"/>
            </a:xfrm>
            <a:prstGeom prst="rect">
              <a:avLst/>
            </a:prstGeom>
            <a:noFill/>
          </p:spPr>
          <p:txBody>
            <a:bodyPr wrap="square" rtlCol="0">
              <a:spAutoFit/>
            </a:bodyPr>
            <a:lstStyle/>
            <a:p>
              <a:pPr algn="ctr"/>
              <a:r>
                <a:rPr lang="en-US" sz="1400" b="1" u="sng" dirty="0" smtClean="0">
                  <a:solidFill>
                    <a:srgbClr val="C00000"/>
                  </a:solidFill>
                  <a:latin typeface="Bradley Hand ITC" pitchFamily="66" charset="0"/>
                </a:rPr>
                <a:t>MVC for the Real Estate System</a:t>
              </a:r>
              <a:endParaRPr lang="en-US" sz="1400" b="1" u="sng" dirty="0">
                <a:solidFill>
                  <a:srgbClr val="C00000"/>
                </a:solidFill>
                <a:latin typeface="Bradley Hand ITC" pitchFamily="66"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Model-View-Controller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1828800" y="2590800"/>
            <a:ext cx="5114925" cy="2019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Model-View-Controller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10242" name="Picture 2"/>
          <p:cNvPicPr>
            <a:picLocks noChangeAspect="1" noChangeArrowheads="1"/>
          </p:cNvPicPr>
          <p:nvPr/>
        </p:nvPicPr>
        <p:blipFill>
          <a:blip r:embed="rId2" cstate="print"/>
          <a:srcRect/>
          <a:stretch>
            <a:fillRect/>
          </a:stretch>
        </p:blipFill>
        <p:spPr bwMode="auto">
          <a:xfrm>
            <a:off x="1905000" y="1219200"/>
            <a:ext cx="5743575" cy="50768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Model-View-Controller Architectural Pattern</a:t>
            </a:r>
            <a:endParaRPr lang="en-US" dirty="0"/>
          </a:p>
        </p:txBody>
      </p:sp>
      <p:sp>
        <p:nvSpPr>
          <p:cNvPr id="3" name="Content Placeholder 2"/>
          <p:cNvSpPr>
            <a:spLocks noGrp="1"/>
          </p:cNvSpPr>
          <p:nvPr>
            <p:ph idx="1"/>
          </p:nvPr>
        </p:nvSpPr>
        <p:spPr>
          <a:xfrm>
            <a:off x="457200" y="1371601"/>
            <a:ext cx="8229600" cy="5105399"/>
          </a:xfrm>
        </p:spPr>
        <p:txBody>
          <a:bodyPr>
            <a:normAutofit fontScale="92500" lnSpcReduction="20000"/>
          </a:bodyPr>
          <a:lstStyle/>
          <a:p>
            <a:r>
              <a:rPr lang="en-US" dirty="0" smtClean="0"/>
              <a:t>Quality properties of the MVC architectural pattern include the ones specified below.</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There are many variations of the MVC architectural pattern.</a:t>
            </a:r>
          </a:p>
          <a:p>
            <a:pPr lvl="1"/>
            <a:r>
              <a:rPr lang="en-US" dirty="0" smtClean="0"/>
              <a:t>One popular variation includes the fusion of views and controller components, as made famous in the 1990s by Microsoft’s Document-View architecture</a:t>
            </a:r>
          </a:p>
          <a:p>
            <a:pPr lvl="1"/>
            <a:r>
              <a:rPr lang="en-US" dirty="0" smtClean="0"/>
              <a:t>Other more extensive variations include the process-abstraction-controller pattern.</a:t>
            </a:r>
          </a:p>
          <a:p>
            <a:pPr lvl="1"/>
            <a:endParaRPr lang="en-US" dirty="0" smtClean="0"/>
          </a:p>
          <a:p>
            <a:r>
              <a:rPr lang="en-US" dirty="0" smtClean="0"/>
              <a:t>MVC has been successfully adapted as an architecture for the World Wide Web, e.g., see:</a:t>
            </a:r>
          </a:p>
          <a:p>
            <a:pPr lvl="1"/>
            <a:r>
              <a:rPr lang="en-US" dirty="0" smtClean="0"/>
              <a:t>JavaScriptMVC</a:t>
            </a:r>
          </a:p>
          <a:p>
            <a:pPr lvl="1"/>
            <a:r>
              <a:rPr lang="en-US" dirty="0" smtClean="0"/>
              <a:t>Backbone</a:t>
            </a:r>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1676400" y="2209800"/>
            <a:ext cx="5953125" cy="13335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Hierarchical Systems</a:t>
            </a:r>
            <a:endParaRPr lang="en-US" dirty="0"/>
          </a:p>
        </p:txBody>
      </p:sp>
      <p:sp>
        <p:nvSpPr>
          <p:cNvPr id="3" name="Content Placeholder 2"/>
          <p:cNvSpPr>
            <a:spLocks noGrp="1"/>
          </p:cNvSpPr>
          <p:nvPr>
            <p:ph idx="1"/>
          </p:nvPr>
        </p:nvSpPr>
        <p:spPr>
          <a:xfrm>
            <a:off x="457200" y="1371601"/>
            <a:ext cx="8229600" cy="2590799"/>
          </a:xfrm>
        </p:spPr>
        <p:txBody>
          <a:bodyPr>
            <a:normAutofit fontScale="77500" lnSpcReduction="20000"/>
          </a:bodyPr>
          <a:lstStyle/>
          <a:p>
            <a:r>
              <a:rPr lang="en-US" dirty="0" smtClean="0"/>
              <a:t>Hierarchical systems can be decomposed and structured in hierarchical fashion.  Two common architectural patterns for hierarchical systems are:</a:t>
            </a:r>
          </a:p>
          <a:p>
            <a:pPr lvl="1"/>
            <a:r>
              <a:rPr lang="en-US" dirty="0" smtClean="0"/>
              <a:t>Main program and subroutine</a:t>
            </a:r>
          </a:p>
          <a:p>
            <a:pPr lvl="1"/>
            <a:r>
              <a:rPr lang="en-US" dirty="0" smtClean="0"/>
              <a:t>Layered</a:t>
            </a:r>
          </a:p>
          <a:p>
            <a:pPr lvl="1"/>
            <a:endParaRPr lang="en-US" dirty="0" smtClean="0"/>
          </a:p>
          <a:p>
            <a:r>
              <a:rPr lang="en-US" dirty="0" smtClean="0"/>
              <a:t>Quality properties of the Main Program and Subroutine architectural pattern include:</a:t>
            </a:r>
          </a:p>
          <a:p>
            <a:endParaRPr lang="en-US" dirty="0" smtClean="0"/>
          </a:p>
          <a:p>
            <a:endParaRPr lang="en-US" dirty="0" smtClean="0"/>
          </a:p>
          <a:p>
            <a:endParaRPr lang="en-US" dirty="0" smtClean="0"/>
          </a:p>
          <a:p>
            <a:endParaRPr lang="en-US" dirty="0" smtClean="0"/>
          </a:p>
          <a:p>
            <a:r>
              <a:rPr lang="en-US" dirty="0" smtClean="0"/>
              <a:t>Quality properties of the Layered architectural pattern include the ones specified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1027" name="Picture 3"/>
          <p:cNvPicPr>
            <a:picLocks noChangeAspect="1" noChangeArrowheads="1"/>
          </p:cNvPicPr>
          <p:nvPr/>
        </p:nvPicPr>
        <p:blipFill>
          <a:blip r:embed="rId2" cstate="print"/>
          <a:srcRect/>
          <a:stretch>
            <a:fillRect/>
          </a:stretch>
        </p:blipFill>
        <p:spPr bwMode="auto">
          <a:xfrm>
            <a:off x="1676400" y="2743200"/>
            <a:ext cx="5953125" cy="819150"/>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1676400" y="3962400"/>
            <a:ext cx="5962650" cy="2400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Program and Subroutine and Layered Patterns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7" name="Picture 2"/>
          <p:cNvPicPr>
            <a:picLocks noChangeAspect="1" noChangeArrowheads="1"/>
          </p:cNvPicPr>
          <p:nvPr/>
        </p:nvPicPr>
        <p:blipFill>
          <a:blip r:embed="rId2" cstate="print"/>
          <a:srcRect/>
          <a:stretch>
            <a:fillRect/>
          </a:stretch>
        </p:blipFill>
        <p:spPr bwMode="auto">
          <a:xfrm>
            <a:off x="990600" y="1371600"/>
            <a:ext cx="3356468" cy="5005388"/>
          </a:xfrm>
          <a:prstGeom prst="rect">
            <a:avLst/>
          </a:prstGeom>
          <a:noFill/>
          <a:ln w="9525">
            <a:noFill/>
            <a:miter lim="800000"/>
            <a:headEnd/>
            <a:tailEnd/>
          </a:ln>
        </p:spPr>
      </p:pic>
      <p:pic>
        <p:nvPicPr>
          <p:cNvPr id="2050" name="Picture 2"/>
          <p:cNvPicPr>
            <a:picLocks noChangeAspect="1" noChangeArrowheads="1"/>
          </p:cNvPicPr>
          <p:nvPr/>
        </p:nvPicPr>
        <p:blipFill>
          <a:blip r:embed="rId3" cstate="print"/>
          <a:srcRect/>
          <a:stretch>
            <a:fillRect/>
          </a:stretch>
        </p:blipFill>
        <p:spPr bwMode="auto">
          <a:xfrm>
            <a:off x="4724400" y="1447800"/>
            <a:ext cx="3464053" cy="4848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continued the discussion on distributed systems and presented fundamentals concepts of interactive and hierarchical systems, together with essential architectural patterns for these systems, including:</a:t>
            </a:r>
          </a:p>
          <a:p>
            <a:pPr lvl="1"/>
            <a:r>
              <a:rPr lang="en-US" dirty="0" smtClean="0"/>
              <a:t>Broker</a:t>
            </a:r>
          </a:p>
          <a:p>
            <a:pPr lvl="1"/>
            <a:r>
              <a:rPr lang="en-US" dirty="0" smtClean="0"/>
              <a:t>MVC</a:t>
            </a:r>
          </a:p>
          <a:p>
            <a:pPr lvl="1"/>
            <a:r>
              <a:rPr lang="en-US" dirty="0" smtClean="0"/>
              <a:t>Layered</a:t>
            </a:r>
          </a:p>
          <a:p>
            <a:pPr lvl="1"/>
            <a:r>
              <a:rPr lang="en-US" dirty="0" smtClean="0"/>
              <a:t>Main Program and Subroutine</a:t>
            </a:r>
          </a:p>
          <a:p>
            <a:pPr lvl="1">
              <a:buNone/>
            </a:pPr>
            <a:endParaRPr lang="en-US" dirty="0" smtClean="0"/>
          </a:p>
          <a:p>
            <a:r>
              <a:rPr lang="en-US" dirty="0" smtClean="0"/>
              <a:t>This finalizes our coverage of architectural patterns.  In the next module, we start the discussion on detailed design, which is the next activity in the design process.  Detailed design begins once the architecture of the software is sufficiently complete.</a:t>
            </a:r>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10866</TotalTime>
  <Words>1331</Words>
  <Application>Microsoft Office PowerPoint</Application>
  <PresentationFormat>On-screen Show (4:3)</PresentationFormat>
  <Paragraphs>245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UVa-Wise-Clean-BW</vt:lpstr>
      <vt:lpstr>Chapter 4: Patterns and Styles in Software Architecture</vt:lpstr>
      <vt:lpstr>Session’s Agenda</vt:lpstr>
      <vt:lpstr>Distributed Systems</vt:lpstr>
      <vt:lpstr>Broker Architectural Pattern</vt:lpstr>
      <vt:lpstr>Broker Architectural Pattern</vt:lpstr>
      <vt:lpstr>Broker Architectural Pattern</vt:lpstr>
      <vt:lpstr>Broker Architectural Pattern</vt:lpstr>
      <vt:lpstr>Broker Architectural Pattern</vt:lpstr>
      <vt:lpstr>Broker Architectural Pattern</vt:lpstr>
      <vt:lpstr>Broker Architectural Pattern</vt:lpstr>
      <vt:lpstr>Broker Architectural Pattern</vt:lpstr>
      <vt:lpstr>Interactive Systems</vt:lpstr>
      <vt:lpstr>Model-View-Controller Architectural Pattern</vt:lpstr>
      <vt:lpstr>Slide 14</vt:lpstr>
      <vt:lpstr>Model-View-Controller Architectural Pattern</vt:lpstr>
      <vt:lpstr>Model-View-Controller Architectural Pattern</vt:lpstr>
      <vt:lpstr>Model-View-Controller Architectural Pattern</vt:lpstr>
      <vt:lpstr>Hierarchical Systems</vt:lpstr>
      <vt:lpstr>Main Program and Subroutine and Layered Patterns</vt:lpstr>
      <vt:lpstr>What’s Next…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cotero</cp:lastModifiedBy>
  <cp:revision>764</cp:revision>
  <dcterms:created xsi:type="dcterms:W3CDTF">2006-08-16T00:00:00Z</dcterms:created>
  <dcterms:modified xsi:type="dcterms:W3CDTF">2012-10-03T11:06:50Z</dcterms:modified>
</cp:coreProperties>
</file>
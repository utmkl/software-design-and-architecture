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56" r:id="rId2"/>
    <p:sldId id="257" r:id="rId3"/>
    <p:sldId id="533" r:id="rId4"/>
    <p:sldId id="548" r:id="rId5"/>
    <p:sldId id="534" r:id="rId6"/>
    <p:sldId id="532" r:id="rId7"/>
    <p:sldId id="510" r:id="rId8"/>
    <p:sldId id="511" r:id="rId9"/>
    <p:sldId id="549" r:id="rId10"/>
    <p:sldId id="535" r:id="rId11"/>
    <p:sldId id="536" r:id="rId12"/>
    <p:sldId id="537" r:id="rId13"/>
    <p:sldId id="538" r:id="rId14"/>
    <p:sldId id="539" r:id="rId15"/>
    <p:sldId id="540" r:id="rId16"/>
    <p:sldId id="541" r:id="rId17"/>
    <p:sldId id="542" r:id="rId18"/>
    <p:sldId id="544" r:id="rId19"/>
    <p:sldId id="546" r:id="rId20"/>
    <p:sldId id="547" r:id="rId21"/>
    <p:sldId id="545" r:id="rId22"/>
    <p:sldId id="550" r:id="rId23"/>
    <p:sldId id="336" r:id="rId24"/>
    <p:sldId id="404" r:id="rId25"/>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B13B5"/>
    <a:srgbClr val="969696"/>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0" d="100"/>
          <a:sy n="100" d="100"/>
        </p:scale>
        <p:origin x="-432" y="-7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738"/>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49B3061A-7F4E-4E3A-A627-E1FC384385A9}" type="datetimeFigureOut">
              <a:rPr lang="en-US" smtClean="0"/>
              <a:pPr/>
              <a:t>5/9/2013</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C58D7772-57C4-43FE-B30D-FBB40B6BD3DC}"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685800"/>
            <a:ext cx="9144000" cy="1066800"/>
          </a:xfrm>
        </p:spPr>
        <p:txBody>
          <a:bodyPr>
            <a:normAutofit/>
          </a:bodyPr>
          <a:lstStyle>
            <a:lvl1pPr algn="ctr">
              <a:defRPr sz="2400" b="1" cap="small" baseline="0">
                <a:latin typeface="Times New Roman" pitchFamily="18" charset="0"/>
                <a:cs typeface="Times New Roman" pitchFamily="18" charset="0"/>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0" y="1752599"/>
            <a:ext cx="9144000" cy="457200"/>
          </a:xfrm>
        </p:spPr>
        <p:txBody>
          <a:bodyPr>
            <a:normAutofit/>
          </a:bodyPr>
          <a:lstStyle>
            <a:lvl1pPr marL="0" indent="0" algn="ctr">
              <a:spcBef>
                <a:spcPts val="0"/>
              </a:spcBef>
              <a:buNone/>
              <a:defRPr sz="2000" cap="small" baseline="0">
                <a:solidFill>
                  <a:srgbClr val="000000"/>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a:xfrm>
            <a:off x="457200" y="6584950"/>
            <a:ext cx="990600" cy="273050"/>
          </a:xfrm>
          <a:prstGeom prst="rect">
            <a:avLst/>
          </a:prstGeom>
        </p:spPr>
        <p:txBody>
          <a:bodyPr/>
          <a:lstStyle>
            <a:lvl1pPr>
              <a:defRPr sz="1000">
                <a:solidFill>
                  <a:srgbClr val="000000"/>
                </a:solidFill>
                <a:latin typeface="Times New Roman" pitchFamily="18" charset="0"/>
                <a:cs typeface="Times New Roman" pitchFamily="18" charset="0"/>
              </a:defRPr>
            </a:lvl1pPr>
          </a:lstStyle>
          <a:p>
            <a:fld id="{8E146812-51FF-4609-8A40-02FC8C31783E}" type="datetime1">
              <a:rPr lang="en-US" smtClean="0"/>
              <a:pPr/>
              <a:t>5/9/2013</a:t>
            </a:fld>
            <a:endParaRPr lang="en-US"/>
          </a:p>
        </p:txBody>
      </p:sp>
      <p:sp>
        <p:nvSpPr>
          <p:cNvPr id="5" name="Footer Placeholder 4"/>
          <p:cNvSpPr>
            <a:spLocks noGrp="1"/>
          </p:cNvSpPr>
          <p:nvPr>
            <p:ph type="ftr" sz="quarter" idx="11"/>
          </p:nvPr>
        </p:nvSpPr>
        <p:spPr>
          <a:xfrm>
            <a:off x="1447800" y="6584950"/>
            <a:ext cx="6096000" cy="273050"/>
          </a:xfrm>
          <a:prstGeom prst="rect">
            <a:avLst/>
          </a:prstGeom>
        </p:spPr>
        <p:txBody>
          <a:bodyPr/>
          <a:lstStyle>
            <a:lvl1pPr>
              <a:defRPr sz="1000">
                <a:solidFill>
                  <a:srgbClr val="333333"/>
                </a:solidFill>
                <a:latin typeface="Times New Roman" pitchFamily="18" charset="0"/>
                <a:cs typeface="Times New Roman" pitchFamily="18" charset="0"/>
              </a:defRPr>
            </a:lvl1pPr>
          </a:lstStyle>
          <a:p>
            <a:r>
              <a:rPr lang="en-US" dirty="0" smtClean="0"/>
              <a:t>Software Engineering Design: Theory and Practice. Copyright 2012 by Carlos E. Otero</a:t>
            </a:r>
          </a:p>
          <a:p>
            <a:endParaRPr lang="en-US" dirty="0"/>
          </a:p>
        </p:txBody>
      </p:sp>
      <p:sp>
        <p:nvSpPr>
          <p:cNvPr id="6" name="Slide Number Placeholder 5"/>
          <p:cNvSpPr>
            <a:spLocks noGrp="1"/>
          </p:cNvSpPr>
          <p:nvPr>
            <p:ph type="sldNum" sz="quarter" idx="12"/>
          </p:nvPr>
        </p:nvSpPr>
        <p:spPr>
          <a:xfrm>
            <a:off x="7543800" y="6553200"/>
            <a:ext cx="1143000" cy="304800"/>
          </a:xfrm>
          <a:prstGeom prst="rect">
            <a:avLst/>
          </a:prstGeom>
        </p:spPr>
        <p:txBody>
          <a:bodyPr/>
          <a:lstStyle>
            <a:lvl1pPr>
              <a:defRPr sz="1000">
                <a:solidFill>
                  <a:srgbClr val="000000"/>
                </a:solidFill>
                <a:latin typeface="Times New Roman" pitchFamily="18" charset="0"/>
                <a:cs typeface="Times New Roman" pitchFamily="18" charset="0"/>
              </a:defRPr>
            </a:lvl1pPr>
          </a:lstStyle>
          <a:p>
            <a:fld id="{B6F15528-21DE-4FAA-801E-634DDDAF4B2B}" type="slidenum">
              <a:rPr lang="en-US" smtClean="0"/>
              <a:pPr/>
              <a:t>‹#›</a:t>
            </a:fld>
            <a:endParaRPr lang="en-US"/>
          </a:p>
        </p:txBody>
      </p:sp>
      <p:sp>
        <p:nvSpPr>
          <p:cNvPr id="9" name="Text Box 7"/>
          <p:cNvSpPr txBox="1">
            <a:spLocks noChangeArrowheads="1"/>
          </p:cNvSpPr>
          <p:nvPr userDrawn="1"/>
        </p:nvSpPr>
        <p:spPr bwMode="auto">
          <a:xfrm>
            <a:off x="1676400" y="2713434"/>
            <a:ext cx="6477000" cy="2800767"/>
          </a:xfrm>
          <a:prstGeom prst="rect">
            <a:avLst/>
          </a:prstGeom>
          <a:noFill/>
          <a:ln w="9525">
            <a:noFill/>
            <a:miter lim="800000"/>
            <a:headEnd/>
            <a:tailEnd/>
          </a:ln>
        </p:spPr>
        <p:txBody>
          <a:bodyPr>
            <a:spAutoFit/>
          </a:bodyPr>
          <a:lstStyle/>
          <a:p>
            <a:r>
              <a:rPr lang="en-US" sz="2000" i="1" dirty="0" smtClean="0">
                <a:solidFill>
                  <a:srgbClr val="C00000"/>
                </a:solidFill>
                <a:latin typeface="Times New Roman" pitchFamily="18" charset="0"/>
                <a:cs typeface="Times New Roman" pitchFamily="18" charset="0"/>
              </a:rPr>
              <a:t>Software Engineering Design: Theory and Practice</a:t>
            </a:r>
            <a:r>
              <a:rPr lang="en-US" i="1" dirty="0" smtClean="0">
                <a:solidFill>
                  <a:srgbClr val="C00000"/>
                </a:solidFill>
                <a:latin typeface="Times New Roman" pitchFamily="18" charset="0"/>
                <a:cs typeface="Times New Roman" pitchFamily="18" charset="0"/>
              </a:rPr>
              <a:t> </a:t>
            </a:r>
            <a:endParaRPr lang="en-US" i="1" dirty="0">
              <a:solidFill>
                <a:srgbClr val="C00000"/>
              </a:solidFill>
              <a:latin typeface="Times New Roman" pitchFamily="18" charset="0"/>
              <a:cs typeface="Times New Roman" pitchFamily="18" charset="0"/>
            </a:endParaRPr>
          </a:p>
          <a:p>
            <a:r>
              <a:rPr lang="en-US" sz="1600" b="0" dirty="0">
                <a:latin typeface="Times New Roman" pitchFamily="18" charset="0"/>
                <a:cs typeface="Times New Roman" pitchFamily="18" charset="0"/>
              </a:rPr>
              <a:t>by </a:t>
            </a:r>
            <a:r>
              <a:rPr lang="en-US" sz="1600" b="0" dirty="0" smtClean="0">
                <a:latin typeface="Times New Roman" pitchFamily="18" charset="0"/>
                <a:cs typeface="Times New Roman" pitchFamily="18" charset="0"/>
              </a:rPr>
              <a:t>Carlos</a:t>
            </a:r>
            <a:r>
              <a:rPr lang="en-US" sz="1600" b="0" baseline="0" dirty="0" smtClean="0">
                <a:latin typeface="Times New Roman" pitchFamily="18" charset="0"/>
                <a:cs typeface="Times New Roman" pitchFamily="18" charset="0"/>
              </a:rPr>
              <a:t> E. Otero</a:t>
            </a:r>
            <a:endParaRPr lang="en-US" sz="1200" b="0" dirty="0">
              <a:latin typeface="Times New Roman" pitchFamily="18" charset="0"/>
              <a:cs typeface="Times New Roman" pitchFamily="18" charset="0"/>
            </a:endParaRPr>
          </a:p>
          <a:p>
            <a:endParaRPr lang="en-US" sz="1200" b="1" dirty="0">
              <a:latin typeface="Times New Roman" pitchFamily="18" charset="0"/>
              <a:cs typeface="Times New Roman" pitchFamily="18" charset="0"/>
            </a:endParaRPr>
          </a:p>
          <a:p>
            <a:r>
              <a:rPr lang="en-US" sz="1200" b="1" dirty="0">
                <a:latin typeface="Times New Roman" pitchFamily="18" charset="0"/>
                <a:cs typeface="Times New Roman" pitchFamily="18" charset="0"/>
              </a:rPr>
              <a:t>Slides copyright © </a:t>
            </a:r>
            <a:r>
              <a:rPr lang="en-US" sz="1200" b="1" dirty="0" smtClean="0">
                <a:latin typeface="Times New Roman" pitchFamily="18" charset="0"/>
                <a:cs typeface="Times New Roman" pitchFamily="18" charset="0"/>
              </a:rPr>
              <a:t>2012</a:t>
            </a:r>
            <a:r>
              <a:rPr lang="en-US" sz="1800" dirty="0" smtClean="0">
                <a:latin typeface="Times New Roman" pitchFamily="18" charset="0"/>
                <a:cs typeface="Times New Roman" pitchFamily="18" charset="0"/>
              </a:rPr>
              <a:t> </a:t>
            </a:r>
            <a:r>
              <a:rPr lang="en-US" sz="1200" b="1" dirty="0">
                <a:latin typeface="Times New Roman" pitchFamily="18" charset="0"/>
                <a:cs typeface="Times New Roman" pitchFamily="18" charset="0"/>
              </a:rPr>
              <a:t>by </a:t>
            </a:r>
            <a:r>
              <a:rPr lang="en-US" sz="1200" b="1" dirty="0" smtClean="0">
                <a:latin typeface="Times New Roman" pitchFamily="18" charset="0"/>
                <a:cs typeface="Times New Roman" pitchFamily="18" charset="0"/>
              </a:rPr>
              <a:t>Carlos E. Otero</a:t>
            </a:r>
            <a:endParaRPr lang="en-US" sz="1800" dirty="0">
              <a:latin typeface="Times New Roman" pitchFamily="18" charset="0"/>
              <a:cs typeface="Times New Roman" pitchFamily="18" charset="0"/>
            </a:endParaRPr>
          </a:p>
          <a:p>
            <a:endParaRPr lang="en-US" sz="1800" b="1" i="1" dirty="0">
              <a:solidFill>
                <a:schemeClr val="tx2"/>
              </a:solidFill>
              <a:latin typeface="Times New Roman" pitchFamily="18" charset="0"/>
              <a:cs typeface="Times New Roman" pitchFamily="18" charset="0"/>
            </a:endParaRPr>
          </a:p>
          <a:p>
            <a:r>
              <a:rPr lang="en-US" sz="1800" b="1" i="1" dirty="0">
                <a:solidFill>
                  <a:srgbClr val="C00000"/>
                </a:solidFill>
                <a:latin typeface="Times New Roman" pitchFamily="18" charset="0"/>
                <a:cs typeface="Times New Roman" pitchFamily="18" charset="0"/>
              </a:rPr>
              <a:t>For non-profit educational use only</a:t>
            </a:r>
            <a:endParaRPr lang="en-US" sz="1800" b="1" dirty="0">
              <a:solidFill>
                <a:srgbClr val="C00000"/>
              </a:solidFill>
              <a:latin typeface="Times New Roman" pitchFamily="18" charset="0"/>
              <a:cs typeface="Times New Roman" pitchFamily="18" charset="0"/>
            </a:endParaRPr>
          </a:p>
          <a:p>
            <a:endParaRPr lang="en-US" sz="1400" dirty="0">
              <a:latin typeface="Times New Roman" pitchFamily="18" charset="0"/>
              <a:cs typeface="Times New Roman" pitchFamily="18" charset="0"/>
            </a:endParaRPr>
          </a:p>
          <a:p>
            <a:r>
              <a:rPr lang="en-US" sz="1200" dirty="0">
                <a:latin typeface="Times New Roman" pitchFamily="18" charset="0"/>
                <a:cs typeface="Times New Roman" pitchFamily="18" charset="0"/>
              </a:rPr>
              <a:t>May be reproduced </a:t>
            </a:r>
            <a:r>
              <a:rPr lang="en-US" sz="1200" dirty="0" smtClean="0">
                <a:latin typeface="Times New Roman" pitchFamily="18" charset="0"/>
                <a:cs typeface="Times New Roman" pitchFamily="18" charset="0"/>
              </a:rPr>
              <a:t>only for </a:t>
            </a:r>
            <a:r>
              <a:rPr lang="en-US" sz="1200" dirty="0">
                <a:latin typeface="Times New Roman" pitchFamily="18" charset="0"/>
                <a:cs typeface="Times New Roman" pitchFamily="18" charset="0"/>
              </a:rPr>
              <a:t>student use </a:t>
            </a:r>
            <a:r>
              <a:rPr lang="en-US" sz="1200" dirty="0" smtClean="0">
                <a:latin typeface="Times New Roman" pitchFamily="18" charset="0"/>
                <a:cs typeface="Times New Roman" pitchFamily="18" charset="0"/>
              </a:rPr>
              <a:t>when </a:t>
            </a:r>
            <a:r>
              <a:rPr lang="en-US" sz="1200" dirty="0">
                <a:latin typeface="Times New Roman" pitchFamily="18" charset="0"/>
                <a:cs typeface="Times New Roman" pitchFamily="18" charset="0"/>
              </a:rPr>
              <a:t>used in conjunction with </a:t>
            </a:r>
            <a:r>
              <a:rPr lang="en-US" sz="1200" i="1" dirty="0">
                <a:latin typeface="Times New Roman" pitchFamily="18" charset="0"/>
                <a:cs typeface="Times New Roman" pitchFamily="18" charset="0"/>
              </a:rPr>
              <a:t>Software </a:t>
            </a:r>
            <a:r>
              <a:rPr lang="en-US" sz="1200" i="1" dirty="0" smtClean="0">
                <a:latin typeface="Times New Roman" pitchFamily="18" charset="0"/>
                <a:cs typeface="Times New Roman" pitchFamily="18" charset="0"/>
              </a:rPr>
              <a:t>Engineering Design: Theory and Practice. </a:t>
            </a:r>
            <a:r>
              <a:rPr lang="en-US" sz="1200" dirty="0">
                <a:latin typeface="Times New Roman" pitchFamily="18" charset="0"/>
                <a:cs typeface="Times New Roman" pitchFamily="18" charset="0"/>
              </a:rPr>
              <a:t>Any other reproduction or use is prohibited without the express written permission of the author.</a:t>
            </a:r>
          </a:p>
          <a:p>
            <a:endParaRPr lang="en-US" sz="1200" dirty="0">
              <a:latin typeface="Times New Roman" pitchFamily="18" charset="0"/>
              <a:cs typeface="Times New Roman" pitchFamily="18" charset="0"/>
            </a:endParaRPr>
          </a:p>
          <a:p>
            <a:r>
              <a:rPr lang="en-US" sz="1200" dirty="0">
                <a:latin typeface="Times New Roman" pitchFamily="18" charset="0"/>
                <a:cs typeface="Times New Roman" pitchFamily="18" charset="0"/>
              </a:rPr>
              <a:t>All copyright information </a:t>
            </a:r>
            <a:r>
              <a:rPr lang="en-US" sz="1200" dirty="0" smtClean="0">
                <a:latin typeface="Times New Roman" pitchFamily="18" charset="0"/>
                <a:cs typeface="Times New Roman" pitchFamily="18" charset="0"/>
              </a:rPr>
              <a:t>must appear </a:t>
            </a:r>
            <a:r>
              <a:rPr lang="en-US" sz="1200" dirty="0">
                <a:latin typeface="Times New Roman" pitchFamily="18" charset="0"/>
                <a:cs typeface="Times New Roman" pitchFamily="18" charset="0"/>
              </a:rPr>
              <a:t>if these slides are posted on a website for student use.</a:t>
            </a:r>
          </a:p>
        </p:txBody>
      </p:sp>
      <p:pic>
        <p:nvPicPr>
          <p:cNvPr id="10" name="Picture 1"/>
          <p:cNvPicPr>
            <a:picLocks noChangeAspect="1" noChangeArrowheads="1"/>
          </p:cNvPicPr>
          <p:nvPr userDrawn="1"/>
        </p:nvPicPr>
        <p:blipFill>
          <a:blip r:embed="rId2" cstate="print"/>
          <a:srcRect/>
          <a:stretch>
            <a:fillRect/>
          </a:stretch>
        </p:blipFill>
        <p:spPr bwMode="auto">
          <a:xfrm>
            <a:off x="7162800" y="3200400"/>
            <a:ext cx="762000" cy="1102469"/>
          </a:xfrm>
          <a:prstGeom prst="rect">
            <a:avLst/>
          </a:prstGeom>
          <a:noFill/>
          <a:ln w="9525">
            <a:noFill/>
            <a:miter lim="800000"/>
            <a:headEnd/>
            <a:tailEnd/>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457200" y="1371601"/>
            <a:ext cx="8229600" cy="4800599"/>
          </a:xfrm>
        </p:spPr>
        <p:txBody>
          <a:bodyPr/>
          <a:lstStyle>
            <a:lvl1pPr>
              <a:buFont typeface="Wingdings" pitchFamily="2" charset="2"/>
              <a:buChar char="Ø"/>
              <a:defRPr sz="2000"/>
            </a:lvl1pPr>
            <a:lvl2pPr>
              <a:buFont typeface="Wingdings" pitchFamily="2" charset="2"/>
              <a:buChar char="ü"/>
              <a:defRPr sz="1800"/>
            </a:lvl2pPr>
            <a:lvl3pPr>
              <a:buFont typeface="Wingdings" pitchFamily="2" charset="2"/>
              <a:buChar char="§"/>
              <a:defRPr sz="1600"/>
            </a:lvl3pPr>
            <a:lvl4pPr>
              <a:defRPr sz="1400"/>
            </a:lvl4pPr>
            <a:lvl5pPr>
              <a:defRPr sz="1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5" name="Date Placeholder 3"/>
          <p:cNvSpPr>
            <a:spLocks noGrp="1"/>
          </p:cNvSpPr>
          <p:nvPr>
            <p:ph type="dt" sz="half" idx="10"/>
          </p:nvPr>
        </p:nvSpPr>
        <p:spPr>
          <a:xfrm>
            <a:off x="457200" y="6584950"/>
            <a:ext cx="990600" cy="273050"/>
          </a:xfrm>
          <a:prstGeom prst="rect">
            <a:avLst/>
          </a:prstGeom>
        </p:spPr>
        <p:txBody>
          <a:bodyPr/>
          <a:lstStyle>
            <a:lvl1pPr>
              <a:defRPr sz="1000" i="1">
                <a:latin typeface="Times New Roman" pitchFamily="18" charset="0"/>
                <a:cs typeface="Times New Roman" pitchFamily="18" charset="0"/>
              </a:defRPr>
            </a:lvl1pPr>
          </a:lstStyle>
          <a:p>
            <a:fld id="{F3FBCFF5-EE4F-4FFF-A0F1-127D95D6DEF9}" type="datetime1">
              <a:rPr lang="en-US" smtClean="0"/>
              <a:pPr/>
              <a:t>5/9/2013</a:t>
            </a:fld>
            <a:endParaRPr lang="en-US"/>
          </a:p>
        </p:txBody>
      </p:sp>
      <p:sp>
        <p:nvSpPr>
          <p:cNvPr id="16" name="Footer Placeholder 4"/>
          <p:cNvSpPr>
            <a:spLocks noGrp="1"/>
          </p:cNvSpPr>
          <p:nvPr>
            <p:ph type="ftr" sz="quarter" idx="11"/>
          </p:nvPr>
        </p:nvSpPr>
        <p:spPr>
          <a:xfrm>
            <a:off x="1447800" y="6584950"/>
            <a:ext cx="6096000" cy="273050"/>
          </a:xfrm>
          <a:prstGeom prst="rect">
            <a:avLst/>
          </a:prstGeom>
        </p:spPr>
        <p:txBody>
          <a:bodyPr/>
          <a:lstStyle>
            <a:lvl1pPr>
              <a:defRPr sz="1000">
                <a:solidFill>
                  <a:srgbClr val="000000"/>
                </a:solidFill>
                <a:latin typeface="Times New Roman" pitchFamily="18" charset="0"/>
                <a:cs typeface="Times New Roman" pitchFamily="18" charset="0"/>
              </a:defRPr>
            </a:lvl1pPr>
          </a:lstStyle>
          <a:p>
            <a:r>
              <a:rPr lang="en-US" dirty="0" smtClean="0"/>
              <a:t>Software Engineering Design: Theory and Practice</a:t>
            </a:r>
            <a:endParaRPr lang="en-US" dirty="0"/>
          </a:p>
        </p:txBody>
      </p:sp>
      <p:sp>
        <p:nvSpPr>
          <p:cNvPr id="17" name="Slide Number Placeholder 5"/>
          <p:cNvSpPr>
            <a:spLocks noGrp="1"/>
          </p:cNvSpPr>
          <p:nvPr>
            <p:ph type="sldNum" sz="quarter" idx="12"/>
          </p:nvPr>
        </p:nvSpPr>
        <p:spPr>
          <a:xfrm>
            <a:off x="7543800" y="6553200"/>
            <a:ext cx="1143000" cy="304800"/>
          </a:xfrm>
          <a:prstGeom prst="rect">
            <a:avLst/>
          </a:prstGeom>
        </p:spPr>
        <p:txBody>
          <a:bodyPr/>
          <a:lstStyle>
            <a:lvl1pPr>
              <a:defRPr sz="1000">
                <a:latin typeface="Times New Roman" pitchFamily="18" charset="0"/>
                <a:cs typeface="Times New Roman" pitchFamily="18" charset="0"/>
              </a:defRPr>
            </a:lvl1p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562078"/>
            <a:ext cx="990600" cy="304800"/>
          </a:xfrm>
          <a:prstGeom prst="rect">
            <a:avLst/>
          </a:prstGeom>
        </p:spPr>
        <p:txBody>
          <a:bodyPr/>
          <a:lstStyle/>
          <a:p>
            <a:fld id="{ED229BA3-A27B-42AB-9F31-42418016249D}" type="datetime1">
              <a:rPr lang="en-US" smtClean="0"/>
              <a:pPr/>
              <a:t>5/9/2013</a:t>
            </a:fld>
            <a:endParaRPr lang="en-US"/>
          </a:p>
        </p:txBody>
      </p:sp>
      <p:sp>
        <p:nvSpPr>
          <p:cNvPr id="5" name="Footer Placeholder 4"/>
          <p:cNvSpPr>
            <a:spLocks noGrp="1"/>
          </p:cNvSpPr>
          <p:nvPr>
            <p:ph type="ftr" sz="quarter" idx="11"/>
          </p:nvPr>
        </p:nvSpPr>
        <p:spPr>
          <a:xfrm>
            <a:off x="1447800" y="6562078"/>
            <a:ext cx="60960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7543800" y="6562078"/>
            <a:ext cx="11430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2000"/>
            </a:lvl2pPr>
            <a:lvl3pPr>
              <a:defRPr sz="1800"/>
            </a:lvl3pPr>
            <a:lvl4pPr>
              <a:defRPr sz="16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F0BB3435-0E9A-4626-BE17-A8762A108CF2}" type="datetime1">
              <a:rPr lang="en-US" smtClean="0"/>
              <a:pPr/>
              <a:t>5/9/2013</a:t>
            </a:fld>
            <a:endParaRPr lang="en-US"/>
          </a:p>
        </p:txBody>
      </p:sp>
      <p:sp>
        <p:nvSpPr>
          <p:cNvPr id="6" name="Footer Placeholder 5"/>
          <p:cNvSpPr>
            <a:spLocks noGrp="1"/>
          </p:cNvSpPr>
          <p:nvPr>
            <p:ph type="ftr" sz="quarter" idx="11"/>
          </p:nvPr>
        </p:nvSpPr>
        <p:spPr>
          <a:xfrm>
            <a:off x="32004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553200"/>
            <a:ext cx="2133600" cy="304800"/>
          </a:xfrm>
          <a:prstGeom prst="rect">
            <a:avLst/>
          </a:prstGeom>
        </p:spPr>
        <p:txBody>
          <a:bodyPr/>
          <a:lstStyle/>
          <a:p>
            <a:fld id="{A8E9BC6D-F3D4-4CAF-ACEC-494A57D202E4}" type="datetime1">
              <a:rPr lang="en-US" smtClean="0"/>
              <a:pPr/>
              <a:t>5/9/2013</a:t>
            </a:fld>
            <a:endParaRPr lang="en-US"/>
          </a:p>
        </p:txBody>
      </p:sp>
      <p:sp>
        <p:nvSpPr>
          <p:cNvPr id="8" name="Footer Placeholder 7"/>
          <p:cNvSpPr>
            <a:spLocks noGrp="1"/>
          </p:cNvSpPr>
          <p:nvPr>
            <p:ph type="ftr" sz="quarter" idx="11"/>
          </p:nvPr>
        </p:nvSpPr>
        <p:spPr>
          <a:xfrm>
            <a:off x="3124200" y="6553200"/>
            <a:ext cx="2895600" cy="304800"/>
          </a:xfrm>
          <a:prstGeom prst="rect">
            <a:avLst/>
          </a:prstGeom>
        </p:spPr>
        <p:txBody>
          <a:bodyPr/>
          <a:lstStyle/>
          <a:p>
            <a:r>
              <a:rPr lang="en-US" dirty="0" smtClean="0"/>
              <a:t>Software Engineering Design: Theory and Practice</a:t>
            </a:r>
            <a:endParaRPr lang="en-US" dirty="0"/>
          </a:p>
        </p:txBody>
      </p:sp>
      <p:sp>
        <p:nvSpPr>
          <p:cNvPr id="9" name="Slide Number Placeholder 8"/>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553200"/>
            <a:ext cx="2133600" cy="304800"/>
          </a:xfrm>
          <a:prstGeom prst="rect">
            <a:avLst/>
          </a:prstGeom>
        </p:spPr>
        <p:txBody>
          <a:bodyPr/>
          <a:lstStyle/>
          <a:p>
            <a:fld id="{E15860A7-5D37-4EAC-8EFD-51F43FFA3B5E}" type="datetime1">
              <a:rPr lang="en-US" smtClean="0"/>
              <a:pPr/>
              <a:t>5/9/2013</a:t>
            </a:fld>
            <a:endParaRPr lang="en-US"/>
          </a:p>
        </p:txBody>
      </p:sp>
      <p:sp>
        <p:nvSpPr>
          <p:cNvPr id="4" name="Footer Placeholder 3"/>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5" name="Slide Number Placeholder 4"/>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553200"/>
            <a:ext cx="2133600" cy="304800"/>
          </a:xfrm>
          <a:prstGeom prst="rect">
            <a:avLst/>
          </a:prstGeom>
        </p:spPr>
        <p:txBody>
          <a:bodyPr/>
          <a:lstStyle/>
          <a:p>
            <a:fld id="{061ED6DB-E37C-45C5-85AA-C10B399F13E3}" type="datetime1">
              <a:rPr lang="en-US" smtClean="0"/>
              <a:pPr/>
              <a:t>5/9/2013</a:t>
            </a:fld>
            <a:endParaRPr lang="en-US"/>
          </a:p>
        </p:txBody>
      </p:sp>
      <p:sp>
        <p:nvSpPr>
          <p:cNvPr id="3" name="Footer Placeholder 2"/>
          <p:cNvSpPr>
            <a:spLocks noGrp="1"/>
          </p:cNvSpPr>
          <p:nvPr>
            <p:ph type="ftr" sz="quarter" idx="11"/>
          </p:nvPr>
        </p:nvSpPr>
        <p:spPr>
          <a:xfrm>
            <a:off x="3124200" y="6553200"/>
            <a:ext cx="2895600" cy="304800"/>
          </a:xfrm>
          <a:prstGeom prst="rect">
            <a:avLst/>
          </a:prstGeom>
        </p:spPr>
        <p:txBody>
          <a:bodyPr/>
          <a:lstStyle/>
          <a:p>
            <a:r>
              <a:rPr lang="en-US" dirty="0" smtClean="0"/>
              <a:t>Software Engineering Design: Theory and Practice</a:t>
            </a:r>
            <a:endParaRPr lang="en-US" dirty="0"/>
          </a:p>
        </p:txBody>
      </p:sp>
      <p:sp>
        <p:nvSpPr>
          <p:cNvPr id="4" name="Slide Number Placeholder 3"/>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DA6BCD18-5551-42D7-A5DD-C6871E4D3FB5}" type="datetime1">
              <a:rPr lang="en-US" smtClean="0"/>
              <a:pPr/>
              <a:t>5/9/2013</a:t>
            </a:fld>
            <a:endParaRPr lang="en-US"/>
          </a:p>
        </p:txBody>
      </p:sp>
      <p:sp>
        <p:nvSpPr>
          <p:cNvPr id="6" name="Footer Placeholder 5"/>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25C7B514-375B-4C9F-AB19-638794D6AC42}" type="datetime1">
              <a:rPr lang="en-US" smtClean="0"/>
              <a:pPr/>
              <a:t>5/9/2013</a:t>
            </a:fld>
            <a:endParaRPr lang="en-US"/>
          </a:p>
        </p:txBody>
      </p:sp>
      <p:sp>
        <p:nvSpPr>
          <p:cNvPr id="6" name="Footer Placeholder 5"/>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553200"/>
            <a:ext cx="2133600" cy="304800"/>
          </a:xfrm>
          <a:prstGeom prst="rect">
            <a:avLst/>
          </a:prstGeom>
        </p:spPr>
        <p:txBody>
          <a:bodyPr/>
          <a:lstStyle/>
          <a:p>
            <a:fld id="{41643C31-6BED-43CE-92EC-61FE9F1B16F6}" type="datetime1">
              <a:rPr lang="en-US" smtClean="0"/>
              <a:pPr/>
              <a:t>5/9/2013</a:t>
            </a:fld>
            <a:endParaRPr lang="en-US"/>
          </a:p>
        </p:txBody>
      </p:sp>
      <p:sp>
        <p:nvSpPr>
          <p:cNvPr id="5" name="Footer Placeholder 4"/>
          <p:cNvSpPr>
            <a:spLocks noGrp="1"/>
          </p:cNvSpPr>
          <p:nvPr>
            <p:ph type="ftr" sz="quarter" idx="11"/>
          </p:nvPr>
        </p:nvSpPr>
        <p:spPr>
          <a:xfrm>
            <a:off x="2971800" y="6553200"/>
            <a:ext cx="28956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553200"/>
            <a:ext cx="2133600" cy="304800"/>
          </a:xfrm>
          <a:prstGeom prst="rect">
            <a:avLst/>
          </a:prstGeom>
        </p:spPr>
        <p:txBody>
          <a:bodyPr/>
          <a:lstStyle/>
          <a:p>
            <a:fld id="{999D3834-0217-485F-B8FA-819EC68F0E18}" type="datetime1">
              <a:rPr lang="en-US" smtClean="0"/>
              <a:pPr/>
              <a:t>5/9/2013</a:t>
            </a:fld>
            <a:endParaRPr lang="en-US"/>
          </a:p>
        </p:txBody>
      </p:sp>
      <p:sp>
        <p:nvSpPr>
          <p:cNvPr id="5" name="Footer Placeholder 4"/>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503238"/>
            <a:ext cx="8229600" cy="792162"/>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371600"/>
            <a:ext cx="8229600" cy="47545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Rounded Rectangle 8"/>
          <p:cNvSpPr/>
          <p:nvPr/>
        </p:nvSpPr>
        <p:spPr bwMode="auto">
          <a:xfrm>
            <a:off x="219722" y="228600"/>
            <a:ext cx="8686800" cy="6324600"/>
          </a:xfrm>
          <a:prstGeom prst="roundRect">
            <a:avLst/>
          </a:prstGeom>
          <a:noFill/>
          <a:ln w="19050" cap="flat" cmpd="sng" algn="ctr">
            <a:solidFill>
              <a:srgbClr val="00000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12" name="Date Placeholder 3"/>
          <p:cNvSpPr>
            <a:spLocks noGrp="1"/>
          </p:cNvSpPr>
          <p:nvPr>
            <p:ph type="dt" sz="half" idx="2"/>
          </p:nvPr>
        </p:nvSpPr>
        <p:spPr>
          <a:xfrm>
            <a:off x="457200" y="6584950"/>
            <a:ext cx="990600" cy="273050"/>
          </a:xfrm>
          <a:prstGeom prst="rect">
            <a:avLst/>
          </a:prstGeom>
        </p:spPr>
        <p:txBody>
          <a:bodyPr/>
          <a:lstStyle>
            <a:lvl1pPr>
              <a:defRPr sz="1000" i="1">
                <a:solidFill>
                  <a:srgbClr val="333333"/>
                </a:solidFill>
                <a:latin typeface="Times New Roman" pitchFamily="18" charset="0"/>
                <a:cs typeface="Times New Roman" pitchFamily="18" charset="0"/>
              </a:defRPr>
            </a:lvl1pPr>
          </a:lstStyle>
          <a:p>
            <a:fld id="{714859E5-2B7A-4354-9302-A47E7090D679}" type="datetime1">
              <a:rPr lang="en-US" smtClean="0"/>
              <a:pPr/>
              <a:t>5/9/2013</a:t>
            </a:fld>
            <a:endParaRPr lang="en-US"/>
          </a:p>
        </p:txBody>
      </p:sp>
      <p:sp>
        <p:nvSpPr>
          <p:cNvPr id="13" name="Footer Placeholder 4"/>
          <p:cNvSpPr>
            <a:spLocks noGrp="1"/>
          </p:cNvSpPr>
          <p:nvPr>
            <p:ph type="ftr" sz="quarter" idx="3"/>
          </p:nvPr>
        </p:nvSpPr>
        <p:spPr>
          <a:xfrm>
            <a:off x="1447800" y="6584950"/>
            <a:ext cx="6096000" cy="273050"/>
          </a:xfrm>
          <a:prstGeom prst="rect">
            <a:avLst/>
          </a:prstGeom>
        </p:spPr>
        <p:txBody>
          <a:bodyPr/>
          <a:lstStyle>
            <a:lvl1pPr algn="ctr">
              <a:defRPr sz="1000" i="1">
                <a:solidFill>
                  <a:srgbClr val="333333"/>
                </a:solidFill>
                <a:latin typeface="Times New Roman" pitchFamily="18" charset="0"/>
                <a:cs typeface="Times New Roman" pitchFamily="18" charset="0"/>
              </a:defRPr>
            </a:lvl1pPr>
          </a:lstStyle>
          <a:p>
            <a:r>
              <a:rPr lang="en-US" smtClean="0"/>
              <a:t>Enterprise Software Architecture</a:t>
            </a:r>
            <a:endParaRPr lang="en-US" dirty="0"/>
          </a:p>
        </p:txBody>
      </p:sp>
      <p:sp>
        <p:nvSpPr>
          <p:cNvPr id="14" name="Slide Number Placeholder 5"/>
          <p:cNvSpPr>
            <a:spLocks noGrp="1"/>
          </p:cNvSpPr>
          <p:nvPr>
            <p:ph type="sldNum" sz="quarter" idx="4"/>
          </p:nvPr>
        </p:nvSpPr>
        <p:spPr>
          <a:xfrm>
            <a:off x="7543800" y="6553200"/>
            <a:ext cx="1143000" cy="304800"/>
          </a:xfrm>
          <a:prstGeom prst="rect">
            <a:avLst/>
          </a:prstGeom>
        </p:spPr>
        <p:txBody>
          <a:bodyPr/>
          <a:lstStyle>
            <a:lvl1pPr algn="r">
              <a:defRPr sz="1000" i="1">
                <a:solidFill>
                  <a:srgbClr val="333333"/>
                </a:solidFill>
                <a:latin typeface="Times New Roman" pitchFamily="18" charset="0"/>
                <a:cs typeface="Times New Roman" pitchFamily="18" charset="0"/>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ctr" defTabSz="914400" rtl="0" eaLnBrk="1" latinLnBrk="0" hangingPunct="1">
        <a:spcBef>
          <a:spcPct val="0"/>
        </a:spcBef>
        <a:buNone/>
        <a:defRPr sz="2400" b="1" kern="1200" cap="small" baseline="0">
          <a:solidFill>
            <a:schemeClr val="tx1"/>
          </a:solidFill>
          <a:latin typeface="Times New Roman" pitchFamily="18" charset="0"/>
          <a:ea typeface="+mj-ea"/>
          <a:cs typeface="Times New Roman" pitchFamily="18" charset="0"/>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Times New Roman" pitchFamily="18" charset="0"/>
          <a:ea typeface="+mn-ea"/>
          <a:cs typeface="Times New Roman" pitchFamily="18" charset="0"/>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mn-ea"/>
          <a:cs typeface="Times New Roman" pitchFamily="18" charset="0"/>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Times New Roman" pitchFamily="18" charset="0"/>
          <a:ea typeface="+mn-ea"/>
          <a:cs typeface="Times New Roman" pitchFamily="18" charset="0"/>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Times New Roman" pitchFamily="18" charset="0"/>
          <a:ea typeface="+mn-ea"/>
          <a:cs typeface="Times New Roman" pitchFamily="18" charset="0"/>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smtClean="0"/>
              <a:t>Chapter 8: Principles of Construction Design</a:t>
            </a:r>
            <a:endParaRPr lang="en-US" dirty="0"/>
          </a:p>
        </p:txBody>
      </p:sp>
      <p:sp>
        <p:nvSpPr>
          <p:cNvPr id="3" name="Subtitle 2"/>
          <p:cNvSpPr>
            <a:spLocks noGrp="1"/>
          </p:cNvSpPr>
          <p:nvPr>
            <p:ph type="subTitle" idx="1"/>
          </p:nvPr>
        </p:nvSpPr>
        <p:spPr>
          <a:xfrm>
            <a:off x="0" y="1752598"/>
            <a:ext cx="9144000" cy="838202"/>
          </a:xfrm>
        </p:spPr>
        <p:txBody>
          <a:bodyPr>
            <a:normAutofit/>
          </a:bodyPr>
          <a:lstStyle/>
          <a:p>
            <a:r>
              <a:rPr lang="en-US" dirty="0" smtClean="0"/>
              <a:t>Session II: Programming Design Language, Styles, and</a:t>
            </a:r>
          </a:p>
          <a:p>
            <a:r>
              <a:rPr lang="en-US" dirty="0" smtClean="0"/>
              <a:t> Quality Evaluation in Construction Design</a:t>
            </a:r>
            <a:endParaRPr lang="en-US" dirty="0"/>
          </a:p>
        </p:txBody>
      </p:sp>
      <p:sp>
        <p:nvSpPr>
          <p:cNvPr id="4" name="Date Placeholder 3"/>
          <p:cNvSpPr>
            <a:spLocks noGrp="1"/>
          </p:cNvSpPr>
          <p:nvPr>
            <p:ph type="dt" sz="half" idx="10"/>
          </p:nvPr>
        </p:nvSpPr>
        <p:spPr/>
        <p:txBody>
          <a:bodyPr/>
          <a:lstStyle/>
          <a:p>
            <a:fld id="{EFE05638-2204-47C5-8D02-0990D6B01040}" type="datetime1">
              <a:rPr lang="en-US" smtClean="0"/>
              <a:pPr/>
              <a:t>5/9/2013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a:t>
            </a:fld>
            <a:endParaRPr lang="en-US"/>
          </a:p>
        </p:txBody>
      </p:sp>
      <p:sp>
        <p:nvSpPr>
          <p:cNvPr id="6" name="Footer Placeholder 5"/>
          <p:cNvSpPr>
            <a:spLocks noGrp="1"/>
          </p:cNvSpPr>
          <p:nvPr>
            <p:ph type="ftr" sz="quarter" idx="11"/>
          </p:nvPr>
        </p:nvSpPr>
        <p:spPr/>
        <p:txBody>
          <a:bodyPr/>
          <a:lstStyle/>
          <a:p>
            <a:r>
              <a:rPr lang="en-US" dirty="0" smtClean="0"/>
              <a:t>Software Engineering Design: Theory and Practice</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Session’s Agenda</a:t>
            </a:r>
            <a:endParaRPr lang="en-US" dirty="0"/>
          </a:p>
        </p:txBody>
      </p:sp>
      <p:sp>
        <p:nvSpPr>
          <p:cNvPr id="3" name="Content Placeholder 2"/>
          <p:cNvSpPr>
            <a:spLocks noGrp="1"/>
          </p:cNvSpPr>
          <p:nvPr>
            <p:ph idx="1"/>
          </p:nvPr>
        </p:nvSpPr>
        <p:spPr>
          <a:xfrm>
            <a:off x="457200" y="1371601"/>
            <a:ext cx="8229600" cy="4876799"/>
          </a:xfrm>
        </p:spPr>
        <p:txBody>
          <a:bodyPr>
            <a:normAutofit fontScale="92500" lnSpcReduction="20000"/>
          </a:bodyPr>
          <a:lstStyle/>
          <a:p>
            <a:pPr lvl="2"/>
            <a:endParaRPr lang="en-US" dirty="0" smtClean="0"/>
          </a:p>
          <a:p>
            <a:r>
              <a:rPr lang="en-US" dirty="0" smtClean="0"/>
              <a:t>Programming Design Language</a:t>
            </a:r>
          </a:p>
          <a:p>
            <a:pPr lvl="1"/>
            <a:endParaRPr lang="en-US" dirty="0" smtClean="0"/>
          </a:p>
          <a:p>
            <a:r>
              <a:rPr lang="en-US" dirty="0" smtClean="0"/>
              <a:t>Construction (Programming) Styles</a:t>
            </a:r>
          </a:p>
          <a:p>
            <a:pPr lvl="1"/>
            <a:r>
              <a:rPr lang="en-US" dirty="0" smtClean="0"/>
              <a:t>Formatting</a:t>
            </a:r>
          </a:p>
          <a:p>
            <a:pPr lvl="1"/>
            <a:r>
              <a:rPr lang="en-US" dirty="0" smtClean="0"/>
              <a:t>Naming</a:t>
            </a:r>
          </a:p>
          <a:p>
            <a:pPr lvl="1"/>
            <a:r>
              <a:rPr lang="en-US" dirty="0" smtClean="0"/>
              <a:t>Documentation</a:t>
            </a:r>
          </a:p>
          <a:p>
            <a:pPr lvl="1"/>
            <a:endParaRPr lang="en-US" dirty="0" smtClean="0"/>
          </a:p>
          <a:p>
            <a:r>
              <a:rPr lang="en-US" dirty="0" smtClean="0"/>
              <a:t>Quality Evaluation of Construction</a:t>
            </a:r>
          </a:p>
          <a:p>
            <a:pPr lvl="1"/>
            <a:r>
              <a:rPr lang="en-US" dirty="0" smtClean="0"/>
              <a:t>Completeness</a:t>
            </a:r>
          </a:p>
          <a:p>
            <a:pPr lvl="1"/>
            <a:r>
              <a:rPr lang="en-US" dirty="0" smtClean="0"/>
              <a:t>Correctness</a:t>
            </a:r>
          </a:p>
          <a:p>
            <a:pPr lvl="1"/>
            <a:r>
              <a:rPr lang="en-US" dirty="0" smtClean="0"/>
              <a:t>Testability</a:t>
            </a:r>
          </a:p>
          <a:p>
            <a:pPr lvl="1"/>
            <a:r>
              <a:rPr lang="en-US" dirty="0" smtClean="0"/>
              <a:t>Maintainability</a:t>
            </a:r>
          </a:p>
          <a:p>
            <a:pPr lvl="1"/>
            <a:endParaRPr lang="en-US" dirty="0" smtClean="0"/>
          </a:p>
          <a:p>
            <a:r>
              <a:rPr lang="en-US" dirty="0" smtClean="0"/>
              <a:t>McCabe’s Complexity Theory</a:t>
            </a:r>
          </a:p>
          <a:p>
            <a:pPr lvl="1"/>
            <a:r>
              <a:rPr lang="en-US" dirty="0" smtClean="0"/>
              <a:t>Used to evaluate testability and maintainability</a:t>
            </a:r>
          </a:p>
          <a:p>
            <a:pPr lvl="1"/>
            <a:endParaRPr lang="en-US" dirty="0" smtClean="0"/>
          </a:p>
          <a:p>
            <a:r>
              <a:rPr lang="en-US" dirty="0" smtClean="0"/>
              <a:t>What’s next…</a:t>
            </a:r>
          </a:p>
          <a:p>
            <a:pPr lvl="1">
              <a:buNone/>
            </a:pPr>
            <a:endParaRPr lang="en-US" dirty="0" smtClean="0"/>
          </a:p>
          <a:p>
            <a:pPr>
              <a:buNone/>
            </a:pPr>
            <a:endParaRPr lang="en-US" dirty="0" smtClean="0"/>
          </a:p>
          <a:p>
            <a:endParaRPr lang="en-US" dirty="0" smtClean="0"/>
          </a:p>
          <a:p>
            <a:pPr lvl="1">
              <a:buNone/>
            </a:pPr>
            <a:endParaRPr lang="en-US" dirty="0" smtClean="0"/>
          </a:p>
          <a:p>
            <a:pPr>
              <a:buNone/>
            </a:pPr>
            <a:endParaRPr lang="en-US" dirty="0" smtClean="0"/>
          </a:p>
          <a:p>
            <a:pPr lvl="1"/>
            <a:endParaRPr lang="en-US" dirty="0" smtClean="0"/>
          </a:p>
        </p:txBody>
      </p:sp>
      <p:sp>
        <p:nvSpPr>
          <p:cNvPr id="4" name="Date Placeholder 3"/>
          <p:cNvSpPr>
            <a:spLocks noGrp="1"/>
          </p:cNvSpPr>
          <p:nvPr>
            <p:ph type="dt" sz="half" idx="10"/>
          </p:nvPr>
        </p:nvSpPr>
        <p:spPr/>
        <p:txBody>
          <a:bodyPr/>
          <a:lstStyle/>
          <a:p>
            <a:fld id="{3F2E7354-941D-4A10-A419-5D3E5FF7573C}" type="datetime1">
              <a:rPr lang="en-US" smtClean="0"/>
              <a:pPr/>
              <a:t>5/9/2013</a:t>
            </a:fld>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Programming Design Language</a:t>
            </a:r>
            <a:endParaRPr lang="en-US" dirty="0"/>
          </a:p>
        </p:txBody>
      </p:sp>
      <p:sp>
        <p:nvSpPr>
          <p:cNvPr id="3" name="Content Placeholder 2"/>
          <p:cNvSpPr>
            <a:spLocks noGrp="1"/>
          </p:cNvSpPr>
          <p:nvPr>
            <p:ph idx="1"/>
          </p:nvPr>
        </p:nvSpPr>
        <p:spPr/>
        <p:txBody>
          <a:bodyPr/>
          <a:lstStyle/>
          <a:p>
            <a:r>
              <a:rPr lang="en-US" dirty="0" smtClean="0"/>
              <a:t>Programming Design Language (PDL) is a form of pseudo-code used widely for designing internal function behavior.</a:t>
            </a:r>
          </a:p>
          <a:p>
            <a:pPr lvl="1"/>
            <a:r>
              <a:rPr lang="en-US" dirty="0" smtClean="0"/>
              <a:t>PDL's popularity stems from the use of natural languages—as opposed to computer languages or graphical techniques—to define the required behavior of functions. </a:t>
            </a:r>
          </a:p>
          <a:p>
            <a:pPr lvl="1"/>
            <a:r>
              <a:rPr lang="en-US" dirty="0" smtClean="0"/>
              <a:t>This result in detailed function designs that are easier to create, easier to review, and easier to translate to code.</a:t>
            </a:r>
          </a:p>
          <a:p>
            <a:pPr lvl="1"/>
            <a:endParaRPr lang="en-US" dirty="0" smtClean="0"/>
          </a:p>
          <a:p>
            <a:r>
              <a:rPr lang="en-US" dirty="0" smtClean="0"/>
              <a:t>The usage of a natural language in PDL provides a "comments first approach" to constructing code for any programming language.</a:t>
            </a:r>
          </a:p>
          <a:p>
            <a:pPr lvl="1"/>
            <a:r>
              <a:rPr lang="en-US" dirty="0" smtClean="0"/>
              <a:t>Therefore, PDL should be written without concern of the target programming language and detailed enough that code can be generated with minimal effort.</a:t>
            </a:r>
          </a:p>
          <a:p>
            <a:pPr lvl="1"/>
            <a:endParaRPr lang="en-US" dirty="0" smtClean="0"/>
          </a:p>
          <a:p>
            <a:r>
              <a:rPr lang="en-US" dirty="0" smtClean="0"/>
              <a:t>PDL can be used as both design technique and effective documentation approach for functions and code within functions.</a:t>
            </a:r>
          </a:p>
          <a:p>
            <a:pPr lvl="1"/>
            <a:endParaRPr lang="en-US" dirty="0" smtClean="0"/>
          </a:p>
          <a:p>
            <a:endParaRPr lang="en-US" dirty="0" smtClean="0"/>
          </a:p>
          <a:p>
            <a:pPr lvl="1"/>
            <a:endParaRPr lang="en-US" dirty="0" smtClean="0"/>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5/9/2013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Programming Design Language</a:t>
            </a:r>
            <a:endParaRPr lang="en-US" dirty="0"/>
          </a:p>
        </p:txBody>
      </p:sp>
      <p:sp>
        <p:nvSpPr>
          <p:cNvPr id="3" name="Content Placeholder 2"/>
          <p:cNvSpPr>
            <a:spLocks noGrp="1"/>
          </p:cNvSpPr>
          <p:nvPr>
            <p:ph idx="1"/>
          </p:nvPr>
        </p:nvSpPr>
        <p:spPr/>
        <p:txBody>
          <a:bodyPr/>
          <a:lstStyle/>
          <a:p>
            <a:r>
              <a:rPr lang="en-US" dirty="0" smtClean="0"/>
              <a:t>Example of PDL:</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5/9/2013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pic>
        <p:nvPicPr>
          <p:cNvPr id="7" name="Picture 2"/>
          <p:cNvPicPr>
            <a:picLocks noChangeAspect="1" noChangeArrowheads="1"/>
          </p:cNvPicPr>
          <p:nvPr/>
        </p:nvPicPr>
        <p:blipFill>
          <a:blip r:embed="rId2" cstate="print"/>
          <a:srcRect/>
          <a:stretch>
            <a:fillRect/>
          </a:stretch>
        </p:blipFill>
        <p:spPr bwMode="auto">
          <a:xfrm>
            <a:off x="1752600" y="2133600"/>
            <a:ext cx="5676900" cy="36290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Construction using Styles</a:t>
            </a:r>
            <a:endParaRPr lang="en-US" dirty="0"/>
          </a:p>
        </p:txBody>
      </p:sp>
      <p:sp>
        <p:nvSpPr>
          <p:cNvPr id="3" name="Content Placeholder 2"/>
          <p:cNvSpPr>
            <a:spLocks noGrp="1"/>
          </p:cNvSpPr>
          <p:nvPr>
            <p:ph idx="1"/>
          </p:nvPr>
        </p:nvSpPr>
        <p:spPr/>
        <p:txBody>
          <a:bodyPr/>
          <a:lstStyle/>
          <a:p>
            <a:r>
              <a:rPr lang="en-US" dirty="0" smtClean="0"/>
              <a:t>Construction styles are not about programming, but about defining the rules or guidelines for everyone in the project when writing the source code for a computer program. </a:t>
            </a:r>
          </a:p>
          <a:p>
            <a:endParaRPr lang="en-US" dirty="0" smtClean="0"/>
          </a:p>
          <a:p>
            <a:r>
              <a:rPr lang="en-US" dirty="0" smtClean="0"/>
              <a:t>As a general principle, construction styles must provide rules that ensure consistency, simplicity, and clarity of code. </a:t>
            </a:r>
          </a:p>
          <a:p>
            <a:endParaRPr lang="en-US" dirty="0" smtClean="0"/>
          </a:p>
          <a:p>
            <a:r>
              <a:rPr lang="en-US" dirty="0" smtClean="0"/>
              <a:t>Typical styles used during construction design include:</a:t>
            </a:r>
          </a:p>
          <a:p>
            <a:pPr lvl="1"/>
            <a:r>
              <a:rPr lang="en-US" dirty="0" smtClean="0"/>
              <a:t>Formatting Conventions</a:t>
            </a:r>
          </a:p>
          <a:p>
            <a:pPr lvl="1"/>
            <a:r>
              <a:rPr lang="en-US" dirty="0" smtClean="0"/>
              <a:t>Naming Conventions</a:t>
            </a:r>
          </a:p>
          <a:p>
            <a:pPr lvl="1"/>
            <a:r>
              <a:rPr lang="en-US" dirty="0" smtClean="0"/>
              <a:t>Documentation Conventions</a:t>
            </a:r>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5/9/2013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Software Construction using Styles</a:t>
            </a:r>
            <a:br>
              <a:rPr lang="en-US" dirty="0" smtClean="0"/>
            </a:br>
            <a:r>
              <a:rPr lang="en-US" dirty="0" smtClean="0"/>
              <a:t>- Formatting Conventions -</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5/9/2013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pic>
        <p:nvPicPr>
          <p:cNvPr id="16386" name="Picture 2"/>
          <p:cNvPicPr>
            <a:picLocks noChangeAspect="1" noChangeArrowheads="1"/>
          </p:cNvPicPr>
          <p:nvPr/>
        </p:nvPicPr>
        <p:blipFill>
          <a:blip r:embed="rId2" cstate="print"/>
          <a:srcRect/>
          <a:stretch>
            <a:fillRect/>
          </a:stretch>
        </p:blipFill>
        <p:spPr bwMode="auto">
          <a:xfrm>
            <a:off x="2295525" y="2066925"/>
            <a:ext cx="5095875" cy="2047875"/>
          </a:xfrm>
          <a:prstGeom prst="rect">
            <a:avLst/>
          </a:prstGeom>
          <a:noFill/>
          <a:ln w="9525">
            <a:noFill/>
            <a:miter lim="800000"/>
            <a:headEnd/>
            <a:tailEnd/>
          </a:ln>
        </p:spPr>
      </p:pic>
      <p:pic>
        <p:nvPicPr>
          <p:cNvPr id="16387" name="Picture 3"/>
          <p:cNvPicPr>
            <a:picLocks noChangeAspect="1" noChangeArrowheads="1"/>
          </p:cNvPicPr>
          <p:nvPr/>
        </p:nvPicPr>
        <p:blipFill>
          <a:blip r:embed="rId3" cstate="print"/>
          <a:srcRect/>
          <a:stretch>
            <a:fillRect/>
          </a:stretch>
        </p:blipFill>
        <p:spPr bwMode="auto">
          <a:xfrm>
            <a:off x="2362200" y="4800600"/>
            <a:ext cx="3276600" cy="1590675"/>
          </a:xfrm>
          <a:prstGeom prst="rect">
            <a:avLst/>
          </a:prstGeom>
          <a:noFill/>
          <a:ln w="9525">
            <a:noFill/>
            <a:miter lim="800000"/>
            <a:headEnd/>
            <a:tailEnd/>
          </a:ln>
        </p:spPr>
      </p:pic>
      <p:sp>
        <p:nvSpPr>
          <p:cNvPr id="9" name="Rectangle 8"/>
          <p:cNvSpPr/>
          <p:nvPr/>
        </p:nvSpPr>
        <p:spPr>
          <a:xfrm>
            <a:off x="2295525" y="4124325"/>
            <a:ext cx="4572000" cy="646331"/>
          </a:xfrm>
          <a:prstGeom prst="rect">
            <a:avLst/>
          </a:prstGeom>
        </p:spPr>
        <p:txBody>
          <a:bodyPr>
            <a:spAutoFit/>
          </a:bodyPr>
          <a:lstStyle/>
          <a:p>
            <a:r>
              <a:rPr lang="en-US" dirty="0" smtClean="0"/>
              <a:t>Styles for Whitespaces in Binary Operators, after Commas, and Semicolons</a:t>
            </a:r>
            <a:endParaRPr lang="en-US" dirty="0"/>
          </a:p>
        </p:txBody>
      </p:sp>
      <p:sp>
        <p:nvSpPr>
          <p:cNvPr id="10" name="Rectangle 9"/>
          <p:cNvSpPr/>
          <p:nvPr/>
        </p:nvSpPr>
        <p:spPr>
          <a:xfrm>
            <a:off x="2295525" y="1381125"/>
            <a:ext cx="4495800" cy="646331"/>
          </a:xfrm>
          <a:prstGeom prst="rect">
            <a:avLst/>
          </a:prstGeom>
        </p:spPr>
        <p:txBody>
          <a:bodyPr wrap="square">
            <a:spAutoFit/>
          </a:bodyPr>
          <a:lstStyle/>
          <a:p>
            <a:r>
              <a:rPr lang="en-US" dirty="0" smtClean="0"/>
              <a:t>Styles for Whitespaces To Separate Keywords, Parenthesis, and Curly Braces.</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Software Construction using Styles</a:t>
            </a:r>
            <a:br>
              <a:rPr lang="en-US" dirty="0" smtClean="0"/>
            </a:br>
            <a:r>
              <a:rPr lang="en-US" dirty="0" smtClean="0"/>
              <a:t>- Formatting Conventions -</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5/9/2013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pic>
        <p:nvPicPr>
          <p:cNvPr id="17410" name="Picture 2"/>
          <p:cNvPicPr>
            <a:picLocks noChangeAspect="1" noChangeArrowheads="1"/>
          </p:cNvPicPr>
          <p:nvPr/>
        </p:nvPicPr>
        <p:blipFill>
          <a:blip r:embed="rId2" cstate="print"/>
          <a:srcRect/>
          <a:stretch>
            <a:fillRect/>
          </a:stretch>
        </p:blipFill>
        <p:spPr bwMode="auto">
          <a:xfrm>
            <a:off x="1409700" y="1657350"/>
            <a:ext cx="4991100" cy="1895475"/>
          </a:xfrm>
          <a:prstGeom prst="rect">
            <a:avLst/>
          </a:prstGeom>
          <a:noFill/>
          <a:ln w="9525">
            <a:noFill/>
            <a:miter lim="800000"/>
            <a:headEnd/>
            <a:tailEnd/>
          </a:ln>
        </p:spPr>
      </p:pic>
      <p:sp>
        <p:nvSpPr>
          <p:cNvPr id="8" name="Rectangle 7"/>
          <p:cNvSpPr/>
          <p:nvPr/>
        </p:nvSpPr>
        <p:spPr>
          <a:xfrm>
            <a:off x="1333500" y="1266825"/>
            <a:ext cx="4417043" cy="369332"/>
          </a:xfrm>
          <a:prstGeom prst="rect">
            <a:avLst/>
          </a:prstGeom>
        </p:spPr>
        <p:txBody>
          <a:bodyPr wrap="none">
            <a:spAutoFit/>
          </a:bodyPr>
          <a:lstStyle/>
          <a:p>
            <a:r>
              <a:rPr lang="en-US" dirty="0" smtClean="0"/>
              <a:t>Styles for Whitespaces in Nested Statements.</a:t>
            </a:r>
            <a:endParaRPr lang="en-US" dirty="0"/>
          </a:p>
        </p:txBody>
      </p:sp>
      <p:pic>
        <p:nvPicPr>
          <p:cNvPr id="17411" name="Picture 3"/>
          <p:cNvPicPr>
            <a:picLocks noChangeAspect="1" noChangeArrowheads="1"/>
          </p:cNvPicPr>
          <p:nvPr/>
        </p:nvPicPr>
        <p:blipFill>
          <a:blip r:embed="rId3" cstate="print"/>
          <a:srcRect/>
          <a:stretch>
            <a:fillRect/>
          </a:stretch>
        </p:blipFill>
        <p:spPr bwMode="auto">
          <a:xfrm>
            <a:off x="1371600" y="4010025"/>
            <a:ext cx="3067050" cy="2314575"/>
          </a:xfrm>
          <a:prstGeom prst="rect">
            <a:avLst/>
          </a:prstGeom>
          <a:noFill/>
          <a:ln w="9525">
            <a:noFill/>
            <a:miter lim="800000"/>
            <a:headEnd/>
            <a:tailEnd/>
          </a:ln>
        </p:spPr>
      </p:pic>
      <p:sp>
        <p:nvSpPr>
          <p:cNvPr id="10" name="Rectangle 9"/>
          <p:cNvSpPr/>
          <p:nvPr/>
        </p:nvSpPr>
        <p:spPr>
          <a:xfrm>
            <a:off x="1295400" y="3629025"/>
            <a:ext cx="6019800" cy="369332"/>
          </a:xfrm>
          <a:prstGeom prst="rect">
            <a:avLst/>
          </a:prstGeom>
        </p:spPr>
        <p:txBody>
          <a:bodyPr wrap="square">
            <a:spAutoFit/>
          </a:bodyPr>
          <a:lstStyle/>
          <a:p>
            <a:r>
              <a:rPr lang="en-US" dirty="0" smtClean="0"/>
              <a:t>Matching Closing and Opening Brackets in Nested Statements.</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Software Construction using Styles</a:t>
            </a:r>
            <a:br>
              <a:rPr lang="en-US" dirty="0" smtClean="0"/>
            </a:br>
            <a:r>
              <a:rPr lang="en-US" dirty="0" smtClean="0"/>
              <a:t>- Formatting Conventions -</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5/9/2013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pic>
        <p:nvPicPr>
          <p:cNvPr id="18434" name="Picture 2"/>
          <p:cNvPicPr>
            <a:picLocks noChangeAspect="1" noChangeArrowheads="1"/>
          </p:cNvPicPr>
          <p:nvPr/>
        </p:nvPicPr>
        <p:blipFill>
          <a:blip r:embed="rId2" cstate="print"/>
          <a:srcRect/>
          <a:stretch>
            <a:fillRect/>
          </a:stretch>
        </p:blipFill>
        <p:spPr bwMode="auto">
          <a:xfrm>
            <a:off x="685800" y="2209800"/>
            <a:ext cx="3810000" cy="2698069"/>
          </a:xfrm>
          <a:prstGeom prst="rect">
            <a:avLst/>
          </a:prstGeom>
          <a:noFill/>
          <a:ln w="9525">
            <a:noFill/>
            <a:miter lim="800000"/>
            <a:headEnd/>
            <a:tailEnd/>
          </a:ln>
        </p:spPr>
      </p:pic>
      <p:sp>
        <p:nvSpPr>
          <p:cNvPr id="8" name="Rectangle 7"/>
          <p:cNvSpPr/>
          <p:nvPr/>
        </p:nvSpPr>
        <p:spPr>
          <a:xfrm>
            <a:off x="685800" y="1752600"/>
            <a:ext cx="3067378" cy="369332"/>
          </a:xfrm>
          <a:prstGeom prst="rect">
            <a:avLst/>
          </a:prstGeom>
        </p:spPr>
        <p:txBody>
          <a:bodyPr wrap="none">
            <a:spAutoFit/>
          </a:bodyPr>
          <a:lstStyle/>
          <a:p>
            <a:r>
              <a:rPr lang="en-US" dirty="0" smtClean="0"/>
              <a:t>Inline Bracket Placement Style.</a:t>
            </a:r>
            <a:endParaRPr lang="en-US" dirty="0"/>
          </a:p>
        </p:txBody>
      </p:sp>
      <p:pic>
        <p:nvPicPr>
          <p:cNvPr id="18435" name="Picture 3"/>
          <p:cNvPicPr>
            <a:picLocks noChangeAspect="1" noChangeArrowheads="1"/>
          </p:cNvPicPr>
          <p:nvPr/>
        </p:nvPicPr>
        <p:blipFill>
          <a:blip r:embed="rId3" cstate="print"/>
          <a:srcRect/>
          <a:stretch>
            <a:fillRect/>
          </a:stretch>
        </p:blipFill>
        <p:spPr bwMode="auto">
          <a:xfrm>
            <a:off x="4800600" y="2209800"/>
            <a:ext cx="3832116" cy="2819400"/>
          </a:xfrm>
          <a:prstGeom prst="rect">
            <a:avLst/>
          </a:prstGeom>
          <a:noFill/>
          <a:ln w="9525">
            <a:noFill/>
            <a:miter lim="800000"/>
            <a:headEnd/>
            <a:tailEnd/>
          </a:ln>
        </p:spPr>
      </p:pic>
      <p:sp>
        <p:nvSpPr>
          <p:cNvPr id="10" name="Rectangle 9"/>
          <p:cNvSpPr/>
          <p:nvPr/>
        </p:nvSpPr>
        <p:spPr>
          <a:xfrm>
            <a:off x="4724400" y="1752600"/>
            <a:ext cx="3386825" cy="369332"/>
          </a:xfrm>
          <a:prstGeom prst="rect">
            <a:avLst/>
          </a:prstGeom>
        </p:spPr>
        <p:txBody>
          <a:bodyPr wrap="none">
            <a:spAutoFit/>
          </a:bodyPr>
          <a:lstStyle/>
          <a:p>
            <a:r>
              <a:rPr lang="en-US" dirty="0" smtClean="0"/>
              <a:t>New-line Bracket Placement Style.</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Software Construction using Styles</a:t>
            </a:r>
            <a:br>
              <a:rPr lang="en-US" dirty="0" smtClean="0"/>
            </a:br>
            <a:r>
              <a:rPr lang="en-US" dirty="0" smtClean="0"/>
              <a:t>- Naming Conventions -</a:t>
            </a:r>
            <a:endParaRPr lang="en-US" dirty="0"/>
          </a:p>
        </p:txBody>
      </p:sp>
      <p:sp>
        <p:nvSpPr>
          <p:cNvPr id="3" name="Content Placeholder 2"/>
          <p:cNvSpPr>
            <a:spLocks noGrp="1"/>
          </p:cNvSpPr>
          <p:nvPr>
            <p:ph idx="1"/>
          </p:nvPr>
        </p:nvSpPr>
        <p:spPr/>
        <p:txBody>
          <a:bodyPr/>
          <a:lstStyle/>
          <a:p>
            <a:r>
              <a:rPr lang="en-US" dirty="0" smtClean="0"/>
              <a:t>Naming conventions can help programmers develop models for differentiating different aspects of software programs and maintain consistency through software items. </a:t>
            </a:r>
          </a:p>
          <a:p>
            <a:pPr lvl="1"/>
            <a:r>
              <a:rPr lang="en-US" dirty="0" smtClean="0"/>
              <a:t>This can in turn result in code that is self-documented by the use of conventions applied consistently in the code. </a:t>
            </a:r>
          </a:p>
          <a:p>
            <a:pPr lvl="1"/>
            <a:endParaRPr lang="en-US" dirty="0" smtClean="0"/>
          </a:p>
          <a:p>
            <a:r>
              <a:rPr lang="en-US" dirty="0" smtClean="0"/>
              <a:t>Naming conventions can be used to differentiate all elements that compose a software program; therefore, consistent use of naming style can help software teams to better understand the work done by each other. </a:t>
            </a:r>
          </a:p>
          <a:p>
            <a:endParaRPr lang="en-US" dirty="0" smtClean="0"/>
          </a:p>
          <a:p>
            <a:r>
              <a:rPr lang="en-US" dirty="0" smtClean="0"/>
              <a:t>When applied consistently, styles can easily help software developers, testers, and maintainers understand the code and make assumptions about it, based on the programming style.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5/9/2013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Software Construction using Styles </a:t>
            </a:r>
            <a:br>
              <a:rPr lang="en-US" dirty="0" smtClean="0"/>
            </a:br>
            <a:r>
              <a:rPr lang="en-US" dirty="0" smtClean="0"/>
              <a:t>- Naming Conventions - </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5/9/2013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pic>
        <p:nvPicPr>
          <p:cNvPr id="1026" name="Picture 2"/>
          <p:cNvPicPr>
            <a:picLocks noChangeAspect="1" noChangeArrowheads="1"/>
          </p:cNvPicPr>
          <p:nvPr/>
        </p:nvPicPr>
        <p:blipFill>
          <a:blip r:embed="rId2" cstate="print"/>
          <a:srcRect/>
          <a:stretch>
            <a:fillRect/>
          </a:stretch>
        </p:blipFill>
        <p:spPr bwMode="auto">
          <a:xfrm>
            <a:off x="838200" y="1752600"/>
            <a:ext cx="3124200" cy="3184747"/>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srcRect/>
          <a:stretch>
            <a:fillRect/>
          </a:stretch>
        </p:blipFill>
        <p:spPr bwMode="auto">
          <a:xfrm>
            <a:off x="4343400" y="1905000"/>
            <a:ext cx="4315664" cy="2895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Software Construction using Styles </a:t>
            </a:r>
            <a:br>
              <a:rPr lang="en-US" dirty="0" smtClean="0"/>
            </a:br>
            <a:r>
              <a:rPr lang="en-US" dirty="0" smtClean="0"/>
              <a:t>- Documentation Conventions - </a:t>
            </a:r>
            <a:endParaRPr lang="en-US" dirty="0"/>
          </a:p>
        </p:txBody>
      </p:sp>
      <p:sp>
        <p:nvSpPr>
          <p:cNvPr id="3" name="Content Placeholder 2"/>
          <p:cNvSpPr>
            <a:spLocks noGrp="1"/>
          </p:cNvSpPr>
          <p:nvPr>
            <p:ph idx="1"/>
          </p:nvPr>
        </p:nvSpPr>
        <p:spPr>
          <a:xfrm>
            <a:off x="457200" y="1371601"/>
            <a:ext cx="8229600" cy="5105399"/>
          </a:xfrm>
        </p:spPr>
        <p:txBody>
          <a:bodyPr>
            <a:normAutofit/>
          </a:bodyPr>
          <a:lstStyle/>
          <a:p>
            <a:r>
              <a:rPr lang="en-US" dirty="0" smtClean="0"/>
              <a:t>Similar to formatting and naming conventions, documentation conventions can also be (almost universally) applied to projects in different domains and with different programming languages.</a:t>
            </a:r>
          </a:p>
          <a:p>
            <a:endParaRPr lang="en-US" dirty="0" smtClean="0"/>
          </a:p>
          <a:p>
            <a:r>
              <a:rPr lang="en-US" dirty="0" smtClean="0"/>
              <a:t>Documentation conventions deal with styles and specifications for what to document and how to document during construction. </a:t>
            </a:r>
          </a:p>
          <a:p>
            <a:pPr lvl="1"/>
            <a:r>
              <a:rPr lang="en-US" dirty="0" smtClean="0"/>
              <a:t>Generally, if the naming conventions are followed, comments should provide information that describes why an operation is written as opposed to what the operation is doing.</a:t>
            </a:r>
          </a:p>
          <a:p>
            <a:pPr lvl="1"/>
            <a:endParaRPr lang="en-US" dirty="0" smtClean="0"/>
          </a:p>
          <a:p>
            <a:r>
              <a:rPr lang="en-US" dirty="0" smtClean="0"/>
              <a:t>In many cases, the actions performed by operations (or blocks of codes) can be inferred from the naming conventions or programming syntax; however, the reasons behind the choice of code cannot be inferred as easily. </a:t>
            </a:r>
          </a:p>
          <a:p>
            <a:pPr lvl="1"/>
            <a:r>
              <a:rPr lang="en-US" dirty="0" smtClean="0"/>
              <a:t>Therefore, comments should provide the reasons why code was written, and when necessary, what the code is doing.</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5/9/2013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Software Construction using Styles </a:t>
            </a:r>
            <a:br>
              <a:rPr lang="en-US" dirty="0" smtClean="0"/>
            </a:br>
            <a:r>
              <a:rPr lang="en-US" dirty="0" smtClean="0"/>
              <a:t>- Documentation Conventions - </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5/9/2013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pic>
        <p:nvPicPr>
          <p:cNvPr id="20482" name="Picture 2"/>
          <p:cNvPicPr>
            <a:picLocks noChangeAspect="1" noChangeArrowheads="1"/>
          </p:cNvPicPr>
          <p:nvPr/>
        </p:nvPicPr>
        <p:blipFill>
          <a:blip r:embed="rId2" cstate="print"/>
          <a:srcRect/>
          <a:stretch>
            <a:fillRect/>
          </a:stretch>
        </p:blipFill>
        <p:spPr bwMode="auto">
          <a:xfrm>
            <a:off x="1752600" y="1905000"/>
            <a:ext cx="5743575" cy="3476625"/>
          </a:xfrm>
          <a:prstGeom prst="rect">
            <a:avLst/>
          </a:prstGeom>
          <a:noFill/>
          <a:ln w="9525">
            <a:noFill/>
            <a:miter lim="800000"/>
            <a:headEnd/>
            <a:tailEnd/>
          </a:ln>
        </p:spPr>
      </p:pic>
      <p:sp>
        <p:nvSpPr>
          <p:cNvPr id="7" name="TextBox 6"/>
          <p:cNvSpPr txBox="1"/>
          <p:nvPr/>
        </p:nvSpPr>
        <p:spPr>
          <a:xfrm>
            <a:off x="2895600" y="5867400"/>
            <a:ext cx="22098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Documenting files!</a:t>
            </a:r>
            <a:endParaRPr lang="en-US" sz="1200" b="1" dirty="0">
              <a:solidFill>
                <a:srgbClr val="C00000"/>
              </a:solidFill>
              <a:latin typeface="Bradley Hand ITC" pitchFamily="66" charset="0"/>
            </a:endParaRPr>
          </a:p>
        </p:txBody>
      </p:sp>
      <p:sp>
        <p:nvSpPr>
          <p:cNvPr id="8" name="Freeform 7"/>
          <p:cNvSpPr/>
          <p:nvPr/>
        </p:nvSpPr>
        <p:spPr>
          <a:xfrm>
            <a:off x="4791075" y="5362575"/>
            <a:ext cx="533400" cy="638175"/>
          </a:xfrm>
          <a:custGeom>
            <a:avLst/>
            <a:gdLst>
              <a:gd name="connsiteX0" fmla="*/ 0 w 533400"/>
              <a:gd name="connsiteY0" fmla="*/ 638175 h 638175"/>
              <a:gd name="connsiteX1" fmla="*/ 381000 w 533400"/>
              <a:gd name="connsiteY1" fmla="*/ 466725 h 638175"/>
              <a:gd name="connsiteX2" fmla="*/ 419100 w 533400"/>
              <a:gd name="connsiteY2" fmla="*/ 200025 h 638175"/>
              <a:gd name="connsiteX3" fmla="*/ 533400 w 533400"/>
              <a:gd name="connsiteY3" fmla="*/ 0 h 638175"/>
            </a:gdLst>
            <a:ahLst/>
            <a:cxnLst>
              <a:cxn ang="0">
                <a:pos x="connsiteX0" y="connsiteY0"/>
              </a:cxn>
              <a:cxn ang="0">
                <a:pos x="connsiteX1" y="connsiteY1"/>
              </a:cxn>
              <a:cxn ang="0">
                <a:pos x="connsiteX2" y="connsiteY2"/>
              </a:cxn>
              <a:cxn ang="0">
                <a:pos x="connsiteX3" y="connsiteY3"/>
              </a:cxn>
            </a:cxnLst>
            <a:rect l="l" t="t" r="r" b="b"/>
            <a:pathLst>
              <a:path w="533400" h="638175">
                <a:moveTo>
                  <a:pt x="0" y="638175"/>
                </a:moveTo>
                <a:cubicBezTo>
                  <a:pt x="155575" y="588962"/>
                  <a:pt x="311150" y="539750"/>
                  <a:pt x="381000" y="466725"/>
                </a:cubicBezTo>
                <a:cubicBezTo>
                  <a:pt x="450850" y="393700"/>
                  <a:pt x="393700" y="277812"/>
                  <a:pt x="419100" y="200025"/>
                </a:cubicBezTo>
                <a:cubicBezTo>
                  <a:pt x="444500" y="122238"/>
                  <a:pt x="488950" y="61119"/>
                  <a:pt x="53340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TextBox 8"/>
          <p:cNvSpPr txBox="1"/>
          <p:nvPr/>
        </p:nvSpPr>
        <p:spPr>
          <a:xfrm>
            <a:off x="4876800" y="2971800"/>
            <a:ext cx="22098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Classified / Unclassified / Company sensitive / etc.</a:t>
            </a:r>
            <a:endParaRPr lang="en-US" sz="1200" b="1" dirty="0">
              <a:solidFill>
                <a:srgbClr val="C00000"/>
              </a:solidFill>
              <a:latin typeface="Bradley Hand ITC" pitchFamily="66" charset="0"/>
            </a:endParaRPr>
          </a:p>
        </p:txBody>
      </p:sp>
      <p:sp>
        <p:nvSpPr>
          <p:cNvPr id="10" name="Freeform 9"/>
          <p:cNvSpPr/>
          <p:nvPr/>
        </p:nvSpPr>
        <p:spPr>
          <a:xfrm>
            <a:off x="4219575" y="3097213"/>
            <a:ext cx="828675" cy="141287"/>
          </a:xfrm>
          <a:custGeom>
            <a:avLst/>
            <a:gdLst>
              <a:gd name="connsiteX0" fmla="*/ 828675 w 828675"/>
              <a:gd name="connsiteY0" fmla="*/ 36512 h 141287"/>
              <a:gd name="connsiteX1" fmla="*/ 285750 w 828675"/>
              <a:gd name="connsiteY1" fmla="*/ 17462 h 141287"/>
              <a:gd name="connsiteX2" fmla="*/ 0 w 828675"/>
              <a:gd name="connsiteY2" fmla="*/ 141287 h 141287"/>
            </a:gdLst>
            <a:ahLst/>
            <a:cxnLst>
              <a:cxn ang="0">
                <a:pos x="connsiteX0" y="connsiteY0"/>
              </a:cxn>
              <a:cxn ang="0">
                <a:pos x="connsiteX1" y="connsiteY1"/>
              </a:cxn>
              <a:cxn ang="0">
                <a:pos x="connsiteX2" y="connsiteY2"/>
              </a:cxn>
            </a:cxnLst>
            <a:rect l="l" t="t" r="r" b="b"/>
            <a:pathLst>
              <a:path w="828675" h="141287">
                <a:moveTo>
                  <a:pt x="828675" y="36512"/>
                </a:moveTo>
                <a:cubicBezTo>
                  <a:pt x="626268" y="18256"/>
                  <a:pt x="423862" y="0"/>
                  <a:pt x="285750" y="17462"/>
                </a:cubicBezTo>
                <a:cubicBezTo>
                  <a:pt x="147638" y="34924"/>
                  <a:pt x="73819" y="88105"/>
                  <a:pt x="0" y="141287"/>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p:cNvSpPr txBox="1"/>
          <p:nvPr/>
        </p:nvSpPr>
        <p:spPr>
          <a:xfrm>
            <a:off x="6934200" y="4495800"/>
            <a:ext cx="17526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Who, why and when the file was changed?</a:t>
            </a:r>
            <a:endParaRPr lang="en-US" sz="1200" b="1" dirty="0">
              <a:solidFill>
                <a:srgbClr val="C00000"/>
              </a:solidFill>
              <a:latin typeface="Bradley Hand ITC" pitchFamily="66" charset="0"/>
            </a:endParaRPr>
          </a:p>
        </p:txBody>
      </p:sp>
      <p:sp>
        <p:nvSpPr>
          <p:cNvPr id="13" name="Freeform 12"/>
          <p:cNvSpPr/>
          <p:nvPr/>
        </p:nvSpPr>
        <p:spPr>
          <a:xfrm>
            <a:off x="6191250" y="4610100"/>
            <a:ext cx="800100" cy="241300"/>
          </a:xfrm>
          <a:custGeom>
            <a:avLst/>
            <a:gdLst>
              <a:gd name="connsiteX0" fmla="*/ 800100 w 800100"/>
              <a:gd name="connsiteY0" fmla="*/ 0 h 241300"/>
              <a:gd name="connsiteX1" fmla="*/ 600075 w 800100"/>
              <a:gd name="connsiteY1" fmla="*/ 38100 h 241300"/>
              <a:gd name="connsiteX2" fmla="*/ 285750 w 800100"/>
              <a:gd name="connsiteY2" fmla="*/ 219075 h 241300"/>
              <a:gd name="connsiteX3" fmla="*/ 0 w 800100"/>
              <a:gd name="connsiteY3" fmla="*/ 171450 h 241300"/>
            </a:gdLst>
            <a:ahLst/>
            <a:cxnLst>
              <a:cxn ang="0">
                <a:pos x="connsiteX0" y="connsiteY0"/>
              </a:cxn>
              <a:cxn ang="0">
                <a:pos x="connsiteX1" y="connsiteY1"/>
              </a:cxn>
              <a:cxn ang="0">
                <a:pos x="connsiteX2" y="connsiteY2"/>
              </a:cxn>
              <a:cxn ang="0">
                <a:pos x="connsiteX3" y="connsiteY3"/>
              </a:cxn>
            </a:cxnLst>
            <a:rect l="l" t="t" r="r" b="b"/>
            <a:pathLst>
              <a:path w="800100" h="241300">
                <a:moveTo>
                  <a:pt x="800100" y="0"/>
                </a:moveTo>
                <a:cubicBezTo>
                  <a:pt x="742950" y="794"/>
                  <a:pt x="685800" y="1588"/>
                  <a:pt x="600075" y="38100"/>
                </a:cubicBezTo>
                <a:cubicBezTo>
                  <a:pt x="514350" y="74612"/>
                  <a:pt x="385762" y="196850"/>
                  <a:pt x="285750" y="219075"/>
                </a:cubicBezTo>
                <a:cubicBezTo>
                  <a:pt x="185738" y="241300"/>
                  <a:pt x="92869" y="206375"/>
                  <a:pt x="0" y="1714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Software Construction using Styles </a:t>
            </a:r>
            <a:br>
              <a:rPr lang="en-US" dirty="0" smtClean="0"/>
            </a:br>
            <a:r>
              <a:rPr lang="en-US" dirty="0" smtClean="0"/>
              <a:t>- Documentation Conventions - </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5/9/2013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pic>
        <p:nvPicPr>
          <p:cNvPr id="21506" name="Picture 2"/>
          <p:cNvPicPr>
            <a:picLocks noChangeAspect="1" noChangeArrowheads="1"/>
          </p:cNvPicPr>
          <p:nvPr/>
        </p:nvPicPr>
        <p:blipFill>
          <a:blip r:embed="rId2" cstate="print"/>
          <a:stretch>
            <a:fillRect/>
          </a:stretch>
        </p:blipFill>
        <p:spPr bwMode="auto">
          <a:xfrm>
            <a:off x="1524000" y="2133600"/>
            <a:ext cx="5791200" cy="2609850"/>
          </a:xfrm>
          <a:prstGeom prst="rect">
            <a:avLst/>
          </a:prstGeom>
          <a:noFill/>
          <a:ln>
            <a:noFill/>
          </a:ln>
        </p:spPr>
      </p:pic>
      <p:sp>
        <p:nvSpPr>
          <p:cNvPr id="8" name="TextBox 7"/>
          <p:cNvSpPr txBox="1"/>
          <p:nvPr/>
        </p:nvSpPr>
        <p:spPr>
          <a:xfrm>
            <a:off x="2362200" y="5181600"/>
            <a:ext cx="22098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Documenting functions!</a:t>
            </a:r>
            <a:endParaRPr lang="en-US" sz="1200" b="1" dirty="0">
              <a:solidFill>
                <a:srgbClr val="C00000"/>
              </a:solidFill>
              <a:latin typeface="Bradley Hand ITC" pitchFamily="66" charset="0"/>
            </a:endParaRPr>
          </a:p>
        </p:txBody>
      </p:sp>
      <p:sp>
        <p:nvSpPr>
          <p:cNvPr id="9" name="Freeform 8"/>
          <p:cNvSpPr/>
          <p:nvPr/>
        </p:nvSpPr>
        <p:spPr>
          <a:xfrm>
            <a:off x="4333875" y="4676775"/>
            <a:ext cx="533400" cy="638175"/>
          </a:xfrm>
          <a:custGeom>
            <a:avLst/>
            <a:gdLst>
              <a:gd name="connsiteX0" fmla="*/ 0 w 533400"/>
              <a:gd name="connsiteY0" fmla="*/ 638175 h 638175"/>
              <a:gd name="connsiteX1" fmla="*/ 381000 w 533400"/>
              <a:gd name="connsiteY1" fmla="*/ 466725 h 638175"/>
              <a:gd name="connsiteX2" fmla="*/ 419100 w 533400"/>
              <a:gd name="connsiteY2" fmla="*/ 200025 h 638175"/>
              <a:gd name="connsiteX3" fmla="*/ 533400 w 533400"/>
              <a:gd name="connsiteY3" fmla="*/ 0 h 638175"/>
            </a:gdLst>
            <a:ahLst/>
            <a:cxnLst>
              <a:cxn ang="0">
                <a:pos x="connsiteX0" y="connsiteY0"/>
              </a:cxn>
              <a:cxn ang="0">
                <a:pos x="connsiteX1" y="connsiteY1"/>
              </a:cxn>
              <a:cxn ang="0">
                <a:pos x="connsiteX2" y="connsiteY2"/>
              </a:cxn>
              <a:cxn ang="0">
                <a:pos x="connsiteX3" y="connsiteY3"/>
              </a:cxn>
            </a:cxnLst>
            <a:rect l="l" t="t" r="r" b="b"/>
            <a:pathLst>
              <a:path w="533400" h="638175">
                <a:moveTo>
                  <a:pt x="0" y="638175"/>
                </a:moveTo>
                <a:cubicBezTo>
                  <a:pt x="155575" y="588962"/>
                  <a:pt x="311150" y="539750"/>
                  <a:pt x="381000" y="466725"/>
                </a:cubicBezTo>
                <a:cubicBezTo>
                  <a:pt x="450850" y="393700"/>
                  <a:pt x="393700" y="277812"/>
                  <a:pt x="419100" y="200025"/>
                </a:cubicBezTo>
                <a:cubicBezTo>
                  <a:pt x="444500" y="122238"/>
                  <a:pt x="488950" y="61119"/>
                  <a:pt x="53340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p:cNvSpPr txBox="1"/>
          <p:nvPr/>
        </p:nvSpPr>
        <p:spPr>
          <a:xfrm>
            <a:off x="5943600" y="1600200"/>
            <a:ext cx="22098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Straight from the PDL!</a:t>
            </a:r>
            <a:endParaRPr lang="en-US" sz="1200" b="1" dirty="0">
              <a:solidFill>
                <a:srgbClr val="C00000"/>
              </a:solidFill>
              <a:latin typeface="Bradley Hand ITC" pitchFamily="66" charset="0"/>
            </a:endParaRPr>
          </a:p>
        </p:txBody>
      </p:sp>
      <p:sp>
        <p:nvSpPr>
          <p:cNvPr id="11" name="Freeform 10"/>
          <p:cNvSpPr/>
          <p:nvPr/>
        </p:nvSpPr>
        <p:spPr>
          <a:xfrm>
            <a:off x="7305675" y="1809750"/>
            <a:ext cx="173038" cy="723900"/>
          </a:xfrm>
          <a:custGeom>
            <a:avLst/>
            <a:gdLst>
              <a:gd name="connsiteX0" fmla="*/ 9525 w 173038"/>
              <a:gd name="connsiteY0" fmla="*/ 0 h 723900"/>
              <a:gd name="connsiteX1" fmla="*/ 171450 w 173038"/>
              <a:gd name="connsiteY1" fmla="*/ 352425 h 723900"/>
              <a:gd name="connsiteX2" fmla="*/ 0 w 173038"/>
              <a:gd name="connsiteY2" fmla="*/ 723900 h 723900"/>
            </a:gdLst>
            <a:ahLst/>
            <a:cxnLst>
              <a:cxn ang="0">
                <a:pos x="connsiteX0" y="connsiteY0"/>
              </a:cxn>
              <a:cxn ang="0">
                <a:pos x="connsiteX1" y="connsiteY1"/>
              </a:cxn>
              <a:cxn ang="0">
                <a:pos x="connsiteX2" y="connsiteY2"/>
              </a:cxn>
            </a:cxnLst>
            <a:rect l="l" t="t" r="r" b="b"/>
            <a:pathLst>
              <a:path w="173038" h="723900">
                <a:moveTo>
                  <a:pt x="9525" y="0"/>
                </a:moveTo>
                <a:cubicBezTo>
                  <a:pt x="91281" y="115887"/>
                  <a:pt x="173038" y="231775"/>
                  <a:pt x="171450" y="352425"/>
                </a:cubicBezTo>
                <a:cubicBezTo>
                  <a:pt x="169863" y="473075"/>
                  <a:pt x="84931" y="598487"/>
                  <a:pt x="0" y="7239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Quality Evaluation of Construction Design</a:t>
            </a:r>
            <a:endParaRPr lang="en-US" dirty="0"/>
          </a:p>
        </p:txBody>
      </p:sp>
      <p:sp>
        <p:nvSpPr>
          <p:cNvPr id="3" name="Content Placeholder 2"/>
          <p:cNvSpPr>
            <a:spLocks noGrp="1"/>
          </p:cNvSpPr>
          <p:nvPr>
            <p:ph idx="1"/>
          </p:nvPr>
        </p:nvSpPr>
        <p:spPr/>
        <p:txBody>
          <a:bodyPr>
            <a:normAutofit lnSpcReduction="10000"/>
          </a:bodyPr>
          <a:lstStyle/>
          <a:p>
            <a:r>
              <a:rPr lang="en-US" dirty="0" smtClean="0"/>
              <a:t>The construction design activity is the last major design step performed before construction.  Therefore, it provides the last opportunity to evaluate the quality of the system to be built.</a:t>
            </a:r>
          </a:p>
          <a:p>
            <a:endParaRPr lang="en-US" dirty="0" smtClean="0"/>
          </a:p>
          <a:p>
            <a:r>
              <a:rPr lang="en-US" dirty="0" smtClean="0"/>
              <a:t>There are numerous project-specific quality characteristic (e.g., security, etc.) that can be identified and evaluated for construction designs.  </a:t>
            </a:r>
          </a:p>
          <a:p>
            <a:pPr lvl="1"/>
            <a:r>
              <a:rPr lang="en-US" dirty="0" smtClean="0"/>
              <a:t>However, at a minimum, the design's completeness, correctness, testability, and maintainability should be evaluated, since these generally apply to all software projects.</a:t>
            </a:r>
          </a:p>
          <a:p>
            <a:pPr lvl="1"/>
            <a:endParaRPr lang="en-US" dirty="0" smtClean="0"/>
          </a:p>
          <a:p>
            <a:r>
              <a:rPr lang="en-US" dirty="0" smtClean="0"/>
              <a:t>Completeness and correctness deal with the degree to which construction designs correctly meet the allocated requirements.  </a:t>
            </a:r>
          </a:p>
          <a:p>
            <a:pPr lvl="1"/>
            <a:r>
              <a:rPr lang="en-US" dirty="0" smtClean="0"/>
              <a:t>Construction designs that are correct, but incomplete, complete but incorrect, or incomplete and incorrect—those that do not meet all requirements, are incorrect, or both—need to be addressed and resolved to maintain the envisioned software quality of the product.</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5/9/2013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Quality Evaluation of Construction Design</a:t>
            </a:r>
            <a:br>
              <a:rPr lang="en-US" dirty="0" smtClean="0"/>
            </a:br>
            <a:r>
              <a:rPr lang="en-US" dirty="0" smtClean="0"/>
              <a:t>- Correctness-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Completeness and correctness can both be evaluated through:</a:t>
            </a:r>
          </a:p>
          <a:p>
            <a:pPr lvl="1"/>
            <a:r>
              <a:rPr lang="en-US" dirty="0" smtClean="0"/>
              <a:t>Peer reviews</a:t>
            </a:r>
          </a:p>
          <a:p>
            <a:pPr lvl="1"/>
            <a:r>
              <a:rPr lang="en-US" dirty="0" smtClean="0"/>
              <a:t>Unit testing</a:t>
            </a:r>
          </a:p>
          <a:p>
            <a:pPr lvl="1"/>
            <a:r>
              <a:rPr lang="en-US" dirty="0" smtClean="0"/>
              <a:t>Audits </a:t>
            </a:r>
          </a:p>
          <a:p>
            <a:endParaRPr lang="en-US" dirty="0" smtClean="0"/>
          </a:p>
          <a:p>
            <a:r>
              <a:rPr lang="en-US" dirty="0" smtClean="0"/>
              <a:t>Peer reviews are tasks that concentrate on verifying and validating designs and code (i.e., design reviews and code reviews, respectively).</a:t>
            </a:r>
          </a:p>
          <a:p>
            <a:pPr lvl="1"/>
            <a:r>
              <a:rPr lang="en-US" dirty="0" smtClean="0"/>
              <a:t>Peer reviews must be planned, organized, and conducted in such way that a collective approval between all members of the project (with different disciplines) is reached. </a:t>
            </a:r>
          </a:p>
          <a:p>
            <a:endParaRPr lang="en-US" dirty="0" smtClean="0"/>
          </a:p>
          <a:p>
            <a:r>
              <a:rPr lang="en-US" dirty="0" smtClean="0"/>
              <a:t>Ultimately, the quality of construction designs in terms of completeness and correctness are evaluated through unit testing.  Therefore, as construction designs are created, so are unit tests.  One or more unit test cases are essential for verifying and validating construction designs.</a:t>
            </a:r>
          </a:p>
          <a:p>
            <a:pPr lvl="1"/>
            <a:r>
              <a:rPr lang="en-US" dirty="0" smtClean="0"/>
              <a:t>Unit  test cases can be created straight from Use Cases!</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5/9/2013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Quality Evaluation of Construction Design</a:t>
            </a:r>
            <a:br>
              <a:rPr lang="en-US" dirty="0" smtClean="0"/>
            </a:br>
            <a:r>
              <a:rPr lang="en-US" dirty="0" smtClean="0"/>
              <a:t>- Unit Tests -</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5/9/2013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pic>
        <p:nvPicPr>
          <p:cNvPr id="22530" name="Picture 2"/>
          <p:cNvPicPr>
            <a:picLocks noChangeAspect="1" noChangeArrowheads="1"/>
          </p:cNvPicPr>
          <p:nvPr/>
        </p:nvPicPr>
        <p:blipFill>
          <a:blip r:embed="rId2" cstate="print"/>
          <a:srcRect/>
          <a:stretch>
            <a:fillRect/>
          </a:stretch>
        </p:blipFill>
        <p:spPr bwMode="auto">
          <a:xfrm>
            <a:off x="4724400" y="1600200"/>
            <a:ext cx="3935398" cy="3948113"/>
          </a:xfrm>
          <a:prstGeom prst="rect">
            <a:avLst/>
          </a:prstGeom>
          <a:noFill/>
          <a:ln w="9525">
            <a:noFill/>
            <a:miter lim="800000"/>
            <a:headEnd/>
            <a:tailEnd/>
          </a:ln>
        </p:spPr>
      </p:pic>
      <p:pic>
        <p:nvPicPr>
          <p:cNvPr id="2051" name="Picture 3"/>
          <p:cNvPicPr>
            <a:picLocks noChangeAspect="1" noChangeArrowheads="1"/>
          </p:cNvPicPr>
          <p:nvPr/>
        </p:nvPicPr>
        <p:blipFill>
          <a:blip r:embed="rId3" cstate="print"/>
          <a:srcRect/>
          <a:stretch>
            <a:fillRect/>
          </a:stretch>
        </p:blipFill>
        <p:spPr bwMode="auto">
          <a:xfrm>
            <a:off x="533400" y="1600200"/>
            <a:ext cx="3539669" cy="3962400"/>
          </a:xfrm>
          <a:prstGeom prst="rect">
            <a:avLst/>
          </a:prstGeom>
          <a:noFill/>
          <a:ln w="9525">
            <a:noFill/>
            <a:miter lim="800000"/>
            <a:headEnd/>
            <a:tailEnd/>
          </a:ln>
        </p:spPr>
      </p:pic>
      <p:sp>
        <p:nvSpPr>
          <p:cNvPr id="9" name="TextBox 8"/>
          <p:cNvSpPr txBox="1"/>
          <p:nvPr/>
        </p:nvSpPr>
        <p:spPr>
          <a:xfrm>
            <a:off x="1066800" y="5791200"/>
            <a:ext cx="17526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Sample Use Case Scenario from Chapter 3</a:t>
            </a:r>
            <a:endParaRPr lang="en-US" sz="1200" b="1" dirty="0">
              <a:solidFill>
                <a:srgbClr val="C00000"/>
              </a:solidFill>
              <a:latin typeface="Bradley Hand ITC" pitchFamily="66" charset="0"/>
            </a:endParaRPr>
          </a:p>
        </p:txBody>
      </p:sp>
      <p:sp>
        <p:nvSpPr>
          <p:cNvPr id="10" name="Freeform 9"/>
          <p:cNvSpPr/>
          <p:nvPr/>
        </p:nvSpPr>
        <p:spPr>
          <a:xfrm>
            <a:off x="2571750" y="5580877"/>
            <a:ext cx="533400" cy="400823"/>
          </a:xfrm>
          <a:custGeom>
            <a:avLst/>
            <a:gdLst>
              <a:gd name="connsiteX0" fmla="*/ 0 w 533400"/>
              <a:gd name="connsiteY0" fmla="*/ 638175 h 638175"/>
              <a:gd name="connsiteX1" fmla="*/ 381000 w 533400"/>
              <a:gd name="connsiteY1" fmla="*/ 466725 h 638175"/>
              <a:gd name="connsiteX2" fmla="*/ 419100 w 533400"/>
              <a:gd name="connsiteY2" fmla="*/ 200025 h 638175"/>
              <a:gd name="connsiteX3" fmla="*/ 533400 w 533400"/>
              <a:gd name="connsiteY3" fmla="*/ 0 h 638175"/>
            </a:gdLst>
            <a:ahLst/>
            <a:cxnLst>
              <a:cxn ang="0">
                <a:pos x="connsiteX0" y="connsiteY0"/>
              </a:cxn>
              <a:cxn ang="0">
                <a:pos x="connsiteX1" y="connsiteY1"/>
              </a:cxn>
              <a:cxn ang="0">
                <a:pos x="connsiteX2" y="connsiteY2"/>
              </a:cxn>
              <a:cxn ang="0">
                <a:pos x="connsiteX3" y="connsiteY3"/>
              </a:cxn>
            </a:cxnLst>
            <a:rect l="l" t="t" r="r" b="b"/>
            <a:pathLst>
              <a:path w="533400" h="638175">
                <a:moveTo>
                  <a:pt x="0" y="638175"/>
                </a:moveTo>
                <a:cubicBezTo>
                  <a:pt x="155575" y="588962"/>
                  <a:pt x="311150" y="539750"/>
                  <a:pt x="381000" y="466725"/>
                </a:cubicBezTo>
                <a:cubicBezTo>
                  <a:pt x="450850" y="393700"/>
                  <a:pt x="393700" y="277812"/>
                  <a:pt x="419100" y="200025"/>
                </a:cubicBezTo>
                <a:cubicBezTo>
                  <a:pt x="444500" y="122238"/>
                  <a:pt x="488950" y="61119"/>
                  <a:pt x="53340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p:cNvSpPr txBox="1"/>
          <p:nvPr/>
        </p:nvSpPr>
        <p:spPr>
          <a:xfrm>
            <a:off x="5715000" y="5791200"/>
            <a:ext cx="142875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Sample Test Case  from Scenario </a:t>
            </a:r>
            <a:endParaRPr lang="en-US" sz="1200" b="1" dirty="0">
              <a:solidFill>
                <a:srgbClr val="C00000"/>
              </a:solidFill>
              <a:latin typeface="Bradley Hand ITC" pitchFamily="66" charset="0"/>
            </a:endParaRPr>
          </a:p>
        </p:txBody>
      </p:sp>
      <p:sp>
        <p:nvSpPr>
          <p:cNvPr id="12" name="Freeform 11"/>
          <p:cNvSpPr/>
          <p:nvPr/>
        </p:nvSpPr>
        <p:spPr>
          <a:xfrm>
            <a:off x="7086600" y="5576412"/>
            <a:ext cx="533400" cy="400823"/>
          </a:xfrm>
          <a:custGeom>
            <a:avLst/>
            <a:gdLst>
              <a:gd name="connsiteX0" fmla="*/ 0 w 533400"/>
              <a:gd name="connsiteY0" fmla="*/ 638175 h 638175"/>
              <a:gd name="connsiteX1" fmla="*/ 381000 w 533400"/>
              <a:gd name="connsiteY1" fmla="*/ 466725 h 638175"/>
              <a:gd name="connsiteX2" fmla="*/ 419100 w 533400"/>
              <a:gd name="connsiteY2" fmla="*/ 200025 h 638175"/>
              <a:gd name="connsiteX3" fmla="*/ 533400 w 533400"/>
              <a:gd name="connsiteY3" fmla="*/ 0 h 638175"/>
            </a:gdLst>
            <a:ahLst/>
            <a:cxnLst>
              <a:cxn ang="0">
                <a:pos x="connsiteX0" y="connsiteY0"/>
              </a:cxn>
              <a:cxn ang="0">
                <a:pos x="connsiteX1" y="connsiteY1"/>
              </a:cxn>
              <a:cxn ang="0">
                <a:pos x="connsiteX2" y="connsiteY2"/>
              </a:cxn>
              <a:cxn ang="0">
                <a:pos x="connsiteX3" y="connsiteY3"/>
              </a:cxn>
            </a:cxnLst>
            <a:rect l="l" t="t" r="r" b="b"/>
            <a:pathLst>
              <a:path w="533400" h="638175">
                <a:moveTo>
                  <a:pt x="0" y="638175"/>
                </a:moveTo>
                <a:cubicBezTo>
                  <a:pt x="155575" y="588962"/>
                  <a:pt x="311150" y="539750"/>
                  <a:pt x="381000" y="466725"/>
                </a:cubicBezTo>
                <a:cubicBezTo>
                  <a:pt x="450850" y="393700"/>
                  <a:pt x="393700" y="277812"/>
                  <a:pt x="419100" y="200025"/>
                </a:cubicBezTo>
                <a:cubicBezTo>
                  <a:pt x="444500" y="122238"/>
                  <a:pt x="488950" y="61119"/>
                  <a:pt x="53340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Quality Evaluation of Construction Design</a:t>
            </a:r>
            <a:br>
              <a:rPr lang="en-US" dirty="0" smtClean="0"/>
            </a:br>
            <a:r>
              <a:rPr lang="en-US" dirty="0" smtClean="0"/>
              <a:t>- Testability and Maintainability -</a:t>
            </a:r>
            <a:endParaRPr lang="en-US" dirty="0"/>
          </a:p>
        </p:txBody>
      </p:sp>
      <p:sp>
        <p:nvSpPr>
          <p:cNvPr id="3" name="Content Placeholder 2"/>
          <p:cNvSpPr>
            <a:spLocks noGrp="1"/>
          </p:cNvSpPr>
          <p:nvPr>
            <p:ph idx="1"/>
          </p:nvPr>
        </p:nvSpPr>
        <p:spPr>
          <a:xfrm>
            <a:off x="457200" y="1371601"/>
            <a:ext cx="8229600" cy="5105399"/>
          </a:xfrm>
        </p:spPr>
        <p:txBody>
          <a:bodyPr>
            <a:normAutofit fontScale="92500" lnSpcReduction="10000"/>
          </a:bodyPr>
          <a:lstStyle/>
          <a:p>
            <a:r>
              <a:rPr lang="en-US" dirty="0" smtClean="0"/>
              <a:t>Testability quality (in construction design) deals with the amount of effort required to test artifacts that are the result of construction design.</a:t>
            </a:r>
          </a:p>
          <a:p>
            <a:endParaRPr lang="en-US" dirty="0" smtClean="0"/>
          </a:p>
          <a:p>
            <a:r>
              <a:rPr lang="en-US" dirty="0" smtClean="0"/>
              <a:t>On the other hand, a design's maintainability quality deals with  the amount of effort required to maintain a tested artifact that is the result of construction design.</a:t>
            </a:r>
          </a:p>
          <a:p>
            <a:endParaRPr lang="en-US" dirty="0" smtClean="0"/>
          </a:p>
          <a:p>
            <a:r>
              <a:rPr lang="en-US" dirty="0" smtClean="0"/>
              <a:t>Both testability and maintainability are goals that can be achieved in many ways, as determined by non-functional requirements of the project.  </a:t>
            </a:r>
          </a:p>
          <a:p>
            <a:pPr lvl="1"/>
            <a:r>
              <a:rPr lang="en-US" dirty="0" smtClean="0"/>
              <a:t>A common approach for evaluating the testability and maintainability of construction designs include the measurement of the design’s cyclomatic complexity [1].</a:t>
            </a:r>
          </a:p>
          <a:p>
            <a:pPr lvl="1"/>
            <a:endParaRPr lang="en-US" dirty="0" smtClean="0"/>
          </a:p>
          <a:p>
            <a:r>
              <a:rPr lang="en-US" dirty="0" smtClean="0"/>
              <a:t>Testability and maintainability goals can be transformed into requirements that are based on the cyclomatic complexity.</a:t>
            </a:r>
          </a:p>
          <a:p>
            <a:pPr lvl="1"/>
            <a:r>
              <a:rPr lang="en-US" dirty="0" smtClean="0"/>
              <a:t>Maintainability quality can also be evaluated by the compliance of the resulting implementation of construction design to the programming style defined for the project.</a:t>
            </a:r>
          </a:p>
          <a:p>
            <a:endParaRPr lang="en-US" dirty="0" smtClean="0"/>
          </a:p>
        </p:txBody>
      </p:sp>
      <p:sp>
        <p:nvSpPr>
          <p:cNvPr id="4" name="Date Placeholder 3"/>
          <p:cNvSpPr>
            <a:spLocks noGrp="1"/>
          </p:cNvSpPr>
          <p:nvPr>
            <p:ph type="dt" sz="half" idx="10"/>
          </p:nvPr>
        </p:nvSpPr>
        <p:spPr/>
        <p:txBody>
          <a:bodyPr/>
          <a:lstStyle/>
          <a:p>
            <a:fld id="{F3FBCFF5-EE4F-4FFF-A0F1-127D95D6DEF9}" type="datetime1">
              <a:rPr lang="en-US" smtClean="0"/>
              <a:pPr/>
              <a:t>5/9/2013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p:cNvPicPr>
            <a:picLocks noChangeAspect="1" noChangeArrowheads="1"/>
          </p:cNvPicPr>
          <p:nvPr/>
        </p:nvPicPr>
        <p:blipFill>
          <a:blip r:embed="rId2" cstate="print"/>
          <a:srcRect l="48750" t="48001" r="40417" b="49333"/>
          <a:stretch>
            <a:fillRect/>
          </a:stretch>
        </p:blipFill>
        <p:spPr bwMode="auto">
          <a:xfrm>
            <a:off x="3200400" y="5676900"/>
            <a:ext cx="1981200" cy="304800"/>
          </a:xfrm>
          <a:prstGeom prst="rect">
            <a:avLst/>
          </a:prstGeom>
          <a:noFill/>
          <a:ln w="9525">
            <a:noFill/>
            <a:miter lim="800000"/>
            <a:headEnd/>
            <a:tailEnd/>
          </a:ln>
        </p:spPr>
      </p:pic>
      <p:sp>
        <p:nvSpPr>
          <p:cNvPr id="2" name="Title 1"/>
          <p:cNvSpPr>
            <a:spLocks noGrp="1"/>
          </p:cNvSpPr>
          <p:nvPr>
            <p:ph type="title"/>
          </p:nvPr>
        </p:nvSpPr>
        <p:spPr/>
        <p:txBody>
          <a:bodyPr>
            <a:normAutofit fontScale="90000"/>
          </a:bodyPr>
          <a:lstStyle/>
          <a:p>
            <a:r>
              <a:rPr lang="en-US" dirty="0" smtClean="0"/>
              <a:t>Quality Evaluation of Construction Design</a:t>
            </a:r>
            <a:br>
              <a:rPr lang="en-US" dirty="0" smtClean="0"/>
            </a:br>
            <a:r>
              <a:rPr lang="en-US" dirty="0" smtClean="0"/>
              <a:t>- Cyclomatic Complexity -</a:t>
            </a:r>
            <a:endParaRPr lang="en-US" dirty="0"/>
          </a:p>
        </p:txBody>
      </p:sp>
      <p:sp>
        <p:nvSpPr>
          <p:cNvPr id="3" name="Content Placeholder 2"/>
          <p:cNvSpPr>
            <a:spLocks noGrp="1"/>
          </p:cNvSpPr>
          <p:nvPr>
            <p:ph idx="1"/>
          </p:nvPr>
        </p:nvSpPr>
        <p:spPr/>
        <p:txBody>
          <a:bodyPr>
            <a:normAutofit/>
          </a:bodyPr>
          <a:lstStyle/>
          <a:p>
            <a:r>
              <a:rPr lang="en-US" dirty="0" smtClean="0"/>
              <a:t>Cyclomatic complexity is a technique developed by Thomas J. McCabe that can be used for evaluating the quality of flow-based designs.</a:t>
            </a:r>
          </a:p>
          <a:p>
            <a:endParaRPr lang="en-US" dirty="0" smtClean="0"/>
          </a:p>
          <a:p>
            <a:r>
              <a:rPr lang="en-US" dirty="0" smtClean="0"/>
              <a:t>It is a mathematical technique based on graph theory that provides a quantitative justification for making design decisions that lead to higher quality in terms of a design's maintainability and testability. </a:t>
            </a:r>
          </a:p>
          <a:p>
            <a:endParaRPr lang="en-US" dirty="0" smtClean="0"/>
          </a:p>
          <a:p>
            <a:r>
              <a:rPr lang="en-US" dirty="0" smtClean="0"/>
              <a:t>The cyclomatic complexity computation allows designers to measure the complexity of flow-based operational designs by determining the complexity of the decision structure of operations instead of lines of code.</a:t>
            </a:r>
          </a:p>
          <a:p>
            <a:pPr>
              <a:buNone/>
            </a:pPr>
            <a:endParaRPr lang="en-US" dirty="0" smtClean="0"/>
          </a:p>
          <a:p>
            <a:r>
              <a:rPr lang="en-US" dirty="0" smtClean="0"/>
              <a:t>The cyclomatic complexity technique works by computing the cyclomatic number v</a:t>
            </a:r>
            <a:r>
              <a:rPr lang="en-US" i="1" dirty="0" smtClean="0"/>
              <a:t>(G)</a:t>
            </a:r>
            <a:r>
              <a:rPr lang="en-US" dirty="0" smtClean="0"/>
              <a:t> of a graph </a:t>
            </a:r>
            <a:r>
              <a:rPr lang="en-US" i="1" dirty="0" smtClean="0"/>
              <a:t>G</a:t>
            </a:r>
            <a:r>
              <a:rPr lang="en-US" dirty="0" smtClean="0"/>
              <a:t> with </a:t>
            </a:r>
            <a:r>
              <a:rPr lang="en-US" i="1" dirty="0" smtClean="0"/>
              <a:t>n</a:t>
            </a:r>
            <a:r>
              <a:rPr lang="en-US" dirty="0" smtClean="0"/>
              <a:t> vertices, </a:t>
            </a:r>
            <a:r>
              <a:rPr lang="en-US" i="1" dirty="0" smtClean="0"/>
              <a:t>e</a:t>
            </a:r>
            <a:r>
              <a:rPr lang="en-US" dirty="0" smtClean="0"/>
              <a:t> edges, and </a:t>
            </a:r>
            <a:r>
              <a:rPr lang="en-US" i="1" dirty="0" smtClean="0"/>
              <a:t>p</a:t>
            </a:r>
            <a:r>
              <a:rPr lang="en-US" dirty="0" smtClean="0"/>
              <a:t> connected components, as seen in</a:t>
            </a:r>
          </a:p>
          <a:p>
            <a:endParaRPr lang="en-US" dirty="0" smtClean="0"/>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5/9/2013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Quality Evaluation of Construction Design</a:t>
            </a:r>
            <a:br>
              <a:rPr lang="en-US" dirty="0" smtClean="0"/>
            </a:br>
            <a:r>
              <a:rPr lang="en-US" dirty="0" smtClean="0"/>
              <a:t>- Cyclomatic Complexity -</a:t>
            </a:r>
            <a:endParaRPr lang="en-US" dirty="0"/>
          </a:p>
        </p:txBody>
      </p:sp>
      <p:sp>
        <p:nvSpPr>
          <p:cNvPr id="3" name="Content Placeholder 2"/>
          <p:cNvSpPr>
            <a:spLocks noGrp="1"/>
          </p:cNvSpPr>
          <p:nvPr>
            <p:ph idx="1"/>
          </p:nvPr>
        </p:nvSpPr>
        <p:spPr>
          <a:xfrm>
            <a:off x="457200" y="1371601"/>
            <a:ext cx="8229600" cy="5105399"/>
          </a:xfrm>
        </p:spPr>
        <p:txBody>
          <a:bodyPr>
            <a:normAutofit/>
          </a:bodyPr>
          <a:lstStyle/>
          <a:p>
            <a:r>
              <a:rPr lang="en-US" dirty="0" smtClean="0"/>
              <a:t>Computing the cyclomatic complexity for large operations can be tedious, therefore two  simplifications methods are available for easily computing the cyclomatic complexity of single-component graphs (i.e., </a:t>
            </a:r>
            <a:r>
              <a:rPr lang="en-US" i="1" dirty="0" smtClean="0"/>
              <a:t>p=1</a:t>
            </a:r>
            <a:r>
              <a:rPr lang="en-US" dirty="0" smtClean="0"/>
              <a:t>).</a:t>
            </a:r>
          </a:p>
          <a:p>
            <a:endParaRPr lang="en-US" dirty="0" smtClean="0"/>
          </a:p>
          <a:p>
            <a:r>
              <a:rPr lang="en-US" dirty="0" smtClean="0"/>
              <a:t>The first method allows for the computation of complexity in terms of a program's decision constructs, such as </a:t>
            </a:r>
            <a:r>
              <a:rPr lang="en-US" i="1" dirty="0" smtClean="0"/>
              <a:t>if</a:t>
            </a:r>
            <a:r>
              <a:rPr lang="en-US" dirty="0" smtClean="0"/>
              <a:t> statements, </a:t>
            </a:r>
            <a:r>
              <a:rPr lang="en-US" i="1" dirty="0" smtClean="0"/>
              <a:t>while</a:t>
            </a:r>
            <a:r>
              <a:rPr lang="en-US" dirty="0" smtClean="0"/>
              <a:t> loop, </a:t>
            </a:r>
            <a:r>
              <a:rPr lang="en-US" i="1" dirty="0" smtClean="0"/>
              <a:t>for</a:t>
            </a:r>
            <a:r>
              <a:rPr lang="en-US" dirty="0" smtClean="0"/>
              <a:t> loop, and </a:t>
            </a:r>
            <a:r>
              <a:rPr lang="en-US" i="1" dirty="0" smtClean="0"/>
              <a:t>case</a:t>
            </a:r>
            <a:r>
              <a:rPr lang="en-US" dirty="0" smtClean="0"/>
              <a:t> statements.</a:t>
            </a:r>
          </a:p>
          <a:p>
            <a:endParaRPr lang="en-US" dirty="0" smtClean="0"/>
          </a:p>
          <a:p>
            <a:r>
              <a:rPr lang="en-US" dirty="0" smtClean="0"/>
              <a:t>Harlan Mills proved that the cyclomatic complexity (</a:t>
            </a:r>
            <a:r>
              <a:rPr lang="en-US" i="1" dirty="0" smtClean="0"/>
              <a:t>C</a:t>
            </a:r>
            <a:r>
              <a:rPr lang="en-US" dirty="0" smtClean="0"/>
              <a:t>) of as structured program meeting the control graphs requirements mentioned above is equal to the number of conditions in the code (π) plus 1 [2], as seen in</a:t>
            </a:r>
          </a:p>
          <a:p>
            <a:pPr lvl="1"/>
            <a:r>
              <a:rPr lang="en-US" dirty="0" smtClean="0"/>
              <a:t>Where the number of conditions (π) is measured as follows:</a:t>
            </a:r>
          </a:p>
          <a:p>
            <a:pPr lvl="2"/>
            <a:r>
              <a:rPr lang="en-US" dirty="0" smtClean="0"/>
              <a:t>If, while, and for loops all count as one unit of complexity</a:t>
            </a:r>
          </a:p>
          <a:p>
            <a:pPr lvl="2"/>
            <a:r>
              <a:rPr lang="en-US" dirty="0" smtClean="0"/>
              <a:t>Compound conditional statements (e.g., if x and y) count as two units of complexity.</a:t>
            </a:r>
          </a:p>
          <a:p>
            <a:pPr lvl="2"/>
            <a:r>
              <a:rPr lang="en-US" dirty="0" smtClean="0"/>
              <a:t>Case statements containing n branches count as </a:t>
            </a:r>
            <a:r>
              <a:rPr lang="en-US" i="1" dirty="0" smtClean="0"/>
              <a:t>n-1</a:t>
            </a:r>
            <a:r>
              <a:rPr lang="en-US" dirty="0" smtClean="0"/>
              <a:t> units of complexity.</a:t>
            </a:r>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5/9/2013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pic>
        <p:nvPicPr>
          <p:cNvPr id="7" name="Picture 2"/>
          <p:cNvPicPr>
            <a:picLocks noChangeAspect="1" noChangeArrowheads="1"/>
          </p:cNvPicPr>
          <p:nvPr/>
        </p:nvPicPr>
        <p:blipFill>
          <a:blip r:embed="rId2" cstate="print"/>
          <a:srcRect l="56667" t="76666" r="37500" b="21334"/>
          <a:stretch>
            <a:fillRect/>
          </a:stretch>
        </p:blipFill>
        <p:spPr bwMode="auto">
          <a:xfrm>
            <a:off x="6810375" y="5133975"/>
            <a:ext cx="1066800" cy="228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Quality Evaluation of Construction Design</a:t>
            </a:r>
            <a:br>
              <a:rPr lang="en-US" dirty="0" smtClean="0"/>
            </a:br>
            <a:r>
              <a:rPr lang="en-US" dirty="0" smtClean="0"/>
              <a:t>- Cyclomatic Complexity -</a:t>
            </a:r>
            <a:endParaRPr lang="en-US" dirty="0"/>
          </a:p>
        </p:txBody>
      </p:sp>
      <p:sp>
        <p:nvSpPr>
          <p:cNvPr id="3" name="Content Placeholder 2"/>
          <p:cNvSpPr>
            <a:spLocks noGrp="1"/>
          </p:cNvSpPr>
          <p:nvPr>
            <p:ph idx="1"/>
          </p:nvPr>
        </p:nvSpPr>
        <p:spPr/>
        <p:txBody>
          <a:bodyPr/>
          <a:lstStyle/>
          <a:p>
            <a:r>
              <a:rPr lang="en-US" dirty="0" smtClean="0"/>
              <a:t>The second simplification approach allows for the visual determination of complexity via the program control graph. </a:t>
            </a:r>
          </a:p>
          <a:p>
            <a:endParaRPr lang="en-US" dirty="0" smtClean="0"/>
          </a:p>
          <a:p>
            <a:r>
              <a:rPr lang="en-US" dirty="0" smtClean="0"/>
              <a:t>This approach is based on the work of mathematician Leonhard Euler, who proved that for connected planar graphs—those without intersecting edges—the regions (r) of a graphs can be computed using</a:t>
            </a:r>
          </a:p>
          <a:p>
            <a:endParaRPr lang="en-US" dirty="0" smtClean="0"/>
          </a:p>
          <a:p>
            <a:r>
              <a:rPr lang="en-US" dirty="0" smtClean="0"/>
              <a:t>A regions is an area enclosed by arcs; therefore, given the characteristics of  the program control chart, the </a:t>
            </a:r>
            <a:r>
              <a:rPr lang="en-US" i="1" dirty="0" smtClean="0"/>
              <a:t>number of regions enclosed by arcs</a:t>
            </a:r>
            <a:r>
              <a:rPr lang="en-US" dirty="0" smtClean="0"/>
              <a:t>, </a:t>
            </a:r>
            <a:r>
              <a:rPr lang="en-US" i="1" dirty="0" smtClean="0"/>
              <a:t>plus one that resides outside the graph</a:t>
            </a:r>
            <a:r>
              <a:rPr lang="en-US" dirty="0" smtClean="0"/>
              <a:t>, is equal to the cyclomatic complexity of the graph.  </a:t>
            </a:r>
          </a:p>
          <a:p>
            <a:endParaRPr lang="en-US" dirty="0" smtClean="0"/>
          </a:p>
          <a:p>
            <a:r>
              <a:rPr lang="en-US" dirty="0" smtClean="0"/>
              <a:t>Typically, a cyclomatic complexity value of 10 is acceptable, based on McCabe's work.</a:t>
            </a:r>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5/9/2013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pic>
        <p:nvPicPr>
          <p:cNvPr id="7" name="Picture 2"/>
          <p:cNvPicPr>
            <a:picLocks noChangeAspect="1" noChangeArrowheads="1"/>
          </p:cNvPicPr>
          <p:nvPr/>
        </p:nvPicPr>
        <p:blipFill>
          <a:blip r:embed="rId2" cstate="print"/>
          <a:srcRect l="56667" t="68667" r="35833" b="29333"/>
          <a:stretch>
            <a:fillRect/>
          </a:stretch>
        </p:blipFill>
        <p:spPr bwMode="auto">
          <a:xfrm>
            <a:off x="6924675" y="3143250"/>
            <a:ext cx="1371600" cy="228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Quality Evaluation of Construction Design</a:t>
            </a:r>
            <a:br>
              <a:rPr lang="en-US" dirty="0" smtClean="0"/>
            </a:br>
            <a:r>
              <a:rPr lang="en-US" dirty="0" smtClean="0"/>
              <a:t>- Cyclomatic Complexity -</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5/9/2013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p:pic>
        <p:nvPicPr>
          <p:cNvPr id="23554" name="Picture 2"/>
          <p:cNvPicPr>
            <a:picLocks noChangeAspect="1" noChangeArrowheads="1"/>
          </p:cNvPicPr>
          <p:nvPr/>
        </p:nvPicPr>
        <p:blipFill>
          <a:blip r:embed="rId2" cstate="print"/>
          <a:srcRect/>
          <a:stretch>
            <a:fillRect/>
          </a:stretch>
        </p:blipFill>
        <p:spPr bwMode="auto">
          <a:xfrm>
            <a:off x="4038600" y="1381125"/>
            <a:ext cx="4314825" cy="4943475"/>
          </a:xfrm>
          <a:prstGeom prst="rect">
            <a:avLst/>
          </a:prstGeom>
          <a:noFill/>
          <a:ln w="9525">
            <a:noFill/>
            <a:miter lim="800000"/>
            <a:headEnd/>
            <a:tailEnd/>
          </a:ln>
        </p:spPr>
      </p:pic>
      <p:sp>
        <p:nvSpPr>
          <p:cNvPr id="7" name="Content Placeholder 2"/>
          <p:cNvSpPr>
            <a:spLocks noGrp="1"/>
          </p:cNvSpPr>
          <p:nvPr>
            <p:ph idx="1"/>
          </p:nvPr>
        </p:nvSpPr>
        <p:spPr>
          <a:xfrm>
            <a:off x="457200" y="1371601"/>
            <a:ext cx="3429000" cy="5181599"/>
          </a:xfrm>
        </p:spPr>
        <p:txBody>
          <a:bodyPr>
            <a:normAutofit lnSpcReduction="10000"/>
          </a:bodyPr>
          <a:lstStyle/>
          <a:p>
            <a:r>
              <a:rPr lang="en-US" dirty="0" smtClean="0"/>
              <a:t>First Program Flow:</a:t>
            </a:r>
          </a:p>
          <a:p>
            <a:pPr lvl="1"/>
            <a:r>
              <a:rPr lang="en-US" dirty="0" smtClean="0"/>
              <a:t>e = 10, n = 7, p = 1</a:t>
            </a:r>
          </a:p>
          <a:p>
            <a:pPr lvl="1"/>
            <a:r>
              <a:rPr lang="en-US" dirty="0" smtClean="0"/>
              <a:t>V(G) = e – n + 2p</a:t>
            </a:r>
          </a:p>
          <a:p>
            <a:pPr lvl="1"/>
            <a:r>
              <a:rPr lang="en-US" dirty="0" smtClean="0"/>
              <a:t>V(G) = 5     </a:t>
            </a:r>
            <a:r>
              <a:rPr lang="en-US" b="1" dirty="0" smtClean="0"/>
              <a:t>or</a:t>
            </a:r>
          </a:p>
          <a:p>
            <a:pPr lvl="1"/>
            <a:r>
              <a:rPr lang="en-US" dirty="0" smtClean="0"/>
              <a:t>C = </a:t>
            </a:r>
            <a:r>
              <a:rPr lang="el-GR" dirty="0" smtClean="0">
                <a:latin typeface="Times New Roman"/>
                <a:cs typeface="Times New Roman"/>
              </a:rPr>
              <a:t>π</a:t>
            </a:r>
            <a:r>
              <a:rPr lang="en-US" dirty="0" smtClean="0"/>
              <a:t> + 1</a:t>
            </a:r>
          </a:p>
          <a:p>
            <a:pPr lvl="1"/>
            <a:r>
              <a:rPr lang="en-US" dirty="0" smtClean="0"/>
              <a:t>For switch statement, </a:t>
            </a:r>
            <a:r>
              <a:rPr lang="el-GR" dirty="0" smtClean="0">
                <a:latin typeface="Times New Roman"/>
                <a:cs typeface="Times New Roman"/>
              </a:rPr>
              <a:t>π</a:t>
            </a:r>
            <a:r>
              <a:rPr lang="en-US" dirty="0" smtClean="0"/>
              <a:t> = n-1, </a:t>
            </a:r>
            <a:r>
              <a:rPr lang="el-GR" dirty="0" smtClean="0">
                <a:latin typeface="Times New Roman"/>
                <a:cs typeface="Times New Roman"/>
              </a:rPr>
              <a:t>π</a:t>
            </a:r>
            <a:r>
              <a:rPr lang="en-US" dirty="0" smtClean="0"/>
              <a:t> = 4, therefore,</a:t>
            </a:r>
          </a:p>
          <a:p>
            <a:pPr lvl="1"/>
            <a:r>
              <a:rPr lang="en-US" dirty="0" smtClean="0"/>
              <a:t>C = 5</a:t>
            </a:r>
          </a:p>
          <a:p>
            <a:pPr lvl="1"/>
            <a:endParaRPr lang="en-US" dirty="0" smtClean="0"/>
          </a:p>
          <a:p>
            <a:r>
              <a:rPr lang="en-US" dirty="0" smtClean="0"/>
              <a:t>Second Program Flow:</a:t>
            </a:r>
          </a:p>
          <a:p>
            <a:pPr lvl="1"/>
            <a:r>
              <a:rPr lang="en-US" dirty="0" smtClean="0"/>
              <a:t>r = 5</a:t>
            </a:r>
          </a:p>
          <a:p>
            <a:pPr lvl="1"/>
            <a:r>
              <a:rPr lang="en-US" dirty="0" smtClean="0"/>
              <a:t>Complexity = r + 1</a:t>
            </a:r>
          </a:p>
          <a:p>
            <a:pPr lvl="1"/>
            <a:r>
              <a:rPr lang="en-US" dirty="0" smtClean="0"/>
              <a:t>Complexity = 6</a:t>
            </a:r>
          </a:p>
          <a:p>
            <a:endParaRPr lang="en-US" dirty="0" smtClean="0"/>
          </a:p>
          <a:p>
            <a:r>
              <a:rPr lang="en-US" dirty="0" smtClean="0"/>
              <a:t>Third Program Flow:</a:t>
            </a:r>
          </a:p>
          <a:p>
            <a:pPr lvl="1"/>
            <a:r>
              <a:rPr lang="en-US" dirty="0" smtClean="0"/>
              <a:t>C = 11</a:t>
            </a:r>
          </a:p>
          <a:p>
            <a:pPr lvl="1"/>
            <a:endParaRPr lang="en-US" dirty="0" smtClean="0"/>
          </a:p>
          <a:p>
            <a:pPr lvl="1">
              <a:buNone/>
            </a:pPr>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Quality Evaluation of Construction Design</a:t>
            </a:r>
            <a:br>
              <a:rPr lang="en-US" dirty="0" smtClean="0"/>
            </a:br>
            <a:r>
              <a:rPr lang="en-US" dirty="0" smtClean="0"/>
              <a:t>- Maintainability -</a:t>
            </a:r>
            <a:endParaRPr lang="en-US" dirty="0"/>
          </a:p>
        </p:txBody>
      </p:sp>
      <p:sp>
        <p:nvSpPr>
          <p:cNvPr id="3" name="Content Placeholder 2"/>
          <p:cNvSpPr>
            <a:spLocks noGrp="1"/>
          </p:cNvSpPr>
          <p:nvPr>
            <p:ph idx="1"/>
          </p:nvPr>
        </p:nvSpPr>
        <p:spPr>
          <a:xfrm>
            <a:off x="457200" y="1371601"/>
            <a:ext cx="8305800" cy="4952999"/>
          </a:xfrm>
        </p:spPr>
        <p:txBody>
          <a:bodyPr>
            <a:normAutofit fontScale="85000" lnSpcReduction="10000"/>
          </a:bodyPr>
          <a:lstStyle/>
          <a:p>
            <a:r>
              <a:rPr lang="en-US" dirty="0" smtClean="0"/>
              <a:t>As stated before, maintainability quality can also be evaluated by the compliance of the resulting implementation of construction design to the programming style defined for the project.  In many practical situations, where requirements have been established to meet a specific programming style, it can be time-consuming to read code line-by-line to validate that the code meets the style’s requirements.</a:t>
            </a:r>
          </a:p>
          <a:p>
            <a:pPr lvl="1"/>
            <a:r>
              <a:rPr lang="en-US" dirty="0" smtClean="0"/>
              <a:t> In these cases, the use of automated style checkers can provide significant benefits. </a:t>
            </a:r>
          </a:p>
          <a:p>
            <a:pPr lvl="1"/>
            <a:endParaRPr lang="en-US" dirty="0" smtClean="0"/>
          </a:p>
          <a:p>
            <a:r>
              <a:rPr lang="en-US" dirty="0" smtClean="0"/>
              <a:t>Automated style checkers (e.g., </a:t>
            </a:r>
            <a:r>
              <a:rPr lang="en-US" dirty="0" err="1" smtClean="0"/>
              <a:t>CheckStyle</a:t>
            </a:r>
            <a:r>
              <a:rPr lang="en-US" dirty="0" smtClean="0"/>
              <a:t> ) are tools that can be configured to enforce a specific style of programming. Some of the capabilities included by these tools include:</a:t>
            </a:r>
          </a:p>
          <a:p>
            <a:pPr lvl="1"/>
            <a:r>
              <a:rPr lang="en-US" dirty="0" smtClean="0"/>
              <a:t>Naming conventions of attributes and methods</a:t>
            </a:r>
          </a:p>
          <a:p>
            <a:pPr lvl="1"/>
            <a:r>
              <a:rPr lang="en-US" dirty="0" smtClean="0"/>
              <a:t>Formatting conventions</a:t>
            </a:r>
          </a:p>
          <a:p>
            <a:pPr lvl="1"/>
            <a:r>
              <a:rPr lang="en-US" dirty="0" smtClean="0"/>
              <a:t>Limit of the number of function parameters, line lengths</a:t>
            </a:r>
          </a:p>
          <a:p>
            <a:pPr lvl="1"/>
            <a:r>
              <a:rPr lang="en-US" dirty="0" smtClean="0"/>
              <a:t>Comments (</a:t>
            </a:r>
            <a:r>
              <a:rPr lang="en-US" dirty="0" err="1" smtClean="0"/>
              <a:t>Javadoc</a:t>
            </a:r>
            <a:r>
              <a:rPr lang="en-US" dirty="0" smtClean="0"/>
              <a:t>) for classes, attributes and methods</a:t>
            </a:r>
          </a:p>
          <a:p>
            <a:pPr lvl="1"/>
            <a:r>
              <a:rPr lang="en-US" dirty="0" smtClean="0"/>
              <a:t>Presence of mandatory headers</a:t>
            </a:r>
          </a:p>
          <a:p>
            <a:pPr lvl="1"/>
            <a:r>
              <a:rPr lang="en-US" dirty="0" smtClean="0"/>
              <a:t>Good practices for class design</a:t>
            </a:r>
          </a:p>
          <a:p>
            <a:pPr lvl="1"/>
            <a:r>
              <a:rPr lang="en-US" dirty="0" smtClean="0"/>
              <a:t>Checks for duplicated code sections</a:t>
            </a:r>
          </a:p>
          <a:p>
            <a:pPr lvl="1"/>
            <a:r>
              <a:rPr lang="en-US" dirty="0" smtClean="0"/>
              <a:t>Checks cyclomatic complexity against a specified threshold</a:t>
            </a:r>
          </a:p>
          <a:p>
            <a:pPr lvl="1"/>
            <a:r>
              <a:rPr lang="en-US" dirty="0" smtClean="0"/>
              <a:t>Other multiple complexity measurements</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5/9/2013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What’s Next…</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In this session, we continued the discussion on construction design, including:</a:t>
            </a:r>
          </a:p>
          <a:p>
            <a:pPr lvl="1"/>
            <a:r>
              <a:rPr lang="en-US" dirty="0" smtClean="0"/>
              <a:t>Programming Design Language</a:t>
            </a:r>
          </a:p>
          <a:p>
            <a:pPr lvl="1"/>
            <a:r>
              <a:rPr lang="en-US" dirty="0" smtClean="0"/>
              <a:t>Construction (Programming) Styles</a:t>
            </a:r>
          </a:p>
          <a:p>
            <a:pPr lvl="2"/>
            <a:r>
              <a:rPr lang="en-US" dirty="0" smtClean="0"/>
              <a:t>Formatting</a:t>
            </a:r>
          </a:p>
          <a:p>
            <a:pPr lvl="2"/>
            <a:r>
              <a:rPr lang="en-US" dirty="0" smtClean="0"/>
              <a:t>Naming</a:t>
            </a:r>
          </a:p>
          <a:p>
            <a:pPr lvl="2"/>
            <a:r>
              <a:rPr lang="en-US" dirty="0" smtClean="0"/>
              <a:t>Documentation</a:t>
            </a:r>
          </a:p>
          <a:p>
            <a:pPr lvl="1"/>
            <a:r>
              <a:rPr lang="en-US" dirty="0" smtClean="0"/>
              <a:t>Quality Evaluation of Construction</a:t>
            </a:r>
          </a:p>
          <a:p>
            <a:pPr lvl="2"/>
            <a:r>
              <a:rPr lang="en-US" dirty="0" smtClean="0"/>
              <a:t>Completeness</a:t>
            </a:r>
          </a:p>
          <a:p>
            <a:pPr lvl="2"/>
            <a:r>
              <a:rPr lang="en-US" dirty="0" smtClean="0"/>
              <a:t>Correctness</a:t>
            </a:r>
          </a:p>
          <a:p>
            <a:pPr lvl="2"/>
            <a:r>
              <a:rPr lang="en-US" dirty="0" smtClean="0"/>
              <a:t>Testability</a:t>
            </a:r>
          </a:p>
          <a:p>
            <a:pPr lvl="2"/>
            <a:r>
              <a:rPr lang="en-US" dirty="0" smtClean="0"/>
              <a:t>Maintainability</a:t>
            </a:r>
          </a:p>
          <a:p>
            <a:pPr lvl="1"/>
            <a:r>
              <a:rPr lang="en-US" dirty="0" smtClean="0"/>
              <a:t>McCabe’s Complexity Theory</a:t>
            </a:r>
          </a:p>
          <a:p>
            <a:pPr lvl="2"/>
            <a:r>
              <a:rPr lang="en-US" dirty="0" smtClean="0"/>
              <a:t>Used to evaluate testability and maintainability </a:t>
            </a:r>
          </a:p>
          <a:p>
            <a:pPr lvl="1">
              <a:buNone/>
            </a:pPr>
            <a:endParaRPr lang="en-US" dirty="0" smtClean="0"/>
          </a:p>
          <a:p>
            <a:r>
              <a:rPr lang="en-US" dirty="0" smtClean="0"/>
              <a:t>This concludes the presentation of construction design.  In the next module, we will present an introduction to another very important form of design, human-computer interface design. </a:t>
            </a:r>
          </a:p>
        </p:txBody>
      </p:sp>
      <p:sp>
        <p:nvSpPr>
          <p:cNvPr id="4" name="Date Placeholder 3"/>
          <p:cNvSpPr>
            <a:spLocks noGrp="1"/>
          </p:cNvSpPr>
          <p:nvPr>
            <p:ph type="dt" sz="half" idx="10"/>
          </p:nvPr>
        </p:nvSpPr>
        <p:spPr/>
        <p:txBody>
          <a:bodyPr/>
          <a:lstStyle/>
          <a:p>
            <a:fld id="{F3FBCFF5-EE4F-4FFF-A0F1-127D95D6DEF9}" type="datetime1">
              <a:rPr lang="en-US" smtClean="0"/>
              <a:pPr/>
              <a:t>5/9/2013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lstStyle/>
          <a:p>
            <a:r>
              <a:rPr lang="en-US" dirty="0" smtClean="0"/>
              <a:t>[1] McCabe, Thomas J. “A Complexity Measure.”  IEEE Transactions on Software Engineering SE-2, no. 4 (1976):308-320.</a:t>
            </a:r>
          </a:p>
          <a:p>
            <a:r>
              <a:rPr lang="en-US" dirty="0" smtClean="0"/>
              <a:t>[2] Mills, Harlan D.  Mathematical Foundations for Structured Programming.  Gaithersburg, MD: IBM Federal Systems Division, IBM Corporation, 1972.</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5/9/2013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UVa-Wise-Clean-BW">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UVa-Wise-Clean-BW</Template>
  <TotalTime>13263</TotalTime>
  <Words>2071</Words>
  <Application>Microsoft Office PowerPoint</Application>
  <PresentationFormat>On-screen Show (4:3)</PresentationFormat>
  <Paragraphs>259</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UVa-Wise-Clean-BW</vt:lpstr>
      <vt:lpstr>Chapter 8: Principles of Construction Design</vt:lpstr>
      <vt:lpstr>Session’s Agenda</vt:lpstr>
      <vt:lpstr>Programming Design Language</vt:lpstr>
      <vt:lpstr>Programming Design Language</vt:lpstr>
      <vt:lpstr>Software Construction using Styles</vt:lpstr>
      <vt:lpstr>Software Construction using Styles - Formatting Conventions -</vt:lpstr>
      <vt:lpstr>Software Construction using Styles - Formatting Conventions -</vt:lpstr>
      <vt:lpstr>Software Construction using Styles - Formatting Conventions -</vt:lpstr>
      <vt:lpstr>Software Construction using Styles - Naming Conventions -</vt:lpstr>
      <vt:lpstr>Software Construction using Styles  - Naming Conventions - </vt:lpstr>
      <vt:lpstr>Software Construction using Styles  - Documentation Conventions - </vt:lpstr>
      <vt:lpstr>Software Construction using Styles  - Documentation Conventions - </vt:lpstr>
      <vt:lpstr>Software Construction using Styles  - Documentation Conventions - </vt:lpstr>
      <vt:lpstr>Quality Evaluation of Construction Design</vt:lpstr>
      <vt:lpstr>Quality Evaluation of Construction Design - Correctness-</vt:lpstr>
      <vt:lpstr>Quality Evaluation of Construction Design - Unit Tests -</vt:lpstr>
      <vt:lpstr>Quality Evaluation of Construction Design - Testability and Maintainability -</vt:lpstr>
      <vt:lpstr>Quality Evaluation of Construction Design - Cyclomatic Complexity -</vt:lpstr>
      <vt:lpstr>Quality Evaluation of Construction Design - Cyclomatic Complexity -</vt:lpstr>
      <vt:lpstr>Quality Evaluation of Construction Design - Cyclomatic Complexity -</vt:lpstr>
      <vt:lpstr>Quality Evaluation of Construction Design - Cyclomatic Complexity -</vt:lpstr>
      <vt:lpstr>Quality Evaluation of Construction Design - Maintainability -</vt:lpstr>
      <vt:lpstr>What’s Next…</vt:lpstr>
      <vt:lpstr>References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 Design: Theory and Practice</dc:title>
  <dc:creator>Carlos E. Otero, Ph.D.</dc:creator>
  <dc:description>This slides may be reproduced only for student use when used in conjunction with Software Engineering Design: Theory and Practice. Any other reproduction or use is prohibited without express written permission of the author.</dc:description>
  <cp:lastModifiedBy>Wan Mohd Nasir Wan Kadir</cp:lastModifiedBy>
  <cp:revision>1168</cp:revision>
  <dcterms:created xsi:type="dcterms:W3CDTF">2006-08-16T00:00:00Z</dcterms:created>
  <dcterms:modified xsi:type="dcterms:W3CDTF">2013-05-08T23:04:44Z</dcterms:modified>
</cp:coreProperties>
</file>
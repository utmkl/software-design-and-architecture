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353" r:id="rId4"/>
    <p:sldId id="362" r:id="rId5"/>
    <p:sldId id="355" r:id="rId6"/>
    <p:sldId id="363" r:id="rId7"/>
    <p:sldId id="356" r:id="rId8"/>
    <p:sldId id="357" r:id="rId9"/>
    <p:sldId id="359" r:id="rId10"/>
    <p:sldId id="364" r:id="rId11"/>
    <p:sldId id="358" r:id="rId12"/>
    <p:sldId id="360" r:id="rId13"/>
    <p:sldId id="365" r:id="rId14"/>
    <p:sldId id="352" r:id="rId1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3/3/2016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455717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3/3/2016</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3/3/2016</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3/3/2016</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3/3/2016</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3/3/2016</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3/3/2016</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3/3/2016</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3/3/2016</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3/3/2016</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3/3/2016</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3/3/2016</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3/3/2016</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3: Principles of Software Architecture</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III: Designing the Architecture</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3/3/2016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92500" lnSpcReduction="10000"/>
          </a:bodyPr>
          <a:lstStyle/>
          <a:p>
            <a:r>
              <a:rPr lang="en-US" dirty="0" smtClean="0"/>
              <a:t>Designing the Architecture with the 4+1view model </a:t>
            </a:r>
          </a:p>
          <a:p>
            <a:endParaRPr lang="en-US" dirty="0" smtClean="0"/>
          </a:p>
          <a:p>
            <a:r>
              <a:rPr lang="en-US" dirty="0" smtClean="0"/>
              <a:t>Designing the logical architecture</a:t>
            </a:r>
          </a:p>
          <a:p>
            <a:pPr lvl="1"/>
            <a:r>
              <a:rPr lang="en-US" dirty="0" smtClean="0"/>
              <a:t>Example using a component diagram</a:t>
            </a:r>
          </a:p>
          <a:p>
            <a:pPr lvl="1"/>
            <a:endParaRPr lang="en-US" dirty="0" smtClean="0"/>
          </a:p>
          <a:p>
            <a:r>
              <a:rPr lang="en-US" dirty="0" smtClean="0"/>
              <a:t>Designing the process architecture</a:t>
            </a:r>
          </a:p>
          <a:p>
            <a:pPr lvl="1"/>
            <a:r>
              <a:rPr lang="en-US" dirty="0" smtClean="0"/>
              <a:t>Example using a communication diagram</a:t>
            </a:r>
          </a:p>
          <a:p>
            <a:endParaRPr lang="en-US" dirty="0" smtClean="0"/>
          </a:p>
          <a:p>
            <a:r>
              <a:rPr lang="en-US" dirty="0" smtClean="0"/>
              <a:t>Designing the development architecture</a:t>
            </a:r>
          </a:p>
          <a:p>
            <a:pPr lvl="1"/>
            <a:r>
              <a:rPr lang="en-US" dirty="0" smtClean="0"/>
              <a:t>Example using artifacts</a:t>
            </a:r>
          </a:p>
          <a:p>
            <a:endParaRPr lang="en-US" dirty="0" smtClean="0"/>
          </a:p>
          <a:p>
            <a:r>
              <a:rPr lang="en-US" dirty="0" smtClean="0"/>
              <a:t>Designing the physical architecture</a:t>
            </a:r>
          </a:p>
          <a:p>
            <a:pPr lvl="1"/>
            <a:r>
              <a:rPr lang="en-US" dirty="0" smtClean="0"/>
              <a:t>Example using deployment diagrams</a:t>
            </a:r>
          </a:p>
          <a:p>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3/3/2016</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Architecture</a:t>
            </a:r>
            <a:endParaRPr lang="en-US" dirty="0"/>
          </a:p>
        </p:txBody>
      </p:sp>
      <p:sp>
        <p:nvSpPr>
          <p:cNvPr id="3" name="Content Placeholder 2"/>
          <p:cNvSpPr>
            <a:spLocks noGrp="1"/>
          </p:cNvSpPr>
          <p:nvPr>
            <p:ph idx="1"/>
          </p:nvPr>
        </p:nvSpPr>
        <p:spPr>
          <a:xfrm>
            <a:off x="457200" y="1371601"/>
            <a:ext cx="8229600" cy="3886199"/>
          </a:xfrm>
        </p:spPr>
        <p:txBody>
          <a:bodyPr>
            <a:normAutofit fontScale="85000" lnSpcReduction="10000"/>
          </a:bodyPr>
          <a:lstStyle/>
          <a:p>
            <a:r>
              <a:rPr lang="en-US" dirty="0" smtClean="0"/>
              <a:t>As discussed before, designing architectures require the selection of  particular perspectives for design that are appropriate for describing the system to be developed.</a:t>
            </a:r>
          </a:p>
          <a:p>
            <a:pPr lvl="1"/>
            <a:r>
              <a:rPr lang="en-US" dirty="0" smtClean="0"/>
              <a:t>To this end, several model have been created that suggest popular views that are useful in the design of most systems.</a:t>
            </a:r>
          </a:p>
          <a:p>
            <a:pPr lvl="1"/>
            <a:r>
              <a:rPr lang="en-US" dirty="0" smtClean="0"/>
              <a:t>These models propose addressing the system’s architectural design from perspectives that are common to most software systems.</a:t>
            </a:r>
          </a:p>
          <a:p>
            <a:pPr lvl="1"/>
            <a:r>
              <a:rPr lang="en-US" dirty="0" smtClean="0"/>
              <a:t>They provide a </a:t>
            </a:r>
            <a:r>
              <a:rPr lang="en-US" i="1" dirty="0" smtClean="0"/>
              <a:t>systematic and disciplined</a:t>
            </a:r>
            <a:r>
              <a:rPr lang="en-US" dirty="0" smtClean="0"/>
              <a:t> approach to architecture creation.</a:t>
            </a:r>
          </a:p>
          <a:p>
            <a:pPr lvl="1"/>
            <a:r>
              <a:rPr lang="en-US" dirty="0" smtClean="0"/>
              <a:t>Two popular models are the 4+1 view model and Siemens' 4 views model.</a:t>
            </a:r>
          </a:p>
          <a:p>
            <a:pPr lvl="1"/>
            <a:endParaRPr lang="en-US" dirty="0" smtClean="0"/>
          </a:p>
          <a:p>
            <a:r>
              <a:rPr lang="en-US" dirty="0" smtClean="0"/>
              <a:t>The 4+1 View Model</a:t>
            </a:r>
          </a:p>
          <a:p>
            <a:pPr lvl="1"/>
            <a:r>
              <a:rPr lang="en-US" dirty="0" smtClean="0"/>
              <a:t>Concentrates on four main views:</a:t>
            </a:r>
          </a:p>
          <a:p>
            <a:pPr lvl="2"/>
            <a:r>
              <a:rPr lang="en-US" dirty="0" smtClean="0"/>
              <a:t>Logical, process, development, and physical</a:t>
            </a:r>
          </a:p>
          <a:p>
            <a:pPr lvl="1"/>
            <a:r>
              <a:rPr lang="en-US" dirty="0" smtClean="0"/>
              <a:t>To ensure consistency among all 4 views, the user’s perspective is captured through several use cases, as part of the user view.</a:t>
            </a:r>
          </a:p>
          <a:p>
            <a:pPr lvl="1"/>
            <a:r>
              <a:rPr lang="en-US" dirty="0" smtClean="0"/>
              <a:t>4+1 is used as the basis for the popular rational unified process</a:t>
            </a:r>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3200400" y="5181600"/>
            <a:ext cx="2739269" cy="1066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Logical Architecture</a:t>
            </a:r>
            <a:endParaRPr lang="en-US" dirty="0"/>
          </a:p>
        </p:txBody>
      </p:sp>
      <p:sp>
        <p:nvSpPr>
          <p:cNvPr id="3" name="Content Placeholder 2"/>
          <p:cNvSpPr>
            <a:spLocks noGrp="1"/>
          </p:cNvSpPr>
          <p:nvPr>
            <p:ph idx="1"/>
          </p:nvPr>
        </p:nvSpPr>
        <p:spPr/>
        <p:txBody>
          <a:bodyPr/>
          <a:lstStyle/>
          <a:p>
            <a:r>
              <a:rPr lang="en-US" dirty="0" smtClean="0"/>
              <a:t>The </a:t>
            </a:r>
            <a:r>
              <a:rPr lang="en-US" dirty="0" smtClean="0">
                <a:solidFill>
                  <a:srgbClr val="FF0000"/>
                </a:solidFill>
              </a:rPr>
              <a:t>logical view </a:t>
            </a:r>
            <a:r>
              <a:rPr lang="en-US" dirty="0" smtClean="0"/>
              <a:t>is used to decompose systems into </a:t>
            </a:r>
            <a:r>
              <a:rPr lang="en-US" dirty="0" smtClean="0">
                <a:solidFill>
                  <a:srgbClr val="FF0000"/>
                </a:solidFill>
              </a:rPr>
              <a:t>logical components </a:t>
            </a:r>
            <a:r>
              <a:rPr lang="en-US" dirty="0" smtClean="0"/>
              <a:t>that represent the structural integrity that supports functional and non-functional requirements.  The logical view can be modeled using:</a:t>
            </a:r>
          </a:p>
          <a:p>
            <a:pPr lvl="1"/>
            <a:r>
              <a:rPr lang="en-US" dirty="0" smtClean="0"/>
              <a:t>Component diagrams</a:t>
            </a:r>
          </a:p>
          <a:p>
            <a:pPr lvl="1"/>
            <a:r>
              <a:rPr lang="en-US" dirty="0" smtClean="0"/>
              <a:t>Class diagrams</a:t>
            </a:r>
          </a:p>
          <a:p>
            <a:pPr lvl="1"/>
            <a:r>
              <a:rPr lang="en-US" dirty="0" smtClean="0"/>
              <a:t>Box-and-line diagrams</a:t>
            </a:r>
          </a:p>
          <a:p>
            <a:pPr lvl="1"/>
            <a:endParaRPr lang="en-US" dirty="0" smtClean="0"/>
          </a:p>
          <a:p>
            <a:r>
              <a:rPr lang="en-US" dirty="0" smtClean="0"/>
              <a:t>Using this view the </a:t>
            </a:r>
            <a:r>
              <a:rPr lang="en-US" dirty="0" smtClean="0">
                <a:solidFill>
                  <a:srgbClr val="FF0000"/>
                </a:solidFill>
              </a:rPr>
              <a:t>static structure </a:t>
            </a:r>
            <a:r>
              <a:rPr lang="en-US" dirty="0" smtClean="0"/>
              <a:t>of the system, including components, interfaces, and their associations are modeled.  This view is appropriate for:</a:t>
            </a:r>
          </a:p>
          <a:p>
            <a:pPr lvl="1"/>
            <a:r>
              <a:rPr lang="en-US" dirty="0" smtClean="0"/>
              <a:t>Designing for portability</a:t>
            </a:r>
          </a:p>
          <a:p>
            <a:pPr lvl="1"/>
            <a:r>
              <a:rPr lang="en-US" dirty="0" smtClean="0"/>
              <a:t>Designing maintainability (maintaining existing features)</a:t>
            </a:r>
          </a:p>
          <a:p>
            <a:pPr lvl="1"/>
            <a:r>
              <a:rPr lang="en-US" dirty="0" smtClean="0"/>
              <a:t>Designing for extensibility (adding new features)</a:t>
            </a:r>
          </a:p>
          <a:p>
            <a:pPr lvl="1"/>
            <a:r>
              <a:rPr lang="en-US" dirty="0" smtClean="0"/>
              <a:t>Designing for reusability</a:t>
            </a:r>
          </a:p>
          <a:p>
            <a:pPr lvl="1"/>
            <a:r>
              <a:rPr lang="en-US" dirty="0" smtClean="0"/>
              <a:t>Resource allocation, project structuring and planning</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3" name="Picture 9"/>
          <p:cNvPicPr>
            <a:picLocks noChangeAspect="1" noChangeArrowheads="1"/>
          </p:cNvPicPr>
          <p:nvPr/>
        </p:nvPicPr>
        <p:blipFill>
          <a:blip r:embed="rId2" cstate="print"/>
          <a:srcRect/>
          <a:stretch>
            <a:fillRect/>
          </a:stretch>
        </p:blipFill>
        <p:spPr bwMode="auto">
          <a:xfrm>
            <a:off x="1157288" y="1552575"/>
            <a:ext cx="6829425" cy="3962400"/>
          </a:xfrm>
          <a:prstGeom prst="rect">
            <a:avLst/>
          </a:prstGeom>
          <a:noFill/>
          <a:ln w="9525">
            <a:noFill/>
            <a:miter lim="800000"/>
            <a:headEnd/>
            <a:tailEnd/>
          </a:ln>
          <a:effectLst/>
        </p:spPr>
      </p:pic>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19" name="Rectangle 18"/>
          <p:cNvSpPr/>
          <p:nvPr/>
        </p:nvSpPr>
        <p:spPr>
          <a:xfrm>
            <a:off x="838200" y="1295400"/>
            <a:ext cx="72390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90600" y="1447800"/>
            <a:ext cx="304800"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990600" y="5334000"/>
            <a:ext cx="72390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848600" y="1524000"/>
            <a:ext cx="152400" cy="381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029200" y="1258669"/>
            <a:ext cx="3733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 interface defined!  Direct association suggests that these components are tightly coupled, therefore making it more difficult to modify the system later on!</a:t>
            </a:r>
            <a:endParaRPr lang="en-US" sz="1200" b="1" dirty="0">
              <a:solidFill>
                <a:srgbClr val="C00000"/>
              </a:solidFill>
              <a:latin typeface="Bradley Hand ITC" pitchFamily="66" charset="0"/>
            </a:endParaRPr>
          </a:p>
        </p:txBody>
      </p:sp>
      <p:sp>
        <p:nvSpPr>
          <p:cNvPr id="15" name="Freeform 14"/>
          <p:cNvSpPr/>
          <p:nvPr/>
        </p:nvSpPr>
        <p:spPr>
          <a:xfrm>
            <a:off x="5076825" y="1752600"/>
            <a:ext cx="3770313" cy="1600200"/>
          </a:xfrm>
          <a:custGeom>
            <a:avLst/>
            <a:gdLst>
              <a:gd name="connsiteX0" fmla="*/ 3457575 w 3770313"/>
              <a:gd name="connsiteY0" fmla="*/ 0 h 2266950"/>
              <a:gd name="connsiteX1" fmla="*/ 3714750 w 3770313"/>
              <a:gd name="connsiteY1" fmla="*/ 438150 h 2266950"/>
              <a:gd name="connsiteX2" fmla="*/ 3124200 w 3770313"/>
              <a:gd name="connsiteY2" fmla="*/ 1428750 h 2266950"/>
              <a:gd name="connsiteX3" fmla="*/ 1257300 w 3770313"/>
              <a:gd name="connsiteY3" fmla="*/ 1762125 h 2266950"/>
              <a:gd name="connsiteX4" fmla="*/ 504825 w 3770313"/>
              <a:gd name="connsiteY4" fmla="*/ 2181225 h 2266950"/>
              <a:gd name="connsiteX5" fmla="*/ 0 w 3770313"/>
              <a:gd name="connsiteY5" fmla="*/ 2266950 h 226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0313" h="2266950">
                <a:moveTo>
                  <a:pt x="3457575" y="0"/>
                </a:moveTo>
                <a:cubicBezTo>
                  <a:pt x="3613944" y="100012"/>
                  <a:pt x="3770313" y="200025"/>
                  <a:pt x="3714750" y="438150"/>
                </a:cubicBezTo>
                <a:cubicBezTo>
                  <a:pt x="3659188" y="676275"/>
                  <a:pt x="3533775" y="1208088"/>
                  <a:pt x="3124200" y="1428750"/>
                </a:cubicBezTo>
                <a:cubicBezTo>
                  <a:pt x="2714625" y="1649412"/>
                  <a:pt x="1693862" y="1636713"/>
                  <a:pt x="1257300" y="1762125"/>
                </a:cubicBezTo>
                <a:cubicBezTo>
                  <a:pt x="820738" y="1887537"/>
                  <a:pt x="714375" y="2097088"/>
                  <a:pt x="504825" y="2181225"/>
                </a:cubicBezTo>
                <a:cubicBezTo>
                  <a:pt x="295275" y="2265362"/>
                  <a:pt x="147637" y="2266156"/>
                  <a:pt x="0" y="2266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495800" y="5562600"/>
            <a:ext cx="3429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Well-defined interface!  This allows different user interfaces to be exchangeable easier, e.g., from console-to graphical user interface-based. on!</a:t>
            </a:r>
            <a:endParaRPr lang="en-US" sz="1200" b="1" dirty="0">
              <a:solidFill>
                <a:srgbClr val="C00000"/>
              </a:solidFill>
              <a:latin typeface="Bradley Hand ITC" pitchFamily="66" charset="0"/>
            </a:endParaRPr>
          </a:p>
        </p:txBody>
      </p:sp>
      <p:sp>
        <p:nvSpPr>
          <p:cNvPr id="17" name="Freeform 16"/>
          <p:cNvSpPr/>
          <p:nvPr/>
        </p:nvSpPr>
        <p:spPr>
          <a:xfrm>
            <a:off x="5191125" y="4448175"/>
            <a:ext cx="3021013" cy="1495425"/>
          </a:xfrm>
          <a:custGeom>
            <a:avLst/>
            <a:gdLst>
              <a:gd name="connsiteX0" fmla="*/ 2543175 w 3021013"/>
              <a:gd name="connsiteY0" fmla="*/ 1495425 h 1495425"/>
              <a:gd name="connsiteX1" fmla="*/ 2933700 w 3021013"/>
              <a:gd name="connsiteY1" fmla="*/ 1190625 h 1495425"/>
              <a:gd name="connsiteX2" fmla="*/ 2905125 w 3021013"/>
              <a:gd name="connsiteY2" fmla="*/ 809625 h 1495425"/>
              <a:gd name="connsiteX3" fmla="*/ 2238375 w 3021013"/>
              <a:gd name="connsiteY3" fmla="*/ 323850 h 1495425"/>
              <a:gd name="connsiteX4" fmla="*/ 0 w 3021013"/>
              <a:gd name="connsiteY4" fmla="*/ 0 h 1495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1013" h="1495425">
                <a:moveTo>
                  <a:pt x="2543175" y="1495425"/>
                </a:moveTo>
                <a:cubicBezTo>
                  <a:pt x="2708275" y="1400175"/>
                  <a:pt x="2873375" y="1304925"/>
                  <a:pt x="2933700" y="1190625"/>
                </a:cubicBezTo>
                <a:cubicBezTo>
                  <a:pt x="2994025" y="1076325"/>
                  <a:pt x="3021013" y="954088"/>
                  <a:pt x="2905125" y="809625"/>
                </a:cubicBezTo>
                <a:cubicBezTo>
                  <a:pt x="2789238" y="665163"/>
                  <a:pt x="2722562" y="458787"/>
                  <a:pt x="2238375" y="323850"/>
                </a:cubicBezTo>
                <a:cubicBezTo>
                  <a:pt x="1754188" y="188913"/>
                  <a:pt x="877094" y="9445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7667625" y="3076575"/>
            <a:ext cx="1295400" cy="138499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SiteController communicates with the outside world. It requires a schedule and provides collected data.</a:t>
            </a:r>
            <a:endParaRPr lang="en-US" sz="1200" b="1" dirty="0">
              <a:solidFill>
                <a:srgbClr val="C00000"/>
              </a:solidFill>
              <a:latin typeface="Bradley Hand ITC" pitchFamily="66" charset="0"/>
            </a:endParaRPr>
          </a:p>
        </p:txBody>
      </p:sp>
      <p:sp>
        <p:nvSpPr>
          <p:cNvPr id="25" name="Freeform 24"/>
          <p:cNvSpPr/>
          <p:nvPr/>
        </p:nvSpPr>
        <p:spPr>
          <a:xfrm>
            <a:off x="7410450" y="3771900"/>
            <a:ext cx="666750" cy="582612"/>
          </a:xfrm>
          <a:custGeom>
            <a:avLst/>
            <a:gdLst>
              <a:gd name="connsiteX0" fmla="*/ 666750 w 666750"/>
              <a:gd name="connsiteY0" fmla="*/ 561975 h 582612"/>
              <a:gd name="connsiteX1" fmla="*/ 371475 w 666750"/>
              <a:gd name="connsiteY1" fmla="*/ 542925 h 582612"/>
              <a:gd name="connsiteX2" fmla="*/ 285750 w 666750"/>
              <a:gd name="connsiteY2" fmla="*/ 323850 h 582612"/>
              <a:gd name="connsiteX3" fmla="*/ 209550 w 666750"/>
              <a:gd name="connsiteY3" fmla="*/ 114300 h 582612"/>
              <a:gd name="connsiteX4" fmla="*/ 0 w 666750"/>
              <a:gd name="connsiteY4" fmla="*/ 0 h 58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582612">
                <a:moveTo>
                  <a:pt x="666750" y="561975"/>
                </a:moveTo>
                <a:cubicBezTo>
                  <a:pt x="550862" y="572293"/>
                  <a:pt x="434975" y="582612"/>
                  <a:pt x="371475" y="542925"/>
                </a:cubicBezTo>
                <a:cubicBezTo>
                  <a:pt x="307975" y="503238"/>
                  <a:pt x="312737" y="395287"/>
                  <a:pt x="285750" y="323850"/>
                </a:cubicBezTo>
                <a:cubicBezTo>
                  <a:pt x="258763" y="252413"/>
                  <a:pt x="257175" y="168275"/>
                  <a:pt x="209550" y="114300"/>
                </a:cubicBezTo>
                <a:cubicBezTo>
                  <a:pt x="161925" y="60325"/>
                  <a:pt x="80962" y="3016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228600" y="4495800"/>
            <a:ext cx="1752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Sensor controller communicates with the actual Sensor hardware to command it!  </a:t>
            </a:r>
            <a:endParaRPr lang="en-US" sz="1200" b="1" dirty="0">
              <a:solidFill>
                <a:srgbClr val="C00000"/>
              </a:solidFill>
              <a:latin typeface="Bradley Hand ITC" pitchFamily="66" charset="0"/>
            </a:endParaRPr>
          </a:p>
        </p:txBody>
      </p:sp>
      <p:sp>
        <p:nvSpPr>
          <p:cNvPr id="28" name="Freeform 27"/>
          <p:cNvSpPr/>
          <p:nvPr/>
        </p:nvSpPr>
        <p:spPr>
          <a:xfrm>
            <a:off x="569912" y="3886200"/>
            <a:ext cx="1487487" cy="609601"/>
          </a:xfrm>
          <a:custGeom>
            <a:avLst/>
            <a:gdLst>
              <a:gd name="connsiteX0" fmla="*/ 58737 w 1325562"/>
              <a:gd name="connsiteY0" fmla="*/ 1200150 h 1200150"/>
              <a:gd name="connsiteX1" fmla="*/ 1587 w 1325562"/>
              <a:gd name="connsiteY1" fmla="*/ 1000125 h 1200150"/>
              <a:gd name="connsiteX2" fmla="*/ 49212 w 1325562"/>
              <a:gd name="connsiteY2" fmla="*/ 647700 h 1200150"/>
              <a:gd name="connsiteX3" fmla="*/ 182562 w 1325562"/>
              <a:gd name="connsiteY3" fmla="*/ 447675 h 1200150"/>
              <a:gd name="connsiteX4" fmla="*/ 392112 w 1325562"/>
              <a:gd name="connsiteY4" fmla="*/ 371475 h 1200150"/>
              <a:gd name="connsiteX5" fmla="*/ 954087 w 1325562"/>
              <a:gd name="connsiteY5" fmla="*/ 228600 h 1200150"/>
              <a:gd name="connsiteX6" fmla="*/ 1325562 w 1325562"/>
              <a:gd name="connsiteY6" fmla="*/ 0 h 120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5562" h="1200150">
                <a:moveTo>
                  <a:pt x="58737" y="1200150"/>
                </a:moveTo>
                <a:cubicBezTo>
                  <a:pt x="30956" y="1146175"/>
                  <a:pt x="3175" y="1092200"/>
                  <a:pt x="1587" y="1000125"/>
                </a:cubicBezTo>
                <a:cubicBezTo>
                  <a:pt x="0" y="908050"/>
                  <a:pt x="19050" y="739775"/>
                  <a:pt x="49212" y="647700"/>
                </a:cubicBezTo>
                <a:cubicBezTo>
                  <a:pt x="79374" y="555625"/>
                  <a:pt x="125412" y="493712"/>
                  <a:pt x="182562" y="447675"/>
                </a:cubicBezTo>
                <a:cubicBezTo>
                  <a:pt x="239712" y="401638"/>
                  <a:pt x="263525" y="407987"/>
                  <a:pt x="392112" y="371475"/>
                </a:cubicBezTo>
                <a:cubicBezTo>
                  <a:pt x="520699" y="334963"/>
                  <a:pt x="798512" y="290513"/>
                  <a:pt x="954087" y="228600"/>
                </a:cubicBezTo>
                <a:cubicBezTo>
                  <a:pt x="1109662" y="166687"/>
                  <a:pt x="1217612" y="83343"/>
                  <a:pt x="1325562"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TextBox 28"/>
          <p:cNvSpPr txBox="1"/>
          <p:nvPr/>
        </p:nvSpPr>
        <p:spPr>
          <a:xfrm>
            <a:off x="990600" y="1219200"/>
            <a:ext cx="3200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Video controller communicates with the actual video collection hardware to command it!  </a:t>
            </a:r>
            <a:endParaRPr lang="en-US" sz="1200" b="1" dirty="0">
              <a:solidFill>
                <a:srgbClr val="C00000"/>
              </a:solidFill>
              <a:latin typeface="Bradley Hand ITC" pitchFamily="66" charset="0"/>
            </a:endParaRPr>
          </a:p>
        </p:txBody>
      </p:sp>
      <p:sp>
        <p:nvSpPr>
          <p:cNvPr id="30" name="Freeform 29"/>
          <p:cNvSpPr/>
          <p:nvPr/>
        </p:nvSpPr>
        <p:spPr>
          <a:xfrm>
            <a:off x="873124" y="1571625"/>
            <a:ext cx="1108075" cy="1143000"/>
          </a:xfrm>
          <a:custGeom>
            <a:avLst/>
            <a:gdLst>
              <a:gd name="connsiteX0" fmla="*/ 288925 w 1041400"/>
              <a:gd name="connsiteY0" fmla="*/ 0 h 1143000"/>
              <a:gd name="connsiteX1" fmla="*/ 107950 w 1041400"/>
              <a:gd name="connsiteY1" fmla="*/ 257175 h 1143000"/>
              <a:gd name="connsiteX2" fmla="*/ 155575 w 1041400"/>
              <a:gd name="connsiteY2" fmla="*/ 581025 h 1143000"/>
              <a:gd name="connsiteX3" fmla="*/ 1041400 w 1041400"/>
              <a:gd name="connsiteY3" fmla="*/ 1143000 h 1143000"/>
            </a:gdLst>
            <a:ahLst/>
            <a:cxnLst>
              <a:cxn ang="0">
                <a:pos x="connsiteX0" y="connsiteY0"/>
              </a:cxn>
              <a:cxn ang="0">
                <a:pos x="connsiteX1" y="connsiteY1"/>
              </a:cxn>
              <a:cxn ang="0">
                <a:pos x="connsiteX2" y="connsiteY2"/>
              </a:cxn>
              <a:cxn ang="0">
                <a:pos x="connsiteX3" y="connsiteY3"/>
              </a:cxn>
            </a:cxnLst>
            <a:rect l="l" t="t" r="r" b="b"/>
            <a:pathLst>
              <a:path w="1041400" h="1143000">
                <a:moveTo>
                  <a:pt x="288925" y="0"/>
                </a:moveTo>
                <a:cubicBezTo>
                  <a:pt x="209550" y="80168"/>
                  <a:pt x="130175" y="160337"/>
                  <a:pt x="107950" y="257175"/>
                </a:cubicBezTo>
                <a:cubicBezTo>
                  <a:pt x="85725" y="354013"/>
                  <a:pt x="0" y="433388"/>
                  <a:pt x="155575" y="581025"/>
                </a:cubicBezTo>
                <a:cubicBezTo>
                  <a:pt x="311150" y="728662"/>
                  <a:pt x="676275" y="935831"/>
                  <a:pt x="1041400" y="1143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itle 1"/>
          <p:cNvSpPr>
            <a:spLocks noGrp="1"/>
          </p:cNvSpPr>
          <p:nvPr>
            <p:ph type="title"/>
          </p:nvPr>
        </p:nvSpPr>
        <p:spPr>
          <a:xfrm>
            <a:off x="457200" y="503238"/>
            <a:ext cx="8229600" cy="792162"/>
          </a:xfrm>
        </p:spPr>
        <p:txBody>
          <a:bodyPr/>
          <a:lstStyle/>
          <a:p>
            <a:r>
              <a:rPr lang="en-US" dirty="0" smtClean="0"/>
              <a:t>Designing the Logical Architecture</a:t>
            </a:r>
            <a:endParaRPr lang="en-US" dirty="0"/>
          </a:p>
        </p:txBody>
      </p:sp>
      <p:sp>
        <p:nvSpPr>
          <p:cNvPr id="32" name="TextBox 31"/>
          <p:cNvSpPr txBox="1"/>
          <p:nvPr/>
        </p:nvSpPr>
        <p:spPr>
          <a:xfrm>
            <a:off x="1219200" y="5562600"/>
            <a:ext cx="2819400" cy="646331"/>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This process is recursive, i.e., each component can be further decomposed!</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Process Architecture</a:t>
            </a: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smtClean="0">
                <a:solidFill>
                  <a:srgbClr val="FF0000"/>
                </a:solidFill>
              </a:rPr>
              <a:t>process view </a:t>
            </a:r>
            <a:r>
              <a:rPr lang="en-US" dirty="0" smtClean="0"/>
              <a:t>is used to represent the </a:t>
            </a:r>
            <a:r>
              <a:rPr lang="en-US" dirty="0" smtClean="0">
                <a:solidFill>
                  <a:srgbClr val="FF0000"/>
                </a:solidFill>
              </a:rPr>
              <a:t>dynamic</a:t>
            </a:r>
            <a:r>
              <a:rPr lang="en-US" dirty="0" smtClean="0"/>
              <a:t> or </a:t>
            </a:r>
            <a:r>
              <a:rPr lang="en-US" dirty="0" smtClean="0">
                <a:solidFill>
                  <a:srgbClr val="FF0000"/>
                </a:solidFill>
              </a:rPr>
              <a:t>behavioral aspects </a:t>
            </a:r>
            <a:r>
              <a:rPr lang="en-US" dirty="0" smtClean="0"/>
              <a:t>of software systems, where the main units of analysis are processes and threads.</a:t>
            </a:r>
          </a:p>
          <a:p>
            <a:pPr lvl="1"/>
            <a:r>
              <a:rPr lang="en-US" dirty="0" smtClean="0"/>
              <a:t>With this view, the system is decomposed into processes and threads to address design issues that deal with the dynamic flow of control between architectural elements.</a:t>
            </a:r>
          </a:p>
          <a:p>
            <a:pPr lvl="1"/>
            <a:endParaRPr lang="en-US" dirty="0" smtClean="0"/>
          </a:p>
          <a:p>
            <a:r>
              <a:rPr lang="en-US" dirty="0" smtClean="0"/>
              <a:t>The process view can be modeled with UML using:</a:t>
            </a:r>
          </a:p>
          <a:p>
            <a:pPr lvl="1"/>
            <a:r>
              <a:rPr lang="en-US" dirty="0" smtClean="0"/>
              <a:t>Sequence diagrams</a:t>
            </a:r>
          </a:p>
          <a:p>
            <a:pPr lvl="1"/>
            <a:r>
              <a:rPr lang="en-US" dirty="0" smtClean="0"/>
              <a:t>Communication diagrams</a:t>
            </a:r>
          </a:p>
          <a:p>
            <a:pPr lvl="1"/>
            <a:endParaRPr lang="en-US" dirty="0" smtClean="0"/>
          </a:p>
          <a:p>
            <a:r>
              <a:rPr lang="en-US" dirty="0" smtClean="0"/>
              <a:t>This view is appropriate for evaluating important characteristics of the system, such as concurrency, fault tolerance, and the system’s integrity.  Specific quality attributes that can be evaluated with this view include:</a:t>
            </a:r>
          </a:p>
          <a:p>
            <a:pPr lvl="1"/>
            <a:r>
              <a:rPr lang="en-US" dirty="0" smtClean="0"/>
              <a:t>Performance</a:t>
            </a:r>
          </a:p>
          <a:p>
            <a:pPr lvl="1"/>
            <a:r>
              <a:rPr lang="en-US" dirty="0" smtClean="0"/>
              <a:t>Availability</a:t>
            </a:r>
          </a:p>
          <a:p>
            <a:pPr lvl="1"/>
            <a:endParaRPr lang="en-US" dirty="0" smtClean="0"/>
          </a:p>
          <a:p>
            <a:pPr lvl="1"/>
            <a:endParaRPr lang="en-US" dirty="0" smtClean="0"/>
          </a:p>
          <a:p>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Process Architecture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68" name="Group 67"/>
          <p:cNvGrpSpPr/>
          <p:nvPr/>
        </p:nvGrpSpPr>
        <p:grpSpPr>
          <a:xfrm>
            <a:off x="990600" y="1270337"/>
            <a:ext cx="7620000" cy="4673263"/>
            <a:chOff x="1295400" y="1143000"/>
            <a:chExt cx="7620000" cy="4673263"/>
          </a:xfrm>
        </p:grpSpPr>
        <p:grpSp>
          <p:nvGrpSpPr>
            <p:cNvPr id="93" name="Group 92"/>
            <p:cNvGrpSpPr/>
            <p:nvPr/>
          </p:nvGrpSpPr>
          <p:grpSpPr>
            <a:xfrm>
              <a:off x="1828800" y="2181224"/>
              <a:ext cx="5562600" cy="2847976"/>
              <a:chOff x="1828800" y="2667000"/>
              <a:chExt cx="5562600" cy="2847976"/>
            </a:xfrm>
          </p:grpSpPr>
          <p:grpSp>
            <p:nvGrpSpPr>
              <p:cNvPr id="25" name="Group 24"/>
              <p:cNvGrpSpPr/>
              <p:nvPr/>
            </p:nvGrpSpPr>
            <p:grpSpPr>
              <a:xfrm>
                <a:off x="3962400" y="3886200"/>
                <a:ext cx="1219200" cy="561976"/>
                <a:chOff x="4191000" y="3171824"/>
                <a:chExt cx="1219200" cy="561976"/>
              </a:xfrm>
            </p:grpSpPr>
            <p:sp>
              <p:nvSpPr>
                <p:cNvPr id="7" name="Rectangle 6"/>
                <p:cNvSpPr/>
                <p:nvPr/>
              </p:nvSpPr>
              <p:spPr>
                <a:xfrm>
                  <a:off x="4191000" y="3200400"/>
                  <a:ext cx="1219200" cy="533400"/>
                </a:xfrm>
                <a:prstGeom prst="rect">
                  <a:avLst/>
                </a:prstGeom>
                <a:no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4229100" y="3505200"/>
                  <a:ext cx="1143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191000" y="3171824"/>
                  <a:ext cx="1219199" cy="215444"/>
                </a:xfrm>
                <a:prstGeom prst="rect">
                  <a:avLst/>
                </a:prstGeom>
                <a:noFill/>
              </p:spPr>
              <p:txBody>
                <a:bodyPr wrap="square" rtlCol="0">
                  <a:spAutoFit/>
                </a:bodyPr>
                <a:lstStyle/>
                <a:p>
                  <a:pPr algn="ctr"/>
                  <a:r>
                    <a:rPr lang="en-US" sz="800" dirty="0" smtClean="0"/>
                    <a:t>&lt;&lt;thread&gt;&gt;</a:t>
                  </a:r>
                  <a:endParaRPr lang="en-US" sz="800" dirty="0"/>
                </a:p>
              </p:txBody>
            </p:sp>
            <p:sp>
              <p:nvSpPr>
                <p:cNvPr id="12" name="TextBox 11"/>
                <p:cNvSpPr txBox="1"/>
                <p:nvPr/>
              </p:nvSpPr>
              <p:spPr>
                <a:xfrm>
                  <a:off x="4191000" y="3299281"/>
                  <a:ext cx="1219200" cy="215444"/>
                </a:xfrm>
                <a:prstGeom prst="rect">
                  <a:avLst/>
                </a:prstGeom>
                <a:noFill/>
              </p:spPr>
              <p:txBody>
                <a:bodyPr wrap="square" rtlCol="0">
                  <a:spAutoFit/>
                </a:bodyPr>
                <a:lstStyle/>
                <a:p>
                  <a:pPr algn="ctr"/>
                  <a:r>
                    <a:rPr lang="en-US" sz="800" dirty="0" smtClean="0"/>
                    <a:t>m1: SiteManager</a:t>
                  </a:r>
                  <a:endParaRPr lang="en-US" sz="800" dirty="0"/>
                </a:p>
              </p:txBody>
            </p:sp>
            <p:cxnSp>
              <p:nvCxnSpPr>
                <p:cNvPr id="18" name="Straight Connector 17"/>
                <p:cNvCxnSpPr/>
                <p:nvPr/>
              </p:nvCxnSpPr>
              <p:spPr>
                <a:xfrm>
                  <a:off x="5372100" y="3200400"/>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229100" y="3200400"/>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962400" y="2667000"/>
                <a:ext cx="1219200" cy="561976"/>
                <a:chOff x="4191000" y="3171824"/>
                <a:chExt cx="1219200" cy="561976"/>
              </a:xfrm>
            </p:grpSpPr>
            <p:sp>
              <p:nvSpPr>
                <p:cNvPr id="27" name="Rectangle 26"/>
                <p:cNvSpPr/>
                <p:nvPr/>
              </p:nvSpPr>
              <p:spPr>
                <a:xfrm>
                  <a:off x="4191000" y="3200400"/>
                  <a:ext cx="1219200" cy="533400"/>
                </a:xfrm>
                <a:prstGeom prst="rect">
                  <a:avLst/>
                </a:prstGeom>
                <a:no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4229100" y="3505200"/>
                  <a:ext cx="1143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4191000" y="3171824"/>
                  <a:ext cx="1219199" cy="215444"/>
                </a:xfrm>
                <a:prstGeom prst="rect">
                  <a:avLst/>
                </a:prstGeom>
                <a:noFill/>
              </p:spPr>
              <p:txBody>
                <a:bodyPr wrap="square" rtlCol="0">
                  <a:spAutoFit/>
                </a:bodyPr>
                <a:lstStyle/>
                <a:p>
                  <a:pPr algn="ctr"/>
                  <a:r>
                    <a:rPr lang="en-US" sz="800" dirty="0" smtClean="0"/>
                    <a:t>&lt;&lt;thread&gt;&gt;</a:t>
                  </a:r>
                  <a:endParaRPr lang="en-US" sz="800" dirty="0"/>
                </a:p>
              </p:txBody>
            </p:sp>
            <p:sp>
              <p:nvSpPr>
                <p:cNvPr id="30" name="TextBox 29"/>
                <p:cNvSpPr txBox="1"/>
                <p:nvPr/>
              </p:nvSpPr>
              <p:spPr>
                <a:xfrm>
                  <a:off x="4191000" y="3299281"/>
                  <a:ext cx="1219200" cy="215444"/>
                </a:xfrm>
                <a:prstGeom prst="rect">
                  <a:avLst/>
                </a:prstGeom>
                <a:noFill/>
              </p:spPr>
              <p:txBody>
                <a:bodyPr wrap="square" rtlCol="0">
                  <a:spAutoFit/>
                </a:bodyPr>
                <a:lstStyle/>
                <a:p>
                  <a:pPr algn="ctr"/>
                  <a:r>
                    <a:rPr lang="en-US" sz="800" dirty="0" smtClean="0"/>
                    <a:t>m3: VideoManager</a:t>
                  </a:r>
                  <a:endParaRPr lang="en-US" sz="800" dirty="0"/>
                </a:p>
              </p:txBody>
            </p:sp>
            <p:cxnSp>
              <p:nvCxnSpPr>
                <p:cNvPr id="31" name="Straight Connector 30"/>
                <p:cNvCxnSpPr/>
                <p:nvPr/>
              </p:nvCxnSpPr>
              <p:spPr>
                <a:xfrm>
                  <a:off x="5372100" y="3200400"/>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229100" y="3200400"/>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1828800" y="3914776"/>
                <a:ext cx="1219200" cy="533400"/>
              </a:xfrm>
              <a:prstGeom prst="rect">
                <a:avLst/>
              </a:prstGeom>
              <a:no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a:off x="1866900" y="4219576"/>
                <a:ext cx="1143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1828800" y="3886200"/>
                <a:ext cx="1219199" cy="215444"/>
              </a:xfrm>
              <a:prstGeom prst="rect">
                <a:avLst/>
              </a:prstGeom>
              <a:noFill/>
            </p:spPr>
            <p:txBody>
              <a:bodyPr wrap="square" rtlCol="0">
                <a:spAutoFit/>
              </a:bodyPr>
              <a:lstStyle/>
              <a:p>
                <a:pPr algn="ctr"/>
                <a:r>
                  <a:rPr lang="en-US" sz="800" dirty="0" smtClean="0"/>
                  <a:t>&lt;&lt;thread&gt;&gt;</a:t>
                </a:r>
                <a:endParaRPr lang="en-US" sz="800" dirty="0"/>
              </a:p>
            </p:txBody>
          </p:sp>
          <p:sp>
            <p:nvSpPr>
              <p:cNvPr id="37" name="TextBox 36"/>
              <p:cNvSpPr txBox="1"/>
              <p:nvPr/>
            </p:nvSpPr>
            <p:spPr>
              <a:xfrm>
                <a:off x="1828800" y="4013657"/>
                <a:ext cx="1219200" cy="215444"/>
              </a:xfrm>
              <a:prstGeom prst="rect">
                <a:avLst/>
              </a:prstGeom>
              <a:noFill/>
            </p:spPr>
            <p:txBody>
              <a:bodyPr wrap="square" rtlCol="0">
                <a:spAutoFit/>
              </a:bodyPr>
              <a:lstStyle/>
              <a:p>
                <a:pPr algn="ctr"/>
                <a:r>
                  <a:rPr lang="en-US" sz="800" dirty="0" smtClean="0"/>
                  <a:t>m2: SensorMgr</a:t>
                </a:r>
                <a:endParaRPr lang="en-US" sz="800" dirty="0"/>
              </a:p>
            </p:txBody>
          </p:sp>
          <p:cxnSp>
            <p:nvCxnSpPr>
              <p:cNvPr id="38" name="Straight Connector 37"/>
              <p:cNvCxnSpPr/>
              <p:nvPr/>
            </p:nvCxnSpPr>
            <p:spPr>
              <a:xfrm>
                <a:off x="3009900" y="3914776"/>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866900" y="3914776"/>
                <a:ext cx="0" cy="5334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7" idx="1"/>
                <a:endCxn id="34" idx="3"/>
              </p:cNvCxnSpPr>
              <p:nvPr/>
            </p:nvCxnSpPr>
            <p:spPr>
              <a:xfrm flipH="1">
                <a:off x="3048000" y="4181476"/>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1" idx="0"/>
                <a:endCxn id="27" idx="2"/>
              </p:cNvCxnSpPr>
              <p:nvPr/>
            </p:nvCxnSpPr>
            <p:spPr>
              <a:xfrm flipV="1">
                <a:off x="4572000" y="3228976"/>
                <a:ext cx="0" cy="65722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3200400" y="4343400"/>
                <a:ext cx="609600" cy="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3962400" y="4981576"/>
                <a:ext cx="1219200" cy="533400"/>
              </a:xfrm>
              <a:prstGeom prst="rect">
                <a:avLst/>
              </a:prstGeom>
              <a:no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p:cNvCxnSpPr/>
              <p:nvPr/>
            </p:nvCxnSpPr>
            <p:spPr>
              <a:xfrm>
                <a:off x="3962400" y="5181600"/>
                <a:ext cx="12192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962400" y="4953000"/>
                <a:ext cx="1219199" cy="215444"/>
              </a:xfrm>
              <a:prstGeom prst="rect">
                <a:avLst/>
              </a:prstGeom>
              <a:noFill/>
            </p:spPr>
            <p:txBody>
              <a:bodyPr wrap="square" rtlCol="0">
                <a:spAutoFit/>
              </a:bodyPr>
              <a:lstStyle/>
              <a:p>
                <a:pPr algn="ctr"/>
                <a:endParaRPr lang="en-US" sz="800" dirty="0"/>
              </a:p>
            </p:txBody>
          </p:sp>
          <p:sp>
            <p:nvSpPr>
              <p:cNvPr id="50" name="TextBox 49"/>
              <p:cNvSpPr txBox="1"/>
              <p:nvPr/>
            </p:nvSpPr>
            <p:spPr>
              <a:xfrm>
                <a:off x="3962400" y="4981575"/>
                <a:ext cx="1219200" cy="215444"/>
              </a:xfrm>
              <a:prstGeom prst="rect">
                <a:avLst/>
              </a:prstGeom>
              <a:noFill/>
            </p:spPr>
            <p:txBody>
              <a:bodyPr wrap="square" rtlCol="0">
                <a:spAutoFit/>
              </a:bodyPr>
              <a:lstStyle/>
              <a:p>
                <a:pPr algn="ctr"/>
                <a:r>
                  <a:rPr lang="en-US" sz="800" dirty="0" smtClean="0"/>
                  <a:t>uiManager : Observer</a:t>
                </a:r>
                <a:endParaRPr lang="en-US" sz="800" dirty="0"/>
              </a:p>
            </p:txBody>
          </p:sp>
          <p:cxnSp>
            <p:nvCxnSpPr>
              <p:cNvPr id="56" name="Straight Connector 55"/>
              <p:cNvCxnSpPr>
                <a:stCxn id="49" idx="0"/>
                <a:endCxn id="7" idx="2"/>
              </p:cNvCxnSpPr>
              <p:nvPr/>
            </p:nvCxnSpPr>
            <p:spPr>
              <a:xfrm flipV="1">
                <a:off x="4572000" y="4448176"/>
                <a:ext cx="0" cy="50482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4419600" y="4495800"/>
                <a:ext cx="0" cy="45720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5" name="Group 74"/>
              <p:cNvGrpSpPr/>
              <p:nvPr/>
            </p:nvGrpSpPr>
            <p:grpSpPr>
              <a:xfrm>
                <a:off x="6172200" y="3886200"/>
                <a:ext cx="1219200" cy="561976"/>
                <a:chOff x="6324600" y="5229224"/>
                <a:chExt cx="1219200" cy="561976"/>
              </a:xfrm>
            </p:grpSpPr>
            <p:sp>
              <p:nvSpPr>
                <p:cNvPr id="71" name="Rectangle 70"/>
                <p:cNvSpPr/>
                <p:nvPr/>
              </p:nvSpPr>
              <p:spPr>
                <a:xfrm>
                  <a:off x="6324600" y="5257800"/>
                  <a:ext cx="1219200" cy="533400"/>
                </a:xfrm>
                <a:prstGeom prst="rect">
                  <a:avLst/>
                </a:prstGeom>
                <a:no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a:off x="6324600" y="5457824"/>
                  <a:ext cx="12192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324600" y="5229224"/>
                  <a:ext cx="1219199" cy="215444"/>
                </a:xfrm>
                <a:prstGeom prst="rect">
                  <a:avLst/>
                </a:prstGeom>
                <a:noFill/>
              </p:spPr>
              <p:txBody>
                <a:bodyPr wrap="square" rtlCol="0">
                  <a:spAutoFit/>
                </a:bodyPr>
                <a:lstStyle/>
                <a:p>
                  <a:pPr algn="ctr"/>
                  <a:endParaRPr lang="en-US" sz="800" dirty="0"/>
                </a:p>
              </p:txBody>
            </p:sp>
            <p:sp>
              <p:nvSpPr>
                <p:cNvPr id="74" name="TextBox 73"/>
                <p:cNvSpPr txBox="1"/>
                <p:nvPr/>
              </p:nvSpPr>
              <p:spPr>
                <a:xfrm>
                  <a:off x="6324600" y="5257799"/>
                  <a:ext cx="1219200" cy="215444"/>
                </a:xfrm>
                <a:prstGeom prst="rect">
                  <a:avLst/>
                </a:prstGeom>
                <a:noFill/>
              </p:spPr>
              <p:txBody>
                <a:bodyPr wrap="square" rtlCol="0">
                  <a:spAutoFit/>
                </a:bodyPr>
                <a:lstStyle/>
                <a:p>
                  <a:pPr algn="ctr"/>
                  <a:r>
                    <a:rPr lang="en-US" sz="800" dirty="0" smtClean="0"/>
                    <a:t>comm: CommMgr</a:t>
                  </a:r>
                  <a:endParaRPr lang="en-US" sz="800" dirty="0"/>
                </a:p>
              </p:txBody>
            </p:sp>
          </p:grpSp>
          <p:cxnSp>
            <p:nvCxnSpPr>
              <p:cNvPr id="78" name="Straight Connector 77"/>
              <p:cNvCxnSpPr/>
              <p:nvPr/>
            </p:nvCxnSpPr>
            <p:spPr>
              <a:xfrm>
                <a:off x="5181600" y="4191000"/>
                <a:ext cx="990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a:off x="5257800" y="4086224"/>
                <a:ext cx="76200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5286375" y="4286250"/>
                <a:ext cx="76200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4419600" y="3276600"/>
                <a:ext cx="0" cy="53340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5105400" y="3823156"/>
                <a:ext cx="1219200" cy="215444"/>
              </a:xfrm>
              <a:prstGeom prst="rect">
                <a:avLst/>
              </a:prstGeom>
              <a:noFill/>
            </p:spPr>
            <p:txBody>
              <a:bodyPr wrap="square" rtlCol="0">
                <a:spAutoFit/>
              </a:bodyPr>
              <a:lstStyle/>
              <a:p>
                <a:pPr algn="ctr"/>
                <a:r>
                  <a:rPr lang="en-US" sz="800" dirty="0" smtClean="0"/>
                  <a:t>1. receiveMsg(</a:t>
                </a:r>
                <a:r>
                  <a:rPr lang="en-US" sz="800" dirty="0" err="1" smtClean="0"/>
                  <a:t>msg</a:t>
                </a:r>
                <a:r>
                  <a:rPr lang="en-US" sz="800" dirty="0" smtClean="0"/>
                  <a:t>)</a:t>
                </a:r>
                <a:endParaRPr lang="en-US" sz="800" dirty="0"/>
              </a:p>
            </p:txBody>
          </p:sp>
          <p:sp>
            <p:nvSpPr>
              <p:cNvPr id="89" name="TextBox 88"/>
              <p:cNvSpPr txBox="1"/>
              <p:nvPr/>
            </p:nvSpPr>
            <p:spPr>
              <a:xfrm>
                <a:off x="5067300" y="4343400"/>
                <a:ext cx="1219200" cy="215444"/>
              </a:xfrm>
              <a:prstGeom prst="rect">
                <a:avLst/>
              </a:prstGeom>
              <a:noFill/>
            </p:spPr>
            <p:txBody>
              <a:bodyPr wrap="square" rtlCol="0">
                <a:spAutoFit/>
              </a:bodyPr>
              <a:lstStyle/>
              <a:p>
                <a:pPr algn="ctr"/>
                <a:r>
                  <a:rPr lang="en-US" sz="800" dirty="0" smtClean="0"/>
                  <a:t>2. sendMsg(ACK)</a:t>
                </a:r>
                <a:endParaRPr lang="en-US" sz="800" dirty="0"/>
              </a:p>
            </p:txBody>
          </p:sp>
          <p:sp>
            <p:nvSpPr>
              <p:cNvPr id="90" name="TextBox 89"/>
              <p:cNvSpPr txBox="1"/>
              <p:nvPr/>
            </p:nvSpPr>
            <p:spPr>
              <a:xfrm>
                <a:off x="4343400" y="4648200"/>
                <a:ext cx="1219200" cy="215444"/>
              </a:xfrm>
              <a:prstGeom prst="rect">
                <a:avLst/>
              </a:prstGeom>
              <a:noFill/>
            </p:spPr>
            <p:txBody>
              <a:bodyPr wrap="square" rtlCol="0">
                <a:spAutoFit/>
              </a:bodyPr>
              <a:lstStyle/>
              <a:p>
                <a:pPr algn="ctr"/>
                <a:r>
                  <a:rPr lang="en-US" sz="800" dirty="0" smtClean="0"/>
                  <a:t>3. update(</a:t>
                </a:r>
                <a:r>
                  <a:rPr lang="en-US" sz="800" dirty="0" err="1" smtClean="0"/>
                  <a:t>msg</a:t>
                </a:r>
                <a:r>
                  <a:rPr lang="en-US" sz="800" dirty="0" smtClean="0"/>
                  <a:t>)</a:t>
                </a:r>
                <a:endParaRPr lang="en-US" sz="800" dirty="0"/>
              </a:p>
            </p:txBody>
          </p:sp>
          <p:sp>
            <p:nvSpPr>
              <p:cNvPr id="91" name="TextBox 90"/>
              <p:cNvSpPr txBox="1"/>
              <p:nvPr/>
            </p:nvSpPr>
            <p:spPr>
              <a:xfrm>
                <a:off x="2981325" y="4419600"/>
                <a:ext cx="1219200" cy="215444"/>
              </a:xfrm>
              <a:prstGeom prst="rect">
                <a:avLst/>
              </a:prstGeom>
              <a:noFill/>
            </p:spPr>
            <p:txBody>
              <a:bodyPr wrap="square" rtlCol="0">
                <a:spAutoFit/>
              </a:bodyPr>
              <a:lstStyle/>
              <a:p>
                <a:pPr algn="ctr"/>
                <a:r>
                  <a:rPr lang="en-US" sz="800" dirty="0" smtClean="0"/>
                  <a:t>4. </a:t>
                </a:r>
                <a:r>
                  <a:rPr lang="en-US" sz="800" dirty="0" err="1" smtClean="0"/>
                  <a:t>startCollection</a:t>
                </a:r>
                <a:r>
                  <a:rPr lang="en-US" sz="800" dirty="0" smtClean="0"/>
                  <a:t> ()</a:t>
                </a:r>
                <a:endParaRPr lang="en-US" sz="800" dirty="0"/>
              </a:p>
            </p:txBody>
          </p:sp>
          <p:sp>
            <p:nvSpPr>
              <p:cNvPr id="92" name="TextBox 91"/>
              <p:cNvSpPr txBox="1"/>
              <p:nvPr/>
            </p:nvSpPr>
            <p:spPr>
              <a:xfrm>
                <a:off x="4495800" y="3442156"/>
                <a:ext cx="1219200" cy="215444"/>
              </a:xfrm>
              <a:prstGeom prst="rect">
                <a:avLst/>
              </a:prstGeom>
              <a:noFill/>
            </p:spPr>
            <p:txBody>
              <a:bodyPr wrap="square" rtlCol="0">
                <a:spAutoFit/>
              </a:bodyPr>
              <a:lstStyle/>
              <a:p>
                <a:pPr algn="ctr"/>
                <a:r>
                  <a:rPr lang="en-US" sz="800" dirty="0" smtClean="0"/>
                  <a:t>4. </a:t>
                </a:r>
                <a:r>
                  <a:rPr lang="en-US" sz="800" dirty="0" err="1" smtClean="0"/>
                  <a:t>stopCollection</a:t>
                </a:r>
                <a:r>
                  <a:rPr lang="en-US" sz="800" dirty="0" smtClean="0"/>
                  <a:t> ()</a:t>
                </a:r>
                <a:endParaRPr lang="en-US" sz="800" dirty="0"/>
              </a:p>
            </p:txBody>
          </p:sp>
        </p:grpSp>
        <p:sp>
          <p:nvSpPr>
            <p:cNvPr id="52" name="TextBox 51"/>
            <p:cNvSpPr txBox="1"/>
            <p:nvPr/>
          </p:nvSpPr>
          <p:spPr>
            <a:xfrm>
              <a:off x="1295400" y="2286000"/>
              <a:ext cx="1828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Threads in the system using asynchronous communication</a:t>
              </a:r>
              <a:endParaRPr lang="en-US" sz="1200" b="1" dirty="0">
                <a:solidFill>
                  <a:srgbClr val="C00000"/>
                </a:solidFill>
                <a:latin typeface="Bradley Hand ITC" pitchFamily="66" charset="0"/>
              </a:endParaRPr>
            </a:p>
          </p:txBody>
        </p:sp>
        <p:sp>
          <p:nvSpPr>
            <p:cNvPr id="53" name="Freeform 52"/>
            <p:cNvSpPr/>
            <p:nvPr/>
          </p:nvSpPr>
          <p:spPr>
            <a:xfrm>
              <a:off x="2990850" y="2466975"/>
              <a:ext cx="885825" cy="204787"/>
            </a:xfrm>
            <a:custGeom>
              <a:avLst/>
              <a:gdLst>
                <a:gd name="connsiteX0" fmla="*/ 0 w 885825"/>
                <a:gd name="connsiteY0" fmla="*/ 133350 h 204787"/>
                <a:gd name="connsiteX1" fmla="*/ 247650 w 885825"/>
                <a:gd name="connsiteY1" fmla="*/ 190500 h 204787"/>
                <a:gd name="connsiteX2" fmla="*/ 609600 w 885825"/>
                <a:gd name="connsiteY2" fmla="*/ 47625 h 204787"/>
                <a:gd name="connsiteX3" fmla="*/ 885825 w 885825"/>
                <a:gd name="connsiteY3" fmla="*/ 0 h 204787"/>
              </a:gdLst>
              <a:ahLst/>
              <a:cxnLst>
                <a:cxn ang="0">
                  <a:pos x="connsiteX0" y="connsiteY0"/>
                </a:cxn>
                <a:cxn ang="0">
                  <a:pos x="connsiteX1" y="connsiteY1"/>
                </a:cxn>
                <a:cxn ang="0">
                  <a:pos x="connsiteX2" y="connsiteY2"/>
                </a:cxn>
                <a:cxn ang="0">
                  <a:pos x="connsiteX3" y="connsiteY3"/>
                </a:cxn>
              </a:cxnLst>
              <a:rect l="l" t="t" r="r" b="b"/>
              <a:pathLst>
                <a:path w="885825" h="204787">
                  <a:moveTo>
                    <a:pt x="0" y="133350"/>
                  </a:moveTo>
                  <a:cubicBezTo>
                    <a:pt x="73025" y="169068"/>
                    <a:pt x="146050" y="204787"/>
                    <a:pt x="247650" y="190500"/>
                  </a:cubicBezTo>
                  <a:cubicBezTo>
                    <a:pt x="349250" y="176213"/>
                    <a:pt x="503238" y="79375"/>
                    <a:pt x="609600" y="47625"/>
                  </a:cubicBezTo>
                  <a:cubicBezTo>
                    <a:pt x="715963" y="15875"/>
                    <a:pt x="800894" y="7937"/>
                    <a:pt x="8858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Freeform 53"/>
            <p:cNvSpPr/>
            <p:nvPr/>
          </p:nvSpPr>
          <p:spPr>
            <a:xfrm>
              <a:off x="2886075" y="2781300"/>
              <a:ext cx="981075" cy="733425"/>
            </a:xfrm>
            <a:custGeom>
              <a:avLst/>
              <a:gdLst>
                <a:gd name="connsiteX0" fmla="*/ 0 w 981075"/>
                <a:gd name="connsiteY0" fmla="*/ 0 h 733425"/>
                <a:gd name="connsiteX1" fmla="*/ 228600 w 981075"/>
                <a:gd name="connsiteY1" fmla="*/ 209550 h 733425"/>
                <a:gd name="connsiteX2" fmla="*/ 438150 w 981075"/>
                <a:gd name="connsiteY2" fmla="*/ 561975 h 733425"/>
                <a:gd name="connsiteX3" fmla="*/ 981075 w 981075"/>
                <a:gd name="connsiteY3" fmla="*/ 733425 h 733425"/>
              </a:gdLst>
              <a:ahLst/>
              <a:cxnLst>
                <a:cxn ang="0">
                  <a:pos x="connsiteX0" y="connsiteY0"/>
                </a:cxn>
                <a:cxn ang="0">
                  <a:pos x="connsiteX1" y="connsiteY1"/>
                </a:cxn>
                <a:cxn ang="0">
                  <a:pos x="connsiteX2" y="connsiteY2"/>
                </a:cxn>
                <a:cxn ang="0">
                  <a:pos x="connsiteX3" y="connsiteY3"/>
                </a:cxn>
              </a:cxnLst>
              <a:rect l="l" t="t" r="r" b="b"/>
              <a:pathLst>
                <a:path w="981075" h="733425">
                  <a:moveTo>
                    <a:pt x="0" y="0"/>
                  </a:moveTo>
                  <a:cubicBezTo>
                    <a:pt x="77787" y="57944"/>
                    <a:pt x="155575" y="115888"/>
                    <a:pt x="228600" y="209550"/>
                  </a:cubicBezTo>
                  <a:cubicBezTo>
                    <a:pt x="301625" y="303212"/>
                    <a:pt x="312738" y="474663"/>
                    <a:pt x="438150" y="561975"/>
                  </a:cubicBezTo>
                  <a:cubicBezTo>
                    <a:pt x="563563" y="649288"/>
                    <a:pt x="772319" y="691356"/>
                    <a:pt x="981075" y="733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Freeform 56"/>
            <p:cNvSpPr/>
            <p:nvPr/>
          </p:nvSpPr>
          <p:spPr>
            <a:xfrm>
              <a:off x="1600200" y="2809875"/>
              <a:ext cx="819150" cy="571500"/>
            </a:xfrm>
            <a:custGeom>
              <a:avLst/>
              <a:gdLst>
                <a:gd name="connsiteX0" fmla="*/ 0 w 819150"/>
                <a:gd name="connsiteY0" fmla="*/ 0 h 571500"/>
                <a:gd name="connsiteX1" fmla="*/ 171450 w 819150"/>
                <a:gd name="connsiteY1" fmla="*/ 190500 h 571500"/>
                <a:gd name="connsiteX2" fmla="*/ 609600 w 819150"/>
                <a:gd name="connsiteY2" fmla="*/ 361950 h 571500"/>
                <a:gd name="connsiteX3" fmla="*/ 819150 w 819150"/>
                <a:gd name="connsiteY3" fmla="*/ 571500 h 571500"/>
              </a:gdLst>
              <a:ahLst/>
              <a:cxnLst>
                <a:cxn ang="0">
                  <a:pos x="connsiteX0" y="connsiteY0"/>
                </a:cxn>
                <a:cxn ang="0">
                  <a:pos x="connsiteX1" y="connsiteY1"/>
                </a:cxn>
                <a:cxn ang="0">
                  <a:pos x="connsiteX2" y="connsiteY2"/>
                </a:cxn>
                <a:cxn ang="0">
                  <a:pos x="connsiteX3" y="connsiteY3"/>
                </a:cxn>
              </a:cxnLst>
              <a:rect l="l" t="t" r="r" b="b"/>
              <a:pathLst>
                <a:path w="819150" h="571500">
                  <a:moveTo>
                    <a:pt x="0" y="0"/>
                  </a:moveTo>
                  <a:cubicBezTo>
                    <a:pt x="34925" y="65087"/>
                    <a:pt x="69850" y="130175"/>
                    <a:pt x="171450" y="190500"/>
                  </a:cubicBezTo>
                  <a:cubicBezTo>
                    <a:pt x="273050" y="250825"/>
                    <a:pt x="501650" y="298450"/>
                    <a:pt x="609600" y="361950"/>
                  </a:cubicBezTo>
                  <a:cubicBezTo>
                    <a:pt x="717550" y="425450"/>
                    <a:pt x="768350" y="498475"/>
                    <a:pt x="819150" y="571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p:cNvSpPr txBox="1"/>
            <p:nvPr/>
          </p:nvSpPr>
          <p:spPr>
            <a:xfrm>
              <a:off x="6248400" y="2362200"/>
              <a:ext cx="2057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Communication Manager executes under the SiteManager’s context</a:t>
              </a:r>
              <a:endParaRPr lang="en-US" sz="1200" b="1" dirty="0">
                <a:solidFill>
                  <a:srgbClr val="C00000"/>
                </a:solidFill>
                <a:latin typeface="Bradley Hand ITC" pitchFamily="66" charset="0"/>
              </a:endParaRPr>
            </a:p>
          </p:txBody>
        </p:sp>
        <p:sp>
          <p:nvSpPr>
            <p:cNvPr id="60" name="Freeform 59"/>
            <p:cNvSpPr/>
            <p:nvPr/>
          </p:nvSpPr>
          <p:spPr>
            <a:xfrm>
              <a:off x="6350000" y="2895600"/>
              <a:ext cx="117475" cy="457200"/>
            </a:xfrm>
            <a:custGeom>
              <a:avLst/>
              <a:gdLst>
                <a:gd name="connsiteX0" fmla="*/ 117475 w 117475"/>
                <a:gd name="connsiteY0" fmla="*/ 0 h 457200"/>
                <a:gd name="connsiteX1" fmla="*/ 12700 w 117475"/>
                <a:gd name="connsiteY1" fmla="*/ 161925 h 457200"/>
                <a:gd name="connsiteX2" fmla="*/ 41275 w 117475"/>
                <a:gd name="connsiteY2" fmla="*/ 457200 h 457200"/>
              </a:gdLst>
              <a:ahLst/>
              <a:cxnLst>
                <a:cxn ang="0">
                  <a:pos x="connsiteX0" y="connsiteY0"/>
                </a:cxn>
                <a:cxn ang="0">
                  <a:pos x="connsiteX1" y="connsiteY1"/>
                </a:cxn>
                <a:cxn ang="0">
                  <a:pos x="connsiteX2" y="connsiteY2"/>
                </a:cxn>
              </a:cxnLst>
              <a:rect l="l" t="t" r="r" b="b"/>
              <a:pathLst>
                <a:path w="117475" h="457200">
                  <a:moveTo>
                    <a:pt x="117475" y="0"/>
                  </a:moveTo>
                  <a:cubicBezTo>
                    <a:pt x="71437" y="42862"/>
                    <a:pt x="25400" y="85725"/>
                    <a:pt x="12700" y="161925"/>
                  </a:cubicBezTo>
                  <a:cubicBezTo>
                    <a:pt x="0" y="238125"/>
                    <a:pt x="20637" y="347662"/>
                    <a:pt x="41275" y="457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p:cNvSpPr txBox="1"/>
            <p:nvPr/>
          </p:nvSpPr>
          <p:spPr>
            <a:xfrm>
              <a:off x="5486400" y="4800600"/>
              <a:ext cx="34290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SiteManager uses the </a:t>
              </a:r>
              <a:r>
                <a:rPr lang="en-US" sz="1200" b="1" dirty="0" err="1" smtClean="0">
                  <a:solidFill>
                    <a:srgbClr val="C00000"/>
                  </a:solidFill>
                  <a:latin typeface="Bradley Hand ITC" pitchFamily="66" charset="0"/>
                </a:rPr>
                <a:t>CommMgr</a:t>
              </a:r>
              <a:r>
                <a:rPr lang="en-US" sz="1200" b="1" dirty="0" smtClean="0">
                  <a:solidFill>
                    <a:srgbClr val="C00000"/>
                  </a:solidFill>
                  <a:latin typeface="Bradley Hand ITC" pitchFamily="66" charset="0"/>
                </a:rPr>
                <a:t> to receive a message.  After receipt, the SiteManager sends an immediate ACK response, to indicate that the message is received..  After that, it updates the user interface to display the receipt of the message.  </a:t>
              </a:r>
              <a:endParaRPr lang="en-US" sz="1200" b="1" dirty="0">
                <a:solidFill>
                  <a:srgbClr val="C00000"/>
                </a:solidFill>
                <a:latin typeface="Bradley Hand ITC" pitchFamily="66" charset="0"/>
              </a:endParaRPr>
            </a:p>
          </p:txBody>
        </p:sp>
        <p:sp>
          <p:nvSpPr>
            <p:cNvPr id="62" name="Freeform 61"/>
            <p:cNvSpPr/>
            <p:nvPr/>
          </p:nvSpPr>
          <p:spPr>
            <a:xfrm>
              <a:off x="4705350" y="4073525"/>
              <a:ext cx="1333500" cy="698500"/>
            </a:xfrm>
            <a:custGeom>
              <a:avLst/>
              <a:gdLst>
                <a:gd name="connsiteX0" fmla="*/ 1304925 w 1333500"/>
                <a:gd name="connsiteY0" fmla="*/ 698500 h 698500"/>
                <a:gd name="connsiteX1" fmla="*/ 1285875 w 1333500"/>
                <a:gd name="connsiteY1" fmla="*/ 393700 h 698500"/>
                <a:gd name="connsiteX2" fmla="*/ 1019175 w 1333500"/>
                <a:gd name="connsiteY2" fmla="*/ 193675 h 698500"/>
                <a:gd name="connsiteX3" fmla="*/ 381000 w 1333500"/>
                <a:gd name="connsiteY3" fmla="*/ 31750 h 698500"/>
                <a:gd name="connsiteX4" fmla="*/ 0 w 1333500"/>
                <a:gd name="connsiteY4" fmla="*/ 3175 h 69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0" h="698500">
                  <a:moveTo>
                    <a:pt x="1304925" y="698500"/>
                  </a:moveTo>
                  <a:cubicBezTo>
                    <a:pt x="1319212" y="588169"/>
                    <a:pt x="1333500" y="477838"/>
                    <a:pt x="1285875" y="393700"/>
                  </a:cubicBezTo>
                  <a:cubicBezTo>
                    <a:pt x="1238250" y="309562"/>
                    <a:pt x="1169988" y="254000"/>
                    <a:pt x="1019175" y="193675"/>
                  </a:cubicBezTo>
                  <a:cubicBezTo>
                    <a:pt x="868362" y="133350"/>
                    <a:pt x="550862" y="63500"/>
                    <a:pt x="381000" y="31750"/>
                  </a:cubicBezTo>
                  <a:cubicBezTo>
                    <a:pt x="211138" y="0"/>
                    <a:pt x="105569" y="1587"/>
                    <a:pt x="0" y="31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TextBox 62"/>
            <p:cNvSpPr txBox="1"/>
            <p:nvPr/>
          </p:nvSpPr>
          <p:spPr>
            <a:xfrm>
              <a:off x="1371600" y="4876800"/>
              <a:ext cx="1981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Based on the received message, the SiteManager initiates data collection using the sensors.</a:t>
              </a:r>
              <a:endParaRPr lang="en-US" sz="1200" b="1" dirty="0">
                <a:solidFill>
                  <a:srgbClr val="C00000"/>
                </a:solidFill>
                <a:latin typeface="Bradley Hand ITC" pitchFamily="66" charset="0"/>
              </a:endParaRPr>
            </a:p>
          </p:txBody>
        </p:sp>
        <p:sp>
          <p:nvSpPr>
            <p:cNvPr id="65" name="Freeform 64"/>
            <p:cNvSpPr/>
            <p:nvPr/>
          </p:nvSpPr>
          <p:spPr>
            <a:xfrm>
              <a:off x="3133725" y="4200525"/>
              <a:ext cx="504825" cy="809625"/>
            </a:xfrm>
            <a:custGeom>
              <a:avLst/>
              <a:gdLst>
                <a:gd name="connsiteX0" fmla="*/ 0 w 504825"/>
                <a:gd name="connsiteY0" fmla="*/ 809625 h 809625"/>
                <a:gd name="connsiteX1" fmla="*/ 333375 w 504825"/>
                <a:gd name="connsiteY1" fmla="*/ 504825 h 809625"/>
                <a:gd name="connsiteX2" fmla="*/ 504825 w 504825"/>
                <a:gd name="connsiteY2" fmla="*/ 0 h 809625"/>
              </a:gdLst>
              <a:ahLst/>
              <a:cxnLst>
                <a:cxn ang="0">
                  <a:pos x="connsiteX0" y="connsiteY0"/>
                </a:cxn>
                <a:cxn ang="0">
                  <a:pos x="connsiteX1" y="connsiteY1"/>
                </a:cxn>
                <a:cxn ang="0">
                  <a:pos x="connsiteX2" y="connsiteY2"/>
                </a:cxn>
              </a:cxnLst>
              <a:rect l="l" t="t" r="r" b="b"/>
              <a:pathLst>
                <a:path w="504825" h="809625">
                  <a:moveTo>
                    <a:pt x="0" y="809625"/>
                  </a:moveTo>
                  <a:cubicBezTo>
                    <a:pt x="124619" y="724693"/>
                    <a:pt x="249238" y="639762"/>
                    <a:pt x="333375" y="504825"/>
                  </a:cubicBezTo>
                  <a:cubicBezTo>
                    <a:pt x="417512" y="369888"/>
                    <a:pt x="461168" y="184944"/>
                    <a:pt x="5048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p:cNvSpPr txBox="1"/>
            <p:nvPr/>
          </p:nvSpPr>
          <p:spPr>
            <a:xfrm>
              <a:off x="5410200" y="1143000"/>
              <a:ext cx="1981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Based on the received message, the SiteManager stops data collection using the video </a:t>
              </a:r>
              <a:r>
                <a:rPr lang="en-US" sz="1200" b="1" dirty="0" err="1" smtClean="0">
                  <a:solidFill>
                    <a:srgbClr val="C00000"/>
                  </a:solidFill>
                  <a:latin typeface="Bradley Hand ITC" pitchFamily="66" charset="0"/>
                </a:rPr>
                <a:t>camara</a:t>
              </a:r>
              <a:r>
                <a:rPr lang="en-US" sz="1200" b="1" dirty="0" smtClean="0">
                  <a:solidFill>
                    <a:srgbClr val="C00000"/>
                  </a:solidFill>
                  <a:latin typeface="Bradley Hand ITC" pitchFamily="66" charset="0"/>
                </a:rPr>
                <a:t>.</a:t>
              </a:r>
              <a:endParaRPr lang="en-US" sz="1200" b="1" dirty="0">
                <a:solidFill>
                  <a:srgbClr val="C00000"/>
                </a:solidFill>
                <a:latin typeface="Bradley Hand ITC" pitchFamily="66" charset="0"/>
              </a:endParaRPr>
            </a:p>
          </p:txBody>
        </p:sp>
        <p:sp>
          <p:nvSpPr>
            <p:cNvPr id="67" name="Freeform 66"/>
            <p:cNvSpPr/>
            <p:nvPr/>
          </p:nvSpPr>
          <p:spPr>
            <a:xfrm>
              <a:off x="5172075" y="1857375"/>
              <a:ext cx="609600" cy="1076325"/>
            </a:xfrm>
            <a:custGeom>
              <a:avLst/>
              <a:gdLst>
                <a:gd name="connsiteX0" fmla="*/ 609600 w 609600"/>
                <a:gd name="connsiteY0" fmla="*/ 0 h 1076325"/>
                <a:gd name="connsiteX1" fmla="*/ 266700 w 609600"/>
                <a:gd name="connsiteY1" fmla="*/ 466725 h 1076325"/>
                <a:gd name="connsiteX2" fmla="*/ 171450 w 609600"/>
                <a:gd name="connsiteY2" fmla="*/ 904875 h 1076325"/>
                <a:gd name="connsiteX3" fmla="*/ 0 w 609600"/>
                <a:gd name="connsiteY3" fmla="*/ 1076325 h 1076325"/>
              </a:gdLst>
              <a:ahLst/>
              <a:cxnLst>
                <a:cxn ang="0">
                  <a:pos x="connsiteX0" y="connsiteY0"/>
                </a:cxn>
                <a:cxn ang="0">
                  <a:pos x="connsiteX1" y="connsiteY1"/>
                </a:cxn>
                <a:cxn ang="0">
                  <a:pos x="connsiteX2" y="connsiteY2"/>
                </a:cxn>
                <a:cxn ang="0">
                  <a:pos x="connsiteX3" y="connsiteY3"/>
                </a:cxn>
              </a:cxnLst>
              <a:rect l="l" t="t" r="r" b="b"/>
              <a:pathLst>
                <a:path w="609600" h="1076325">
                  <a:moveTo>
                    <a:pt x="609600" y="0"/>
                  </a:moveTo>
                  <a:cubicBezTo>
                    <a:pt x="474662" y="157956"/>
                    <a:pt x="339725" y="315912"/>
                    <a:pt x="266700" y="466725"/>
                  </a:cubicBezTo>
                  <a:cubicBezTo>
                    <a:pt x="193675" y="617538"/>
                    <a:pt x="215900" y="803275"/>
                    <a:pt x="171450" y="904875"/>
                  </a:cubicBezTo>
                  <a:cubicBezTo>
                    <a:pt x="127000" y="1006475"/>
                    <a:pt x="63500" y="1041400"/>
                    <a:pt x="0" y="10763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Development Architecture</a:t>
            </a:r>
            <a:endParaRPr lang="en-US" dirty="0"/>
          </a:p>
        </p:txBody>
      </p:sp>
      <p:sp>
        <p:nvSpPr>
          <p:cNvPr id="3" name="Content Placeholder 2"/>
          <p:cNvSpPr>
            <a:spLocks noGrp="1"/>
          </p:cNvSpPr>
          <p:nvPr>
            <p:ph idx="1"/>
          </p:nvPr>
        </p:nvSpPr>
        <p:spPr>
          <a:xfrm>
            <a:off x="457200" y="1371601"/>
            <a:ext cx="8229600" cy="5029199"/>
          </a:xfrm>
        </p:spPr>
        <p:txBody>
          <a:bodyPr>
            <a:normAutofit/>
          </a:bodyPr>
          <a:lstStyle/>
          <a:p>
            <a:r>
              <a:rPr lang="en-US" dirty="0" smtClean="0"/>
              <a:t>The </a:t>
            </a:r>
            <a:r>
              <a:rPr lang="en-US" dirty="0" smtClean="0">
                <a:solidFill>
                  <a:srgbClr val="FF0000"/>
                </a:solidFill>
              </a:rPr>
              <a:t>development view </a:t>
            </a:r>
            <a:r>
              <a:rPr lang="en-US" dirty="0" smtClean="0"/>
              <a:t>of software systems represents the </a:t>
            </a:r>
            <a:r>
              <a:rPr lang="en-US" dirty="0" smtClean="0">
                <a:solidFill>
                  <a:srgbClr val="FF0000"/>
                </a:solidFill>
              </a:rPr>
              <a:t>software development configuration aspects </a:t>
            </a:r>
            <a:r>
              <a:rPr lang="en-US" dirty="0" smtClean="0"/>
              <a:t>of the software system.</a:t>
            </a:r>
          </a:p>
          <a:p>
            <a:pPr lvl="1"/>
            <a:r>
              <a:rPr lang="en-US" dirty="0" smtClean="0"/>
              <a:t>The main units of decomposition are actual physical files and directories.</a:t>
            </a:r>
          </a:p>
          <a:p>
            <a:pPr lvl="1"/>
            <a:endParaRPr lang="en-US" dirty="0" smtClean="0"/>
          </a:p>
          <a:p>
            <a:r>
              <a:rPr lang="en-US" dirty="0" smtClean="0"/>
              <a:t>This view can be used to analyze the system from the perspective of how logical components map to physical files and directories.  </a:t>
            </a:r>
          </a:p>
          <a:p>
            <a:pPr lvl="1"/>
            <a:r>
              <a:rPr lang="en-US" dirty="0" smtClean="0"/>
              <a:t>These analyses can be employed to address concerns that deal with:</a:t>
            </a:r>
          </a:p>
          <a:p>
            <a:pPr lvl="2"/>
            <a:r>
              <a:rPr lang="en-US" dirty="0" smtClean="0"/>
              <a:t>Ease of development</a:t>
            </a:r>
          </a:p>
          <a:p>
            <a:pPr lvl="2"/>
            <a:r>
              <a:rPr lang="en-US" dirty="0" smtClean="0"/>
              <a:t>Reusability</a:t>
            </a:r>
          </a:p>
          <a:p>
            <a:pPr lvl="2"/>
            <a:r>
              <a:rPr lang="en-US" dirty="0" smtClean="0"/>
              <a:t>Compile-time dependencies of the system</a:t>
            </a:r>
          </a:p>
          <a:p>
            <a:pPr lvl="2"/>
            <a:r>
              <a:rPr lang="en-US" dirty="0" smtClean="0"/>
              <a:t>Configuration management</a:t>
            </a:r>
          </a:p>
          <a:p>
            <a:pPr lvl="2"/>
            <a:r>
              <a:rPr lang="en-US" dirty="0" smtClean="0"/>
              <a:t>Allocation of work to teams</a:t>
            </a:r>
          </a:p>
          <a:p>
            <a:pPr lvl="2"/>
            <a:r>
              <a:rPr lang="en-US" dirty="0" smtClean="0"/>
              <a:t>Cost evaluation and planning</a:t>
            </a:r>
          </a:p>
          <a:p>
            <a:pPr lvl="2"/>
            <a:r>
              <a:rPr lang="en-US" dirty="0" smtClean="0"/>
              <a:t>Project monitoring</a:t>
            </a:r>
          </a:p>
          <a:p>
            <a:pPr lvl="2"/>
            <a:r>
              <a:rPr lang="en-US" dirty="0" smtClean="0"/>
              <a:t>Portability</a:t>
            </a:r>
          </a:p>
          <a:p>
            <a:endParaRPr lang="en-US" dirty="0" smtClean="0"/>
          </a:p>
          <a:p>
            <a:pPr lvl="1">
              <a:buNone/>
            </a:pPr>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2" cstate="print"/>
          <a:srcRect/>
          <a:stretch>
            <a:fillRect/>
          </a:stretch>
        </p:blipFill>
        <p:spPr bwMode="auto">
          <a:xfrm>
            <a:off x="685800" y="2286000"/>
            <a:ext cx="3324225" cy="2591877"/>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Designing the Development Architecture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2051" name="Picture 3"/>
          <p:cNvPicPr>
            <a:picLocks noChangeAspect="1" noChangeArrowheads="1"/>
          </p:cNvPicPr>
          <p:nvPr/>
        </p:nvPicPr>
        <p:blipFill>
          <a:blip r:embed="rId3" cstate="print"/>
          <a:srcRect/>
          <a:stretch>
            <a:fillRect/>
          </a:stretch>
        </p:blipFill>
        <p:spPr bwMode="auto">
          <a:xfrm>
            <a:off x="4953000" y="2209800"/>
            <a:ext cx="3332744" cy="2714625"/>
          </a:xfrm>
          <a:prstGeom prst="rect">
            <a:avLst/>
          </a:prstGeom>
          <a:noFill/>
          <a:ln w="9525">
            <a:noFill/>
            <a:miter lim="800000"/>
            <a:headEnd/>
            <a:tailEnd/>
          </a:ln>
        </p:spPr>
      </p:pic>
      <p:sp>
        <p:nvSpPr>
          <p:cNvPr id="55" name="TextBox 54"/>
          <p:cNvSpPr txBox="1"/>
          <p:nvPr/>
        </p:nvSpPr>
        <p:spPr>
          <a:xfrm>
            <a:off x="2971800" y="4648200"/>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1 of the SiteManager</a:t>
            </a:r>
            <a:endParaRPr lang="en-US" sz="1200" b="1" dirty="0">
              <a:solidFill>
                <a:srgbClr val="C00000"/>
              </a:solidFill>
              <a:latin typeface="Bradley Hand ITC" pitchFamily="66" charset="0"/>
            </a:endParaRPr>
          </a:p>
        </p:txBody>
      </p:sp>
      <p:sp>
        <p:nvSpPr>
          <p:cNvPr id="57" name="Freeform 56"/>
          <p:cNvSpPr/>
          <p:nvPr/>
        </p:nvSpPr>
        <p:spPr>
          <a:xfrm>
            <a:off x="3895725" y="4200525"/>
            <a:ext cx="679450" cy="600075"/>
          </a:xfrm>
          <a:custGeom>
            <a:avLst/>
            <a:gdLst>
              <a:gd name="connsiteX0" fmla="*/ 628650 w 679450"/>
              <a:gd name="connsiteY0" fmla="*/ 600075 h 600075"/>
              <a:gd name="connsiteX1" fmla="*/ 647700 w 679450"/>
              <a:gd name="connsiteY1" fmla="*/ 304800 h 600075"/>
              <a:gd name="connsiteX2" fmla="*/ 438150 w 679450"/>
              <a:gd name="connsiteY2" fmla="*/ 95250 h 600075"/>
              <a:gd name="connsiteX3" fmla="*/ 0 w 679450"/>
              <a:gd name="connsiteY3" fmla="*/ 0 h 600075"/>
            </a:gdLst>
            <a:ahLst/>
            <a:cxnLst>
              <a:cxn ang="0">
                <a:pos x="connsiteX0" y="connsiteY0"/>
              </a:cxn>
              <a:cxn ang="0">
                <a:pos x="connsiteX1" y="connsiteY1"/>
              </a:cxn>
              <a:cxn ang="0">
                <a:pos x="connsiteX2" y="connsiteY2"/>
              </a:cxn>
              <a:cxn ang="0">
                <a:pos x="connsiteX3" y="connsiteY3"/>
              </a:cxn>
            </a:cxnLst>
            <a:rect l="l" t="t" r="r" b="b"/>
            <a:pathLst>
              <a:path w="679450" h="600075">
                <a:moveTo>
                  <a:pt x="628650" y="600075"/>
                </a:moveTo>
                <a:cubicBezTo>
                  <a:pt x="654050" y="494506"/>
                  <a:pt x="679450" y="388938"/>
                  <a:pt x="647700" y="304800"/>
                </a:cubicBezTo>
                <a:cubicBezTo>
                  <a:pt x="615950" y="220663"/>
                  <a:pt x="546100" y="146050"/>
                  <a:pt x="438150" y="95250"/>
                </a:cubicBezTo>
                <a:cubicBezTo>
                  <a:pt x="330200" y="44450"/>
                  <a:pt x="165100" y="22225"/>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TextBox 57"/>
          <p:cNvSpPr txBox="1"/>
          <p:nvPr/>
        </p:nvSpPr>
        <p:spPr>
          <a:xfrm>
            <a:off x="7239000" y="4638675"/>
            <a:ext cx="1981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2 of the SiteManager</a:t>
            </a:r>
            <a:endParaRPr lang="en-US" sz="1200" b="1" dirty="0">
              <a:solidFill>
                <a:srgbClr val="C00000"/>
              </a:solidFill>
              <a:latin typeface="Bradley Hand ITC" pitchFamily="66" charset="0"/>
            </a:endParaRPr>
          </a:p>
        </p:txBody>
      </p:sp>
      <p:sp>
        <p:nvSpPr>
          <p:cNvPr id="59" name="Freeform 58"/>
          <p:cNvSpPr/>
          <p:nvPr/>
        </p:nvSpPr>
        <p:spPr>
          <a:xfrm>
            <a:off x="8162925" y="4191000"/>
            <a:ext cx="679450" cy="600075"/>
          </a:xfrm>
          <a:custGeom>
            <a:avLst/>
            <a:gdLst>
              <a:gd name="connsiteX0" fmla="*/ 628650 w 679450"/>
              <a:gd name="connsiteY0" fmla="*/ 600075 h 600075"/>
              <a:gd name="connsiteX1" fmla="*/ 647700 w 679450"/>
              <a:gd name="connsiteY1" fmla="*/ 304800 h 600075"/>
              <a:gd name="connsiteX2" fmla="*/ 438150 w 679450"/>
              <a:gd name="connsiteY2" fmla="*/ 95250 h 600075"/>
              <a:gd name="connsiteX3" fmla="*/ 0 w 679450"/>
              <a:gd name="connsiteY3" fmla="*/ 0 h 600075"/>
            </a:gdLst>
            <a:ahLst/>
            <a:cxnLst>
              <a:cxn ang="0">
                <a:pos x="connsiteX0" y="connsiteY0"/>
              </a:cxn>
              <a:cxn ang="0">
                <a:pos x="connsiteX1" y="connsiteY1"/>
              </a:cxn>
              <a:cxn ang="0">
                <a:pos x="connsiteX2" y="connsiteY2"/>
              </a:cxn>
              <a:cxn ang="0">
                <a:pos x="connsiteX3" y="connsiteY3"/>
              </a:cxn>
            </a:cxnLst>
            <a:rect l="l" t="t" r="r" b="b"/>
            <a:pathLst>
              <a:path w="679450" h="600075">
                <a:moveTo>
                  <a:pt x="628650" y="600075"/>
                </a:moveTo>
                <a:cubicBezTo>
                  <a:pt x="654050" y="494506"/>
                  <a:pt x="679450" y="388938"/>
                  <a:pt x="647700" y="304800"/>
                </a:cubicBezTo>
                <a:cubicBezTo>
                  <a:pt x="615950" y="220663"/>
                  <a:pt x="546100" y="146050"/>
                  <a:pt x="438150" y="95250"/>
                </a:cubicBezTo>
                <a:cubicBezTo>
                  <a:pt x="330200" y="44450"/>
                  <a:pt x="165100" y="22225"/>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TextBox 59"/>
          <p:cNvSpPr txBox="1"/>
          <p:nvPr/>
        </p:nvSpPr>
        <p:spPr>
          <a:xfrm>
            <a:off x="990600" y="1676400"/>
            <a:ext cx="1981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1.0</a:t>
            </a:r>
            <a:endParaRPr lang="en-US" sz="1200" b="1" dirty="0">
              <a:solidFill>
                <a:srgbClr val="C00000"/>
              </a:solidFill>
              <a:latin typeface="Bradley Hand ITC" pitchFamily="66" charset="0"/>
            </a:endParaRPr>
          </a:p>
        </p:txBody>
      </p:sp>
      <p:sp>
        <p:nvSpPr>
          <p:cNvPr id="61" name="TextBox 60"/>
          <p:cNvSpPr txBox="1"/>
          <p:nvPr/>
        </p:nvSpPr>
        <p:spPr>
          <a:xfrm>
            <a:off x="6324600" y="1752600"/>
            <a:ext cx="1981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2.0</a:t>
            </a:r>
            <a:endParaRPr lang="en-US" sz="1200" b="1" dirty="0">
              <a:solidFill>
                <a:srgbClr val="C00000"/>
              </a:solidFill>
              <a:latin typeface="Bradley Hand ITC" pitchFamily="66" charset="0"/>
            </a:endParaRPr>
          </a:p>
        </p:txBody>
      </p:sp>
      <p:sp>
        <p:nvSpPr>
          <p:cNvPr id="62" name="TextBox 61"/>
          <p:cNvSpPr txBox="1"/>
          <p:nvPr/>
        </p:nvSpPr>
        <p:spPr>
          <a:xfrm>
            <a:off x="304800" y="5257800"/>
            <a:ext cx="3200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1.0 is used by a specific customer  that does not require video capture capabilities.</a:t>
            </a:r>
            <a:endParaRPr lang="en-US" sz="1200" b="1" dirty="0">
              <a:solidFill>
                <a:srgbClr val="C00000"/>
              </a:solidFill>
              <a:latin typeface="Bradley Hand ITC" pitchFamily="66" charset="0"/>
            </a:endParaRPr>
          </a:p>
        </p:txBody>
      </p:sp>
      <p:sp>
        <p:nvSpPr>
          <p:cNvPr id="63" name="Freeform 62"/>
          <p:cNvSpPr/>
          <p:nvPr/>
        </p:nvSpPr>
        <p:spPr>
          <a:xfrm>
            <a:off x="485775" y="3952875"/>
            <a:ext cx="1266825" cy="1304925"/>
          </a:xfrm>
          <a:custGeom>
            <a:avLst/>
            <a:gdLst>
              <a:gd name="connsiteX0" fmla="*/ 0 w 1419225"/>
              <a:gd name="connsiteY0" fmla="*/ 1466850 h 1466850"/>
              <a:gd name="connsiteX1" fmla="*/ 123825 w 1419225"/>
              <a:gd name="connsiteY1" fmla="*/ 914400 h 1466850"/>
              <a:gd name="connsiteX2" fmla="*/ 352425 w 1419225"/>
              <a:gd name="connsiteY2" fmla="*/ 571500 h 1466850"/>
              <a:gd name="connsiteX3" fmla="*/ 809625 w 1419225"/>
              <a:gd name="connsiteY3" fmla="*/ 409575 h 1466850"/>
              <a:gd name="connsiteX4" fmla="*/ 1181100 w 1419225"/>
              <a:gd name="connsiteY4" fmla="*/ 285750 h 1466850"/>
              <a:gd name="connsiteX5" fmla="*/ 1419225 w 1419225"/>
              <a:gd name="connsiteY5" fmla="*/ 0 h 146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9225" h="1466850">
                <a:moveTo>
                  <a:pt x="0" y="1466850"/>
                </a:moveTo>
                <a:cubicBezTo>
                  <a:pt x="32544" y="1265237"/>
                  <a:pt x="65088" y="1063625"/>
                  <a:pt x="123825" y="914400"/>
                </a:cubicBezTo>
                <a:cubicBezTo>
                  <a:pt x="182562" y="765175"/>
                  <a:pt x="238125" y="655637"/>
                  <a:pt x="352425" y="571500"/>
                </a:cubicBezTo>
                <a:cubicBezTo>
                  <a:pt x="466725" y="487363"/>
                  <a:pt x="671513" y="457200"/>
                  <a:pt x="809625" y="409575"/>
                </a:cubicBezTo>
                <a:cubicBezTo>
                  <a:pt x="947737" y="361950"/>
                  <a:pt x="1079500" y="354013"/>
                  <a:pt x="1181100" y="285750"/>
                </a:cubicBezTo>
                <a:cubicBezTo>
                  <a:pt x="1282700" y="217487"/>
                  <a:pt x="1350962" y="108743"/>
                  <a:pt x="14192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TextBox 63"/>
          <p:cNvSpPr txBox="1"/>
          <p:nvPr/>
        </p:nvSpPr>
        <p:spPr>
          <a:xfrm>
            <a:off x="3962400" y="5257800"/>
            <a:ext cx="3048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Version 2.0 is used by a specific customer  that requires video capture capabilities.</a:t>
            </a:r>
            <a:endParaRPr lang="en-US" sz="1200" b="1" dirty="0">
              <a:solidFill>
                <a:srgbClr val="C00000"/>
              </a:solidFill>
              <a:latin typeface="Bradley Hand ITC" pitchFamily="66" charset="0"/>
            </a:endParaRPr>
          </a:p>
        </p:txBody>
      </p:sp>
      <p:sp>
        <p:nvSpPr>
          <p:cNvPr id="65" name="Freeform 64"/>
          <p:cNvSpPr/>
          <p:nvPr/>
        </p:nvSpPr>
        <p:spPr>
          <a:xfrm>
            <a:off x="4953000" y="4486275"/>
            <a:ext cx="762000" cy="771525"/>
          </a:xfrm>
          <a:custGeom>
            <a:avLst/>
            <a:gdLst>
              <a:gd name="connsiteX0" fmla="*/ 0 w 1419225"/>
              <a:gd name="connsiteY0" fmla="*/ 1466850 h 1466850"/>
              <a:gd name="connsiteX1" fmla="*/ 123825 w 1419225"/>
              <a:gd name="connsiteY1" fmla="*/ 914400 h 1466850"/>
              <a:gd name="connsiteX2" fmla="*/ 352425 w 1419225"/>
              <a:gd name="connsiteY2" fmla="*/ 571500 h 1466850"/>
              <a:gd name="connsiteX3" fmla="*/ 809625 w 1419225"/>
              <a:gd name="connsiteY3" fmla="*/ 409575 h 1466850"/>
              <a:gd name="connsiteX4" fmla="*/ 1181100 w 1419225"/>
              <a:gd name="connsiteY4" fmla="*/ 285750 h 1466850"/>
              <a:gd name="connsiteX5" fmla="*/ 1419225 w 1419225"/>
              <a:gd name="connsiteY5" fmla="*/ 0 h 146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9225" h="1466850">
                <a:moveTo>
                  <a:pt x="0" y="1466850"/>
                </a:moveTo>
                <a:cubicBezTo>
                  <a:pt x="32544" y="1265237"/>
                  <a:pt x="65088" y="1063625"/>
                  <a:pt x="123825" y="914400"/>
                </a:cubicBezTo>
                <a:cubicBezTo>
                  <a:pt x="182562" y="765175"/>
                  <a:pt x="238125" y="655637"/>
                  <a:pt x="352425" y="571500"/>
                </a:cubicBezTo>
                <a:cubicBezTo>
                  <a:pt x="466725" y="487363"/>
                  <a:pt x="671513" y="457200"/>
                  <a:pt x="809625" y="409575"/>
                </a:cubicBezTo>
                <a:cubicBezTo>
                  <a:pt x="947737" y="361950"/>
                  <a:pt x="1079500" y="354013"/>
                  <a:pt x="1181100" y="285750"/>
                </a:cubicBezTo>
                <a:cubicBezTo>
                  <a:pt x="1282700" y="217487"/>
                  <a:pt x="1350962" y="108743"/>
                  <a:pt x="14192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p:cNvSpPr txBox="1"/>
          <p:nvPr/>
        </p:nvSpPr>
        <p:spPr>
          <a:xfrm>
            <a:off x="3886200" y="1524000"/>
            <a:ext cx="1828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versions change with the addition of new functionality!</a:t>
            </a:r>
            <a:endParaRPr lang="en-US" sz="1200" b="1" dirty="0">
              <a:solidFill>
                <a:srgbClr val="C00000"/>
              </a:solidFill>
              <a:latin typeface="Bradley Hand ITC" pitchFamily="66" charset="0"/>
            </a:endParaRPr>
          </a:p>
        </p:txBody>
      </p:sp>
      <p:sp>
        <p:nvSpPr>
          <p:cNvPr id="67" name="Freeform 66"/>
          <p:cNvSpPr/>
          <p:nvPr/>
        </p:nvSpPr>
        <p:spPr>
          <a:xfrm>
            <a:off x="5410200" y="1676400"/>
            <a:ext cx="1485900" cy="800100"/>
          </a:xfrm>
          <a:custGeom>
            <a:avLst/>
            <a:gdLst>
              <a:gd name="connsiteX0" fmla="*/ 0 w 1123950"/>
              <a:gd name="connsiteY0" fmla="*/ 0 h 666750"/>
              <a:gd name="connsiteX1" fmla="*/ 447675 w 1123950"/>
              <a:gd name="connsiteY1" fmla="*/ 114300 h 666750"/>
              <a:gd name="connsiteX2" fmla="*/ 809625 w 1123950"/>
              <a:gd name="connsiteY2" fmla="*/ 552450 h 666750"/>
              <a:gd name="connsiteX3" fmla="*/ 1123950 w 1123950"/>
              <a:gd name="connsiteY3" fmla="*/ 666750 h 666750"/>
            </a:gdLst>
            <a:ahLst/>
            <a:cxnLst>
              <a:cxn ang="0">
                <a:pos x="connsiteX0" y="connsiteY0"/>
              </a:cxn>
              <a:cxn ang="0">
                <a:pos x="connsiteX1" y="connsiteY1"/>
              </a:cxn>
              <a:cxn ang="0">
                <a:pos x="connsiteX2" y="connsiteY2"/>
              </a:cxn>
              <a:cxn ang="0">
                <a:pos x="connsiteX3" y="connsiteY3"/>
              </a:cxn>
            </a:cxnLst>
            <a:rect l="l" t="t" r="r" b="b"/>
            <a:pathLst>
              <a:path w="1123950" h="666750">
                <a:moveTo>
                  <a:pt x="0" y="0"/>
                </a:moveTo>
                <a:cubicBezTo>
                  <a:pt x="156369" y="11112"/>
                  <a:pt x="312738" y="22225"/>
                  <a:pt x="447675" y="114300"/>
                </a:cubicBezTo>
                <a:cubicBezTo>
                  <a:pt x="582613" y="206375"/>
                  <a:pt x="696913" y="460375"/>
                  <a:pt x="809625" y="552450"/>
                </a:cubicBezTo>
                <a:cubicBezTo>
                  <a:pt x="922338" y="644525"/>
                  <a:pt x="1023144" y="655637"/>
                  <a:pt x="1123950" y="666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Freeform 67"/>
          <p:cNvSpPr/>
          <p:nvPr/>
        </p:nvSpPr>
        <p:spPr>
          <a:xfrm flipH="1">
            <a:off x="3200400" y="1676400"/>
            <a:ext cx="914400" cy="762000"/>
          </a:xfrm>
          <a:custGeom>
            <a:avLst/>
            <a:gdLst>
              <a:gd name="connsiteX0" fmla="*/ 0 w 1123950"/>
              <a:gd name="connsiteY0" fmla="*/ 0 h 666750"/>
              <a:gd name="connsiteX1" fmla="*/ 447675 w 1123950"/>
              <a:gd name="connsiteY1" fmla="*/ 114300 h 666750"/>
              <a:gd name="connsiteX2" fmla="*/ 809625 w 1123950"/>
              <a:gd name="connsiteY2" fmla="*/ 552450 h 666750"/>
              <a:gd name="connsiteX3" fmla="*/ 1123950 w 1123950"/>
              <a:gd name="connsiteY3" fmla="*/ 666750 h 666750"/>
            </a:gdLst>
            <a:ahLst/>
            <a:cxnLst>
              <a:cxn ang="0">
                <a:pos x="connsiteX0" y="connsiteY0"/>
              </a:cxn>
              <a:cxn ang="0">
                <a:pos x="connsiteX1" y="connsiteY1"/>
              </a:cxn>
              <a:cxn ang="0">
                <a:pos x="connsiteX2" y="connsiteY2"/>
              </a:cxn>
              <a:cxn ang="0">
                <a:pos x="connsiteX3" y="connsiteY3"/>
              </a:cxn>
            </a:cxnLst>
            <a:rect l="l" t="t" r="r" b="b"/>
            <a:pathLst>
              <a:path w="1123950" h="666750">
                <a:moveTo>
                  <a:pt x="0" y="0"/>
                </a:moveTo>
                <a:cubicBezTo>
                  <a:pt x="156369" y="11112"/>
                  <a:pt x="312738" y="22225"/>
                  <a:pt x="447675" y="114300"/>
                </a:cubicBezTo>
                <a:cubicBezTo>
                  <a:pt x="582613" y="206375"/>
                  <a:pt x="696913" y="460375"/>
                  <a:pt x="809625" y="552450"/>
                </a:cubicBezTo>
                <a:cubicBezTo>
                  <a:pt x="922338" y="644525"/>
                  <a:pt x="1023144" y="655637"/>
                  <a:pt x="1123950" y="666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Physical Architecture</a:t>
            </a:r>
            <a:endParaRPr lang="en-US" dirty="0"/>
          </a:p>
        </p:txBody>
      </p:sp>
      <p:sp>
        <p:nvSpPr>
          <p:cNvPr id="3" name="Content Placeholder 2"/>
          <p:cNvSpPr>
            <a:spLocks noGrp="1"/>
          </p:cNvSpPr>
          <p:nvPr>
            <p:ph idx="1"/>
          </p:nvPr>
        </p:nvSpPr>
        <p:spPr>
          <a:xfrm>
            <a:off x="457200" y="1371601"/>
            <a:ext cx="8229600" cy="5105399"/>
          </a:xfrm>
        </p:spPr>
        <p:txBody>
          <a:bodyPr>
            <a:normAutofit fontScale="92500" lnSpcReduction="10000"/>
          </a:bodyPr>
          <a:lstStyle/>
          <a:p>
            <a:r>
              <a:rPr lang="en-US" dirty="0" smtClean="0"/>
              <a:t>The </a:t>
            </a:r>
            <a:r>
              <a:rPr lang="en-US" dirty="0" smtClean="0">
                <a:solidFill>
                  <a:srgbClr val="FF0000"/>
                </a:solidFill>
              </a:rPr>
              <a:t>physical view </a:t>
            </a:r>
            <a:r>
              <a:rPr lang="en-US" dirty="0" smtClean="0"/>
              <a:t>represents the </a:t>
            </a:r>
            <a:r>
              <a:rPr lang="en-US" dirty="0" smtClean="0">
                <a:solidFill>
                  <a:srgbClr val="FF0000"/>
                </a:solidFill>
              </a:rPr>
              <a:t>deployment aspects </a:t>
            </a:r>
            <a:r>
              <a:rPr lang="en-US" dirty="0" smtClean="0"/>
              <a:t>of software systems.</a:t>
            </a:r>
          </a:p>
          <a:p>
            <a:pPr lvl="1"/>
            <a:r>
              <a:rPr lang="en-US" dirty="0" smtClean="0"/>
              <a:t>The main elements of analysis are nodes, connections between nodes, and the mapping of artifacts to these nodes.</a:t>
            </a:r>
          </a:p>
          <a:p>
            <a:pPr lvl="1"/>
            <a:r>
              <a:rPr lang="en-US" dirty="0" smtClean="0"/>
              <a:t>This view can be used to model the run-time dependencies of the system.</a:t>
            </a:r>
          </a:p>
          <a:p>
            <a:pPr lvl="1"/>
            <a:endParaRPr lang="en-US" dirty="0" smtClean="0"/>
          </a:p>
          <a:p>
            <a:r>
              <a:rPr lang="en-US" dirty="0" smtClean="0"/>
              <a:t>The physical view can be modeled in UML using:</a:t>
            </a:r>
          </a:p>
          <a:p>
            <a:pPr lvl="1"/>
            <a:r>
              <a:rPr lang="en-US" dirty="0" smtClean="0"/>
              <a:t>Deployment diagrams</a:t>
            </a:r>
          </a:p>
          <a:p>
            <a:pPr lvl="1">
              <a:buNone/>
            </a:pPr>
            <a:endParaRPr lang="en-US" dirty="0" smtClean="0"/>
          </a:p>
          <a:p>
            <a:r>
              <a:rPr lang="en-US" dirty="0" smtClean="0"/>
              <a:t>The physical view is appropriate to evaluate the system’s:</a:t>
            </a:r>
          </a:p>
          <a:p>
            <a:pPr lvl="1"/>
            <a:r>
              <a:rPr lang="en-US" dirty="0" smtClean="0"/>
              <a:t>Availability</a:t>
            </a:r>
          </a:p>
          <a:p>
            <a:pPr lvl="2"/>
            <a:r>
              <a:rPr lang="en-US" dirty="0" smtClean="0"/>
              <a:t>For example, specifying the need for redundant nodes to increase the system’s availability</a:t>
            </a:r>
          </a:p>
          <a:p>
            <a:pPr lvl="1"/>
            <a:r>
              <a:rPr lang="en-US" dirty="0" smtClean="0"/>
              <a:t>Performance</a:t>
            </a:r>
          </a:p>
          <a:p>
            <a:pPr lvl="2"/>
            <a:r>
              <a:rPr lang="en-US" dirty="0" smtClean="0"/>
              <a:t>For example, required processor speed, bandwidth, etc. to meet performance requirements.</a:t>
            </a:r>
          </a:p>
          <a:p>
            <a:pPr lvl="1"/>
            <a:r>
              <a:rPr lang="en-US" dirty="0" smtClean="0"/>
              <a:t>Scalability</a:t>
            </a:r>
          </a:p>
          <a:p>
            <a:pPr lvl="1">
              <a:buNone/>
            </a:pPr>
            <a:r>
              <a:rPr lang="en-US" dirty="0" smtClean="0"/>
              <a:t>	</a:t>
            </a:r>
          </a:p>
          <a:p>
            <a:pPr lvl="1">
              <a:buNone/>
            </a:pPr>
            <a:r>
              <a:rPr lang="en-US" dirty="0" smtClean="0"/>
              <a:t>		</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Designing the Physical Architecture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8" name="Picture 7" descr="ScreenHunter_40 May"/>
          <p:cNvPicPr/>
          <p:nvPr/>
        </p:nvPicPr>
        <p:blipFill>
          <a:blip r:embed="rId2" cstate="print"/>
          <a:srcRect l="2680" t="35753" r="1201" b="685"/>
          <a:stretch>
            <a:fillRect/>
          </a:stretch>
        </p:blipFill>
        <p:spPr bwMode="auto">
          <a:xfrm>
            <a:off x="1828800" y="1600200"/>
            <a:ext cx="4876800"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 of Partial Architecture </a:t>
            </a:r>
            <a:br>
              <a:rPr lang="en-US" dirty="0" smtClean="0"/>
            </a:br>
            <a:r>
              <a:rPr lang="en-US" dirty="0" smtClean="0"/>
              <a:t>of Client Collection System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8" name="Round Single Corner Rectangle 7"/>
          <p:cNvSpPr/>
          <p:nvPr/>
        </p:nvSpPr>
        <p:spPr>
          <a:xfrm rot="16200000">
            <a:off x="1578061" y="631739"/>
            <a:ext cx="1823863" cy="3760788"/>
          </a:xfrm>
          <a:prstGeom prst="round1Rect">
            <a:avLst/>
          </a:prstGeom>
          <a:solidFill>
            <a:schemeClr val="bg1"/>
          </a:solidFill>
          <a:ln w="6350">
            <a:solidFill>
              <a:schemeClr val="tx1"/>
            </a:solid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9" name="Round Single Corner Rectangle 4"/>
          <p:cNvSpPr/>
          <p:nvPr/>
        </p:nvSpPr>
        <p:spPr>
          <a:xfrm>
            <a:off x="609602" y="1600200"/>
            <a:ext cx="3760788" cy="300564"/>
          </a:xfrm>
          <a:prstGeom prst="rect">
            <a:avLst/>
          </a:prstGeom>
          <a:ln w="6350"/>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Logical View</a:t>
            </a:r>
            <a:endParaRPr lang="en-US" sz="1500" kern="1200" dirty="0">
              <a:solidFill>
                <a:schemeClr val="tx1"/>
              </a:solidFill>
            </a:endParaRPr>
          </a:p>
        </p:txBody>
      </p:sp>
      <p:sp>
        <p:nvSpPr>
          <p:cNvPr id="10" name="Round Single Corner Rectangle 9"/>
          <p:cNvSpPr/>
          <p:nvPr/>
        </p:nvSpPr>
        <p:spPr>
          <a:xfrm>
            <a:off x="4697413" y="1600203"/>
            <a:ext cx="3760788" cy="1823860"/>
          </a:xfrm>
          <a:prstGeom prst="round1Rect">
            <a:avLst/>
          </a:prstGeom>
          <a:solidFill>
            <a:schemeClr val="bg1"/>
          </a:solidFill>
          <a:ln w="6350"/>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1" name="Round Single Corner Rectangle 6"/>
          <p:cNvSpPr/>
          <p:nvPr/>
        </p:nvSpPr>
        <p:spPr>
          <a:xfrm>
            <a:off x="4697413" y="1600200"/>
            <a:ext cx="3760788" cy="282572"/>
          </a:xfrm>
          <a:prstGeom prst="rect">
            <a:avLst/>
          </a:prstGeom>
          <a:ln w="6350"/>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Development View</a:t>
            </a:r>
            <a:endParaRPr lang="en-US" sz="1500" kern="1200" dirty="0">
              <a:solidFill>
                <a:schemeClr val="tx1"/>
              </a:solidFill>
            </a:endParaRPr>
          </a:p>
        </p:txBody>
      </p:sp>
      <p:sp>
        <p:nvSpPr>
          <p:cNvPr id="12" name="Round Single Corner Rectangle 11"/>
          <p:cNvSpPr/>
          <p:nvPr/>
        </p:nvSpPr>
        <p:spPr>
          <a:xfrm rot="10800000">
            <a:off x="609600" y="3967340"/>
            <a:ext cx="3760788" cy="1823860"/>
          </a:xfrm>
          <a:prstGeom prst="round1Rect">
            <a:avLst/>
          </a:prstGeom>
          <a:solidFill>
            <a:schemeClr val="bg1"/>
          </a:solidFill>
          <a:ln w="6350">
            <a:solidFill>
              <a:schemeClr val="tx1"/>
            </a:solid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3" name="Round Single Corner Rectangle 8"/>
          <p:cNvSpPr/>
          <p:nvPr/>
        </p:nvSpPr>
        <p:spPr>
          <a:xfrm>
            <a:off x="609600" y="3962400"/>
            <a:ext cx="3760788" cy="258232"/>
          </a:xfrm>
          <a:prstGeom prst="rect">
            <a:avLst/>
          </a:prstGeom>
          <a:ln w="6350"/>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Process View</a:t>
            </a:r>
            <a:endParaRPr lang="en-US" sz="1500" kern="1200" dirty="0">
              <a:solidFill>
                <a:schemeClr val="tx1"/>
              </a:solidFill>
            </a:endParaRPr>
          </a:p>
        </p:txBody>
      </p:sp>
      <p:sp>
        <p:nvSpPr>
          <p:cNvPr id="14" name="Round Single Corner Rectangle 13"/>
          <p:cNvSpPr/>
          <p:nvPr/>
        </p:nvSpPr>
        <p:spPr>
          <a:xfrm rot="5400000">
            <a:off x="5665874" y="2998876"/>
            <a:ext cx="1823860" cy="3760788"/>
          </a:xfrm>
          <a:prstGeom prst="round1Rect">
            <a:avLst/>
          </a:prstGeom>
          <a:solidFill>
            <a:schemeClr val="bg1"/>
          </a:solidFill>
          <a:ln w="6350">
            <a:solidFill>
              <a:schemeClr val="tx1"/>
            </a:solid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5" name="Round Single Corner Rectangle 10"/>
          <p:cNvSpPr/>
          <p:nvPr/>
        </p:nvSpPr>
        <p:spPr>
          <a:xfrm>
            <a:off x="4697413" y="3962400"/>
            <a:ext cx="3760788" cy="258232"/>
          </a:xfrm>
          <a:prstGeom prst="rect">
            <a:avLst/>
          </a:prstGeom>
          <a:ln w="6350"/>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Physical View</a:t>
            </a:r>
            <a:endParaRPr lang="en-US" sz="1500" kern="1200" dirty="0">
              <a:solidFill>
                <a:schemeClr val="tx1"/>
              </a:solidFill>
            </a:endParaRPr>
          </a:p>
        </p:txBody>
      </p:sp>
      <p:sp>
        <p:nvSpPr>
          <p:cNvPr id="17" name="Rectangle 16"/>
          <p:cNvSpPr/>
          <p:nvPr/>
        </p:nvSpPr>
        <p:spPr>
          <a:xfrm>
            <a:off x="3552825" y="3288243"/>
            <a:ext cx="1983514" cy="874597"/>
          </a:xfrm>
          <a:prstGeom prst="rect">
            <a:avLst/>
          </a:prstGeom>
        </p:spPr>
        <p:txBody>
          <a:bodyPr wrap="none">
            <a:spAutoFit/>
          </a:bodyPr>
          <a:lstStyle/>
          <a:p>
            <a:pPr lvl="0" algn="ctr" defTabSz="533400">
              <a:lnSpc>
                <a:spcPct val="90000"/>
              </a:lnSpc>
              <a:spcBef>
                <a:spcPct val="0"/>
              </a:spcBef>
              <a:spcAft>
                <a:spcPct val="35000"/>
              </a:spcAft>
            </a:pPr>
            <a:r>
              <a:rPr lang="en-US" sz="1400" dirty="0" smtClean="0"/>
              <a:t>User View</a:t>
            </a:r>
            <a:endParaRPr lang="en-US" sz="1400" dirty="0"/>
          </a:p>
        </p:txBody>
      </p:sp>
      <p:cxnSp>
        <p:nvCxnSpPr>
          <p:cNvPr id="18" name="Shape 17"/>
          <p:cNvCxnSpPr>
            <a:endCxn id="16" idx="4"/>
          </p:cNvCxnSpPr>
          <p:nvPr/>
        </p:nvCxnSpPr>
        <p:spPr>
          <a:xfrm rot="10800000">
            <a:off x="4533900" y="4539722"/>
            <a:ext cx="163513" cy="713050"/>
          </a:xfrm>
          <a:prstGeom prst="bentConnector2">
            <a:avLst/>
          </a:prstGeom>
          <a:ln w="6350" cmpd="sng">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cxnSp>
      <p:cxnSp>
        <p:nvCxnSpPr>
          <p:cNvPr id="19" name="Shape 18"/>
          <p:cNvCxnSpPr>
            <a:endCxn id="16" idx="2"/>
          </p:cNvCxnSpPr>
          <p:nvPr/>
        </p:nvCxnSpPr>
        <p:spPr>
          <a:xfrm rot="5400000" flipH="1" flipV="1">
            <a:off x="2625770" y="3530823"/>
            <a:ext cx="300743" cy="572294"/>
          </a:xfrm>
          <a:prstGeom prst="bentConnector2">
            <a:avLst/>
          </a:prstGeom>
          <a:ln w="6350" cmpd="sng">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cxnSp>
      <p:cxnSp>
        <p:nvCxnSpPr>
          <p:cNvPr id="20" name="Shape 19"/>
          <p:cNvCxnSpPr>
            <a:endCxn id="16" idx="0"/>
          </p:cNvCxnSpPr>
          <p:nvPr/>
        </p:nvCxnSpPr>
        <p:spPr>
          <a:xfrm>
            <a:off x="4370390" y="2138631"/>
            <a:ext cx="163510" cy="654842"/>
          </a:xfrm>
          <a:prstGeom prst="bentConnector2">
            <a:avLst/>
          </a:prstGeom>
          <a:ln w="6350" cmpd="sng">
            <a:solidFill>
              <a:schemeClr val="tx1"/>
            </a:solidFill>
            <a:prstDash val="solid"/>
            <a:tailEnd type="stealth"/>
          </a:ln>
        </p:spPr>
        <p:style>
          <a:lnRef idx="1">
            <a:schemeClr val="accent1"/>
          </a:lnRef>
          <a:fillRef idx="0">
            <a:schemeClr val="accent1"/>
          </a:fillRef>
          <a:effectRef idx="0">
            <a:schemeClr val="accent1"/>
          </a:effectRef>
          <a:fontRef idx="minor">
            <a:schemeClr val="tx1"/>
          </a:fontRef>
        </p:style>
      </p:cxnSp>
      <p:cxnSp>
        <p:nvCxnSpPr>
          <p:cNvPr id="21" name="Elbow Connector 20"/>
          <p:cNvCxnSpPr/>
          <p:nvPr/>
        </p:nvCxnSpPr>
        <p:spPr>
          <a:xfrm rot="10800000" flipV="1">
            <a:off x="6025952" y="3433764"/>
            <a:ext cx="817563" cy="232833"/>
          </a:xfrm>
          <a:prstGeom prst="bentConnector3">
            <a:avLst>
              <a:gd name="adj1" fmla="val 0"/>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cstate="print"/>
          <a:srcRect/>
          <a:stretch>
            <a:fillRect/>
          </a:stretch>
        </p:blipFill>
        <p:spPr bwMode="auto">
          <a:xfrm>
            <a:off x="1114425" y="1866900"/>
            <a:ext cx="2487848" cy="1371600"/>
          </a:xfrm>
          <a:prstGeom prst="rect">
            <a:avLst/>
          </a:prstGeom>
          <a:noFill/>
          <a:ln w="9525">
            <a:noFill/>
            <a:miter lim="800000"/>
            <a:headEnd/>
            <a:tailEnd/>
          </a:ln>
        </p:spPr>
      </p:pic>
      <p:pic>
        <p:nvPicPr>
          <p:cNvPr id="23" name="Picture 3"/>
          <p:cNvPicPr>
            <a:picLocks noChangeAspect="1" noChangeArrowheads="1"/>
          </p:cNvPicPr>
          <p:nvPr/>
        </p:nvPicPr>
        <p:blipFill>
          <a:blip r:embed="rId3" cstate="print"/>
          <a:srcRect/>
          <a:stretch>
            <a:fillRect/>
          </a:stretch>
        </p:blipFill>
        <p:spPr bwMode="auto">
          <a:xfrm>
            <a:off x="5943600" y="1828800"/>
            <a:ext cx="1853663" cy="1509866"/>
          </a:xfrm>
          <a:prstGeom prst="rect">
            <a:avLst/>
          </a:prstGeom>
          <a:noFill/>
          <a:ln w="9525">
            <a:noFill/>
            <a:miter lim="800000"/>
            <a:headEnd/>
            <a:tailEnd/>
          </a:ln>
        </p:spPr>
      </p:pic>
      <p:pic>
        <p:nvPicPr>
          <p:cNvPr id="24" name="Picture 23" descr="ScreenHunter_40 May"/>
          <p:cNvPicPr/>
          <p:nvPr/>
        </p:nvPicPr>
        <p:blipFill>
          <a:blip r:embed="rId4" cstate="print"/>
          <a:srcRect l="2680" t="35753" r="1201" b="685"/>
          <a:stretch>
            <a:fillRect/>
          </a:stretch>
        </p:blipFill>
        <p:spPr bwMode="auto">
          <a:xfrm>
            <a:off x="5400675" y="4171950"/>
            <a:ext cx="2514600" cy="1600200"/>
          </a:xfrm>
          <a:prstGeom prst="rect">
            <a:avLst/>
          </a:prstGeom>
          <a:noFill/>
          <a:ln w="9525">
            <a:noFill/>
            <a:miter lim="800000"/>
            <a:headEnd/>
            <a:tailEnd/>
          </a:ln>
        </p:spPr>
      </p:pic>
      <p:pic>
        <p:nvPicPr>
          <p:cNvPr id="4099" name="Picture 3"/>
          <p:cNvPicPr>
            <a:picLocks noChangeAspect="1" noChangeArrowheads="1"/>
          </p:cNvPicPr>
          <p:nvPr/>
        </p:nvPicPr>
        <p:blipFill>
          <a:blip r:embed="rId5" cstate="print"/>
          <a:srcRect/>
          <a:stretch>
            <a:fillRect/>
          </a:stretch>
        </p:blipFill>
        <p:spPr bwMode="auto">
          <a:xfrm>
            <a:off x="1143000" y="4267200"/>
            <a:ext cx="2585804" cy="1371600"/>
          </a:xfrm>
          <a:prstGeom prst="rect">
            <a:avLst/>
          </a:prstGeom>
          <a:noFill/>
          <a:ln w="9525">
            <a:noFill/>
            <a:miter lim="800000"/>
            <a:headEnd/>
            <a:tailEnd/>
          </a:ln>
        </p:spPr>
      </p:pic>
      <p:sp>
        <p:nvSpPr>
          <p:cNvPr id="16" name="Oval 15"/>
          <p:cNvSpPr/>
          <p:nvPr/>
        </p:nvSpPr>
        <p:spPr>
          <a:xfrm>
            <a:off x="3062288" y="2793473"/>
            <a:ext cx="2943225" cy="1746249"/>
          </a:xfrm>
          <a:prstGeom prst="ellipse">
            <a:avLst/>
          </a:prstGeom>
          <a:solidFill>
            <a:schemeClr val="bg1"/>
          </a:solidFill>
          <a:ln w="6350">
            <a:solidFill>
              <a:schemeClr val="tx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4"/>
          <p:cNvPicPr>
            <a:picLocks noChangeAspect="1" noChangeArrowheads="1"/>
          </p:cNvPicPr>
          <p:nvPr/>
        </p:nvPicPr>
        <p:blipFill>
          <a:blip r:embed="rId6" cstate="print"/>
          <a:srcRect/>
          <a:stretch>
            <a:fillRect/>
          </a:stretch>
        </p:blipFill>
        <p:spPr bwMode="auto">
          <a:xfrm>
            <a:off x="3962400" y="2971800"/>
            <a:ext cx="1219200" cy="136916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Last Note…</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20000"/>
          </a:bodyPr>
          <a:lstStyle/>
          <a:p>
            <a:r>
              <a:rPr lang="en-US" dirty="0" smtClean="0"/>
              <a:t>Do NOT make the assumption that a particular UML classifier belongs exclusively to a particular view of the 4+1 model!!</a:t>
            </a:r>
          </a:p>
          <a:p>
            <a:pPr lvl="1"/>
            <a:r>
              <a:rPr lang="en-US" dirty="0" smtClean="0"/>
              <a:t>Although some classifiers are certainly “</a:t>
            </a:r>
            <a:r>
              <a:rPr lang="en-US" i="1" dirty="0" smtClean="0"/>
              <a:t>the main characters</a:t>
            </a:r>
            <a:r>
              <a:rPr lang="en-US" dirty="0" smtClean="0"/>
              <a:t>” in particular views, they can serve as “supporting characters in other views.”</a:t>
            </a:r>
          </a:p>
          <a:p>
            <a:pPr lvl="2"/>
            <a:r>
              <a:rPr lang="en-US" dirty="0" smtClean="0"/>
              <a:t>For example, components are used mostly in the logical view, BUT,</a:t>
            </a:r>
          </a:p>
          <a:p>
            <a:pPr lvl="2"/>
            <a:r>
              <a:rPr lang="en-US" dirty="0" smtClean="0"/>
              <a:t>They can also be used in the physical view to model how they are manifested by artifacts!</a:t>
            </a:r>
          </a:p>
          <a:p>
            <a:pPr lvl="2"/>
            <a:endParaRPr lang="en-US" dirty="0" smtClean="0"/>
          </a:p>
          <a:p>
            <a:r>
              <a:rPr lang="en-US" dirty="0" smtClean="0"/>
              <a:t>UML Artifacts are tricky, because they can be used as the dominant design unit (i.e., “main character”) in both development and physical view:</a:t>
            </a:r>
          </a:p>
          <a:p>
            <a:pPr lvl="1"/>
            <a:r>
              <a:rPr lang="en-US" dirty="0" smtClean="0"/>
              <a:t>In the physical view, they model </a:t>
            </a:r>
            <a:r>
              <a:rPr lang="en-US" b="1" i="1" dirty="0" smtClean="0"/>
              <a:t>deployment artifacts</a:t>
            </a:r>
            <a:r>
              <a:rPr lang="en-US" dirty="0" smtClean="0"/>
              <a:t>.</a:t>
            </a:r>
          </a:p>
          <a:p>
            <a:pPr lvl="2"/>
            <a:r>
              <a:rPr lang="en-US" dirty="0" smtClean="0"/>
              <a:t>These are artifacts necessary to form an executable system (e.g., .</a:t>
            </a:r>
            <a:r>
              <a:rPr lang="en-US" dirty="0" err="1" smtClean="0"/>
              <a:t>dll</a:t>
            </a:r>
            <a:r>
              <a:rPr lang="en-US" dirty="0" smtClean="0"/>
              <a:t>, .jar, .class, .</a:t>
            </a:r>
            <a:r>
              <a:rPr lang="en-US" dirty="0" err="1" smtClean="0"/>
              <a:t>ini</a:t>
            </a:r>
            <a:r>
              <a:rPr lang="en-US" dirty="0" smtClean="0"/>
              <a:t> file, etc.)</a:t>
            </a:r>
          </a:p>
          <a:p>
            <a:pPr lvl="2"/>
            <a:r>
              <a:rPr lang="en-US" dirty="0" smtClean="0"/>
              <a:t>These are essential to model the run-time dependencies of the system (e.g., .NET 4.1)</a:t>
            </a:r>
          </a:p>
          <a:p>
            <a:pPr lvl="1"/>
            <a:r>
              <a:rPr lang="en-US" dirty="0" smtClean="0"/>
              <a:t>In the development view, they model </a:t>
            </a:r>
            <a:r>
              <a:rPr lang="en-US" b="1" i="1" dirty="0" smtClean="0"/>
              <a:t>work product artifacts</a:t>
            </a:r>
          </a:p>
          <a:p>
            <a:pPr lvl="2"/>
            <a:r>
              <a:rPr lang="en-US" dirty="0" smtClean="0"/>
              <a:t>These are artifacts used to create deployment artifacts, i.e., they are necessary to build the software (e.g., source code files [.h, .</a:t>
            </a:r>
            <a:r>
              <a:rPr lang="en-US" dirty="0" err="1" smtClean="0"/>
              <a:t>cpp</a:t>
            </a:r>
            <a:r>
              <a:rPr lang="en-US" dirty="0" smtClean="0"/>
              <a:t>, .java], data files])</a:t>
            </a:r>
          </a:p>
          <a:p>
            <a:pPr lvl="2"/>
            <a:r>
              <a:rPr lang="en-US" dirty="0" smtClean="0"/>
              <a:t>These artifacts do not directly exist in the physically deployed system; they are the work products of development used to build the system.</a:t>
            </a:r>
          </a:p>
          <a:p>
            <a:pPr lvl="2"/>
            <a:r>
              <a:rPr lang="en-US" dirty="0" smtClean="0"/>
              <a:t>These are essential to model the compile-time dependencies to build the system as well as versioning and configuration management of the system.</a:t>
            </a:r>
          </a:p>
          <a:p>
            <a:pPr lvl="2"/>
            <a:endParaRPr lang="en-US" dirty="0" smtClean="0"/>
          </a:p>
          <a:p>
            <a:pPr lvl="1"/>
            <a:r>
              <a:rPr lang="en-US" dirty="0" smtClean="0"/>
              <a:t>Keep in mind that when using </a:t>
            </a:r>
            <a:r>
              <a:rPr lang="en-US" i="1" dirty="0" smtClean="0"/>
              <a:t>UML artifacts</a:t>
            </a:r>
            <a:r>
              <a:rPr lang="en-US" dirty="0" smtClean="0"/>
              <a:t>, modeling occurs in the physical dimension, which can be addressed in both </a:t>
            </a:r>
            <a:r>
              <a:rPr lang="en-US" i="1" dirty="0" smtClean="0"/>
              <a:t>development</a:t>
            </a:r>
            <a:r>
              <a:rPr lang="en-US" dirty="0" smtClean="0"/>
              <a:t> and </a:t>
            </a:r>
            <a:r>
              <a:rPr lang="en-US" i="1" dirty="0" smtClean="0"/>
              <a:t>physical</a:t>
            </a:r>
            <a:r>
              <a:rPr lang="en-US" dirty="0" smtClean="0"/>
              <a:t> views of the 4+1 model.  Artifacts do not exist in the logical dimension, as opposed to other UML classifiers, such as components.</a:t>
            </a:r>
          </a:p>
          <a:p>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lnSpcReduction="10000"/>
          </a:bodyPr>
          <a:lstStyle/>
          <a:p>
            <a:r>
              <a:rPr lang="en-US" dirty="0" smtClean="0"/>
              <a:t>In this session, we presented the 4+1 view model for designing software architectures, which includes</a:t>
            </a:r>
          </a:p>
          <a:p>
            <a:pPr lvl="2"/>
            <a:r>
              <a:rPr lang="en-US" dirty="0" smtClean="0"/>
              <a:t>Logical view</a:t>
            </a:r>
          </a:p>
          <a:p>
            <a:pPr lvl="2"/>
            <a:r>
              <a:rPr lang="en-US" dirty="0" smtClean="0"/>
              <a:t>Development View</a:t>
            </a:r>
          </a:p>
          <a:p>
            <a:pPr lvl="2"/>
            <a:r>
              <a:rPr lang="en-US" dirty="0" smtClean="0"/>
              <a:t>Process View</a:t>
            </a:r>
          </a:p>
          <a:p>
            <a:pPr lvl="2"/>
            <a:r>
              <a:rPr lang="en-US" dirty="0" smtClean="0"/>
              <a:t>Physical View</a:t>
            </a:r>
          </a:p>
          <a:p>
            <a:pPr lvl="2"/>
            <a:r>
              <a:rPr lang="en-US" dirty="0" smtClean="0"/>
              <a:t>User View</a:t>
            </a:r>
          </a:p>
          <a:p>
            <a:pPr lvl="2"/>
            <a:endParaRPr lang="en-US" dirty="0" smtClean="0"/>
          </a:p>
          <a:p>
            <a:r>
              <a:rPr lang="en-US" dirty="0" smtClean="0"/>
              <a:t>In the next module, we’ll delve deep into popular patterns and styles used to model logical architectures; these are presented for the following types of systems:</a:t>
            </a:r>
          </a:p>
          <a:p>
            <a:pPr lvl="1"/>
            <a:r>
              <a:rPr lang="en-US" dirty="0" smtClean="0"/>
              <a:t>Data-centered</a:t>
            </a:r>
          </a:p>
          <a:p>
            <a:pPr lvl="1"/>
            <a:r>
              <a:rPr lang="en-US" dirty="0" smtClean="0"/>
              <a:t>Data flow</a:t>
            </a:r>
          </a:p>
          <a:p>
            <a:pPr lvl="1"/>
            <a:r>
              <a:rPr lang="en-US" dirty="0" smtClean="0"/>
              <a:t>Distributed</a:t>
            </a:r>
          </a:p>
          <a:p>
            <a:pPr lvl="1"/>
            <a:r>
              <a:rPr lang="en-US" dirty="0" smtClean="0"/>
              <a:t>Interactive</a:t>
            </a:r>
          </a:p>
          <a:p>
            <a:pPr lvl="1"/>
            <a:r>
              <a:rPr lang="en-US" dirty="0" smtClean="0"/>
              <a:t>Hierarchical</a:t>
            </a:r>
          </a:p>
          <a:p>
            <a:pPr lvl="1">
              <a:buNone/>
            </a:pPr>
            <a:endParaRPr lang="en-US" dirty="0" smtClean="0"/>
          </a:p>
          <a:p>
            <a:pPr lvl="1"/>
            <a:endParaRPr lang="en-US" dirty="0" smtClean="0"/>
          </a:p>
          <a:p>
            <a:pPr lvl="1">
              <a:buNone/>
            </a:pPr>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3/3/2016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10047</TotalTime>
  <Words>1439</Words>
  <Application>Microsoft Office PowerPoint</Application>
  <PresentationFormat>On-screen Show (4:3)</PresentationFormat>
  <Paragraphs>206</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Bradley Hand ITC</vt:lpstr>
      <vt:lpstr>Calibri</vt:lpstr>
      <vt:lpstr>Times New Roman</vt:lpstr>
      <vt:lpstr>Wingdings</vt:lpstr>
      <vt:lpstr>UVa-Wise-Clean-BW</vt:lpstr>
      <vt:lpstr>Chapter 3: Principles of Software Architecture </vt:lpstr>
      <vt:lpstr>Session’s Agenda</vt:lpstr>
      <vt:lpstr>Designing the Architecture</vt:lpstr>
      <vt:lpstr>Designing the Logical Architecture</vt:lpstr>
      <vt:lpstr>Designing the Logical Architecture</vt:lpstr>
      <vt:lpstr>Designing the Process Architecture</vt:lpstr>
      <vt:lpstr>Designing the Process Architecture</vt:lpstr>
      <vt:lpstr>Designing the Development Architecture</vt:lpstr>
      <vt:lpstr>Designing the Development Architecture</vt:lpstr>
      <vt:lpstr>Designing the Physical Architecture</vt:lpstr>
      <vt:lpstr>Designing the Physical Architecture</vt:lpstr>
      <vt:lpstr>Example of Partial Architecture  of Client Collection System</vt:lpstr>
      <vt:lpstr>One Last Note…</vt:lpstr>
      <vt:lpstr>What’s next…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715</cp:revision>
  <dcterms:created xsi:type="dcterms:W3CDTF">2006-08-16T00:00:00Z</dcterms:created>
  <dcterms:modified xsi:type="dcterms:W3CDTF">2016-03-02T18:08:48Z</dcterms:modified>
</cp:coreProperties>
</file>
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405" r:id="rId4"/>
    <p:sldId id="406" r:id="rId5"/>
    <p:sldId id="407" r:id="rId6"/>
    <p:sldId id="408" r:id="rId7"/>
    <p:sldId id="409" r:id="rId8"/>
    <p:sldId id="410" r:id="rId9"/>
    <p:sldId id="411" r:id="rId10"/>
    <p:sldId id="412" r:id="rId11"/>
    <p:sldId id="413" r:id="rId12"/>
    <p:sldId id="414" r:id="rId13"/>
    <p:sldId id="415" r:id="rId14"/>
    <p:sldId id="416" r:id="rId15"/>
    <p:sldId id="417" r:id="rId16"/>
    <p:sldId id="418" r:id="rId17"/>
    <p:sldId id="419" r:id="rId18"/>
    <p:sldId id="420" r:id="rId19"/>
    <p:sldId id="421" r:id="rId20"/>
    <p:sldId id="336" r:id="rId21"/>
    <p:sldId id="404"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0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13/10/2013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13/10/2013</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13/10/2013</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13/10/2013</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13/10/2013</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13/10/2013</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13/10/2013</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13/10/2013</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13/10/2013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13/10/2013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13/10/2013</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13/10/2013</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13/10/2013</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wmf"/><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wmf"/><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5: Principles of Detailed Design</a:t>
            </a:r>
            <a:endParaRPr lang="en-US" dirty="0"/>
          </a:p>
        </p:txBody>
      </p:sp>
      <p:sp>
        <p:nvSpPr>
          <p:cNvPr id="3" name="Subtitle 2"/>
          <p:cNvSpPr>
            <a:spLocks noGrp="1"/>
          </p:cNvSpPr>
          <p:nvPr>
            <p:ph type="subTitle" idx="1"/>
          </p:nvPr>
        </p:nvSpPr>
        <p:spPr/>
        <p:txBody>
          <a:bodyPr>
            <a:normAutofit/>
          </a:bodyPr>
          <a:lstStyle/>
          <a:p>
            <a:r>
              <a:rPr lang="en-US" dirty="0" smtClean="0"/>
              <a:t>Session II: Structural and Behavioral Design of Components</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13/10/2013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fontScale="92500" lnSpcReduction="20000"/>
          </a:bodyPr>
          <a:lstStyle/>
          <a:p>
            <a:pPr lvl="2"/>
            <a:endParaRPr lang="en-US" dirty="0" smtClean="0"/>
          </a:p>
          <a:p>
            <a:r>
              <a:rPr lang="en-US" dirty="0" smtClean="0"/>
              <a:t>Overview of Component Design</a:t>
            </a:r>
          </a:p>
          <a:p>
            <a:pPr lvl="2"/>
            <a:endParaRPr lang="en-US" dirty="0" smtClean="0"/>
          </a:p>
          <a:p>
            <a:r>
              <a:rPr lang="en-US" dirty="0" smtClean="0"/>
              <a:t>Designing Internal Structure of Components (OO Approach)</a:t>
            </a:r>
          </a:p>
          <a:p>
            <a:pPr lvl="1"/>
            <a:r>
              <a:rPr lang="en-US" dirty="0" smtClean="0"/>
              <a:t>Classes and objects</a:t>
            </a:r>
          </a:p>
          <a:p>
            <a:pPr lvl="1"/>
            <a:r>
              <a:rPr lang="en-US" dirty="0" smtClean="0"/>
              <a:t>Interfaces, types, and subtypes</a:t>
            </a:r>
          </a:p>
          <a:p>
            <a:pPr lvl="1"/>
            <a:r>
              <a:rPr lang="en-US" dirty="0" smtClean="0"/>
              <a:t>Dynamic binding</a:t>
            </a:r>
          </a:p>
          <a:p>
            <a:pPr lvl="1"/>
            <a:r>
              <a:rPr lang="en-US" dirty="0" smtClean="0"/>
              <a:t>Polymorphism</a:t>
            </a:r>
          </a:p>
          <a:p>
            <a:pPr lvl="2"/>
            <a:endParaRPr lang="en-US" dirty="0" smtClean="0"/>
          </a:p>
          <a:p>
            <a:r>
              <a:rPr lang="en-US" dirty="0" smtClean="0"/>
              <a:t>Design Principles for Internal Component Design</a:t>
            </a:r>
          </a:p>
          <a:p>
            <a:pPr lvl="1"/>
            <a:r>
              <a:rPr lang="en-US" dirty="0" smtClean="0"/>
              <a:t>The open-closed principle</a:t>
            </a:r>
          </a:p>
          <a:p>
            <a:pPr lvl="1"/>
            <a:r>
              <a:rPr lang="en-US" dirty="0" smtClean="0"/>
              <a:t>The Liskov Substitution principle</a:t>
            </a:r>
          </a:p>
          <a:p>
            <a:pPr lvl="1"/>
            <a:r>
              <a:rPr lang="en-US" dirty="0" smtClean="0"/>
              <a:t>The interface segregation principle</a:t>
            </a:r>
          </a:p>
          <a:p>
            <a:pPr lvl="1">
              <a:buNone/>
            </a:pPr>
            <a:endParaRPr lang="en-US" dirty="0" smtClean="0"/>
          </a:p>
          <a:p>
            <a:r>
              <a:rPr lang="en-US" dirty="0" smtClean="0"/>
              <a:t>Designing Internal Behavior of Components</a:t>
            </a:r>
          </a:p>
          <a:p>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Component Design</a:t>
            </a:r>
            <a:endParaRPr lang="en-US" dirty="0"/>
          </a:p>
        </p:txBody>
      </p:sp>
      <p:sp>
        <p:nvSpPr>
          <p:cNvPr id="3" name="Content Placeholder 2"/>
          <p:cNvSpPr>
            <a:spLocks noGrp="1"/>
          </p:cNvSpPr>
          <p:nvPr>
            <p:ph idx="1"/>
          </p:nvPr>
        </p:nvSpPr>
        <p:spPr>
          <a:xfrm>
            <a:off x="457200" y="1371601"/>
            <a:ext cx="8229600" cy="1752599"/>
          </a:xfrm>
        </p:spPr>
        <p:txBody>
          <a:bodyPr>
            <a:normAutofit fontScale="92500" lnSpcReduction="20000"/>
          </a:bodyPr>
          <a:lstStyle/>
          <a:p>
            <a:r>
              <a:rPr lang="en-US" dirty="0" smtClean="0"/>
              <a:t>Component design (also referred as component-level design) refers to the detailed design task of defining the internal logical structure and behavior of components.</a:t>
            </a:r>
          </a:p>
          <a:p>
            <a:pPr lvl="1"/>
            <a:r>
              <a:rPr lang="en-US" dirty="0" smtClean="0"/>
              <a:t>That is, refining the structure of components identified during the software architecture activity.</a:t>
            </a:r>
          </a:p>
          <a:p>
            <a:pPr lvl="1"/>
            <a:r>
              <a:rPr lang="en-US" dirty="0" smtClean="0"/>
              <a:t>In OO, the internal structure of components identified during architecture can be designed as </a:t>
            </a:r>
            <a:r>
              <a:rPr lang="en-US" u="sng" dirty="0" smtClean="0"/>
              <a:t>a single class</a:t>
            </a:r>
            <a:r>
              <a:rPr lang="en-US" dirty="0" smtClean="0"/>
              <a:t>, numerous classes, or sub components.</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grpSp>
        <p:nvGrpSpPr>
          <p:cNvPr id="22" name="Group 21"/>
          <p:cNvGrpSpPr/>
          <p:nvPr/>
        </p:nvGrpSpPr>
        <p:grpSpPr>
          <a:xfrm>
            <a:off x="304800" y="3086100"/>
            <a:ext cx="8534400" cy="3314700"/>
            <a:chOff x="304800" y="2971800"/>
            <a:chExt cx="8534400" cy="3314700"/>
          </a:xfrm>
        </p:grpSpPr>
        <p:pic>
          <p:nvPicPr>
            <p:cNvPr id="1026" name="Picture 2"/>
            <p:cNvPicPr>
              <a:picLocks noChangeAspect="1" noChangeArrowheads="1"/>
            </p:cNvPicPr>
            <p:nvPr/>
          </p:nvPicPr>
          <p:blipFill>
            <a:blip r:embed="rId2" cstate="print"/>
            <a:srcRect/>
            <a:stretch>
              <a:fillRect/>
            </a:stretch>
          </p:blipFill>
          <p:spPr bwMode="auto">
            <a:xfrm>
              <a:off x="3429000" y="3200400"/>
              <a:ext cx="3933825" cy="60007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3810000" y="4343400"/>
              <a:ext cx="3648075" cy="1943100"/>
            </a:xfrm>
            <a:prstGeom prst="rect">
              <a:avLst/>
            </a:prstGeom>
            <a:noFill/>
            <a:ln w="9525">
              <a:noFill/>
              <a:miter lim="800000"/>
              <a:headEnd/>
              <a:tailEnd/>
            </a:ln>
          </p:spPr>
        </p:pic>
        <p:sp>
          <p:nvSpPr>
            <p:cNvPr id="10" name="TextBox 9"/>
            <p:cNvSpPr txBox="1"/>
            <p:nvPr/>
          </p:nvSpPr>
          <p:spPr>
            <a:xfrm>
              <a:off x="304800" y="3276600"/>
              <a:ext cx="2971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Consider the following components and interface identified during architecture</a:t>
              </a:r>
              <a:endParaRPr lang="en-US" sz="1200" b="1" dirty="0">
                <a:solidFill>
                  <a:srgbClr val="C00000"/>
                </a:solidFill>
                <a:latin typeface="Bradley Hand ITC" pitchFamily="66" charset="0"/>
              </a:endParaRPr>
            </a:p>
          </p:txBody>
        </p:sp>
        <p:sp>
          <p:nvSpPr>
            <p:cNvPr id="11" name="Freeform 10"/>
            <p:cNvSpPr/>
            <p:nvPr/>
          </p:nvSpPr>
          <p:spPr>
            <a:xfrm>
              <a:off x="3067050" y="3667125"/>
              <a:ext cx="838200" cy="409575"/>
            </a:xfrm>
            <a:custGeom>
              <a:avLst/>
              <a:gdLst>
                <a:gd name="connsiteX0" fmla="*/ 0 w 838200"/>
                <a:gd name="connsiteY0" fmla="*/ 0 h 409575"/>
                <a:gd name="connsiteX1" fmla="*/ 361950 w 838200"/>
                <a:gd name="connsiteY1" fmla="*/ 390525 h 409575"/>
                <a:gd name="connsiteX2" fmla="*/ 838200 w 838200"/>
                <a:gd name="connsiteY2" fmla="*/ 114300 h 409575"/>
              </a:gdLst>
              <a:ahLst/>
              <a:cxnLst>
                <a:cxn ang="0">
                  <a:pos x="connsiteX0" y="connsiteY0"/>
                </a:cxn>
                <a:cxn ang="0">
                  <a:pos x="connsiteX1" y="connsiteY1"/>
                </a:cxn>
                <a:cxn ang="0">
                  <a:pos x="connsiteX2" y="connsiteY2"/>
                </a:cxn>
              </a:cxnLst>
              <a:rect l="l" t="t" r="r" b="b"/>
              <a:pathLst>
                <a:path w="838200" h="409575">
                  <a:moveTo>
                    <a:pt x="0" y="0"/>
                  </a:moveTo>
                  <a:cubicBezTo>
                    <a:pt x="111125" y="185737"/>
                    <a:pt x="222250" y="371475"/>
                    <a:pt x="361950" y="390525"/>
                  </a:cubicBezTo>
                  <a:cubicBezTo>
                    <a:pt x="501650" y="409575"/>
                    <a:pt x="669925" y="261937"/>
                    <a:pt x="838200" y="114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4038600"/>
              <a:ext cx="2971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the component design task of the detailed design activity, these components are refined to fully define how they realize the component’s services</a:t>
              </a:r>
              <a:endParaRPr lang="en-US" sz="1200" b="1" dirty="0">
                <a:solidFill>
                  <a:srgbClr val="C00000"/>
                </a:solidFill>
                <a:latin typeface="Bradley Hand ITC" pitchFamily="66" charset="0"/>
              </a:endParaRPr>
            </a:p>
          </p:txBody>
        </p:sp>
        <p:sp>
          <p:nvSpPr>
            <p:cNvPr id="13" name="Freeform 12"/>
            <p:cNvSpPr/>
            <p:nvPr/>
          </p:nvSpPr>
          <p:spPr>
            <a:xfrm>
              <a:off x="7286625" y="3409950"/>
              <a:ext cx="593725" cy="1162050"/>
            </a:xfrm>
            <a:custGeom>
              <a:avLst/>
              <a:gdLst>
                <a:gd name="connsiteX0" fmla="*/ 0 w 593725"/>
                <a:gd name="connsiteY0" fmla="*/ 0 h 1162050"/>
                <a:gd name="connsiteX1" fmla="*/ 571500 w 593725"/>
                <a:gd name="connsiteY1" fmla="*/ 523875 h 1162050"/>
                <a:gd name="connsiteX2" fmla="*/ 133350 w 593725"/>
                <a:gd name="connsiteY2" fmla="*/ 1162050 h 1162050"/>
              </a:gdLst>
              <a:ahLst/>
              <a:cxnLst>
                <a:cxn ang="0">
                  <a:pos x="connsiteX0" y="connsiteY0"/>
                </a:cxn>
                <a:cxn ang="0">
                  <a:pos x="connsiteX1" y="connsiteY1"/>
                </a:cxn>
                <a:cxn ang="0">
                  <a:pos x="connsiteX2" y="connsiteY2"/>
                </a:cxn>
              </a:cxnLst>
              <a:rect l="l" t="t" r="r" b="b"/>
              <a:pathLst>
                <a:path w="593725" h="1162050">
                  <a:moveTo>
                    <a:pt x="0" y="0"/>
                  </a:moveTo>
                  <a:cubicBezTo>
                    <a:pt x="274637" y="165100"/>
                    <a:pt x="549275" y="330200"/>
                    <a:pt x="571500" y="523875"/>
                  </a:cubicBezTo>
                  <a:cubicBezTo>
                    <a:pt x="593725" y="717550"/>
                    <a:pt x="363537" y="939800"/>
                    <a:pt x="133350" y="116205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6934200" y="3810000"/>
              <a:ext cx="1752600" cy="276999"/>
            </a:xfrm>
            <a:prstGeom prst="rect">
              <a:avLst/>
            </a:prstGeom>
            <a:solidFill>
              <a:schemeClr val="bg1"/>
            </a:solidFill>
          </p:spPr>
          <p:txBody>
            <a:bodyPr wrap="square" rtlCol="0">
              <a:spAutoFit/>
            </a:bodyPr>
            <a:lstStyle/>
            <a:p>
              <a:pPr algn="ctr"/>
              <a:r>
                <a:rPr lang="en-US" sz="1200" b="1" dirty="0" smtClean="0">
                  <a:solidFill>
                    <a:srgbClr val="C00000"/>
                  </a:solidFill>
                  <a:latin typeface="Bradley Hand ITC" pitchFamily="66" charset="0"/>
                </a:rPr>
                <a:t>This is the same as that</a:t>
              </a:r>
              <a:endParaRPr lang="en-US" sz="1200" b="1" dirty="0">
                <a:solidFill>
                  <a:srgbClr val="C00000"/>
                </a:solidFill>
                <a:latin typeface="Bradley Hand ITC" pitchFamily="66" charset="0"/>
              </a:endParaRPr>
            </a:p>
          </p:txBody>
        </p:sp>
        <p:sp>
          <p:nvSpPr>
            <p:cNvPr id="15" name="TextBox 14"/>
            <p:cNvSpPr txBox="1"/>
            <p:nvPr/>
          </p:nvSpPr>
          <p:spPr>
            <a:xfrm>
              <a:off x="7467600" y="4876800"/>
              <a:ext cx="1371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 quite enough details, but you get the idea, right?</a:t>
              </a:r>
              <a:endParaRPr lang="en-US" sz="1200" b="1" dirty="0">
                <a:solidFill>
                  <a:srgbClr val="C00000"/>
                </a:solidFill>
                <a:latin typeface="Bradley Hand ITC" pitchFamily="66" charset="0"/>
              </a:endParaRPr>
            </a:p>
          </p:txBody>
        </p:sp>
        <p:sp>
          <p:nvSpPr>
            <p:cNvPr id="17" name="Freeform 16"/>
            <p:cNvSpPr/>
            <p:nvPr/>
          </p:nvSpPr>
          <p:spPr>
            <a:xfrm>
              <a:off x="2809875" y="4743450"/>
              <a:ext cx="981075" cy="209550"/>
            </a:xfrm>
            <a:custGeom>
              <a:avLst/>
              <a:gdLst>
                <a:gd name="connsiteX0" fmla="*/ 0 w 981075"/>
                <a:gd name="connsiteY0" fmla="*/ 0 h 876300"/>
                <a:gd name="connsiteX1" fmla="*/ 295275 w 981075"/>
                <a:gd name="connsiteY1" fmla="*/ 200025 h 876300"/>
                <a:gd name="connsiteX2" fmla="*/ 533400 w 981075"/>
                <a:gd name="connsiteY2" fmla="*/ 752475 h 876300"/>
                <a:gd name="connsiteX3" fmla="*/ 981075 w 981075"/>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981075" h="876300">
                  <a:moveTo>
                    <a:pt x="0" y="0"/>
                  </a:moveTo>
                  <a:cubicBezTo>
                    <a:pt x="103187" y="37306"/>
                    <a:pt x="206375" y="74613"/>
                    <a:pt x="295275" y="200025"/>
                  </a:cubicBezTo>
                  <a:cubicBezTo>
                    <a:pt x="384175" y="325437"/>
                    <a:pt x="419100" y="639763"/>
                    <a:pt x="533400" y="752475"/>
                  </a:cubicBezTo>
                  <a:cubicBezTo>
                    <a:pt x="647700" y="865187"/>
                    <a:pt x="814387" y="870743"/>
                    <a:pt x="981075" y="876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4572000" y="29718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Architecture</a:t>
              </a:r>
              <a:endParaRPr lang="en-US" sz="1200" b="1" dirty="0">
                <a:solidFill>
                  <a:srgbClr val="C00000"/>
                </a:solidFill>
                <a:latin typeface="Bradley Hand ITC" pitchFamily="66" charset="0"/>
              </a:endParaRPr>
            </a:p>
          </p:txBody>
        </p:sp>
        <p:sp>
          <p:nvSpPr>
            <p:cNvPr id="19" name="TextBox 18"/>
            <p:cNvSpPr txBox="1"/>
            <p:nvPr/>
          </p:nvSpPr>
          <p:spPr>
            <a:xfrm>
              <a:off x="4724400" y="4038600"/>
              <a:ext cx="1905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Detailed Design</a:t>
              </a:r>
              <a:endParaRPr lang="en-US" sz="1200" b="1" dirty="0">
                <a:solidFill>
                  <a:srgbClr val="C00000"/>
                </a:solidFill>
                <a:latin typeface="Bradley Hand ITC" pitchFamily="66" charset="0"/>
              </a:endParaRPr>
            </a:p>
          </p:txBody>
        </p:sp>
        <p:sp>
          <p:nvSpPr>
            <p:cNvPr id="20" name="TextBox 19"/>
            <p:cNvSpPr txBox="1"/>
            <p:nvPr/>
          </p:nvSpPr>
          <p:spPr>
            <a:xfrm>
              <a:off x="762000" y="5105400"/>
              <a:ext cx="2819400" cy="1015663"/>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In OO, during detailed design, we shift away from the more abstract UML component and begin to think in terms of classes, interfaces, types, etc.</a:t>
              </a:r>
              <a:endParaRPr lang="en-US" sz="1200" b="1" dirty="0">
                <a:solidFill>
                  <a:srgbClr val="C00000"/>
                </a:solidFill>
                <a:latin typeface="Bradley Hand ITC" pitchFamily="66" charset="0"/>
              </a:endParaRPr>
            </a:p>
          </p:txBody>
        </p:sp>
        <p:sp>
          <p:nvSpPr>
            <p:cNvPr id="21" name="Freeform 20"/>
            <p:cNvSpPr/>
            <p:nvPr/>
          </p:nvSpPr>
          <p:spPr>
            <a:xfrm>
              <a:off x="7448550" y="5476875"/>
              <a:ext cx="461962" cy="381000"/>
            </a:xfrm>
            <a:custGeom>
              <a:avLst/>
              <a:gdLst>
                <a:gd name="connsiteX0" fmla="*/ 428625 w 461962"/>
                <a:gd name="connsiteY0" fmla="*/ 0 h 381000"/>
                <a:gd name="connsiteX1" fmla="*/ 390525 w 461962"/>
                <a:gd name="connsiteY1" fmla="*/ 285750 h 381000"/>
                <a:gd name="connsiteX2" fmla="*/ 0 w 461962"/>
                <a:gd name="connsiteY2" fmla="*/ 381000 h 381000"/>
              </a:gdLst>
              <a:ahLst/>
              <a:cxnLst>
                <a:cxn ang="0">
                  <a:pos x="connsiteX0" y="connsiteY0"/>
                </a:cxn>
                <a:cxn ang="0">
                  <a:pos x="connsiteX1" y="connsiteY1"/>
                </a:cxn>
                <a:cxn ang="0">
                  <a:pos x="connsiteX2" y="connsiteY2"/>
                </a:cxn>
              </a:cxnLst>
              <a:rect l="l" t="t" r="r" b="b"/>
              <a:pathLst>
                <a:path w="461962" h="381000">
                  <a:moveTo>
                    <a:pt x="428625" y="0"/>
                  </a:moveTo>
                  <a:cubicBezTo>
                    <a:pt x="445293" y="111125"/>
                    <a:pt x="461962" y="222250"/>
                    <a:pt x="390525" y="285750"/>
                  </a:cubicBezTo>
                  <a:cubicBezTo>
                    <a:pt x="319088" y="349250"/>
                    <a:pt x="159544" y="365125"/>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Component Design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object-oriented systems, the internal structure of components is typically modeled using UML through one or more class diagrams.</a:t>
            </a:r>
          </a:p>
          <a:p>
            <a:endParaRPr lang="en-US" dirty="0" smtClean="0"/>
          </a:p>
          <a:p>
            <a:r>
              <a:rPr lang="en-US" dirty="0" smtClean="0"/>
              <a:t>During component design, the internal data structures, algorithms, interface details, and communication mechanisms for all components are defined.</a:t>
            </a:r>
          </a:p>
          <a:p>
            <a:pPr lvl="1"/>
            <a:r>
              <a:rPr lang="en-US" dirty="0" smtClean="0"/>
              <a:t>For this reason, structural and behavioral modes created as part of detailed design provide the most significant mechanism for determining the </a:t>
            </a:r>
            <a:r>
              <a:rPr lang="en-US" u="sng" dirty="0" smtClean="0"/>
              <a:t>functional correctness</a:t>
            </a:r>
            <a:r>
              <a:rPr lang="en-US" dirty="0" smtClean="0"/>
              <a:t> of the software system.</a:t>
            </a:r>
          </a:p>
          <a:p>
            <a:pPr lvl="1"/>
            <a:r>
              <a:rPr lang="en-US" dirty="0" smtClean="0"/>
              <a:t>This allows us to evaluate alternative solutions before construction begins.</a:t>
            </a:r>
          </a:p>
          <a:p>
            <a:pPr lvl="1"/>
            <a:endParaRPr lang="en-US" dirty="0" smtClean="0"/>
          </a:p>
          <a:p>
            <a:r>
              <a:rPr lang="en-US" dirty="0" smtClean="0"/>
              <a:t>The work produced during component design contributes significantly to the functional success of the system.  In OO, before we can become expert component designers, we must understand the following:</a:t>
            </a:r>
          </a:p>
          <a:p>
            <a:pPr lvl="1"/>
            <a:r>
              <a:rPr lang="en-US" dirty="0" smtClean="0"/>
              <a:t>Classes and objects</a:t>
            </a:r>
          </a:p>
          <a:p>
            <a:pPr lvl="1"/>
            <a:r>
              <a:rPr lang="en-US" dirty="0" smtClean="0"/>
              <a:t>Interfaces, types, and subtypes</a:t>
            </a:r>
          </a:p>
          <a:p>
            <a:pPr lvl="1"/>
            <a:r>
              <a:rPr lang="en-US" dirty="0" smtClean="0"/>
              <a:t>Dynamic binding</a:t>
            </a:r>
          </a:p>
          <a:p>
            <a:pPr lvl="1"/>
            <a:r>
              <a:rPr lang="en-US" dirty="0" smtClean="0"/>
              <a:t>Polymorphism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Component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9" name="Picture 7"/>
          <p:cNvPicPr>
            <a:picLocks noChangeAspect="1" noChangeArrowheads="1"/>
          </p:cNvPicPr>
          <p:nvPr/>
        </p:nvPicPr>
        <p:blipFill>
          <a:blip r:embed="rId2" cstate="print"/>
          <a:srcRect/>
          <a:stretch>
            <a:fillRect/>
          </a:stretch>
        </p:blipFill>
        <p:spPr bwMode="auto">
          <a:xfrm>
            <a:off x="1524000" y="1524000"/>
            <a:ext cx="457200" cy="698642"/>
          </a:xfrm>
          <a:prstGeom prst="rect">
            <a:avLst/>
          </a:prstGeom>
          <a:noFill/>
          <a:ln w="9525">
            <a:noFill/>
            <a:miter lim="800000"/>
            <a:headEnd/>
            <a:tailEnd/>
          </a:ln>
        </p:spPr>
      </p:pic>
      <p:grpSp>
        <p:nvGrpSpPr>
          <p:cNvPr id="25" name="Group 24"/>
          <p:cNvGrpSpPr/>
          <p:nvPr/>
        </p:nvGrpSpPr>
        <p:grpSpPr>
          <a:xfrm>
            <a:off x="3200400" y="1447800"/>
            <a:ext cx="990600" cy="400110"/>
            <a:chOff x="457200" y="1438275"/>
            <a:chExt cx="990600" cy="400110"/>
          </a:xfrm>
        </p:grpSpPr>
        <p:sp>
          <p:nvSpPr>
            <p:cNvPr id="11" name="Rounded Rectangular Callout 10"/>
            <p:cNvSpPr/>
            <p:nvPr/>
          </p:nvSpPr>
          <p:spPr>
            <a:xfrm>
              <a:off x="533400" y="1447800"/>
              <a:ext cx="838200" cy="381000"/>
            </a:xfrm>
            <a:prstGeom prst="wedgeRoundRectCallout">
              <a:avLst>
                <a:gd name="adj1" fmla="val -44162"/>
                <a:gd name="adj2" fmla="val 90166"/>
                <a:gd name="adj3" fmla="val 16667"/>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57200" y="1438275"/>
              <a:ext cx="990600" cy="400110"/>
            </a:xfrm>
            <a:prstGeom prst="rect">
              <a:avLst/>
            </a:prstGeom>
            <a:noFill/>
          </p:spPr>
          <p:txBody>
            <a:bodyPr wrap="square" rtlCol="0">
              <a:spAutoFit/>
            </a:bodyPr>
            <a:lstStyle/>
            <a:p>
              <a:pPr algn="ctr"/>
              <a:r>
                <a:rPr lang="en-US" sz="1000" dirty="0" smtClean="0"/>
                <a:t>Here’s a component</a:t>
              </a:r>
              <a:endParaRPr lang="en-US" sz="1000" dirty="0"/>
            </a:p>
          </p:txBody>
        </p:sp>
      </p:grpSp>
      <p:pic>
        <p:nvPicPr>
          <p:cNvPr id="13" name="Picture 2" descr="C:\Users\cotero\AppData\Local\Microsoft\Windows\Temporary Internet Files\Content.IE5\MFZE6V1B\MC900231557[1].wmf"/>
          <p:cNvPicPr>
            <a:picLocks noChangeAspect="1" noChangeArrowheads="1"/>
          </p:cNvPicPr>
          <p:nvPr/>
        </p:nvPicPr>
        <p:blipFill>
          <a:blip r:embed="rId3" cstate="print"/>
          <a:srcRect/>
          <a:stretch>
            <a:fillRect/>
          </a:stretch>
        </p:blipFill>
        <p:spPr bwMode="auto">
          <a:xfrm flipH="1">
            <a:off x="2209800" y="1676400"/>
            <a:ext cx="533400" cy="710332"/>
          </a:xfrm>
          <a:prstGeom prst="rect">
            <a:avLst/>
          </a:prstGeom>
          <a:noFill/>
        </p:spPr>
      </p:pic>
      <p:sp>
        <p:nvSpPr>
          <p:cNvPr id="14" name="Folded Corner 13"/>
          <p:cNvSpPr/>
          <p:nvPr/>
        </p:nvSpPr>
        <p:spPr>
          <a:xfrm>
            <a:off x="1905000" y="2057400"/>
            <a:ext cx="228600" cy="228600"/>
          </a:xfrm>
          <a:prstGeom prst="foldedCorner">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C:\Users\cotero\AppData\Local\Microsoft\Windows\Temporary Internet Files\Content.IE5\ES8921MZ\MC900048773[1].wmf"/>
          <p:cNvPicPr>
            <a:picLocks noChangeAspect="1" noChangeArrowheads="1"/>
          </p:cNvPicPr>
          <p:nvPr/>
        </p:nvPicPr>
        <p:blipFill>
          <a:blip r:embed="rId4" cstate="print"/>
          <a:srcRect/>
          <a:stretch>
            <a:fillRect/>
          </a:stretch>
        </p:blipFill>
        <p:spPr bwMode="auto">
          <a:xfrm>
            <a:off x="3829050" y="2743200"/>
            <a:ext cx="342115" cy="381000"/>
          </a:xfrm>
          <a:prstGeom prst="rect">
            <a:avLst/>
          </a:prstGeom>
          <a:noFill/>
        </p:spPr>
      </p:pic>
      <p:pic>
        <p:nvPicPr>
          <p:cNvPr id="2050" name="Picture 2"/>
          <p:cNvPicPr>
            <a:picLocks noChangeAspect="1" noChangeArrowheads="1"/>
          </p:cNvPicPr>
          <p:nvPr/>
        </p:nvPicPr>
        <p:blipFill>
          <a:blip r:embed="rId5" cstate="print"/>
          <a:srcRect/>
          <a:stretch>
            <a:fillRect/>
          </a:stretch>
        </p:blipFill>
        <p:spPr bwMode="auto">
          <a:xfrm>
            <a:off x="3124200" y="2819400"/>
            <a:ext cx="171450" cy="314325"/>
          </a:xfrm>
          <a:prstGeom prst="rect">
            <a:avLst/>
          </a:prstGeom>
          <a:noFill/>
          <a:ln w="9525">
            <a:noFill/>
            <a:miter lim="800000"/>
            <a:headEnd/>
            <a:tailEnd/>
          </a:ln>
        </p:spPr>
      </p:pic>
      <p:pic>
        <p:nvPicPr>
          <p:cNvPr id="2051" name="Picture 3"/>
          <p:cNvPicPr>
            <a:picLocks noChangeAspect="1" noChangeArrowheads="1"/>
          </p:cNvPicPr>
          <p:nvPr/>
        </p:nvPicPr>
        <p:blipFill>
          <a:blip r:embed="rId6" cstate="print"/>
          <a:srcRect/>
          <a:stretch>
            <a:fillRect/>
          </a:stretch>
        </p:blipFill>
        <p:spPr bwMode="auto">
          <a:xfrm>
            <a:off x="4419600" y="3429000"/>
            <a:ext cx="209550" cy="257175"/>
          </a:xfrm>
          <a:prstGeom prst="rect">
            <a:avLst/>
          </a:prstGeom>
          <a:noFill/>
          <a:ln w="9525">
            <a:noFill/>
            <a:miter lim="800000"/>
            <a:headEnd/>
            <a:tailEnd/>
          </a:ln>
        </p:spPr>
      </p:pic>
      <p:pic>
        <p:nvPicPr>
          <p:cNvPr id="2052" name="Picture 4"/>
          <p:cNvPicPr>
            <a:picLocks noChangeAspect="1" noChangeArrowheads="1"/>
          </p:cNvPicPr>
          <p:nvPr/>
        </p:nvPicPr>
        <p:blipFill>
          <a:blip r:embed="rId7" cstate="print"/>
          <a:srcRect/>
          <a:stretch>
            <a:fillRect/>
          </a:stretch>
        </p:blipFill>
        <p:spPr bwMode="auto">
          <a:xfrm>
            <a:off x="1143000" y="3886200"/>
            <a:ext cx="2280744" cy="2066925"/>
          </a:xfrm>
          <a:prstGeom prst="rect">
            <a:avLst/>
          </a:prstGeom>
          <a:noFill/>
          <a:ln w="9525">
            <a:noFill/>
            <a:miter lim="800000"/>
            <a:headEnd/>
            <a:tailEnd/>
          </a:ln>
        </p:spPr>
      </p:pic>
      <p:pic>
        <p:nvPicPr>
          <p:cNvPr id="2053" name="Picture 5"/>
          <p:cNvPicPr>
            <a:picLocks noChangeAspect="1" noChangeArrowheads="1"/>
          </p:cNvPicPr>
          <p:nvPr/>
        </p:nvPicPr>
        <p:blipFill>
          <a:blip r:embed="rId8" cstate="print"/>
          <a:srcRect/>
          <a:stretch>
            <a:fillRect/>
          </a:stretch>
        </p:blipFill>
        <p:spPr bwMode="auto">
          <a:xfrm>
            <a:off x="3886200" y="5410200"/>
            <a:ext cx="1828800" cy="160227"/>
          </a:xfrm>
          <a:prstGeom prst="rect">
            <a:avLst/>
          </a:prstGeom>
          <a:noFill/>
          <a:ln w="9525">
            <a:noFill/>
            <a:miter lim="800000"/>
            <a:headEnd/>
            <a:tailEnd/>
          </a:ln>
        </p:spPr>
      </p:pic>
      <p:pic>
        <p:nvPicPr>
          <p:cNvPr id="2054" name="Picture 6"/>
          <p:cNvPicPr>
            <a:picLocks noChangeAspect="1" noChangeArrowheads="1"/>
          </p:cNvPicPr>
          <p:nvPr/>
        </p:nvPicPr>
        <p:blipFill>
          <a:blip r:embed="rId9" cstate="print"/>
          <a:srcRect/>
          <a:stretch>
            <a:fillRect/>
          </a:stretch>
        </p:blipFill>
        <p:spPr bwMode="auto">
          <a:xfrm>
            <a:off x="6248400" y="1981200"/>
            <a:ext cx="2306331" cy="3982092"/>
          </a:xfrm>
          <a:prstGeom prst="rect">
            <a:avLst/>
          </a:prstGeom>
          <a:noFill/>
          <a:ln w="9525">
            <a:noFill/>
            <a:miter lim="800000"/>
            <a:headEnd/>
            <a:tailEnd/>
          </a:ln>
        </p:spPr>
      </p:pic>
      <p:pic>
        <p:nvPicPr>
          <p:cNvPr id="2055" name="Picture 7"/>
          <p:cNvPicPr>
            <a:picLocks noChangeAspect="1" noChangeArrowheads="1"/>
          </p:cNvPicPr>
          <p:nvPr/>
        </p:nvPicPr>
        <p:blipFill>
          <a:blip r:embed="rId10" cstate="print"/>
          <a:srcRect/>
          <a:stretch>
            <a:fillRect/>
          </a:stretch>
        </p:blipFill>
        <p:spPr bwMode="auto">
          <a:xfrm>
            <a:off x="3886200" y="3124200"/>
            <a:ext cx="161925" cy="352425"/>
          </a:xfrm>
          <a:prstGeom prst="rect">
            <a:avLst/>
          </a:prstGeom>
          <a:noFill/>
          <a:ln w="9525">
            <a:noFill/>
            <a:miter lim="800000"/>
            <a:headEnd/>
            <a:tailEnd/>
          </a:ln>
        </p:spPr>
      </p:pic>
      <p:sp>
        <p:nvSpPr>
          <p:cNvPr id="22" name="Freeform 21"/>
          <p:cNvSpPr/>
          <p:nvPr/>
        </p:nvSpPr>
        <p:spPr>
          <a:xfrm>
            <a:off x="2057400" y="2286000"/>
            <a:ext cx="1066800" cy="638175"/>
          </a:xfrm>
          <a:custGeom>
            <a:avLst/>
            <a:gdLst>
              <a:gd name="connsiteX0" fmla="*/ 0 w 1533525"/>
              <a:gd name="connsiteY0" fmla="*/ 0 h 638175"/>
              <a:gd name="connsiteX1" fmla="*/ 590550 w 1533525"/>
              <a:gd name="connsiteY1" fmla="*/ 533400 h 638175"/>
              <a:gd name="connsiteX2" fmla="*/ 1533525 w 1533525"/>
              <a:gd name="connsiteY2" fmla="*/ 628650 h 638175"/>
            </a:gdLst>
            <a:ahLst/>
            <a:cxnLst>
              <a:cxn ang="0">
                <a:pos x="connsiteX0" y="connsiteY0"/>
              </a:cxn>
              <a:cxn ang="0">
                <a:pos x="connsiteX1" y="connsiteY1"/>
              </a:cxn>
              <a:cxn ang="0">
                <a:pos x="connsiteX2" y="connsiteY2"/>
              </a:cxn>
            </a:cxnLst>
            <a:rect l="l" t="t" r="r" b="b"/>
            <a:pathLst>
              <a:path w="1533525" h="638175">
                <a:moveTo>
                  <a:pt x="0" y="0"/>
                </a:moveTo>
                <a:cubicBezTo>
                  <a:pt x="167481" y="214312"/>
                  <a:pt x="334963" y="428625"/>
                  <a:pt x="590550" y="533400"/>
                </a:cubicBezTo>
                <a:cubicBezTo>
                  <a:pt x="846137" y="638175"/>
                  <a:pt x="1189831" y="633412"/>
                  <a:pt x="1533525" y="6286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a:off x="3238500" y="2981325"/>
            <a:ext cx="628650" cy="342900"/>
          </a:xfrm>
          <a:custGeom>
            <a:avLst/>
            <a:gdLst>
              <a:gd name="connsiteX0" fmla="*/ 0 w 628650"/>
              <a:gd name="connsiteY0" fmla="*/ 0 h 342900"/>
              <a:gd name="connsiteX1" fmla="*/ 295275 w 628650"/>
              <a:gd name="connsiteY1" fmla="*/ 285750 h 342900"/>
              <a:gd name="connsiteX2" fmla="*/ 628650 w 628650"/>
              <a:gd name="connsiteY2" fmla="*/ 342900 h 342900"/>
            </a:gdLst>
            <a:ahLst/>
            <a:cxnLst>
              <a:cxn ang="0">
                <a:pos x="connsiteX0" y="connsiteY0"/>
              </a:cxn>
              <a:cxn ang="0">
                <a:pos x="connsiteX1" y="connsiteY1"/>
              </a:cxn>
              <a:cxn ang="0">
                <a:pos x="connsiteX2" y="connsiteY2"/>
              </a:cxn>
            </a:cxnLst>
            <a:rect l="l" t="t" r="r" b="b"/>
            <a:pathLst>
              <a:path w="628650" h="342900">
                <a:moveTo>
                  <a:pt x="0" y="0"/>
                </a:moveTo>
                <a:cubicBezTo>
                  <a:pt x="95250" y="114300"/>
                  <a:pt x="190500" y="228600"/>
                  <a:pt x="295275" y="285750"/>
                </a:cubicBezTo>
                <a:cubicBezTo>
                  <a:pt x="400050" y="342900"/>
                  <a:pt x="514350" y="342900"/>
                  <a:pt x="6286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3981450" y="3419475"/>
            <a:ext cx="485775" cy="182562"/>
          </a:xfrm>
          <a:custGeom>
            <a:avLst/>
            <a:gdLst>
              <a:gd name="connsiteX0" fmla="*/ 0 w 485775"/>
              <a:gd name="connsiteY0" fmla="*/ 0 h 182562"/>
              <a:gd name="connsiteX1" fmla="*/ 152400 w 485775"/>
              <a:gd name="connsiteY1" fmla="*/ 152400 h 182562"/>
              <a:gd name="connsiteX2" fmla="*/ 485775 w 485775"/>
              <a:gd name="connsiteY2" fmla="*/ 180975 h 182562"/>
            </a:gdLst>
            <a:ahLst/>
            <a:cxnLst>
              <a:cxn ang="0">
                <a:pos x="connsiteX0" y="connsiteY0"/>
              </a:cxn>
              <a:cxn ang="0">
                <a:pos x="connsiteX1" y="connsiteY1"/>
              </a:cxn>
              <a:cxn ang="0">
                <a:pos x="connsiteX2" y="connsiteY2"/>
              </a:cxn>
            </a:cxnLst>
            <a:rect l="l" t="t" r="r" b="b"/>
            <a:pathLst>
              <a:path w="485775" h="182562">
                <a:moveTo>
                  <a:pt x="0" y="0"/>
                </a:moveTo>
                <a:cubicBezTo>
                  <a:pt x="35719" y="61119"/>
                  <a:pt x="71438" y="122238"/>
                  <a:pt x="152400" y="152400"/>
                </a:cubicBezTo>
                <a:cubicBezTo>
                  <a:pt x="233362" y="182562"/>
                  <a:pt x="359568" y="181768"/>
                  <a:pt x="485775" y="1809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6" name="Picture 2" descr="C:\Users\cotero\AppData\Local\Microsoft\Windows\Temporary Internet Files\Content.IE5\MFZE6V1B\MC900231557[1].wmf"/>
          <p:cNvPicPr>
            <a:picLocks noChangeAspect="1" noChangeArrowheads="1"/>
          </p:cNvPicPr>
          <p:nvPr/>
        </p:nvPicPr>
        <p:blipFill>
          <a:blip r:embed="rId3" cstate="print"/>
          <a:srcRect/>
          <a:stretch>
            <a:fillRect/>
          </a:stretch>
        </p:blipFill>
        <p:spPr bwMode="auto">
          <a:xfrm>
            <a:off x="2819400" y="2057400"/>
            <a:ext cx="609600" cy="710332"/>
          </a:xfrm>
          <a:prstGeom prst="rect">
            <a:avLst/>
          </a:prstGeom>
          <a:noFill/>
        </p:spPr>
      </p:pic>
      <p:sp>
        <p:nvSpPr>
          <p:cNvPr id="31" name="Cloud Callout 30"/>
          <p:cNvSpPr/>
          <p:nvPr/>
        </p:nvSpPr>
        <p:spPr>
          <a:xfrm>
            <a:off x="4419600" y="1752600"/>
            <a:ext cx="1447800" cy="917448"/>
          </a:xfrm>
          <a:prstGeom prst="cloudCallout">
            <a:avLst>
              <a:gd name="adj1" fmla="val -71875"/>
              <a:gd name="adj2" fmla="val 60945"/>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457700" y="1882914"/>
            <a:ext cx="1371600" cy="707886"/>
          </a:xfrm>
          <a:prstGeom prst="rect">
            <a:avLst/>
          </a:prstGeom>
          <a:noFill/>
        </p:spPr>
        <p:txBody>
          <a:bodyPr wrap="square" rtlCol="0">
            <a:spAutoFit/>
          </a:bodyPr>
          <a:lstStyle/>
          <a:p>
            <a:pPr algn="ctr"/>
            <a:r>
              <a:rPr lang="en-US" sz="1000" dirty="0" smtClean="0"/>
              <a:t>All I need is one class, let me generate the code from the class design</a:t>
            </a:r>
            <a:endParaRPr lang="en-US" sz="1000" dirty="0"/>
          </a:p>
        </p:txBody>
      </p:sp>
      <p:sp>
        <p:nvSpPr>
          <p:cNvPr id="33" name="Freeform 32"/>
          <p:cNvSpPr/>
          <p:nvPr/>
        </p:nvSpPr>
        <p:spPr>
          <a:xfrm>
            <a:off x="3429000" y="4714875"/>
            <a:ext cx="1181100" cy="695325"/>
          </a:xfrm>
          <a:custGeom>
            <a:avLst/>
            <a:gdLst>
              <a:gd name="connsiteX0" fmla="*/ 0 w 1181100"/>
              <a:gd name="connsiteY0" fmla="*/ 0 h 695325"/>
              <a:gd name="connsiteX1" fmla="*/ 342900 w 1181100"/>
              <a:gd name="connsiteY1" fmla="*/ 104775 h 695325"/>
              <a:gd name="connsiteX2" fmla="*/ 1019175 w 1181100"/>
              <a:gd name="connsiteY2" fmla="*/ 133350 h 695325"/>
              <a:gd name="connsiteX3" fmla="*/ 1181100 w 1181100"/>
              <a:gd name="connsiteY3" fmla="*/ 695325 h 695325"/>
            </a:gdLst>
            <a:ahLst/>
            <a:cxnLst>
              <a:cxn ang="0">
                <a:pos x="connsiteX0" y="connsiteY0"/>
              </a:cxn>
              <a:cxn ang="0">
                <a:pos x="connsiteX1" y="connsiteY1"/>
              </a:cxn>
              <a:cxn ang="0">
                <a:pos x="connsiteX2" y="connsiteY2"/>
              </a:cxn>
              <a:cxn ang="0">
                <a:pos x="connsiteX3" y="connsiteY3"/>
              </a:cxn>
            </a:cxnLst>
            <a:rect l="l" t="t" r="r" b="b"/>
            <a:pathLst>
              <a:path w="1181100" h="695325">
                <a:moveTo>
                  <a:pt x="0" y="0"/>
                </a:moveTo>
                <a:cubicBezTo>
                  <a:pt x="86518" y="41275"/>
                  <a:pt x="173037" y="82550"/>
                  <a:pt x="342900" y="104775"/>
                </a:cubicBezTo>
                <a:cubicBezTo>
                  <a:pt x="512763" y="127000"/>
                  <a:pt x="879475" y="34925"/>
                  <a:pt x="1019175" y="133350"/>
                </a:cubicBezTo>
                <a:cubicBezTo>
                  <a:pt x="1158875" y="231775"/>
                  <a:pt x="1169987" y="463550"/>
                  <a:pt x="1181100" y="6953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p:cNvSpPr/>
          <p:nvPr/>
        </p:nvSpPr>
        <p:spPr>
          <a:xfrm>
            <a:off x="3429001" y="3686175"/>
            <a:ext cx="1119188" cy="800100"/>
          </a:xfrm>
          <a:custGeom>
            <a:avLst/>
            <a:gdLst>
              <a:gd name="connsiteX0" fmla="*/ 800100 w 823913"/>
              <a:gd name="connsiteY0" fmla="*/ 0 h 800100"/>
              <a:gd name="connsiteX1" fmla="*/ 762000 w 823913"/>
              <a:gd name="connsiteY1" fmla="*/ 190500 h 800100"/>
              <a:gd name="connsiteX2" fmla="*/ 428625 w 823913"/>
              <a:gd name="connsiteY2" fmla="*/ 466725 h 800100"/>
              <a:gd name="connsiteX3" fmla="*/ 314325 w 823913"/>
              <a:gd name="connsiteY3" fmla="*/ 733425 h 800100"/>
              <a:gd name="connsiteX4" fmla="*/ 0 w 823913"/>
              <a:gd name="connsiteY4" fmla="*/ 80010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13" h="800100">
                <a:moveTo>
                  <a:pt x="800100" y="0"/>
                </a:moveTo>
                <a:cubicBezTo>
                  <a:pt x="812006" y="56356"/>
                  <a:pt x="823913" y="112713"/>
                  <a:pt x="762000" y="190500"/>
                </a:cubicBezTo>
                <a:cubicBezTo>
                  <a:pt x="700088" y="268288"/>
                  <a:pt x="503237" y="376238"/>
                  <a:pt x="428625" y="466725"/>
                </a:cubicBezTo>
                <a:cubicBezTo>
                  <a:pt x="354013" y="557212"/>
                  <a:pt x="385762" y="677863"/>
                  <a:pt x="314325" y="733425"/>
                </a:cubicBezTo>
                <a:cubicBezTo>
                  <a:pt x="242888" y="788987"/>
                  <a:pt x="121444" y="794543"/>
                  <a:pt x="0" y="800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p:cNvSpPr/>
          <p:nvPr/>
        </p:nvSpPr>
        <p:spPr>
          <a:xfrm>
            <a:off x="5705475" y="5505450"/>
            <a:ext cx="542925" cy="381000"/>
          </a:xfrm>
          <a:custGeom>
            <a:avLst/>
            <a:gdLst>
              <a:gd name="connsiteX0" fmla="*/ 0 w 542925"/>
              <a:gd name="connsiteY0" fmla="*/ 0 h 381000"/>
              <a:gd name="connsiteX1" fmla="*/ 133350 w 542925"/>
              <a:gd name="connsiteY1" fmla="*/ 76200 h 381000"/>
              <a:gd name="connsiteX2" fmla="*/ 161925 w 542925"/>
              <a:gd name="connsiteY2" fmla="*/ 314325 h 381000"/>
              <a:gd name="connsiteX3" fmla="*/ 542925 w 542925"/>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542925" h="381000">
                <a:moveTo>
                  <a:pt x="0" y="0"/>
                </a:moveTo>
                <a:cubicBezTo>
                  <a:pt x="53181" y="11906"/>
                  <a:pt x="106363" y="23813"/>
                  <a:pt x="133350" y="76200"/>
                </a:cubicBezTo>
                <a:cubicBezTo>
                  <a:pt x="160338" y="128588"/>
                  <a:pt x="93663" y="263525"/>
                  <a:pt x="161925" y="314325"/>
                </a:cubicBezTo>
                <a:cubicBezTo>
                  <a:pt x="230188" y="365125"/>
                  <a:pt x="386556" y="373062"/>
                  <a:pt x="542925"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1828800" y="1219200"/>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Software Architect</a:t>
            </a:r>
            <a:endParaRPr lang="en-US" sz="1200" b="1" dirty="0">
              <a:solidFill>
                <a:srgbClr val="C00000"/>
              </a:solidFill>
              <a:latin typeface="Bradley Hand ITC" pitchFamily="66" charset="0"/>
            </a:endParaRPr>
          </a:p>
        </p:txBody>
      </p:sp>
      <p:sp>
        <p:nvSpPr>
          <p:cNvPr id="42" name="TextBox 41"/>
          <p:cNvSpPr txBox="1"/>
          <p:nvPr/>
        </p:nvSpPr>
        <p:spPr>
          <a:xfrm>
            <a:off x="3276600" y="2281535"/>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Software Engineer</a:t>
            </a:r>
            <a:endParaRPr lang="en-US" sz="1200" b="1" dirty="0">
              <a:solidFill>
                <a:srgbClr val="C00000"/>
              </a:solidFill>
              <a:latin typeface="Bradley Hand ITC" pitchFamily="66" charset="0"/>
            </a:endParaRPr>
          </a:p>
        </p:txBody>
      </p:sp>
      <p:sp>
        <p:nvSpPr>
          <p:cNvPr id="43" name="TextBox 42"/>
          <p:cNvSpPr txBox="1"/>
          <p:nvPr/>
        </p:nvSpPr>
        <p:spPr>
          <a:xfrm>
            <a:off x="5105400" y="1143000"/>
            <a:ext cx="2895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guy is also a Software Engineer</a:t>
            </a:r>
            <a:endParaRPr lang="en-US" sz="1200" b="1" dirty="0">
              <a:solidFill>
                <a:srgbClr val="C00000"/>
              </a:solidFill>
              <a:latin typeface="Bradley Hand ITC" pitchFamily="66" charset="0"/>
            </a:endParaRPr>
          </a:p>
        </p:txBody>
      </p:sp>
      <p:sp>
        <p:nvSpPr>
          <p:cNvPr id="44" name="Freeform 43"/>
          <p:cNvSpPr/>
          <p:nvPr/>
        </p:nvSpPr>
        <p:spPr>
          <a:xfrm>
            <a:off x="2895600" y="1187450"/>
            <a:ext cx="2362200" cy="269875"/>
          </a:xfrm>
          <a:custGeom>
            <a:avLst/>
            <a:gdLst>
              <a:gd name="connsiteX0" fmla="*/ 2362200 w 2362200"/>
              <a:gd name="connsiteY0" fmla="*/ 79375 h 269875"/>
              <a:gd name="connsiteX1" fmla="*/ 1114425 w 2362200"/>
              <a:gd name="connsiteY1" fmla="*/ 22225 h 269875"/>
              <a:gd name="connsiteX2" fmla="*/ 361950 w 2362200"/>
              <a:gd name="connsiteY2" fmla="*/ 212725 h 269875"/>
              <a:gd name="connsiteX3" fmla="*/ 0 w 2362200"/>
              <a:gd name="connsiteY3" fmla="*/ 269875 h 269875"/>
            </a:gdLst>
            <a:ahLst/>
            <a:cxnLst>
              <a:cxn ang="0">
                <a:pos x="connsiteX0" y="connsiteY0"/>
              </a:cxn>
              <a:cxn ang="0">
                <a:pos x="connsiteX1" y="connsiteY1"/>
              </a:cxn>
              <a:cxn ang="0">
                <a:pos x="connsiteX2" y="connsiteY2"/>
              </a:cxn>
              <a:cxn ang="0">
                <a:pos x="connsiteX3" y="connsiteY3"/>
              </a:cxn>
            </a:cxnLst>
            <a:rect l="l" t="t" r="r" b="b"/>
            <a:pathLst>
              <a:path w="2362200" h="269875">
                <a:moveTo>
                  <a:pt x="2362200" y="79375"/>
                </a:moveTo>
                <a:cubicBezTo>
                  <a:pt x="1905000" y="39687"/>
                  <a:pt x="1447800" y="0"/>
                  <a:pt x="1114425" y="22225"/>
                </a:cubicBezTo>
                <a:cubicBezTo>
                  <a:pt x="781050" y="44450"/>
                  <a:pt x="547687" y="171450"/>
                  <a:pt x="361950" y="212725"/>
                </a:cubicBezTo>
                <a:cubicBezTo>
                  <a:pt x="176213" y="254000"/>
                  <a:pt x="88106" y="261937"/>
                  <a:pt x="0" y="269875"/>
                </a:cubicBezTo>
              </a:path>
            </a:pathLst>
          </a:custGeom>
          <a:ln w="6350">
            <a:solidFill>
              <a:schemeClr val="bg1">
                <a:lumMod val="50000"/>
              </a:schemeClr>
            </a:solidFill>
            <a:prstDash val="sysDash"/>
            <a:headEnd type="diamond"/>
            <a:tailEnd type="diamo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1371600" y="28956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Component designed to meet some system service</a:t>
            </a:r>
            <a:endParaRPr lang="en-US" sz="1200" b="1" dirty="0">
              <a:solidFill>
                <a:srgbClr val="C00000"/>
              </a:solidFill>
              <a:latin typeface="Bradley Hand ITC" pitchFamily="66" charset="0"/>
            </a:endParaRPr>
          </a:p>
        </p:txBody>
      </p:sp>
      <p:sp>
        <p:nvSpPr>
          <p:cNvPr id="47" name="TextBox 46"/>
          <p:cNvSpPr txBox="1"/>
          <p:nvPr/>
        </p:nvSpPr>
        <p:spPr>
          <a:xfrm>
            <a:off x="2152650" y="3362325"/>
            <a:ext cx="1981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Class designed to realize the component’s services</a:t>
            </a:r>
            <a:endParaRPr lang="en-US" sz="1200" b="1" dirty="0">
              <a:solidFill>
                <a:srgbClr val="C00000"/>
              </a:solidFill>
              <a:latin typeface="Bradley Hand ITC" pitchFamily="66" charset="0"/>
            </a:endParaRPr>
          </a:p>
        </p:txBody>
      </p:sp>
      <p:sp>
        <p:nvSpPr>
          <p:cNvPr id="49" name="TextBox 48"/>
          <p:cNvSpPr txBox="1"/>
          <p:nvPr/>
        </p:nvSpPr>
        <p:spPr>
          <a:xfrm>
            <a:off x="4343400" y="3253085"/>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Code generated from the class specification</a:t>
            </a:r>
            <a:endParaRPr lang="en-US" sz="1200" b="1" dirty="0">
              <a:solidFill>
                <a:srgbClr val="C00000"/>
              </a:solidFill>
              <a:latin typeface="Bradley Hand ITC" pitchFamily="66" charset="0"/>
            </a:endParaRPr>
          </a:p>
        </p:txBody>
      </p:sp>
      <p:sp>
        <p:nvSpPr>
          <p:cNvPr id="51" name="TextBox 50"/>
          <p:cNvSpPr txBox="1"/>
          <p:nvPr/>
        </p:nvSpPr>
        <p:spPr>
          <a:xfrm>
            <a:off x="3352800" y="55626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Binary file is generated from code compilation and build process.</a:t>
            </a:r>
            <a:endParaRPr lang="en-US" sz="1200" b="1" dirty="0">
              <a:solidFill>
                <a:srgbClr val="C00000"/>
              </a:solidFill>
              <a:latin typeface="Bradley Hand ITC" pitchFamily="66" charset="0"/>
            </a:endParaRPr>
          </a:p>
        </p:txBody>
      </p:sp>
      <p:sp>
        <p:nvSpPr>
          <p:cNvPr id="57" name="TextBox 56"/>
          <p:cNvSpPr txBox="1"/>
          <p:nvPr/>
        </p:nvSpPr>
        <p:spPr>
          <a:xfrm>
            <a:off x="6248400" y="59436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Binary file is executed</a:t>
            </a:r>
            <a:endParaRPr lang="en-US" sz="1200" b="1" dirty="0">
              <a:solidFill>
                <a:srgbClr val="C00000"/>
              </a:solidFill>
              <a:latin typeface="Bradley Hand ITC" pitchFamily="66" charset="0"/>
            </a:endParaRPr>
          </a:p>
        </p:txBody>
      </p:sp>
      <p:sp>
        <p:nvSpPr>
          <p:cNvPr id="58" name="TextBox 57"/>
          <p:cNvSpPr txBox="1"/>
          <p:nvPr/>
        </p:nvSpPr>
        <p:spPr>
          <a:xfrm>
            <a:off x="609600" y="838200"/>
            <a:ext cx="12954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200" b="1" dirty="0" smtClean="0">
                <a:solidFill>
                  <a:srgbClr val="C00000"/>
                </a:solidFill>
                <a:latin typeface="Bradley Hand ITC" pitchFamily="66" charset="0"/>
              </a:rPr>
              <a:t>Conceptual View of the Process</a:t>
            </a:r>
            <a:endParaRPr lang="en-US" sz="1200" b="1" dirty="0">
              <a:solidFill>
                <a:srgbClr val="C00000"/>
              </a:solidFill>
              <a:latin typeface="Bradley Hand ITC" pitchFamily="66" charset="0"/>
            </a:endParaRPr>
          </a:p>
        </p:txBody>
      </p:sp>
      <p:sp>
        <p:nvSpPr>
          <p:cNvPr id="59" name="TextBox 58"/>
          <p:cNvSpPr txBox="1"/>
          <p:nvPr/>
        </p:nvSpPr>
        <p:spPr>
          <a:xfrm>
            <a:off x="933450" y="2238375"/>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Requirements document</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Principles for Internal Component Design</a:t>
            </a:r>
            <a:endParaRPr lang="en-US" dirty="0"/>
          </a:p>
        </p:txBody>
      </p:sp>
      <p:sp>
        <p:nvSpPr>
          <p:cNvPr id="3" name="Content Placeholder 2"/>
          <p:cNvSpPr>
            <a:spLocks noGrp="1"/>
          </p:cNvSpPr>
          <p:nvPr>
            <p:ph idx="1"/>
          </p:nvPr>
        </p:nvSpPr>
        <p:spPr>
          <a:xfrm>
            <a:off x="457200" y="1371601"/>
            <a:ext cx="8229600" cy="4952999"/>
          </a:xfrm>
        </p:spPr>
        <p:txBody>
          <a:bodyPr>
            <a:normAutofit fontScale="85000" lnSpcReduction="10000"/>
          </a:bodyPr>
          <a:lstStyle/>
          <a:p>
            <a:r>
              <a:rPr lang="en-US" dirty="0" smtClean="0"/>
              <a:t>In previous modules, we introduced the concept of quality and discussed several important ones, such as modifiability, performance, etc.</a:t>
            </a:r>
          </a:p>
          <a:p>
            <a:endParaRPr lang="en-US" dirty="0" smtClean="0"/>
          </a:p>
          <a:p>
            <a:r>
              <a:rPr lang="en-US" dirty="0" smtClean="0"/>
              <a:t>Let’s focus on modifiability; what does this mean at the detailed design level?</a:t>
            </a:r>
          </a:p>
          <a:p>
            <a:pPr lvl="1"/>
            <a:r>
              <a:rPr lang="en-US" dirty="0" smtClean="0"/>
              <a:t>Minimizing the degree of complexity involved when changing the system to fit current or future needs.  This is hard when working with the level of detail that is required during the detailed design activity!</a:t>
            </a:r>
          </a:p>
          <a:p>
            <a:pPr lvl="1"/>
            <a:r>
              <a:rPr lang="en-US" dirty="0" smtClean="0"/>
              <a:t>Modifiability cannot be met alone with sound architectural designs; detailed design is crucial to meet this quality attribute.</a:t>
            </a:r>
          </a:p>
          <a:p>
            <a:pPr lvl="1">
              <a:buNone/>
            </a:pPr>
            <a:endParaRPr lang="en-US" dirty="0" smtClean="0"/>
          </a:p>
          <a:p>
            <a:r>
              <a:rPr lang="en-US" dirty="0" smtClean="0"/>
              <a:t>Component designs that evolve gracefully over time are hard to achieve. </a:t>
            </a:r>
          </a:p>
          <a:p>
            <a:pPr lvl="1"/>
            <a:r>
              <a:rPr lang="en-US" dirty="0" smtClean="0"/>
              <a:t>Therefore, when designing software at the component-level, several principles have to be followed to create designs that are reusable, easier to modify, and easier to maintain.</a:t>
            </a:r>
          </a:p>
          <a:p>
            <a:endParaRPr lang="en-US" dirty="0" smtClean="0"/>
          </a:p>
          <a:p>
            <a:r>
              <a:rPr lang="en-US" dirty="0" smtClean="0"/>
              <a:t>OO Design principles for internal component design include:</a:t>
            </a:r>
          </a:p>
          <a:p>
            <a:pPr lvl="1"/>
            <a:r>
              <a:rPr lang="en-US" dirty="0" smtClean="0"/>
              <a:t>The Open-Closed Principle</a:t>
            </a:r>
          </a:p>
          <a:p>
            <a:pPr lvl="1"/>
            <a:r>
              <a:rPr lang="en-US" dirty="0" smtClean="0"/>
              <a:t>The Liskov Substitution Principle</a:t>
            </a:r>
          </a:p>
          <a:p>
            <a:pPr lvl="1"/>
            <a:r>
              <a:rPr lang="en-US" dirty="0" smtClean="0"/>
              <a:t>The Dependency-Inversion Principle</a:t>
            </a:r>
          </a:p>
          <a:p>
            <a:pPr lvl="1"/>
            <a:r>
              <a:rPr lang="en-US" dirty="0" smtClean="0"/>
              <a:t>The Interface-Segregation Principle</a:t>
            </a:r>
          </a:p>
          <a:p>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3" name="Content Placeholder 2"/>
          <p:cNvSpPr>
            <a:spLocks noGrp="1"/>
          </p:cNvSpPr>
          <p:nvPr>
            <p:ph idx="1"/>
          </p:nvPr>
        </p:nvSpPr>
        <p:spPr/>
        <p:txBody>
          <a:bodyPr>
            <a:normAutofit/>
          </a:bodyPr>
          <a:lstStyle/>
          <a:p>
            <a:pPr>
              <a:defRPr/>
            </a:pPr>
            <a:r>
              <a:rPr lang="en-US" dirty="0" smtClean="0"/>
              <a:t>The </a:t>
            </a:r>
            <a:r>
              <a:rPr lang="en-US" sz="1800" i="1" dirty="0" smtClean="0"/>
              <a:t>Open-Closed principle (OCP) </a:t>
            </a:r>
            <a:r>
              <a:rPr lang="en-US" dirty="0" smtClean="0"/>
              <a:t>is an essential principle for creating reusable and modifiable systems that evolve gracefully with time.</a:t>
            </a:r>
          </a:p>
          <a:p>
            <a:pPr>
              <a:buNone/>
              <a:defRPr/>
            </a:pPr>
            <a:endParaRPr lang="en-US" dirty="0" smtClean="0"/>
          </a:p>
          <a:p>
            <a:pPr>
              <a:defRPr/>
            </a:pPr>
            <a:r>
              <a:rPr lang="en-US" dirty="0" smtClean="0"/>
              <a:t>The OCP was originally coined by Bertrand Meyer [1] and it states that </a:t>
            </a:r>
            <a:r>
              <a:rPr lang="en-US" sz="1800" i="1" dirty="0" smtClean="0"/>
              <a:t>software designs should be open to </a:t>
            </a:r>
            <a:r>
              <a:rPr lang="en-US" sz="1800" i="1" dirty="0" smtClean="0">
                <a:solidFill>
                  <a:srgbClr val="FF0000"/>
                </a:solidFill>
              </a:rPr>
              <a:t>extension</a:t>
            </a:r>
            <a:r>
              <a:rPr lang="en-US" sz="1800" i="1" dirty="0" smtClean="0"/>
              <a:t> but closed for </a:t>
            </a:r>
            <a:r>
              <a:rPr lang="en-US" sz="1800" i="1" dirty="0" smtClean="0">
                <a:solidFill>
                  <a:srgbClr val="FF0000"/>
                </a:solidFill>
              </a:rPr>
              <a:t>modification</a:t>
            </a:r>
            <a:r>
              <a:rPr lang="en-US" dirty="0" smtClean="0"/>
              <a:t>.</a:t>
            </a:r>
          </a:p>
          <a:p>
            <a:pPr lvl="1">
              <a:defRPr/>
            </a:pPr>
            <a:r>
              <a:rPr lang="en-US" dirty="0" smtClean="0"/>
              <a:t>The main idea behind the OCP is that code that works should remain untouched and that new additions should be extensions of the original work.</a:t>
            </a:r>
          </a:p>
          <a:p>
            <a:pPr>
              <a:buNone/>
              <a:defRPr/>
            </a:pPr>
            <a:endParaRPr lang="en-US" dirty="0" smtClean="0"/>
          </a:p>
          <a:p>
            <a:pPr>
              <a:defRPr/>
            </a:pPr>
            <a:r>
              <a:rPr lang="en-US" dirty="0" smtClean="0"/>
              <a:t>That sounds contradictory, how can that be?</a:t>
            </a:r>
          </a:p>
          <a:p>
            <a:pPr lvl="1">
              <a:defRPr/>
            </a:pPr>
            <a:r>
              <a:rPr lang="en-US" dirty="0" smtClean="0"/>
              <a:t>Being close to modifications does not mean that designs cannot be modified; it means that modifications should be done by adding new code, and incorporating this new code in the system in ways that does not require old code to be changed!</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3505200" y="1828800"/>
            <a:ext cx="5276850" cy="3629025"/>
          </a:xfrm>
          <a:prstGeom prst="rect">
            <a:avLst/>
          </a:prstGeom>
          <a:noFill/>
          <a:ln w="9525">
            <a:noFill/>
            <a:miter lim="800000"/>
            <a:headEnd/>
            <a:tailEnd/>
          </a:ln>
        </p:spPr>
      </p:pic>
      <p:sp>
        <p:nvSpPr>
          <p:cNvPr id="8" name="Rectangle 7"/>
          <p:cNvSpPr/>
          <p:nvPr/>
        </p:nvSpPr>
        <p:spPr>
          <a:xfrm>
            <a:off x="457200" y="1828800"/>
            <a:ext cx="2819400" cy="1815882"/>
          </a:xfrm>
          <a:prstGeom prst="rect">
            <a:avLst/>
          </a:prstGeom>
          <a:ln>
            <a:solidFill>
              <a:schemeClr val="bg1">
                <a:lumMod val="50000"/>
              </a:schemeClr>
            </a:solidFill>
          </a:ln>
          <a:effectLst>
            <a:outerShdw blurRad="63500" sx="102000" sy="102000" algn="ctr" rotWithShape="0">
              <a:prstClr val="black">
                <a:alpha val="40000"/>
              </a:prstClr>
            </a:outerShdw>
          </a:effectLst>
        </p:spPr>
        <p:txBody>
          <a:bodyPr wrap="square">
            <a:spAutoFit/>
          </a:bodyPr>
          <a:lstStyle/>
          <a:p>
            <a:r>
              <a:rPr lang="en-US" sz="1600" dirty="0" smtClean="0">
                <a:latin typeface="Times New Roman" pitchFamily="18" charset="0"/>
                <a:cs typeface="Times New Roman" pitchFamily="18" charset="0"/>
              </a:rPr>
              <a:t>Consider a fictional </a:t>
            </a:r>
            <a:r>
              <a:rPr lang="en-US" sz="1600" b="1" dirty="0" smtClean="0">
                <a:latin typeface="Times New Roman" pitchFamily="18" charset="0"/>
                <a:cs typeface="Times New Roman" pitchFamily="18" charset="0"/>
              </a:rPr>
              <a:t>gaming system</a:t>
            </a:r>
            <a:r>
              <a:rPr lang="en-US" sz="1600" dirty="0" smtClean="0">
                <a:latin typeface="Times New Roman" pitchFamily="18" charset="0"/>
                <a:cs typeface="Times New Roman" pitchFamily="18" charset="0"/>
              </a:rPr>
              <a:t> that includes </a:t>
            </a:r>
            <a:r>
              <a:rPr lang="en-US" sz="1600" b="1" dirty="0" smtClean="0">
                <a:latin typeface="Times New Roman" pitchFamily="18" charset="0"/>
                <a:cs typeface="Times New Roman" pitchFamily="18" charset="0"/>
              </a:rPr>
              <a:t>several types of terrestrial characters</a:t>
            </a:r>
            <a:r>
              <a:rPr lang="en-US" sz="1600" dirty="0" smtClean="0">
                <a:latin typeface="Times New Roman" pitchFamily="18" charset="0"/>
                <a:cs typeface="Times New Roman" pitchFamily="18" charset="0"/>
              </a:rPr>
              <a:t>, ones that can roam freely over land.  </a:t>
            </a:r>
            <a:r>
              <a:rPr lang="en-US" sz="1600" i="1" dirty="0" smtClean="0">
                <a:latin typeface="Times New Roman" pitchFamily="18" charset="0"/>
                <a:cs typeface="Times New Roman" pitchFamily="18" charset="0"/>
              </a:rPr>
              <a:t>It is anticipated that new characters will be added in the future</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
        <p:nvSpPr>
          <p:cNvPr id="9" name="TextBox 8"/>
          <p:cNvSpPr txBox="1"/>
          <p:nvPr/>
        </p:nvSpPr>
        <p:spPr>
          <a:xfrm>
            <a:off x="971550" y="4038600"/>
            <a:ext cx="2057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What can you tell me about the add(…) function?</a:t>
            </a:r>
            <a:endParaRPr lang="en-US" sz="1200" b="1" dirty="0">
              <a:solidFill>
                <a:srgbClr val="C00000"/>
              </a:solidFill>
              <a:latin typeface="Bradley Hand ITC" pitchFamily="66" charset="0"/>
            </a:endParaRPr>
          </a:p>
        </p:txBody>
      </p:sp>
      <p:sp>
        <p:nvSpPr>
          <p:cNvPr id="10" name="Freeform 9"/>
          <p:cNvSpPr/>
          <p:nvPr/>
        </p:nvSpPr>
        <p:spPr>
          <a:xfrm>
            <a:off x="2790825" y="4276725"/>
            <a:ext cx="866775" cy="184150"/>
          </a:xfrm>
          <a:custGeom>
            <a:avLst/>
            <a:gdLst>
              <a:gd name="connsiteX0" fmla="*/ 0 w 866775"/>
              <a:gd name="connsiteY0" fmla="*/ 76200 h 184150"/>
              <a:gd name="connsiteX1" fmla="*/ 438150 w 866775"/>
              <a:gd name="connsiteY1" fmla="*/ 171450 h 184150"/>
              <a:gd name="connsiteX2" fmla="*/ 866775 w 866775"/>
              <a:gd name="connsiteY2" fmla="*/ 0 h 184150"/>
            </a:gdLst>
            <a:ahLst/>
            <a:cxnLst>
              <a:cxn ang="0">
                <a:pos x="connsiteX0" y="connsiteY0"/>
              </a:cxn>
              <a:cxn ang="0">
                <a:pos x="connsiteX1" y="connsiteY1"/>
              </a:cxn>
              <a:cxn ang="0">
                <a:pos x="connsiteX2" y="connsiteY2"/>
              </a:cxn>
            </a:cxnLst>
            <a:rect l="l" t="t" r="r" b="b"/>
            <a:pathLst>
              <a:path w="866775" h="184150">
                <a:moveTo>
                  <a:pt x="0" y="76200"/>
                </a:moveTo>
                <a:cubicBezTo>
                  <a:pt x="146844" y="130175"/>
                  <a:pt x="293688" y="184150"/>
                  <a:pt x="438150" y="171450"/>
                </a:cubicBezTo>
                <a:cubicBezTo>
                  <a:pt x="582612" y="158750"/>
                  <a:pt x="724693" y="79375"/>
                  <a:pt x="8667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066800" y="4953000"/>
            <a:ext cx="2209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What happens if we add a new requirement to support other types of characters, e.g., an AerialCharacter that can fly?</a:t>
            </a:r>
            <a:endParaRPr lang="en-US" sz="1200" b="1" dirty="0">
              <a:solidFill>
                <a:srgbClr val="C00000"/>
              </a:solidFill>
              <a:latin typeface="Bradley Hand ITC" pitchFamily="66" charset="0"/>
            </a:endParaRPr>
          </a:p>
        </p:txBody>
      </p:sp>
      <p:sp>
        <p:nvSpPr>
          <p:cNvPr id="12" name="Freeform 11"/>
          <p:cNvSpPr/>
          <p:nvPr/>
        </p:nvSpPr>
        <p:spPr>
          <a:xfrm>
            <a:off x="3124200" y="5715001"/>
            <a:ext cx="457200" cy="381000"/>
          </a:xfrm>
          <a:custGeom>
            <a:avLst/>
            <a:gdLst>
              <a:gd name="connsiteX0" fmla="*/ 0 w 1276350"/>
              <a:gd name="connsiteY0" fmla="*/ 0 h 455612"/>
              <a:gd name="connsiteX1" fmla="*/ 600075 w 1276350"/>
              <a:gd name="connsiteY1" fmla="*/ 381000 h 455612"/>
              <a:gd name="connsiteX2" fmla="*/ 1276350 w 1276350"/>
              <a:gd name="connsiteY2" fmla="*/ 447675 h 455612"/>
            </a:gdLst>
            <a:ahLst/>
            <a:cxnLst>
              <a:cxn ang="0">
                <a:pos x="connsiteX0" y="connsiteY0"/>
              </a:cxn>
              <a:cxn ang="0">
                <a:pos x="connsiteX1" y="connsiteY1"/>
              </a:cxn>
              <a:cxn ang="0">
                <a:pos x="connsiteX2" y="connsiteY2"/>
              </a:cxn>
            </a:cxnLst>
            <a:rect l="l" t="t" r="r" b="b"/>
            <a:pathLst>
              <a:path w="1276350" h="455612">
                <a:moveTo>
                  <a:pt x="0" y="0"/>
                </a:moveTo>
                <a:cubicBezTo>
                  <a:pt x="193675" y="153194"/>
                  <a:pt x="387350" y="306388"/>
                  <a:pt x="600075" y="381000"/>
                </a:cubicBezTo>
                <a:cubicBezTo>
                  <a:pt x="812800" y="455612"/>
                  <a:pt x="1044575" y="451643"/>
                  <a:pt x="1276350" y="4476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276600" y="5791200"/>
            <a:ext cx="5334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Yes, that is right, we would have to change the code inside the add(…) method.  This violates the OCP !  Let’s see an improved version in the next slide…</a:t>
            </a:r>
            <a:endParaRPr lang="en-US" sz="1200" b="1" dirty="0">
              <a:solidFill>
                <a:srgbClr val="C00000"/>
              </a:solidFill>
              <a:latin typeface="Bradley Hand ITC" pitchFamily="66" charset="0"/>
            </a:endParaRPr>
          </a:p>
        </p:txBody>
      </p:sp>
      <p:sp>
        <p:nvSpPr>
          <p:cNvPr id="15" name="TextBox 14"/>
          <p:cNvSpPr txBox="1"/>
          <p:nvPr/>
        </p:nvSpPr>
        <p:spPr>
          <a:xfrm>
            <a:off x="6324600" y="1371600"/>
            <a:ext cx="2286000" cy="830997"/>
          </a:xfrm>
          <a:prstGeom prst="rect">
            <a:avLst/>
          </a:prstGeom>
          <a:noFill/>
          <a:ln>
            <a:solidFill>
              <a:srgbClr val="969696"/>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Note</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This is really not the code for a gaming system!  The code is for illustration purpose.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grpSp>
        <p:nvGrpSpPr>
          <p:cNvPr id="15" name="Group 14"/>
          <p:cNvGrpSpPr/>
          <p:nvPr/>
        </p:nvGrpSpPr>
        <p:grpSpPr>
          <a:xfrm>
            <a:off x="3124200" y="1447800"/>
            <a:ext cx="2895600" cy="1371600"/>
            <a:chOff x="2971800" y="1295400"/>
            <a:chExt cx="2895600" cy="1371600"/>
          </a:xfrm>
        </p:grpSpPr>
        <p:pic>
          <p:nvPicPr>
            <p:cNvPr id="4098" name="Picture 2"/>
            <p:cNvPicPr>
              <a:picLocks noChangeAspect="1" noChangeArrowheads="1"/>
            </p:cNvPicPr>
            <p:nvPr/>
          </p:nvPicPr>
          <p:blipFill>
            <a:blip r:embed="rId2" cstate="print"/>
            <a:srcRect/>
            <a:stretch>
              <a:fillRect/>
            </a:stretch>
          </p:blipFill>
          <p:spPr bwMode="auto">
            <a:xfrm>
              <a:off x="3048000" y="1371600"/>
              <a:ext cx="2743200" cy="1225118"/>
            </a:xfrm>
            <a:prstGeom prst="rect">
              <a:avLst/>
            </a:prstGeom>
            <a:noFill/>
            <a:ln w="9525">
              <a:noFill/>
              <a:miter lim="800000"/>
              <a:headEnd/>
              <a:tailEnd/>
            </a:ln>
          </p:spPr>
        </p:pic>
        <p:sp>
          <p:nvSpPr>
            <p:cNvPr id="10" name="Folded Corner 9"/>
            <p:cNvSpPr/>
            <p:nvPr/>
          </p:nvSpPr>
          <p:spPr>
            <a:xfrm>
              <a:off x="2971800" y="1295400"/>
              <a:ext cx="2895600" cy="13716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533400" y="3048000"/>
            <a:ext cx="2819400" cy="3048000"/>
            <a:chOff x="1143000" y="3352800"/>
            <a:chExt cx="2819400" cy="3048000"/>
          </a:xfrm>
        </p:grpSpPr>
        <p:pic>
          <p:nvPicPr>
            <p:cNvPr id="4099" name="Picture 3"/>
            <p:cNvPicPr>
              <a:picLocks noChangeAspect="1" noChangeArrowheads="1"/>
            </p:cNvPicPr>
            <p:nvPr/>
          </p:nvPicPr>
          <p:blipFill>
            <a:blip r:embed="rId3" cstate="print"/>
            <a:srcRect/>
            <a:stretch>
              <a:fillRect/>
            </a:stretch>
          </p:blipFill>
          <p:spPr bwMode="auto">
            <a:xfrm>
              <a:off x="1209676" y="3505200"/>
              <a:ext cx="2617460" cy="2819400"/>
            </a:xfrm>
            <a:prstGeom prst="rect">
              <a:avLst/>
            </a:prstGeom>
            <a:noFill/>
            <a:ln w="9525">
              <a:noFill/>
              <a:miter lim="800000"/>
              <a:headEnd/>
              <a:tailEnd/>
            </a:ln>
          </p:spPr>
        </p:pic>
        <p:sp>
          <p:nvSpPr>
            <p:cNvPr id="11" name="Folded Corner 10"/>
            <p:cNvSpPr/>
            <p:nvPr/>
          </p:nvSpPr>
          <p:spPr>
            <a:xfrm>
              <a:off x="1143000" y="3352800"/>
              <a:ext cx="2819400" cy="3048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5562600" y="3048000"/>
            <a:ext cx="3124200" cy="3048000"/>
            <a:chOff x="4572000" y="3276600"/>
            <a:chExt cx="3124200" cy="3048000"/>
          </a:xfrm>
        </p:grpSpPr>
        <p:pic>
          <p:nvPicPr>
            <p:cNvPr id="4100" name="Picture 4"/>
            <p:cNvPicPr>
              <a:picLocks noChangeAspect="1" noChangeArrowheads="1"/>
            </p:cNvPicPr>
            <p:nvPr/>
          </p:nvPicPr>
          <p:blipFill>
            <a:blip r:embed="rId4" cstate="print"/>
            <a:srcRect/>
            <a:stretch>
              <a:fillRect/>
            </a:stretch>
          </p:blipFill>
          <p:spPr bwMode="auto">
            <a:xfrm>
              <a:off x="4648200" y="3399064"/>
              <a:ext cx="2971800" cy="2830286"/>
            </a:xfrm>
            <a:prstGeom prst="rect">
              <a:avLst/>
            </a:prstGeom>
            <a:noFill/>
            <a:ln w="9525">
              <a:noFill/>
              <a:miter lim="800000"/>
              <a:headEnd/>
              <a:tailEnd/>
            </a:ln>
          </p:spPr>
        </p:pic>
        <p:sp>
          <p:nvSpPr>
            <p:cNvPr id="12" name="Folded Corner 11"/>
            <p:cNvSpPr/>
            <p:nvPr/>
          </p:nvSpPr>
          <p:spPr>
            <a:xfrm>
              <a:off x="4572000" y="3276600"/>
              <a:ext cx="3124200" cy="3048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685800" y="2514600"/>
            <a:ext cx="342115" cy="381000"/>
          </a:xfrm>
          <a:prstGeom prst="rect">
            <a:avLst/>
          </a:prstGeom>
          <a:noFill/>
        </p:spPr>
      </p:pic>
      <p:sp>
        <p:nvSpPr>
          <p:cNvPr id="17" name="Cloud Callout 16"/>
          <p:cNvSpPr/>
          <p:nvPr/>
        </p:nvSpPr>
        <p:spPr>
          <a:xfrm>
            <a:off x="1295400" y="1371600"/>
            <a:ext cx="1676400" cy="1066800"/>
          </a:xfrm>
          <a:prstGeom prst="cloudCallout">
            <a:avLst>
              <a:gd name="adj1" fmla="val -64913"/>
              <a:gd name="adj2" fmla="val 55588"/>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371599" y="1501914"/>
            <a:ext cx="1552575" cy="861774"/>
          </a:xfrm>
          <a:prstGeom prst="rect">
            <a:avLst/>
          </a:prstGeom>
          <a:noFill/>
        </p:spPr>
        <p:txBody>
          <a:bodyPr wrap="square" rtlCol="0">
            <a:spAutoFit/>
          </a:bodyPr>
          <a:lstStyle/>
          <a:p>
            <a:pPr algn="ctr"/>
            <a:r>
              <a:rPr lang="en-US" sz="1000" dirty="0" smtClean="0"/>
              <a:t>Too easy! I’ll just create a base Character and have both terrestrial and aerial characters derive from it. Done!</a:t>
            </a:r>
            <a:endParaRPr lang="en-US" sz="1000" dirty="0"/>
          </a:p>
        </p:txBody>
      </p:sp>
      <p:sp>
        <p:nvSpPr>
          <p:cNvPr id="19" name="TextBox 18"/>
          <p:cNvSpPr txBox="1"/>
          <p:nvPr/>
        </p:nvSpPr>
        <p:spPr>
          <a:xfrm>
            <a:off x="533400" y="2819400"/>
            <a:ext cx="838200" cy="215444"/>
          </a:xfrm>
          <a:prstGeom prst="rect">
            <a:avLst/>
          </a:prstGeom>
          <a:noFill/>
        </p:spPr>
        <p:txBody>
          <a:bodyPr wrap="square" rtlCol="0">
            <a:spAutoFit/>
          </a:bodyPr>
          <a:lstStyle/>
          <a:p>
            <a:r>
              <a:rPr lang="en-US" sz="800" dirty="0" smtClean="0"/>
              <a:t>Joe Developer</a:t>
            </a:r>
            <a:endParaRPr lang="en-US" sz="800" dirty="0"/>
          </a:p>
        </p:txBody>
      </p:sp>
      <p:sp>
        <p:nvSpPr>
          <p:cNvPr id="20" name="TextBox 19"/>
          <p:cNvSpPr txBox="1"/>
          <p:nvPr/>
        </p:nvSpPr>
        <p:spPr>
          <a:xfrm>
            <a:off x="6143625" y="14478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Joe Developer decided to abstract the </a:t>
            </a:r>
            <a:r>
              <a:rPr lang="en-US" sz="1200" b="1" u="sng" dirty="0" smtClean="0">
                <a:solidFill>
                  <a:srgbClr val="C00000"/>
                </a:solidFill>
                <a:latin typeface="Bradley Hand ITC" pitchFamily="66" charset="0"/>
              </a:rPr>
              <a:t>Character</a:t>
            </a:r>
            <a:r>
              <a:rPr lang="en-US" sz="1200" b="1" dirty="0" smtClean="0">
                <a:solidFill>
                  <a:srgbClr val="C00000"/>
                </a:solidFill>
                <a:latin typeface="Bradley Hand ITC" pitchFamily="66" charset="0"/>
              </a:rPr>
              <a:t> concept and separate it from more specific Character types</a:t>
            </a:r>
            <a:endParaRPr lang="en-US" sz="1200" b="1" dirty="0">
              <a:solidFill>
                <a:srgbClr val="C00000"/>
              </a:solidFill>
              <a:latin typeface="Bradley Hand ITC" pitchFamily="66" charset="0"/>
            </a:endParaRPr>
          </a:p>
        </p:txBody>
      </p:sp>
      <p:sp>
        <p:nvSpPr>
          <p:cNvPr id="21" name="Freeform 20"/>
          <p:cNvSpPr/>
          <p:nvPr/>
        </p:nvSpPr>
        <p:spPr>
          <a:xfrm>
            <a:off x="6057901" y="1905000"/>
            <a:ext cx="419100" cy="363537"/>
          </a:xfrm>
          <a:custGeom>
            <a:avLst/>
            <a:gdLst>
              <a:gd name="connsiteX0" fmla="*/ 638175 w 638175"/>
              <a:gd name="connsiteY0" fmla="*/ 0 h 363537"/>
              <a:gd name="connsiteX1" fmla="*/ 466725 w 638175"/>
              <a:gd name="connsiteY1" fmla="*/ 66675 h 363537"/>
              <a:gd name="connsiteX2" fmla="*/ 285750 w 638175"/>
              <a:gd name="connsiteY2" fmla="*/ 314325 h 363537"/>
              <a:gd name="connsiteX3" fmla="*/ 0 w 638175"/>
              <a:gd name="connsiteY3" fmla="*/ 361950 h 363537"/>
            </a:gdLst>
            <a:ahLst/>
            <a:cxnLst>
              <a:cxn ang="0">
                <a:pos x="connsiteX0" y="connsiteY0"/>
              </a:cxn>
              <a:cxn ang="0">
                <a:pos x="connsiteX1" y="connsiteY1"/>
              </a:cxn>
              <a:cxn ang="0">
                <a:pos x="connsiteX2" y="connsiteY2"/>
              </a:cxn>
              <a:cxn ang="0">
                <a:pos x="connsiteX3" y="connsiteY3"/>
              </a:cxn>
            </a:cxnLst>
            <a:rect l="l" t="t" r="r" b="b"/>
            <a:pathLst>
              <a:path w="638175" h="363537">
                <a:moveTo>
                  <a:pt x="638175" y="0"/>
                </a:moveTo>
                <a:cubicBezTo>
                  <a:pt x="581818" y="7144"/>
                  <a:pt x="525462" y="14288"/>
                  <a:pt x="466725" y="66675"/>
                </a:cubicBezTo>
                <a:cubicBezTo>
                  <a:pt x="407988" y="119062"/>
                  <a:pt x="363537" y="265113"/>
                  <a:pt x="285750" y="314325"/>
                </a:cubicBezTo>
                <a:cubicBezTo>
                  <a:pt x="207963" y="363537"/>
                  <a:pt x="103981" y="362743"/>
                  <a:pt x="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p:cNvSpPr txBox="1"/>
          <p:nvPr/>
        </p:nvSpPr>
        <p:spPr>
          <a:xfrm>
            <a:off x="3286125" y="3352800"/>
            <a:ext cx="2362200" cy="120032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Since Terrestrial characters run and Aerial ones fly, Joe decided to delegate creation of these functions to subtypes, namely, TerrestrialCharacter and AerialCharacter</a:t>
            </a:r>
            <a:endParaRPr lang="en-US" sz="1200" b="1" dirty="0">
              <a:solidFill>
                <a:srgbClr val="C00000"/>
              </a:solidFill>
              <a:latin typeface="Bradley Hand ITC" pitchFamily="66" charset="0"/>
            </a:endParaRPr>
          </a:p>
        </p:txBody>
      </p:sp>
      <p:cxnSp>
        <p:nvCxnSpPr>
          <p:cNvPr id="27" name="Straight Arrow Connector 26"/>
          <p:cNvCxnSpPr/>
          <p:nvPr/>
        </p:nvCxnSpPr>
        <p:spPr>
          <a:xfrm flipH="1">
            <a:off x="2057400" y="5372100"/>
            <a:ext cx="6096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7086600" y="5372100"/>
            <a:ext cx="6096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791325" y="25146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Inherits from Character</a:t>
            </a:r>
            <a:endParaRPr lang="en-US" sz="1200" b="1" dirty="0">
              <a:solidFill>
                <a:srgbClr val="C00000"/>
              </a:solidFill>
              <a:latin typeface="Bradley Hand ITC" pitchFamily="66" charset="0"/>
            </a:endParaRPr>
          </a:p>
        </p:txBody>
      </p:sp>
      <p:sp>
        <p:nvSpPr>
          <p:cNvPr id="31" name="Freeform 30"/>
          <p:cNvSpPr/>
          <p:nvPr/>
        </p:nvSpPr>
        <p:spPr>
          <a:xfrm>
            <a:off x="7648575" y="2743200"/>
            <a:ext cx="320675" cy="409575"/>
          </a:xfrm>
          <a:custGeom>
            <a:avLst/>
            <a:gdLst>
              <a:gd name="connsiteX0" fmla="*/ 0 w 320675"/>
              <a:gd name="connsiteY0" fmla="*/ 0 h 409575"/>
              <a:gd name="connsiteX1" fmla="*/ 285750 w 320675"/>
              <a:gd name="connsiteY1" fmla="*/ 200025 h 409575"/>
              <a:gd name="connsiteX2" fmla="*/ 209550 w 320675"/>
              <a:gd name="connsiteY2" fmla="*/ 409575 h 409575"/>
            </a:gdLst>
            <a:ahLst/>
            <a:cxnLst>
              <a:cxn ang="0">
                <a:pos x="connsiteX0" y="connsiteY0"/>
              </a:cxn>
              <a:cxn ang="0">
                <a:pos x="connsiteX1" y="connsiteY1"/>
              </a:cxn>
              <a:cxn ang="0">
                <a:pos x="connsiteX2" y="connsiteY2"/>
              </a:cxn>
            </a:cxnLst>
            <a:rect l="l" t="t" r="r" b="b"/>
            <a:pathLst>
              <a:path w="320675" h="409575">
                <a:moveTo>
                  <a:pt x="0" y="0"/>
                </a:moveTo>
                <a:cubicBezTo>
                  <a:pt x="125412" y="65881"/>
                  <a:pt x="250825" y="131762"/>
                  <a:pt x="285750" y="200025"/>
                </a:cubicBezTo>
                <a:cubicBezTo>
                  <a:pt x="320675" y="268288"/>
                  <a:pt x="265112" y="338931"/>
                  <a:pt x="209550" y="4095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1371600" y="25146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Inherits from Character</a:t>
            </a:r>
            <a:endParaRPr lang="en-US" sz="1200" b="1" dirty="0">
              <a:solidFill>
                <a:srgbClr val="C00000"/>
              </a:solidFill>
              <a:latin typeface="Bradley Hand ITC" pitchFamily="66" charset="0"/>
            </a:endParaRPr>
          </a:p>
        </p:txBody>
      </p:sp>
      <p:sp>
        <p:nvSpPr>
          <p:cNvPr id="33" name="Freeform 32"/>
          <p:cNvSpPr/>
          <p:nvPr/>
        </p:nvSpPr>
        <p:spPr>
          <a:xfrm>
            <a:off x="2228850" y="2743200"/>
            <a:ext cx="320675" cy="409575"/>
          </a:xfrm>
          <a:custGeom>
            <a:avLst/>
            <a:gdLst>
              <a:gd name="connsiteX0" fmla="*/ 0 w 320675"/>
              <a:gd name="connsiteY0" fmla="*/ 0 h 409575"/>
              <a:gd name="connsiteX1" fmla="*/ 285750 w 320675"/>
              <a:gd name="connsiteY1" fmla="*/ 200025 h 409575"/>
              <a:gd name="connsiteX2" fmla="*/ 209550 w 320675"/>
              <a:gd name="connsiteY2" fmla="*/ 409575 h 409575"/>
            </a:gdLst>
            <a:ahLst/>
            <a:cxnLst>
              <a:cxn ang="0">
                <a:pos x="connsiteX0" y="connsiteY0"/>
              </a:cxn>
              <a:cxn ang="0">
                <a:pos x="connsiteX1" y="connsiteY1"/>
              </a:cxn>
              <a:cxn ang="0">
                <a:pos x="connsiteX2" y="connsiteY2"/>
              </a:cxn>
            </a:cxnLst>
            <a:rect l="l" t="t" r="r" b="b"/>
            <a:pathLst>
              <a:path w="320675" h="409575">
                <a:moveTo>
                  <a:pt x="0" y="0"/>
                </a:moveTo>
                <a:cubicBezTo>
                  <a:pt x="125412" y="65881"/>
                  <a:pt x="250825" y="131762"/>
                  <a:pt x="285750" y="200025"/>
                </a:cubicBezTo>
                <a:cubicBezTo>
                  <a:pt x="320675" y="268288"/>
                  <a:pt x="265112" y="338931"/>
                  <a:pt x="209550" y="4095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762000" y="6172200"/>
            <a:ext cx="7772400" cy="261610"/>
          </a:xfrm>
          <a:prstGeom prst="rect">
            <a:avLst/>
          </a:prstGeom>
          <a:noFill/>
        </p:spPr>
        <p:txBody>
          <a:bodyPr wrap="square" rtlCol="0">
            <a:spAutoFit/>
          </a:bodyPr>
          <a:lstStyle/>
          <a:p>
            <a:r>
              <a:rPr lang="en-US" sz="1100" b="1" u="sng" dirty="0" smtClean="0">
                <a:solidFill>
                  <a:srgbClr val="C00000"/>
                </a:solidFill>
                <a:latin typeface="Bradley Hand ITC" pitchFamily="66" charset="0"/>
              </a:rPr>
              <a:t>Note: Character is really an interface, so instead of “Inherits from Character” it (more precisely) realizes the Character interface.</a:t>
            </a:r>
            <a:endParaRPr lang="en-US" sz="1100" b="1" u="sng" dirty="0">
              <a:solidFill>
                <a:srgbClr val="C00000"/>
              </a:solidFill>
              <a:latin typeface="Bradley Hand ITC" pitchFamily="66" charset="0"/>
            </a:endParaRPr>
          </a:p>
        </p:txBody>
      </p:sp>
      <p:sp>
        <p:nvSpPr>
          <p:cNvPr id="35" name="TextBox 34"/>
          <p:cNvSpPr txBox="1"/>
          <p:nvPr/>
        </p:nvSpPr>
        <p:spPr>
          <a:xfrm>
            <a:off x="3352800" y="4648200"/>
            <a:ext cx="2209800" cy="1200329"/>
          </a:xfrm>
          <a:prstGeom prst="rect">
            <a:avLst/>
          </a:prstGeom>
          <a:noFill/>
        </p:spPr>
        <p:txBody>
          <a:bodyPr wrap="square" rtlCol="0">
            <a:spAutoFit/>
          </a:bodyPr>
          <a:lstStyle/>
          <a:p>
            <a:r>
              <a:rPr lang="en-US" sz="1200" b="1" dirty="0" smtClean="0">
                <a:solidFill>
                  <a:srgbClr val="C00000"/>
                </a:solidFill>
                <a:latin typeface="Bradley Hand ITC" pitchFamily="66" charset="0"/>
              </a:rPr>
              <a:t>Are we done? Not really!</a:t>
            </a:r>
          </a:p>
          <a:p>
            <a:r>
              <a:rPr lang="en-US" sz="1200" b="1" dirty="0" smtClean="0">
                <a:solidFill>
                  <a:srgbClr val="C00000"/>
                </a:solidFill>
                <a:latin typeface="Bradley Hand ITC" pitchFamily="66" charset="0"/>
              </a:rPr>
              <a:t>The getType(…) function should give you an indication why we’re still violating the OCP.  Let’s take a closer look in the next slide…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22" name="TextBox 21"/>
          <p:cNvSpPr txBox="1"/>
          <p:nvPr/>
        </p:nvSpPr>
        <p:spPr>
          <a:xfrm>
            <a:off x="180975" y="3048000"/>
            <a:ext cx="21336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the GameEngine client needs to know the type of Character before it can activate it.  This is a side-effect of a violation of the OCP</a:t>
            </a:r>
            <a:endParaRPr lang="en-US" sz="1200" b="1" dirty="0">
              <a:solidFill>
                <a:srgbClr val="C00000"/>
              </a:solidFill>
              <a:latin typeface="Bradley Hand ITC" pitchFamily="66" charset="0"/>
            </a:endParaRPr>
          </a:p>
        </p:txBody>
      </p:sp>
      <p:grpSp>
        <p:nvGrpSpPr>
          <p:cNvPr id="29" name="Group 28"/>
          <p:cNvGrpSpPr/>
          <p:nvPr/>
        </p:nvGrpSpPr>
        <p:grpSpPr>
          <a:xfrm>
            <a:off x="381000" y="1656018"/>
            <a:ext cx="8610600" cy="4439982"/>
            <a:chOff x="381000" y="1524000"/>
            <a:chExt cx="8610600" cy="4439982"/>
          </a:xfrm>
        </p:grpSpPr>
        <p:pic>
          <p:nvPicPr>
            <p:cNvPr id="5123" name="Picture 3"/>
            <p:cNvPicPr>
              <a:picLocks noChangeAspect="1" noChangeArrowheads="1"/>
            </p:cNvPicPr>
            <p:nvPr/>
          </p:nvPicPr>
          <p:blipFill>
            <a:blip r:embed="rId2" cstate="print"/>
            <a:srcRect/>
            <a:stretch>
              <a:fillRect/>
            </a:stretch>
          </p:blipFill>
          <p:spPr bwMode="auto">
            <a:xfrm>
              <a:off x="2057400" y="1524000"/>
              <a:ext cx="4846354" cy="358140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6934200" y="2057400"/>
              <a:ext cx="1912005" cy="1905000"/>
            </a:xfrm>
            <a:prstGeom prst="rect">
              <a:avLst/>
            </a:prstGeom>
            <a:noFill/>
            <a:ln w="9525">
              <a:noFill/>
              <a:miter lim="800000"/>
              <a:headEnd/>
              <a:tailEnd/>
            </a:ln>
          </p:spPr>
        </p:pic>
        <p:pic>
          <p:nvPicPr>
            <p:cNvPr id="5125" name="Picture 5"/>
            <p:cNvPicPr>
              <a:picLocks noChangeAspect="1" noChangeArrowheads="1"/>
            </p:cNvPicPr>
            <p:nvPr/>
          </p:nvPicPr>
          <p:blipFill>
            <a:blip r:embed="rId4" cstate="print"/>
            <a:srcRect/>
            <a:stretch>
              <a:fillRect/>
            </a:stretch>
          </p:blipFill>
          <p:spPr bwMode="auto">
            <a:xfrm>
              <a:off x="6934200" y="4267200"/>
              <a:ext cx="1828800" cy="462537"/>
            </a:xfrm>
            <a:prstGeom prst="rect">
              <a:avLst/>
            </a:prstGeom>
            <a:noFill/>
            <a:ln w="9525">
              <a:noFill/>
              <a:miter lim="800000"/>
              <a:headEnd/>
              <a:tailEnd/>
            </a:ln>
          </p:spPr>
        </p:pic>
        <p:sp>
          <p:nvSpPr>
            <p:cNvPr id="11" name="TextBox 10"/>
            <p:cNvSpPr txBox="1"/>
            <p:nvPr/>
          </p:nvSpPr>
          <p:spPr>
            <a:xfrm>
              <a:off x="6781800" y="15240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test driver code</a:t>
              </a:r>
              <a:endParaRPr lang="en-US" sz="1200" b="1" dirty="0">
                <a:solidFill>
                  <a:srgbClr val="C00000"/>
                </a:solidFill>
                <a:latin typeface="Bradley Hand ITC" pitchFamily="66" charset="0"/>
              </a:endParaRPr>
            </a:p>
          </p:txBody>
        </p:sp>
        <p:sp>
          <p:nvSpPr>
            <p:cNvPr id="14" name="TextBox 13"/>
            <p:cNvSpPr txBox="1"/>
            <p:nvPr/>
          </p:nvSpPr>
          <p:spPr>
            <a:xfrm>
              <a:off x="7620000" y="3886200"/>
              <a:ext cx="1371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output</a:t>
              </a:r>
              <a:endParaRPr lang="en-US" sz="1200" b="1" dirty="0">
                <a:solidFill>
                  <a:srgbClr val="C00000"/>
                </a:solidFill>
                <a:latin typeface="Bradley Hand ITC" pitchFamily="66" charset="0"/>
              </a:endParaRPr>
            </a:p>
          </p:txBody>
        </p:sp>
        <p:sp>
          <p:nvSpPr>
            <p:cNvPr id="15" name="TextBox 14"/>
            <p:cNvSpPr txBox="1"/>
            <p:nvPr/>
          </p:nvSpPr>
          <p:spPr>
            <a:xfrm>
              <a:off x="6400800" y="4876800"/>
              <a:ext cx="2438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It works! We’re done!</a:t>
              </a:r>
            </a:p>
            <a:p>
              <a:pPr algn="ctr"/>
              <a:r>
                <a:rPr lang="en-US" sz="1200" b="1" dirty="0" smtClean="0">
                  <a:solidFill>
                    <a:srgbClr val="C00000"/>
                  </a:solidFill>
                  <a:latin typeface="Bradley Hand ITC" pitchFamily="66" charset="0"/>
                </a:rPr>
                <a:t>Not really, we’ve improved the design, but are we OCP-Compliant?</a:t>
              </a:r>
              <a:endParaRPr lang="en-US" sz="1200" b="1" dirty="0">
                <a:solidFill>
                  <a:srgbClr val="C00000"/>
                </a:solidFill>
                <a:latin typeface="Bradley Hand ITC" pitchFamily="66" charset="0"/>
              </a:endParaRPr>
            </a:p>
          </p:txBody>
        </p:sp>
        <p:sp>
          <p:nvSpPr>
            <p:cNvPr id="17" name="TextBox 16"/>
            <p:cNvSpPr txBox="1"/>
            <p:nvPr/>
          </p:nvSpPr>
          <p:spPr>
            <a:xfrm>
              <a:off x="1143000" y="5334000"/>
              <a:ext cx="541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Character design still requires clients to know too much about Characters.  What would happen if we now need to support an </a:t>
              </a:r>
              <a:r>
                <a:rPr lang="en-US" sz="1200" b="1" u="sng" dirty="0" smtClean="0">
                  <a:solidFill>
                    <a:srgbClr val="C00000"/>
                  </a:solidFill>
                  <a:latin typeface="Bradley Hand ITC" pitchFamily="66" charset="0"/>
                </a:rPr>
                <a:t>Aquatic Character</a:t>
              </a:r>
              <a:r>
                <a:rPr lang="en-US" sz="1200" b="1" dirty="0" smtClean="0">
                  <a:solidFill>
                    <a:srgbClr val="C00000"/>
                  </a:solidFill>
                  <a:latin typeface="Bradley Hand ITC" pitchFamily="66" charset="0"/>
                </a:rPr>
                <a:t>?</a:t>
              </a:r>
              <a:endParaRPr lang="en-US" sz="1200" b="1" dirty="0">
                <a:solidFill>
                  <a:srgbClr val="C00000"/>
                </a:solidFill>
                <a:latin typeface="Bradley Hand ITC" pitchFamily="66" charset="0"/>
              </a:endParaRPr>
            </a:p>
          </p:txBody>
        </p:sp>
        <p:sp>
          <p:nvSpPr>
            <p:cNvPr id="19" name="Freeform 18"/>
            <p:cNvSpPr/>
            <p:nvPr/>
          </p:nvSpPr>
          <p:spPr>
            <a:xfrm>
              <a:off x="8467725" y="1647825"/>
              <a:ext cx="133350" cy="342900"/>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7620000" y="3810000"/>
              <a:ext cx="133350" cy="342900"/>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8534400" y="4724400"/>
              <a:ext cx="133350" cy="342900"/>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rot="4472397">
              <a:off x="6151040" y="5407227"/>
              <a:ext cx="387885" cy="725626"/>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Left Brace 24"/>
            <p:cNvSpPr/>
            <p:nvPr/>
          </p:nvSpPr>
          <p:spPr>
            <a:xfrm>
              <a:off x="2190750" y="2628900"/>
              <a:ext cx="152400" cy="22098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381000" y="2057400"/>
              <a:ext cx="16764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Design Principle:</a:t>
              </a:r>
            </a:p>
            <a:p>
              <a:r>
                <a:rPr lang="en-US" sz="1200" b="1" dirty="0" smtClean="0">
                  <a:solidFill>
                    <a:srgbClr val="C00000"/>
                  </a:solidFill>
                  <a:latin typeface="Bradley Hand ITC" pitchFamily="66" charset="0"/>
                </a:rPr>
                <a:t>Encapsulate Variation</a:t>
              </a:r>
              <a:endParaRPr lang="en-US" sz="1200" b="1" dirty="0">
                <a:solidFill>
                  <a:srgbClr val="C00000"/>
                </a:solidFill>
                <a:latin typeface="Bradley Hand ITC" pitchFamily="66" charset="0"/>
              </a:endParaRPr>
            </a:p>
          </p:txBody>
        </p:sp>
        <p:sp>
          <p:nvSpPr>
            <p:cNvPr id="27" name="TextBox 26"/>
            <p:cNvSpPr txBox="1"/>
            <p:nvPr/>
          </p:nvSpPr>
          <p:spPr>
            <a:xfrm>
              <a:off x="4800600" y="1524000"/>
              <a:ext cx="1905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code will always vary, depending on the characters in the game!</a:t>
              </a:r>
              <a:endParaRPr lang="en-US" sz="1200" b="1" dirty="0">
                <a:solidFill>
                  <a:srgbClr val="C00000"/>
                </a:solidFill>
                <a:latin typeface="Bradley Hand ITC" pitchFamily="66" charset="0"/>
              </a:endParaRPr>
            </a:p>
          </p:txBody>
        </p:sp>
        <p:sp>
          <p:nvSpPr>
            <p:cNvPr id="28" name="Freeform 27"/>
            <p:cNvSpPr/>
            <p:nvPr/>
          </p:nvSpPr>
          <p:spPr>
            <a:xfrm>
              <a:off x="5934075" y="2133600"/>
              <a:ext cx="268287" cy="676275"/>
            </a:xfrm>
            <a:custGeom>
              <a:avLst/>
              <a:gdLst>
                <a:gd name="connsiteX0" fmla="*/ 123825 w 268287"/>
                <a:gd name="connsiteY0" fmla="*/ 0 h 676275"/>
                <a:gd name="connsiteX1" fmla="*/ 247650 w 268287"/>
                <a:gd name="connsiteY1" fmla="*/ 323850 h 676275"/>
                <a:gd name="connsiteX2" fmla="*/ 0 w 268287"/>
                <a:gd name="connsiteY2" fmla="*/ 676275 h 676275"/>
              </a:gdLst>
              <a:ahLst/>
              <a:cxnLst>
                <a:cxn ang="0">
                  <a:pos x="connsiteX0" y="connsiteY0"/>
                </a:cxn>
                <a:cxn ang="0">
                  <a:pos x="connsiteX1" y="connsiteY1"/>
                </a:cxn>
                <a:cxn ang="0">
                  <a:pos x="connsiteX2" y="connsiteY2"/>
                </a:cxn>
              </a:cxnLst>
              <a:rect l="l" t="t" r="r" b="b"/>
              <a:pathLst>
                <a:path w="268287" h="676275">
                  <a:moveTo>
                    <a:pt x="123825" y="0"/>
                  </a:moveTo>
                  <a:cubicBezTo>
                    <a:pt x="196056" y="105569"/>
                    <a:pt x="268287" y="211138"/>
                    <a:pt x="247650" y="323850"/>
                  </a:cubicBezTo>
                  <a:cubicBezTo>
                    <a:pt x="227013" y="436562"/>
                    <a:pt x="113506" y="556418"/>
                    <a:pt x="0" y="676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30"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685800" y="4876800"/>
            <a:ext cx="342115" cy="381000"/>
          </a:xfrm>
          <a:prstGeom prst="rect">
            <a:avLst/>
          </a:prstGeom>
          <a:noFill/>
        </p:spPr>
      </p:pic>
      <p:sp>
        <p:nvSpPr>
          <p:cNvPr id="31" name="Cloud Callout 30"/>
          <p:cNvSpPr/>
          <p:nvPr/>
        </p:nvSpPr>
        <p:spPr>
          <a:xfrm>
            <a:off x="1143000" y="4495800"/>
            <a:ext cx="609600" cy="381000"/>
          </a:xfrm>
          <a:prstGeom prst="cloudCallout">
            <a:avLst>
              <a:gd name="adj1" fmla="val -64913"/>
              <a:gd name="adj2" fmla="val 55588"/>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1190625" y="4543425"/>
            <a:ext cx="533399" cy="246221"/>
          </a:xfrm>
          <a:prstGeom prst="rect">
            <a:avLst/>
          </a:prstGeom>
          <a:noFill/>
        </p:spPr>
        <p:txBody>
          <a:bodyPr wrap="square" rtlCol="0">
            <a:spAutoFit/>
          </a:bodyPr>
          <a:lstStyle/>
          <a:p>
            <a:pPr algn="ctr"/>
            <a:r>
              <a:rPr lang="en-US" sz="1000" dirty="0" smtClean="0"/>
              <a:t>Yikes!</a:t>
            </a:r>
            <a:endParaRPr lang="en-US" sz="1000" dirty="0"/>
          </a:p>
        </p:txBody>
      </p:sp>
      <p:sp>
        <p:nvSpPr>
          <p:cNvPr id="33" name="TextBox 32"/>
          <p:cNvSpPr txBox="1"/>
          <p:nvPr/>
        </p:nvSpPr>
        <p:spPr>
          <a:xfrm>
            <a:off x="1524000" y="6096000"/>
            <a:ext cx="5410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in the next slide how to make this design OCP-Compliant…</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752475" y="1571625"/>
            <a:ext cx="5419725" cy="4448175"/>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8" name="Folded Corner 7"/>
          <p:cNvSpPr/>
          <p:nvPr/>
        </p:nvSpPr>
        <p:spPr>
          <a:xfrm>
            <a:off x="685800" y="1524000"/>
            <a:ext cx="2971800" cy="13716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lded Corner 8"/>
          <p:cNvSpPr/>
          <p:nvPr/>
        </p:nvSpPr>
        <p:spPr>
          <a:xfrm>
            <a:off x="685800" y="2971800"/>
            <a:ext cx="5181600" cy="1524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lded Corner 10"/>
          <p:cNvSpPr/>
          <p:nvPr/>
        </p:nvSpPr>
        <p:spPr>
          <a:xfrm>
            <a:off x="685800" y="4572000"/>
            <a:ext cx="5562600" cy="1524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495800" y="17526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Encapsulate the movement behavior, so that move(…) works for all characters in the game!</a:t>
            </a:r>
            <a:endParaRPr lang="en-US" sz="1200" b="1" dirty="0">
              <a:solidFill>
                <a:srgbClr val="C00000"/>
              </a:solidFill>
              <a:latin typeface="Bradley Hand ITC" pitchFamily="66" charset="0"/>
            </a:endParaRPr>
          </a:p>
        </p:txBody>
      </p:sp>
      <p:sp>
        <p:nvSpPr>
          <p:cNvPr id="13" name="Freeform 12"/>
          <p:cNvSpPr/>
          <p:nvPr/>
        </p:nvSpPr>
        <p:spPr>
          <a:xfrm>
            <a:off x="2990850" y="2009775"/>
            <a:ext cx="1628775" cy="609600"/>
          </a:xfrm>
          <a:custGeom>
            <a:avLst/>
            <a:gdLst>
              <a:gd name="connsiteX0" fmla="*/ 1628775 w 1628775"/>
              <a:gd name="connsiteY0" fmla="*/ 0 h 609600"/>
              <a:gd name="connsiteX1" fmla="*/ 1247775 w 1628775"/>
              <a:gd name="connsiteY1" fmla="*/ 142875 h 609600"/>
              <a:gd name="connsiteX2" fmla="*/ 942975 w 1628775"/>
              <a:gd name="connsiteY2" fmla="*/ 476250 h 609600"/>
              <a:gd name="connsiteX3" fmla="*/ 0 w 1628775"/>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1628775" h="609600">
                <a:moveTo>
                  <a:pt x="1628775" y="0"/>
                </a:moveTo>
                <a:cubicBezTo>
                  <a:pt x="1495425" y="31750"/>
                  <a:pt x="1362075" y="63500"/>
                  <a:pt x="1247775" y="142875"/>
                </a:cubicBezTo>
                <a:cubicBezTo>
                  <a:pt x="1133475" y="222250"/>
                  <a:pt x="1150937" y="398463"/>
                  <a:pt x="942975" y="476250"/>
                </a:cubicBezTo>
                <a:cubicBezTo>
                  <a:pt x="735013" y="554037"/>
                  <a:pt x="367506" y="581818"/>
                  <a:pt x="0" y="609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6400800" y="3581400"/>
            <a:ext cx="2438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Per the interface contract, these must provide the implementation for both draw and fly services</a:t>
            </a:r>
            <a:endParaRPr lang="en-US" sz="1200" b="1" dirty="0">
              <a:solidFill>
                <a:srgbClr val="C00000"/>
              </a:solidFill>
              <a:latin typeface="Bradley Hand ITC" pitchFamily="66" charset="0"/>
            </a:endParaRPr>
          </a:p>
        </p:txBody>
      </p:sp>
      <p:sp>
        <p:nvSpPr>
          <p:cNvPr id="15" name="Freeform 14"/>
          <p:cNvSpPr/>
          <p:nvPr/>
        </p:nvSpPr>
        <p:spPr>
          <a:xfrm>
            <a:off x="5886450" y="3335338"/>
            <a:ext cx="676275" cy="328612"/>
          </a:xfrm>
          <a:custGeom>
            <a:avLst/>
            <a:gdLst>
              <a:gd name="connsiteX0" fmla="*/ 676275 w 676275"/>
              <a:gd name="connsiteY0" fmla="*/ 312737 h 328612"/>
              <a:gd name="connsiteX1" fmla="*/ 409575 w 676275"/>
              <a:gd name="connsiteY1" fmla="*/ 284162 h 328612"/>
              <a:gd name="connsiteX2" fmla="*/ 238125 w 676275"/>
              <a:gd name="connsiteY2" fmla="*/ 46037 h 328612"/>
              <a:gd name="connsiteX3" fmla="*/ 0 w 676275"/>
              <a:gd name="connsiteY3" fmla="*/ 7937 h 328612"/>
            </a:gdLst>
            <a:ahLst/>
            <a:cxnLst>
              <a:cxn ang="0">
                <a:pos x="connsiteX0" y="connsiteY0"/>
              </a:cxn>
              <a:cxn ang="0">
                <a:pos x="connsiteX1" y="connsiteY1"/>
              </a:cxn>
              <a:cxn ang="0">
                <a:pos x="connsiteX2" y="connsiteY2"/>
              </a:cxn>
              <a:cxn ang="0">
                <a:pos x="connsiteX3" y="connsiteY3"/>
              </a:cxn>
            </a:cxnLst>
            <a:rect l="l" t="t" r="r" b="b"/>
            <a:pathLst>
              <a:path w="676275" h="328612">
                <a:moveTo>
                  <a:pt x="676275" y="312737"/>
                </a:moveTo>
                <a:cubicBezTo>
                  <a:pt x="579437" y="320674"/>
                  <a:pt x="482600" y="328612"/>
                  <a:pt x="409575" y="284162"/>
                </a:cubicBezTo>
                <a:cubicBezTo>
                  <a:pt x="336550" y="239712"/>
                  <a:pt x="306387" y="92074"/>
                  <a:pt x="238125" y="46037"/>
                </a:cubicBezTo>
                <a:cubicBezTo>
                  <a:pt x="169863" y="0"/>
                  <a:pt x="84931" y="3968"/>
                  <a:pt x="0" y="793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6267450" y="4076700"/>
            <a:ext cx="352425" cy="714375"/>
          </a:xfrm>
          <a:custGeom>
            <a:avLst/>
            <a:gdLst>
              <a:gd name="connsiteX0" fmla="*/ 352425 w 352425"/>
              <a:gd name="connsiteY0" fmla="*/ 0 h 714375"/>
              <a:gd name="connsiteX1" fmla="*/ 219075 w 352425"/>
              <a:gd name="connsiteY1" fmla="*/ 152400 h 714375"/>
              <a:gd name="connsiteX2" fmla="*/ 228600 w 352425"/>
              <a:gd name="connsiteY2" fmla="*/ 552450 h 714375"/>
              <a:gd name="connsiteX3" fmla="*/ 0 w 352425"/>
              <a:gd name="connsiteY3" fmla="*/ 714375 h 714375"/>
            </a:gdLst>
            <a:ahLst/>
            <a:cxnLst>
              <a:cxn ang="0">
                <a:pos x="connsiteX0" y="connsiteY0"/>
              </a:cxn>
              <a:cxn ang="0">
                <a:pos x="connsiteX1" y="connsiteY1"/>
              </a:cxn>
              <a:cxn ang="0">
                <a:pos x="connsiteX2" y="connsiteY2"/>
              </a:cxn>
              <a:cxn ang="0">
                <a:pos x="connsiteX3" y="connsiteY3"/>
              </a:cxn>
            </a:cxnLst>
            <a:rect l="l" t="t" r="r" b="b"/>
            <a:pathLst>
              <a:path w="352425" h="714375">
                <a:moveTo>
                  <a:pt x="352425" y="0"/>
                </a:moveTo>
                <a:cubicBezTo>
                  <a:pt x="296068" y="30162"/>
                  <a:pt x="239712" y="60325"/>
                  <a:pt x="219075" y="152400"/>
                </a:cubicBezTo>
                <a:cubicBezTo>
                  <a:pt x="198438" y="244475"/>
                  <a:pt x="265112" y="458788"/>
                  <a:pt x="228600" y="552450"/>
                </a:cubicBezTo>
                <a:cubicBezTo>
                  <a:pt x="192088" y="646112"/>
                  <a:pt x="96044" y="680243"/>
                  <a:pt x="0" y="7143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324600" y="5029200"/>
            <a:ext cx="2514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the next slide, let’s see how the code for the GameEngine class looks now based on this new design…</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990600" y="4191000"/>
            <a:ext cx="3810000" cy="2031398"/>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685800" y="2057400"/>
            <a:ext cx="4038600" cy="1705697"/>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5334000" y="2209800"/>
            <a:ext cx="3104093" cy="533400"/>
          </a:xfrm>
          <a:prstGeom prst="rect">
            <a:avLst/>
          </a:prstGeom>
          <a:noFill/>
          <a:ln w="9525">
            <a:noFill/>
            <a:miter lim="800000"/>
            <a:headEnd/>
            <a:tailEnd/>
          </a:ln>
        </p:spPr>
      </p:pic>
      <p:sp>
        <p:nvSpPr>
          <p:cNvPr id="10" name="TextBox 9"/>
          <p:cNvSpPr txBox="1"/>
          <p:nvPr/>
        </p:nvSpPr>
        <p:spPr>
          <a:xfrm>
            <a:off x="5867400" y="1676400"/>
            <a:ext cx="2438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Old design! Violates OCP!</a:t>
            </a:r>
            <a:endParaRPr lang="en-US" sz="1200" b="1" dirty="0">
              <a:solidFill>
                <a:srgbClr val="C00000"/>
              </a:solidFill>
              <a:latin typeface="Bradley Hand ITC" pitchFamily="66" charset="0"/>
            </a:endParaRPr>
          </a:p>
        </p:txBody>
      </p:sp>
      <p:sp>
        <p:nvSpPr>
          <p:cNvPr id="11" name="TextBox 10"/>
          <p:cNvSpPr txBox="1"/>
          <p:nvPr/>
        </p:nvSpPr>
        <p:spPr>
          <a:xfrm>
            <a:off x="1295400" y="1676400"/>
            <a:ext cx="2438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New redesign! Adheres to OCP!</a:t>
            </a:r>
            <a:endParaRPr lang="en-US" sz="1200" b="1" dirty="0">
              <a:solidFill>
                <a:srgbClr val="C00000"/>
              </a:solidFill>
              <a:latin typeface="Bradley Hand ITC" pitchFamily="66" charset="0"/>
            </a:endParaRPr>
          </a:p>
        </p:txBody>
      </p:sp>
      <p:sp>
        <p:nvSpPr>
          <p:cNvPr id="12" name="TextBox 11"/>
          <p:cNvSpPr txBox="1"/>
          <p:nvPr/>
        </p:nvSpPr>
        <p:spPr>
          <a:xfrm>
            <a:off x="5486400" y="3886200"/>
            <a:ext cx="2438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New Aquatic Character added by extension and not by modifying existing working code!</a:t>
            </a:r>
            <a:endParaRPr lang="en-US" sz="1200" b="1" dirty="0">
              <a:solidFill>
                <a:srgbClr val="C00000"/>
              </a:solidFill>
              <a:latin typeface="Bradley Hand ITC" pitchFamily="66" charset="0"/>
            </a:endParaRPr>
          </a:p>
        </p:txBody>
      </p:sp>
      <p:sp>
        <p:nvSpPr>
          <p:cNvPr id="13" name="Freeform 12"/>
          <p:cNvSpPr/>
          <p:nvPr/>
        </p:nvSpPr>
        <p:spPr>
          <a:xfrm>
            <a:off x="4676775" y="3433763"/>
            <a:ext cx="828675" cy="576262"/>
          </a:xfrm>
          <a:custGeom>
            <a:avLst/>
            <a:gdLst>
              <a:gd name="connsiteX0" fmla="*/ 828675 w 828675"/>
              <a:gd name="connsiteY0" fmla="*/ 576262 h 576262"/>
              <a:gd name="connsiteX1" fmla="*/ 533400 w 828675"/>
              <a:gd name="connsiteY1" fmla="*/ 442912 h 576262"/>
              <a:gd name="connsiteX2" fmla="*/ 342900 w 828675"/>
              <a:gd name="connsiteY2" fmla="*/ 71437 h 576262"/>
              <a:gd name="connsiteX3" fmla="*/ 0 w 828675"/>
              <a:gd name="connsiteY3" fmla="*/ 14287 h 576262"/>
            </a:gdLst>
            <a:ahLst/>
            <a:cxnLst>
              <a:cxn ang="0">
                <a:pos x="connsiteX0" y="connsiteY0"/>
              </a:cxn>
              <a:cxn ang="0">
                <a:pos x="connsiteX1" y="connsiteY1"/>
              </a:cxn>
              <a:cxn ang="0">
                <a:pos x="connsiteX2" y="connsiteY2"/>
              </a:cxn>
              <a:cxn ang="0">
                <a:pos x="connsiteX3" y="connsiteY3"/>
              </a:cxn>
            </a:cxnLst>
            <a:rect l="l" t="t" r="r" b="b"/>
            <a:pathLst>
              <a:path w="828675" h="576262">
                <a:moveTo>
                  <a:pt x="828675" y="576262"/>
                </a:moveTo>
                <a:cubicBezTo>
                  <a:pt x="721519" y="551656"/>
                  <a:pt x="614363" y="527050"/>
                  <a:pt x="533400" y="442912"/>
                </a:cubicBezTo>
                <a:cubicBezTo>
                  <a:pt x="452437" y="358774"/>
                  <a:pt x="431800" y="142875"/>
                  <a:pt x="342900" y="71437"/>
                </a:cubicBezTo>
                <a:cubicBezTo>
                  <a:pt x="254000" y="0"/>
                  <a:pt x="127000" y="7143"/>
                  <a:pt x="0" y="14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ectangle 14"/>
          <p:cNvSpPr/>
          <p:nvPr/>
        </p:nvSpPr>
        <p:spPr>
          <a:xfrm>
            <a:off x="3800475" y="3257550"/>
            <a:ext cx="838200" cy="762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3" name="Picture 5"/>
          <p:cNvPicPr>
            <a:picLocks noChangeAspect="1" noChangeArrowheads="1"/>
          </p:cNvPicPr>
          <p:nvPr/>
        </p:nvPicPr>
        <p:blipFill>
          <a:blip r:embed="rId5" cstate="print"/>
          <a:srcRect/>
          <a:stretch>
            <a:fillRect/>
          </a:stretch>
        </p:blipFill>
        <p:spPr bwMode="auto">
          <a:xfrm>
            <a:off x="3833812" y="3238500"/>
            <a:ext cx="776288" cy="133077"/>
          </a:xfrm>
          <a:prstGeom prst="rect">
            <a:avLst/>
          </a:prstGeom>
          <a:noFill/>
          <a:ln w="9525">
            <a:noFill/>
            <a:miter lim="800000"/>
            <a:headEnd/>
            <a:tailEnd/>
          </a:ln>
        </p:spPr>
      </p:pic>
      <p:sp>
        <p:nvSpPr>
          <p:cNvPr id="17" name="TextBox 16"/>
          <p:cNvSpPr txBox="1"/>
          <p:nvPr/>
        </p:nvSpPr>
        <p:spPr>
          <a:xfrm>
            <a:off x="4572000" y="4953000"/>
            <a:ext cx="3048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With this design, GameEngine can draw and activate current and future Characters in the game without modification!</a:t>
            </a:r>
            <a:endParaRPr lang="en-US" sz="1200" b="1" dirty="0">
              <a:solidFill>
                <a:srgbClr val="C00000"/>
              </a:solidFill>
              <a:latin typeface="Bradley Hand ITC" pitchFamily="66" charset="0"/>
            </a:endParaRPr>
          </a:p>
        </p:txBody>
      </p:sp>
      <p:sp>
        <p:nvSpPr>
          <p:cNvPr id="18" name="Freeform 17"/>
          <p:cNvSpPr/>
          <p:nvPr/>
        </p:nvSpPr>
        <p:spPr>
          <a:xfrm>
            <a:off x="7496175" y="4362450"/>
            <a:ext cx="188913" cy="628650"/>
          </a:xfrm>
          <a:custGeom>
            <a:avLst/>
            <a:gdLst>
              <a:gd name="connsiteX0" fmla="*/ 47625 w 188913"/>
              <a:gd name="connsiteY0" fmla="*/ 0 h 628650"/>
              <a:gd name="connsiteX1" fmla="*/ 180975 w 188913"/>
              <a:gd name="connsiteY1" fmla="*/ 333375 h 628650"/>
              <a:gd name="connsiteX2" fmla="*/ 0 w 188913"/>
              <a:gd name="connsiteY2" fmla="*/ 628650 h 628650"/>
            </a:gdLst>
            <a:ahLst/>
            <a:cxnLst>
              <a:cxn ang="0">
                <a:pos x="connsiteX0" y="connsiteY0"/>
              </a:cxn>
              <a:cxn ang="0">
                <a:pos x="connsiteX1" y="connsiteY1"/>
              </a:cxn>
              <a:cxn ang="0">
                <a:pos x="connsiteX2" y="connsiteY2"/>
              </a:cxn>
            </a:cxnLst>
            <a:rect l="l" t="t" r="r" b="b"/>
            <a:pathLst>
              <a:path w="188913" h="628650">
                <a:moveTo>
                  <a:pt x="47625" y="0"/>
                </a:moveTo>
                <a:cubicBezTo>
                  <a:pt x="118269" y="114300"/>
                  <a:pt x="188913" y="228600"/>
                  <a:pt x="180975" y="333375"/>
                </a:cubicBezTo>
                <a:cubicBezTo>
                  <a:pt x="173038" y="438150"/>
                  <a:pt x="86519" y="533400"/>
                  <a:pt x="0" y="6286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3705225" y="5138738"/>
            <a:ext cx="1228725" cy="314325"/>
          </a:xfrm>
          <a:custGeom>
            <a:avLst/>
            <a:gdLst>
              <a:gd name="connsiteX0" fmla="*/ 1228725 w 1228725"/>
              <a:gd name="connsiteY0" fmla="*/ 300037 h 314325"/>
              <a:gd name="connsiteX1" fmla="*/ 933450 w 1228725"/>
              <a:gd name="connsiteY1" fmla="*/ 271462 h 314325"/>
              <a:gd name="connsiteX2" fmla="*/ 466725 w 1228725"/>
              <a:gd name="connsiteY2" fmla="*/ 42862 h 314325"/>
              <a:gd name="connsiteX3" fmla="*/ 0 w 1228725"/>
              <a:gd name="connsiteY3" fmla="*/ 14287 h 314325"/>
            </a:gdLst>
            <a:ahLst/>
            <a:cxnLst>
              <a:cxn ang="0">
                <a:pos x="connsiteX0" y="connsiteY0"/>
              </a:cxn>
              <a:cxn ang="0">
                <a:pos x="connsiteX1" y="connsiteY1"/>
              </a:cxn>
              <a:cxn ang="0">
                <a:pos x="connsiteX2" y="connsiteY2"/>
              </a:cxn>
              <a:cxn ang="0">
                <a:pos x="connsiteX3" y="connsiteY3"/>
              </a:cxn>
            </a:cxnLst>
            <a:rect l="l" t="t" r="r" b="b"/>
            <a:pathLst>
              <a:path w="1228725" h="314325">
                <a:moveTo>
                  <a:pt x="1228725" y="300037"/>
                </a:moveTo>
                <a:cubicBezTo>
                  <a:pt x="1144587" y="307181"/>
                  <a:pt x="1060450" y="314325"/>
                  <a:pt x="933450" y="271462"/>
                </a:cubicBezTo>
                <a:cubicBezTo>
                  <a:pt x="806450" y="228599"/>
                  <a:pt x="622300" y="85725"/>
                  <a:pt x="466725" y="42862"/>
                </a:cubicBezTo>
                <a:cubicBezTo>
                  <a:pt x="311150" y="0"/>
                  <a:pt x="155575" y="7143"/>
                  <a:pt x="0" y="14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extBox 6"/>
          <p:cNvSpPr txBox="1"/>
          <p:nvPr/>
        </p:nvSpPr>
        <p:spPr>
          <a:xfrm>
            <a:off x="1371600" y="2057400"/>
            <a:ext cx="6781800" cy="1938992"/>
          </a:xfrm>
          <a:prstGeom prst="rect">
            <a:avLst/>
          </a:prstGeom>
          <a:noFill/>
        </p:spPr>
        <p:txBody>
          <a:bodyPr wrap="square" rtlCol="0">
            <a:spAutoFit/>
          </a:bodyPr>
          <a:lstStyle/>
          <a:p>
            <a:r>
              <a:rPr lang="en-US" sz="2000" b="1" u="sng" dirty="0" smtClean="0">
                <a:solidFill>
                  <a:srgbClr val="C00000"/>
                </a:solidFill>
                <a:latin typeface="Bradley Hand ITC" pitchFamily="66" charset="0"/>
              </a:rPr>
              <a:t>One final note about the OCP</a:t>
            </a:r>
            <a:r>
              <a:rPr lang="en-US" sz="2000" b="1" dirty="0" smtClean="0">
                <a:solidFill>
                  <a:srgbClr val="C00000"/>
                </a:solidFill>
                <a:latin typeface="Bradley Hand ITC" pitchFamily="66" charset="0"/>
              </a:rPr>
              <a:t>:</a:t>
            </a:r>
          </a:p>
          <a:p>
            <a:r>
              <a:rPr lang="en-US" sz="2000" b="1" dirty="0" smtClean="0">
                <a:solidFill>
                  <a:srgbClr val="C00000"/>
                </a:solidFill>
                <a:latin typeface="Bradley Hand ITC" pitchFamily="66" charset="0"/>
              </a:rPr>
              <a:t>No design will be 100% closed for modification.  At some point, some code has to be readily-available for tweaking in any software system.  The idea of the OCP is to locate the areas of the software that are likely to vary and the variations can be encapsulated and implemented through polymorphism.</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Liskov Substitution Principle (LSP)</a:t>
            </a:r>
            <a:endParaRPr lang="en-US" dirty="0"/>
          </a:p>
        </p:txBody>
      </p:sp>
      <p:sp>
        <p:nvSpPr>
          <p:cNvPr id="3" name="Content Placeholder 2"/>
          <p:cNvSpPr>
            <a:spLocks noGrp="1"/>
          </p:cNvSpPr>
          <p:nvPr>
            <p:ph idx="1"/>
          </p:nvPr>
        </p:nvSpPr>
        <p:spPr/>
        <p:txBody>
          <a:bodyPr>
            <a:normAutofit fontScale="92500" lnSpcReduction="10000"/>
          </a:bodyPr>
          <a:lstStyle/>
          <a:p>
            <a:pPr>
              <a:defRPr/>
            </a:pPr>
            <a:r>
              <a:rPr lang="en-US" dirty="0" smtClean="0"/>
              <a:t>The LSP was originally proposed by Barbara Liskov and serves as basis for creating designs that allows clients that are written against derived classes to behave just as they would have if they were written using the corresponding base classes.  </a:t>
            </a:r>
          </a:p>
          <a:p>
            <a:pPr>
              <a:buNone/>
              <a:defRPr/>
            </a:pPr>
            <a:r>
              <a:rPr lang="en-US" dirty="0" smtClean="0"/>
              <a:t> </a:t>
            </a:r>
          </a:p>
          <a:p>
            <a:pPr>
              <a:defRPr/>
            </a:pPr>
            <a:r>
              <a:rPr lang="en-US" dirty="0" smtClean="0"/>
              <a:t>The LSP requires </a:t>
            </a:r>
          </a:p>
          <a:p>
            <a:pPr lvl="1">
              <a:defRPr/>
            </a:pPr>
            <a:r>
              <a:rPr lang="en-US" dirty="0" smtClean="0"/>
              <a:t>Signatures between base and derived classes to be maintained</a:t>
            </a:r>
          </a:p>
          <a:p>
            <a:pPr lvl="1">
              <a:defRPr/>
            </a:pPr>
            <a:r>
              <a:rPr lang="en-US" dirty="0" smtClean="0"/>
              <a:t>Subtype specification supports reasoning based on the super type specification</a:t>
            </a:r>
          </a:p>
          <a:p>
            <a:pPr lvl="1">
              <a:defRPr/>
            </a:pPr>
            <a:endParaRPr lang="en-US" dirty="0" smtClean="0"/>
          </a:p>
          <a:p>
            <a:r>
              <a:rPr lang="en-US" dirty="0" smtClean="0"/>
              <a:t>In simple terms, LSP demands that "any class derived from a base class must honor any implied contract between the base class and the components that use it.“ [2]</a:t>
            </a:r>
          </a:p>
          <a:p>
            <a:pPr>
              <a:buNone/>
            </a:pPr>
            <a:endParaRPr lang="en-US" dirty="0" smtClean="0"/>
          </a:p>
          <a:p>
            <a:r>
              <a:rPr lang="en-US" dirty="0" smtClean="0"/>
              <a:t>To adhere to the LSP, designs must conform to the following rules:</a:t>
            </a:r>
          </a:p>
          <a:p>
            <a:pPr lvl="1"/>
            <a:r>
              <a:rPr lang="en-US" dirty="0" smtClean="0"/>
              <a:t>The Signature Rule</a:t>
            </a:r>
          </a:p>
          <a:p>
            <a:pPr lvl="1"/>
            <a:r>
              <a:rPr lang="en-US" dirty="0" smtClean="0"/>
              <a:t>The Methods Rule</a:t>
            </a:r>
          </a:p>
          <a:p>
            <a:pPr>
              <a:defRPr/>
            </a:pPr>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Liskov Substitution Principle (LSP)</a:t>
            </a:r>
            <a:endParaRPr lang="en-US" dirty="0"/>
          </a:p>
        </p:txBody>
      </p:sp>
      <p:sp>
        <p:nvSpPr>
          <p:cNvPr id="3" name="Content Placeholder 2"/>
          <p:cNvSpPr>
            <a:spLocks noGrp="1"/>
          </p:cNvSpPr>
          <p:nvPr>
            <p:ph idx="1"/>
          </p:nvPr>
        </p:nvSpPr>
        <p:spPr/>
        <p:txBody>
          <a:bodyPr/>
          <a:lstStyle/>
          <a:p>
            <a:pPr>
              <a:defRPr/>
            </a:pPr>
            <a:r>
              <a:rPr lang="en-US" i="1" dirty="0" smtClean="0"/>
              <a:t>The Signature Rule </a:t>
            </a:r>
            <a:r>
              <a:rPr lang="en-US" dirty="0" smtClean="0"/>
              <a:t>ensures that if a program is type-correct based on the super type specification, it is also type-correct with respect to the subtype specification.</a:t>
            </a:r>
          </a:p>
          <a:p>
            <a:pPr>
              <a:defRPr/>
            </a:pPr>
            <a:endParaRPr lang="en-US" dirty="0" smtClean="0"/>
          </a:p>
          <a:p>
            <a:pPr>
              <a:defRPr/>
            </a:pPr>
            <a:r>
              <a:rPr lang="en-US" i="1" dirty="0" smtClean="0"/>
              <a:t>The Method Rule </a:t>
            </a:r>
            <a:r>
              <a:rPr lang="en-US" dirty="0" smtClean="0"/>
              <a:t>ensures that reasoning about calls of super type methods is valid even though the calls actually go to code that implements a subtype.</a:t>
            </a:r>
          </a:p>
          <a:p>
            <a:pPr lvl="1">
              <a:defRPr/>
            </a:pPr>
            <a:r>
              <a:rPr lang="en-US" dirty="0" smtClean="0"/>
              <a:t>Subtype methods can weaken pre-conditions, not strengthen them (i.e., require less, not more).</a:t>
            </a:r>
          </a:p>
          <a:p>
            <a:pPr lvl="1">
              <a:defRPr/>
            </a:pPr>
            <a:r>
              <a:rPr lang="en-US" dirty="0" smtClean="0"/>
              <a:t>Subtype methods can strengthen post-conditions, not weaken them (i.e., provide more, not less).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Interface Segregation Principle (ISP)</a:t>
            </a:r>
            <a:endParaRPr lang="en-US" dirty="0"/>
          </a:p>
        </p:txBody>
      </p:sp>
      <p:sp>
        <p:nvSpPr>
          <p:cNvPr id="3" name="Content Placeholder 2"/>
          <p:cNvSpPr>
            <a:spLocks noGrp="1"/>
          </p:cNvSpPr>
          <p:nvPr>
            <p:ph idx="1"/>
          </p:nvPr>
        </p:nvSpPr>
        <p:spPr>
          <a:xfrm>
            <a:off x="457200" y="1371601"/>
            <a:ext cx="8229600" cy="2819399"/>
          </a:xfrm>
        </p:spPr>
        <p:txBody>
          <a:bodyPr>
            <a:normAutofit fontScale="92500" lnSpcReduction="10000"/>
          </a:bodyPr>
          <a:lstStyle/>
          <a:p>
            <a:r>
              <a:rPr lang="en-US" dirty="0" smtClean="0"/>
              <a:t>Well designed classes should have one (and only one) reason to change.</a:t>
            </a:r>
          </a:p>
          <a:p>
            <a:pPr>
              <a:buNone/>
            </a:pPr>
            <a:endParaRPr lang="en-US" dirty="0" smtClean="0"/>
          </a:p>
          <a:p>
            <a:r>
              <a:rPr lang="en-US" dirty="0" smtClean="0"/>
              <a:t>The interface segregation principle (ISP) states that "clients should not be forced to depend on methods that they do not use“ [3]. </a:t>
            </a:r>
          </a:p>
          <a:p>
            <a:pPr>
              <a:buNone/>
            </a:pPr>
            <a:endParaRPr lang="en-US" dirty="0" smtClean="0"/>
          </a:p>
          <a:p>
            <a:r>
              <a:rPr lang="en-US" dirty="0" smtClean="0"/>
              <a:t>Consider a gaming system that supports an advanced enemy character that is able to roam over land, fly, and swim.  The game also supports other enemy characters that can either roam over land, fly, or swim.  </a:t>
            </a:r>
          </a:p>
          <a:p>
            <a:pPr lvl="1"/>
            <a:r>
              <a:rPr lang="en-US" dirty="0" smtClean="0"/>
              <a:t>Some would be tempted to design the system as seen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2438400" y="4267200"/>
            <a:ext cx="4619625" cy="1704975"/>
          </a:xfrm>
          <a:prstGeom prst="rect">
            <a:avLst/>
          </a:prstGeom>
          <a:noFill/>
          <a:ln w="9525">
            <a:noFill/>
            <a:miter lim="800000"/>
            <a:headEnd/>
            <a:tailEnd/>
          </a:ln>
        </p:spPr>
      </p:pic>
      <p:sp>
        <p:nvSpPr>
          <p:cNvPr id="8" name="TextBox 7"/>
          <p:cNvSpPr txBox="1"/>
          <p:nvPr/>
        </p:nvSpPr>
        <p:spPr>
          <a:xfrm>
            <a:off x="5867400" y="4267200"/>
            <a:ext cx="1828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Bloated interface!</a:t>
            </a:r>
            <a:endParaRPr lang="en-US" sz="1200" b="1" dirty="0">
              <a:solidFill>
                <a:srgbClr val="C00000"/>
              </a:solidFill>
              <a:latin typeface="Bradley Hand ITC" pitchFamily="66" charset="0"/>
            </a:endParaRPr>
          </a:p>
        </p:txBody>
      </p:sp>
      <p:sp>
        <p:nvSpPr>
          <p:cNvPr id="9" name="Freeform 8"/>
          <p:cNvSpPr/>
          <p:nvPr/>
        </p:nvSpPr>
        <p:spPr>
          <a:xfrm>
            <a:off x="5505450" y="4429125"/>
            <a:ext cx="647700" cy="476250"/>
          </a:xfrm>
          <a:custGeom>
            <a:avLst/>
            <a:gdLst>
              <a:gd name="connsiteX0" fmla="*/ 647700 w 647700"/>
              <a:gd name="connsiteY0" fmla="*/ 0 h 476250"/>
              <a:gd name="connsiteX1" fmla="*/ 361950 w 647700"/>
              <a:gd name="connsiteY1" fmla="*/ 200025 h 476250"/>
              <a:gd name="connsiteX2" fmla="*/ 285750 w 647700"/>
              <a:gd name="connsiteY2" fmla="*/ 428625 h 476250"/>
              <a:gd name="connsiteX3" fmla="*/ 0 w 647700"/>
              <a:gd name="connsiteY3" fmla="*/ 476250 h 476250"/>
            </a:gdLst>
            <a:ahLst/>
            <a:cxnLst>
              <a:cxn ang="0">
                <a:pos x="connsiteX0" y="connsiteY0"/>
              </a:cxn>
              <a:cxn ang="0">
                <a:pos x="connsiteX1" y="connsiteY1"/>
              </a:cxn>
              <a:cxn ang="0">
                <a:pos x="connsiteX2" y="connsiteY2"/>
              </a:cxn>
              <a:cxn ang="0">
                <a:pos x="connsiteX3" y="connsiteY3"/>
              </a:cxn>
            </a:cxnLst>
            <a:rect l="l" t="t" r="r" b="b"/>
            <a:pathLst>
              <a:path w="647700" h="476250">
                <a:moveTo>
                  <a:pt x="647700" y="0"/>
                </a:moveTo>
                <a:cubicBezTo>
                  <a:pt x="534987" y="64294"/>
                  <a:pt x="422275" y="128588"/>
                  <a:pt x="361950" y="200025"/>
                </a:cubicBezTo>
                <a:cubicBezTo>
                  <a:pt x="301625" y="271462"/>
                  <a:pt x="346075" y="382588"/>
                  <a:pt x="285750" y="428625"/>
                </a:cubicBezTo>
                <a:cubicBezTo>
                  <a:pt x="225425" y="474662"/>
                  <a:pt x="112712" y="475456"/>
                  <a:pt x="0" y="4762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Interface Segregation Principle (ISP)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1066800" y="2133600"/>
            <a:ext cx="4505325" cy="3267075"/>
          </a:xfrm>
          <a:prstGeom prst="rect">
            <a:avLst/>
          </a:prstGeom>
          <a:noFill/>
          <a:ln w="9525">
            <a:noFill/>
            <a:miter lim="800000"/>
            <a:headEnd/>
            <a:tailEnd/>
          </a:ln>
        </p:spPr>
      </p:pic>
      <p:sp>
        <p:nvSpPr>
          <p:cNvPr id="7" name="TextBox 6"/>
          <p:cNvSpPr txBox="1"/>
          <p:nvPr/>
        </p:nvSpPr>
        <p:spPr>
          <a:xfrm>
            <a:off x="5867400" y="3048000"/>
            <a:ext cx="2362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ISP implies that many client-specific interfaces are better than one general purpose interface</a:t>
            </a:r>
            <a:endParaRPr lang="en-US" sz="1200" b="1" dirty="0">
              <a:solidFill>
                <a:srgbClr val="C00000"/>
              </a:solidFill>
              <a:latin typeface="Bradley Hand ITC" pitchFamily="66" charset="0"/>
            </a:endParaRPr>
          </a:p>
        </p:txBody>
      </p:sp>
      <p:pic>
        <p:nvPicPr>
          <p:cNvPr id="1026" name="Picture 2"/>
          <p:cNvPicPr>
            <a:picLocks noChangeAspect="1" noChangeArrowheads="1"/>
          </p:cNvPicPr>
          <p:nvPr/>
        </p:nvPicPr>
        <p:blipFill>
          <a:blip r:embed="rId3" cstate="print"/>
          <a:srcRect/>
          <a:stretch>
            <a:fillRect/>
          </a:stretch>
        </p:blipFill>
        <p:spPr bwMode="auto">
          <a:xfrm>
            <a:off x="6477000" y="1905000"/>
            <a:ext cx="2248310" cy="609600"/>
          </a:xfrm>
          <a:prstGeom prst="rect">
            <a:avLst/>
          </a:prstGeom>
          <a:noFill/>
          <a:ln w="9525">
            <a:noFill/>
            <a:miter lim="800000"/>
            <a:headEnd/>
            <a:tailEnd/>
          </a:ln>
        </p:spPr>
      </p:pic>
      <p:sp>
        <p:nvSpPr>
          <p:cNvPr id="9" name="Freeform 8"/>
          <p:cNvSpPr/>
          <p:nvPr/>
        </p:nvSpPr>
        <p:spPr>
          <a:xfrm>
            <a:off x="5343525" y="2295525"/>
            <a:ext cx="1066800" cy="1114425"/>
          </a:xfrm>
          <a:custGeom>
            <a:avLst/>
            <a:gdLst>
              <a:gd name="connsiteX0" fmla="*/ 1066800 w 1066800"/>
              <a:gd name="connsiteY0" fmla="*/ 0 h 1114425"/>
              <a:gd name="connsiteX1" fmla="*/ 723900 w 1066800"/>
              <a:gd name="connsiteY1" fmla="*/ 266700 h 1114425"/>
              <a:gd name="connsiteX2" fmla="*/ 600075 w 1066800"/>
              <a:gd name="connsiteY2" fmla="*/ 857250 h 1114425"/>
              <a:gd name="connsiteX3" fmla="*/ 0 w 1066800"/>
              <a:gd name="connsiteY3" fmla="*/ 1114425 h 1114425"/>
            </a:gdLst>
            <a:ahLst/>
            <a:cxnLst>
              <a:cxn ang="0">
                <a:pos x="connsiteX0" y="connsiteY0"/>
              </a:cxn>
              <a:cxn ang="0">
                <a:pos x="connsiteX1" y="connsiteY1"/>
              </a:cxn>
              <a:cxn ang="0">
                <a:pos x="connsiteX2" y="connsiteY2"/>
              </a:cxn>
              <a:cxn ang="0">
                <a:pos x="connsiteX3" y="connsiteY3"/>
              </a:cxn>
            </a:cxnLst>
            <a:rect l="l" t="t" r="r" b="b"/>
            <a:pathLst>
              <a:path w="1066800" h="1114425">
                <a:moveTo>
                  <a:pt x="1066800" y="0"/>
                </a:moveTo>
                <a:cubicBezTo>
                  <a:pt x="934243" y="61912"/>
                  <a:pt x="801687" y="123825"/>
                  <a:pt x="723900" y="266700"/>
                </a:cubicBezTo>
                <a:cubicBezTo>
                  <a:pt x="646113" y="409575"/>
                  <a:pt x="720725" y="715963"/>
                  <a:pt x="600075" y="857250"/>
                </a:cubicBezTo>
                <a:cubicBezTo>
                  <a:pt x="479425" y="998537"/>
                  <a:pt x="239712" y="1056481"/>
                  <a:pt x="0" y="11144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105400" y="41910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Smaller, specific interfaces are easier to maintain and reuse and lead to easier adherence to OCP and LSP</a:t>
            </a:r>
            <a:endParaRPr lang="en-US" sz="1200" b="1" dirty="0">
              <a:solidFill>
                <a:srgbClr val="C00000"/>
              </a:solidFill>
              <a:latin typeface="Bradley Hand ITC" pitchFamily="66" charset="0"/>
            </a:endParaRPr>
          </a:p>
        </p:txBody>
      </p:sp>
      <p:sp>
        <p:nvSpPr>
          <p:cNvPr id="11" name="Freeform 10"/>
          <p:cNvSpPr/>
          <p:nvPr/>
        </p:nvSpPr>
        <p:spPr>
          <a:xfrm>
            <a:off x="7686675" y="3676650"/>
            <a:ext cx="220662" cy="581025"/>
          </a:xfrm>
          <a:custGeom>
            <a:avLst/>
            <a:gdLst>
              <a:gd name="connsiteX0" fmla="*/ 66675 w 220662"/>
              <a:gd name="connsiteY0" fmla="*/ 0 h 581025"/>
              <a:gd name="connsiteX1" fmla="*/ 209550 w 220662"/>
              <a:gd name="connsiteY1" fmla="*/ 314325 h 581025"/>
              <a:gd name="connsiteX2" fmla="*/ 0 w 220662"/>
              <a:gd name="connsiteY2" fmla="*/ 581025 h 581025"/>
            </a:gdLst>
            <a:ahLst/>
            <a:cxnLst>
              <a:cxn ang="0">
                <a:pos x="connsiteX0" y="connsiteY0"/>
              </a:cxn>
              <a:cxn ang="0">
                <a:pos x="connsiteX1" y="connsiteY1"/>
              </a:cxn>
              <a:cxn ang="0">
                <a:pos x="connsiteX2" y="connsiteY2"/>
              </a:cxn>
            </a:cxnLst>
            <a:rect l="l" t="t" r="r" b="b"/>
            <a:pathLst>
              <a:path w="220662" h="581025">
                <a:moveTo>
                  <a:pt x="66675" y="0"/>
                </a:moveTo>
                <a:cubicBezTo>
                  <a:pt x="143668" y="108744"/>
                  <a:pt x="220662" y="217488"/>
                  <a:pt x="209550" y="314325"/>
                </a:cubicBezTo>
                <a:cubicBezTo>
                  <a:pt x="198438" y="411162"/>
                  <a:pt x="99219" y="496093"/>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Internal Behavior of Components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0" y="1295400"/>
            <a:ext cx="4724400" cy="4886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Internal Behavior of Components</a:t>
            </a:r>
            <a:endParaRPr lang="en-US" dirty="0"/>
          </a:p>
        </p:txBody>
      </p:sp>
      <p:sp>
        <p:nvSpPr>
          <p:cNvPr id="3" name="Content Placeholder 2"/>
          <p:cNvSpPr>
            <a:spLocks noGrp="1"/>
          </p:cNvSpPr>
          <p:nvPr>
            <p:ph idx="1"/>
          </p:nvPr>
        </p:nvSpPr>
        <p:spPr/>
        <p:txBody>
          <a:bodyPr/>
          <a:lstStyle/>
          <a:p>
            <a:r>
              <a:rPr lang="en-US" dirty="0" smtClean="0"/>
              <a:t>Common interaction operators used in sequence diagrams include: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1638300" y="2509838"/>
            <a:ext cx="5867400" cy="1838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this session, we presented fundamentals concepts of the component design, including:</a:t>
            </a:r>
          </a:p>
          <a:p>
            <a:pPr lvl="1"/>
            <a:r>
              <a:rPr lang="en-US" dirty="0" smtClean="0"/>
              <a:t>Overview of Component Design</a:t>
            </a:r>
          </a:p>
          <a:p>
            <a:pPr lvl="1"/>
            <a:r>
              <a:rPr lang="en-US" dirty="0" smtClean="0"/>
              <a:t>Designing Internal Structure of Components (OO Approach)</a:t>
            </a:r>
          </a:p>
          <a:p>
            <a:pPr lvl="2"/>
            <a:r>
              <a:rPr lang="en-US" dirty="0" smtClean="0"/>
              <a:t>Classes and objects</a:t>
            </a:r>
          </a:p>
          <a:p>
            <a:pPr lvl="2"/>
            <a:r>
              <a:rPr lang="en-US" dirty="0" smtClean="0"/>
              <a:t>Interfaces, types, and subtypes</a:t>
            </a:r>
          </a:p>
          <a:p>
            <a:pPr lvl="2"/>
            <a:r>
              <a:rPr lang="en-US" dirty="0" smtClean="0"/>
              <a:t>Dynamic binding</a:t>
            </a:r>
          </a:p>
          <a:p>
            <a:pPr lvl="2"/>
            <a:r>
              <a:rPr lang="en-US" dirty="0" smtClean="0"/>
              <a:t>Polymorphism</a:t>
            </a:r>
          </a:p>
          <a:p>
            <a:pPr lvl="2"/>
            <a:endParaRPr lang="en-US" dirty="0" smtClean="0"/>
          </a:p>
          <a:p>
            <a:pPr lvl="1"/>
            <a:r>
              <a:rPr lang="en-US" dirty="0" smtClean="0"/>
              <a:t>Design Principles for Internal Component Design</a:t>
            </a:r>
          </a:p>
          <a:p>
            <a:pPr lvl="2"/>
            <a:r>
              <a:rPr lang="en-US" dirty="0" smtClean="0"/>
              <a:t>The open-closed principle</a:t>
            </a:r>
          </a:p>
          <a:p>
            <a:pPr lvl="2"/>
            <a:r>
              <a:rPr lang="en-US" dirty="0" smtClean="0"/>
              <a:t>The Liskov Substitution principle</a:t>
            </a:r>
          </a:p>
          <a:p>
            <a:pPr lvl="2"/>
            <a:r>
              <a:rPr lang="en-US" dirty="0" smtClean="0"/>
              <a:t>The interface segregation principle</a:t>
            </a:r>
          </a:p>
          <a:p>
            <a:pPr lvl="1">
              <a:buNone/>
            </a:pPr>
            <a:endParaRPr lang="en-US" dirty="0" smtClean="0"/>
          </a:p>
          <a:p>
            <a:pPr lvl="1"/>
            <a:r>
              <a:rPr lang="en-US" dirty="0" smtClean="0"/>
              <a:t>Designing Internal Behavior of Components</a:t>
            </a:r>
          </a:p>
          <a:p>
            <a:pPr lvl="1"/>
            <a:endParaRPr lang="en-US" dirty="0" smtClean="0"/>
          </a:p>
          <a:p>
            <a:r>
              <a:rPr lang="en-US" dirty="0" smtClean="0"/>
              <a:t>In the next module, we will present in detail the concept of design patterns, which include :	</a:t>
            </a:r>
          </a:p>
          <a:p>
            <a:pPr lvl="1"/>
            <a:r>
              <a:rPr lang="en-US" dirty="0" smtClean="0"/>
              <a:t>Creational</a:t>
            </a:r>
          </a:p>
          <a:p>
            <a:pPr lvl="1"/>
            <a:r>
              <a:rPr lang="en-US" dirty="0" smtClean="0"/>
              <a:t>Behavioral</a:t>
            </a:r>
          </a:p>
          <a:p>
            <a:pPr lvl="1"/>
            <a:r>
              <a:rPr lang="en-US" dirty="0" smtClean="0"/>
              <a:t>Structural</a:t>
            </a:r>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Meyer, Bertrand.  Object-oriented Software Construction, 2d ed. Upper Saddle River, NJ: Prentice Hall, 1997.</a:t>
            </a:r>
          </a:p>
          <a:p>
            <a:r>
              <a:rPr lang="en-US" dirty="0" smtClean="0"/>
              <a:t>[2] Pressman, Roger S. Software Engineering: A Practitioner’s Approach, 7</a:t>
            </a:r>
            <a:r>
              <a:rPr lang="en-US" baseline="30000" dirty="0" smtClean="0"/>
              <a:t>th</a:t>
            </a:r>
            <a:r>
              <a:rPr lang="en-US" dirty="0" smtClean="0"/>
              <a:t> ed. Chicago: McGraw-Hill, 2010.</a:t>
            </a:r>
          </a:p>
          <a:p>
            <a:r>
              <a:rPr lang="en-US" dirty="0" smtClean="0"/>
              <a:t>[3] Marin, Robert C. Agile Software Development: Principles, Patterns, and Practices.  Upper Saddle River, NJ: Prentice Hall, 2003.</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11548</TotalTime>
  <Words>2042</Words>
  <Application>Microsoft Office PowerPoint</Application>
  <PresentationFormat>On-screen Show (4:3)</PresentationFormat>
  <Paragraphs>245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UVa-Wise-Clean-BW</vt:lpstr>
      <vt:lpstr>Chapter 5: Principles of Detailed Design</vt:lpstr>
      <vt:lpstr>Session’s Agenda</vt:lpstr>
      <vt:lpstr>Overview of Component Design</vt:lpstr>
      <vt:lpstr>Overview of Component Design</vt:lpstr>
      <vt:lpstr>Overview of Component Design</vt:lpstr>
      <vt:lpstr>Design Principles for Internal Component Design</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Liskov Substitution Principle (LSP)</vt:lpstr>
      <vt:lpstr>Design Principles for Internal Component Design The Liskov Substitution Principle (LSP)</vt:lpstr>
      <vt:lpstr>Design Principles for Internal Component Design Interface Segregation Principle (ISP)</vt:lpstr>
      <vt:lpstr>Design Principles for Internal Component Design Interface Segregation Principle (ISP)</vt:lpstr>
      <vt:lpstr>Modeling Internal Behavior of Components</vt:lpstr>
      <vt:lpstr>Modeling Internal Behavior of Components</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834</cp:revision>
  <dcterms:created xsi:type="dcterms:W3CDTF">2006-08-16T00:00:00Z</dcterms:created>
  <dcterms:modified xsi:type="dcterms:W3CDTF">2013-10-13T00:21:35Z</dcterms:modified>
</cp:coreProperties>
</file>
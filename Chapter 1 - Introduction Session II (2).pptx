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6" r:id="rId21"/>
    <p:sldId id="275" r:id="rId22"/>
    <p:sldId id="278" r:id="rId23"/>
    <p:sldId id="279" r:id="rId24"/>
    <p:sldId id="277" r:id="rId2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02" y="13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4/20/2013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smtClean="0"/>
              <a:t>8/24/2012</a:t>
            </a:r>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r>
              <a:rPr lang="en-US" smtClean="0"/>
              <a:t>8/24/2012</a:t>
            </a:r>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r>
              <a:rPr lang="en-US" smtClean="0"/>
              <a:t>8/24/2012</a:t>
            </a:r>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r>
              <a:rPr lang="en-US" smtClean="0"/>
              <a:t>8/24/2012</a:t>
            </a:r>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Software Engineering Design: Theory and Practice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2.wmf"/><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wmf"/><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2.wmf"/><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Chapter 1: Introduction to </a:t>
            </a:r>
            <a:br>
              <a:rPr lang="en-US" dirty="0" smtClean="0"/>
            </a:br>
            <a:r>
              <a:rPr lang="en-US" dirty="0" smtClean="0"/>
              <a:t>Software Engineering Design</a:t>
            </a:r>
            <a:br>
              <a:rPr lang="en-US" dirty="0" smtClean="0"/>
            </a:br>
            <a:endParaRPr lang="en-US" dirty="0"/>
          </a:p>
        </p:txBody>
      </p:sp>
      <p:sp>
        <p:nvSpPr>
          <p:cNvPr id="3" name="Subtitle 2"/>
          <p:cNvSpPr>
            <a:spLocks noGrp="1"/>
          </p:cNvSpPr>
          <p:nvPr>
            <p:ph type="subTitle" idx="1"/>
          </p:nvPr>
        </p:nvSpPr>
        <p:spPr/>
        <p:txBody>
          <a:bodyPr>
            <a:normAutofit/>
          </a:bodyPr>
          <a:lstStyle/>
          <a:p>
            <a:r>
              <a:rPr lang="en-US" dirty="0" smtClean="0"/>
              <a:t>Session II: Overview of Software Engineering Design</a:t>
            </a:r>
            <a:endParaRPr lang="en-US" dirty="0"/>
          </a:p>
        </p:txBody>
      </p:sp>
      <p:sp>
        <p:nvSpPr>
          <p:cNvPr id="4" name="Date Placeholder 3"/>
          <p:cNvSpPr>
            <a:spLocks noGrp="1"/>
          </p:cNvSpPr>
          <p:nvPr>
            <p:ph type="dt" sz="half" idx="10"/>
          </p:nvPr>
        </p:nvSpPr>
        <p:spPr/>
        <p:txBody>
          <a:bodyPr/>
          <a:lstStyle/>
          <a:p>
            <a:r>
              <a:rPr lang="en-US" smtClean="0"/>
              <a:t>8/24/2012</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5181599"/>
          </a:xfrm>
        </p:spPr>
        <p:txBody>
          <a:bodyPr>
            <a:normAutofit/>
          </a:bodyPr>
          <a:lstStyle/>
          <a:p>
            <a:r>
              <a:rPr lang="en-US" dirty="0" smtClean="0"/>
              <a:t>Software Engineering Design</a:t>
            </a:r>
          </a:p>
          <a:p>
            <a:pPr lvl="1"/>
            <a:r>
              <a:rPr lang="en-US" dirty="0" smtClean="0"/>
              <a:t>Why study software engineering design?</a:t>
            </a:r>
          </a:p>
          <a:p>
            <a:pPr lvl="1">
              <a:buNone/>
            </a:pPr>
            <a:endParaRPr lang="en-US" dirty="0" smtClean="0"/>
          </a:p>
          <a:p>
            <a:r>
              <a:rPr lang="en-US" dirty="0" smtClean="0"/>
              <a:t>Software design challenges</a:t>
            </a:r>
          </a:p>
          <a:p>
            <a:pPr lvl="1"/>
            <a:r>
              <a:rPr lang="en-US" dirty="0" smtClean="0"/>
              <a:t>Requirements volatility</a:t>
            </a:r>
          </a:p>
          <a:p>
            <a:pPr lvl="1"/>
            <a:r>
              <a:rPr lang="en-US" dirty="0" smtClean="0"/>
              <a:t>Processes</a:t>
            </a:r>
          </a:p>
          <a:p>
            <a:pPr lvl="1"/>
            <a:r>
              <a:rPr lang="en-US" dirty="0" smtClean="0"/>
              <a:t>Technology</a:t>
            </a:r>
          </a:p>
          <a:p>
            <a:pPr lvl="1"/>
            <a:r>
              <a:rPr lang="en-US" dirty="0" smtClean="0"/>
              <a:t>Ethical and Professional issues</a:t>
            </a:r>
          </a:p>
          <a:p>
            <a:pPr lvl="1"/>
            <a:r>
              <a:rPr lang="en-US" dirty="0" smtClean="0"/>
              <a:t>Managing design influences</a:t>
            </a:r>
          </a:p>
          <a:p>
            <a:pPr lvl="1">
              <a:buNone/>
            </a:pPr>
            <a:endParaRPr lang="en-US" dirty="0" smtClean="0"/>
          </a:p>
          <a:p>
            <a:r>
              <a:rPr lang="en-US" dirty="0" smtClean="0"/>
              <a:t>Software design process	</a:t>
            </a:r>
          </a:p>
          <a:p>
            <a:pPr lvl="1"/>
            <a:r>
              <a:rPr lang="en-US" dirty="0" smtClean="0"/>
              <a:t>Software architecture</a:t>
            </a:r>
          </a:p>
          <a:p>
            <a:pPr lvl="1"/>
            <a:r>
              <a:rPr lang="en-US" dirty="0" smtClean="0"/>
              <a:t>Detailed design</a:t>
            </a:r>
          </a:p>
          <a:p>
            <a:pPr lvl="1"/>
            <a:r>
              <a:rPr lang="en-US" dirty="0" smtClean="0"/>
              <a:t>Construction design</a:t>
            </a:r>
          </a:p>
          <a:p>
            <a:pPr lvl="1"/>
            <a:r>
              <a:rPr lang="en-US" dirty="0" smtClean="0"/>
              <a:t>HCI design</a:t>
            </a:r>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Design</a:t>
            </a:r>
            <a:endParaRPr lang="en-US" dirty="0"/>
          </a:p>
        </p:txBody>
      </p:sp>
      <p:sp>
        <p:nvSpPr>
          <p:cNvPr id="3" name="Content Placeholder 2"/>
          <p:cNvSpPr>
            <a:spLocks noGrp="1"/>
          </p:cNvSpPr>
          <p:nvPr>
            <p:ph idx="1"/>
          </p:nvPr>
        </p:nvSpPr>
        <p:spPr/>
        <p:txBody>
          <a:bodyPr/>
          <a:lstStyle/>
          <a:p>
            <a:r>
              <a:rPr lang="en-US" dirty="0" smtClean="0"/>
              <a:t>In the previous session, we presented a general motivation for software engineering design and important concepts for designers.  These included:</a:t>
            </a:r>
          </a:p>
          <a:p>
            <a:pPr lvl="1"/>
            <a:r>
              <a:rPr lang="en-US" dirty="0" smtClean="0"/>
              <a:t>Design for large-scale, complex, systems</a:t>
            </a:r>
          </a:p>
          <a:p>
            <a:pPr lvl="1"/>
            <a:r>
              <a:rPr lang="en-US" dirty="0" smtClean="0"/>
              <a:t>The software engineering life-cycle</a:t>
            </a:r>
          </a:p>
          <a:p>
            <a:pPr lvl="1"/>
            <a:r>
              <a:rPr lang="en-US" dirty="0" smtClean="0"/>
              <a:t>A micro-process for problem solving, and</a:t>
            </a:r>
          </a:p>
          <a:p>
            <a:pPr lvl="1"/>
            <a:r>
              <a:rPr lang="en-US" dirty="0" smtClean="0"/>
              <a:t>A holistic (macro) process for problem solving</a:t>
            </a:r>
          </a:p>
          <a:p>
            <a:endParaRPr lang="en-US" dirty="0" smtClean="0"/>
          </a:p>
          <a:p>
            <a:r>
              <a:rPr lang="en-US" dirty="0" smtClean="0"/>
              <a:t>In the previous session, design was introduced as a systematic and intelligent process for generating, evaluating, and specifying designs for devices, systems, or processes.  </a:t>
            </a:r>
          </a:p>
          <a:p>
            <a:endParaRPr lang="en-US" dirty="0" smtClean="0"/>
          </a:p>
          <a:p>
            <a:r>
              <a:rPr lang="en-US" dirty="0" smtClean="0"/>
              <a:t>In software engineering, design provides blueprints that capture how software systems will meet their required functions and how they will be shaped to meet their intended quality.</a:t>
            </a:r>
          </a:p>
          <a:p>
            <a:endParaRPr lang="en-US" dirty="0" smtClean="0"/>
          </a:p>
          <a:p>
            <a:pPr lvl="1">
              <a:buNone/>
            </a:pPr>
            <a:endParaRPr lang="en-US" dirty="0" smtClean="0"/>
          </a:p>
          <a:p>
            <a:pPr lvl="1">
              <a:buNone/>
            </a:pPr>
            <a:endParaRPr lang="en-US" dirty="0" smtClean="0"/>
          </a:p>
          <a:p>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Design</a:t>
            </a:r>
            <a:endParaRPr lang="en-US" dirty="0"/>
          </a:p>
        </p:txBody>
      </p:sp>
      <p:sp>
        <p:nvSpPr>
          <p:cNvPr id="3" name="Content Placeholder 2"/>
          <p:cNvSpPr>
            <a:spLocks noGrp="1"/>
          </p:cNvSpPr>
          <p:nvPr>
            <p:ph idx="1"/>
          </p:nvPr>
        </p:nvSpPr>
        <p:spPr/>
        <p:txBody>
          <a:bodyPr/>
          <a:lstStyle/>
          <a:p>
            <a:r>
              <a:rPr lang="en-US" dirty="0" smtClean="0"/>
              <a:t>Formally, software engineering design is defined as:</a:t>
            </a:r>
          </a:p>
          <a:p>
            <a:pPr lvl="1"/>
            <a:r>
              <a:rPr lang="en-US" dirty="0" smtClean="0"/>
              <a:t>(1) The process of identifying, evaluating, validating, and specifying the architectural, detailed, and construction models required to build software that meets its intended functional and non-functional requirements; and,</a:t>
            </a:r>
          </a:p>
          <a:p>
            <a:pPr lvl="1"/>
            <a:r>
              <a:rPr lang="en-US" dirty="0" smtClean="0"/>
              <a:t>(2) the result of such process.</a:t>
            </a:r>
          </a:p>
          <a:p>
            <a:pPr lvl="1"/>
            <a:endParaRPr lang="en-US" dirty="0" smtClean="0"/>
          </a:p>
          <a:p>
            <a:r>
              <a:rPr lang="en-US" dirty="0" smtClean="0"/>
              <a:t>In the software industry, the term design is used interchangeably to describe both the </a:t>
            </a:r>
            <a:r>
              <a:rPr lang="en-US" i="1" dirty="0" smtClean="0"/>
              <a:t>process</a:t>
            </a:r>
            <a:r>
              <a:rPr lang="en-US" dirty="0" smtClean="0"/>
              <a:t> and </a:t>
            </a:r>
            <a:r>
              <a:rPr lang="en-US" i="1" dirty="0" smtClean="0"/>
              <a:t>product </a:t>
            </a:r>
            <a:r>
              <a:rPr lang="en-US" dirty="0" smtClean="0"/>
              <a:t>resulting from such process.</a:t>
            </a:r>
          </a:p>
          <a:p>
            <a:pPr lvl="1"/>
            <a:r>
              <a:rPr lang="en-US" dirty="0" smtClean="0"/>
              <a:t>From the </a:t>
            </a:r>
            <a:r>
              <a:rPr lang="en-US" i="1" dirty="0" smtClean="0"/>
              <a:t>process perspective</a:t>
            </a:r>
            <a:r>
              <a:rPr lang="en-US" dirty="0" smtClean="0"/>
              <a:t>, it describes the phase, activities, tasks, and interrelationship between them required to model software’s structure and behavior before construction.</a:t>
            </a:r>
          </a:p>
          <a:p>
            <a:pPr lvl="2"/>
            <a:r>
              <a:rPr lang="en-US" dirty="0" smtClean="0"/>
              <a:t>This is concerned mostly with the project management’s aspect of development.</a:t>
            </a:r>
          </a:p>
          <a:p>
            <a:pPr lvl="1"/>
            <a:r>
              <a:rPr lang="en-US" dirty="0" smtClean="0"/>
              <a:t>From the </a:t>
            </a:r>
            <a:r>
              <a:rPr lang="en-US" i="1" dirty="0" smtClean="0"/>
              <a:t>product perspective</a:t>
            </a:r>
            <a:r>
              <a:rPr lang="en-US" dirty="0" smtClean="0"/>
              <a:t>, it describes artifacts resulting from design activities, e.g., class diagram.</a:t>
            </a:r>
          </a:p>
          <a:p>
            <a:pPr lvl="2"/>
            <a:r>
              <a:rPr lang="en-US" dirty="0" smtClean="0"/>
              <a:t>This is concerned mostly with the technical aspects of development. </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Design – Product Development</a:t>
            </a:r>
            <a:endParaRPr lang="en-US" dirty="0"/>
          </a:p>
        </p:txBody>
      </p:sp>
      <p:sp>
        <p:nvSpPr>
          <p:cNvPr id="3" name="Content Placeholder 2"/>
          <p:cNvSpPr>
            <a:spLocks noGrp="1"/>
          </p:cNvSpPr>
          <p:nvPr>
            <p:ph idx="1"/>
          </p:nvPr>
        </p:nvSpPr>
        <p:spPr/>
        <p:txBody>
          <a:bodyPr/>
          <a:lstStyle/>
          <a:p>
            <a:r>
              <a:rPr lang="en-US" dirty="0" smtClean="0"/>
              <a:t>From the product development’s perspective, studying software design is important, mainly, because:	</a:t>
            </a:r>
          </a:p>
          <a:p>
            <a:pPr lvl="1"/>
            <a:r>
              <a:rPr lang="en-US" dirty="0" smtClean="0"/>
              <a:t>Requirements are mapped to conceptual models of software</a:t>
            </a:r>
          </a:p>
          <a:p>
            <a:pPr lvl="1"/>
            <a:r>
              <a:rPr lang="en-US" dirty="0" smtClean="0"/>
              <a:t>Provide models that represent structure and behavior</a:t>
            </a:r>
          </a:p>
          <a:p>
            <a:pPr lvl="1"/>
            <a:r>
              <a:rPr lang="en-US" dirty="0" smtClean="0"/>
              <a:t>Main components and interfaces are identified</a:t>
            </a:r>
          </a:p>
          <a:p>
            <a:pPr lvl="1"/>
            <a:r>
              <a:rPr lang="en-US" dirty="0" smtClean="0"/>
              <a:t>Quality of future system is born</a:t>
            </a:r>
          </a:p>
          <a:p>
            <a:pPr lvl="2"/>
            <a:r>
              <a:rPr lang="en-US" dirty="0" smtClean="0"/>
              <a:t>Modularization, cohesiveness, coupling, etc.</a:t>
            </a:r>
          </a:p>
          <a:p>
            <a:pPr lvl="2"/>
            <a:r>
              <a:rPr lang="en-US" dirty="0" smtClean="0"/>
              <a:t>Provide means to evaluate quality attributes, e.g., usability.</a:t>
            </a:r>
          </a:p>
          <a:p>
            <a:pPr lvl="1"/>
            <a:r>
              <a:rPr lang="en-US" dirty="0" smtClean="0"/>
              <a:t>Solutions can be reused in other projects</a:t>
            </a:r>
          </a:p>
          <a:p>
            <a:pPr marL="342900" lvl="1" indent="-342900">
              <a:buFont typeface="Wingdings" pitchFamily="2" charset="2"/>
              <a:buChar char="Ø"/>
            </a:pPr>
            <a:endParaRPr lang="en-US" dirty="0" smtClean="0"/>
          </a:p>
          <a:p>
            <a:pPr marL="342900" lvl="1" indent="-342900">
              <a:buFont typeface="Wingdings" pitchFamily="2" charset="2"/>
              <a:buChar char="Ø"/>
            </a:pPr>
            <a:r>
              <a:rPr lang="en-US" dirty="0" smtClean="0"/>
              <a:t>Design forms the foundation for all other development activities</a:t>
            </a:r>
          </a:p>
          <a:p>
            <a:pPr marL="742950" lvl="2" indent="-342900">
              <a:buFont typeface="Wingdings" pitchFamily="2" charset="2"/>
              <a:buChar char="Ø"/>
            </a:pPr>
            <a:r>
              <a:rPr lang="en-US" dirty="0" smtClean="0"/>
              <a:t>Construction</a:t>
            </a:r>
          </a:p>
          <a:p>
            <a:pPr marL="742950" lvl="2" indent="-342900">
              <a:buFont typeface="Wingdings" pitchFamily="2" charset="2"/>
              <a:buChar char="Ø"/>
            </a:pPr>
            <a:r>
              <a:rPr lang="en-US" dirty="0" smtClean="0"/>
              <a:t>Testing</a:t>
            </a:r>
          </a:p>
          <a:p>
            <a:pPr marL="742950" lvl="2" indent="-342900">
              <a:buFont typeface="Wingdings" pitchFamily="2" charset="2"/>
              <a:buChar char="Ø"/>
            </a:pPr>
            <a:r>
              <a:rPr lang="en-US" dirty="0" smtClean="0"/>
              <a:t>Maintenance</a:t>
            </a:r>
          </a:p>
          <a:p>
            <a:pPr marL="742950" lvl="2" indent="-342900">
              <a:buFont typeface="Wingdings" pitchFamily="2" charset="2"/>
              <a:buChar char="Ø"/>
            </a:pPr>
            <a:endParaRPr lang="en-US" dirty="0" smtClean="0"/>
          </a:p>
          <a:p>
            <a:endParaRPr lang="en-US" dirty="0" smtClean="0"/>
          </a:p>
          <a:p>
            <a:pPr lvl="1">
              <a:buNone/>
            </a:pPr>
            <a:endParaRPr lang="en-US" dirty="0" smtClean="0"/>
          </a:p>
          <a:p>
            <a:pPr lvl="1">
              <a:buNone/>
            </a:pPr>
            <a:endParaRPr lang="en-US" dirty="0" smtClean="0"/>
          </a:p>
          <a:p>
            <a:pPr lvl="1"/>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1026" name="Picture 2" descr="C:\Users\cotero\AppData\Local\Microsoft\Windows\Temporary Internet Files\Content.IE5\ES8921MZ\MC900048773[1].wmf"/>
          <p:cNvPicPr>
            <a:picLocks noChangeAspect="1" noChangeArrowheads="1"/>
          </p:cNvPicPr>
          <p:nvPr/>
        </p:nvPicPr>
        <p:blipFill>
          <a:blip r:embed="rId2" cstate="print"/>
          <a:srcRect/>
          <a:stretch>
            <a:fillRect/>
          </a:stretch>
        </p:blipFill>
        <p:spPr bwMode="auto">
          <a:xfrm>
            <a:off x="7062014" y="4648200"/>
            <a:ext cx="1163190" cy="1295400"/>
          </a:xfrm>
          <a:prstGeom prst="rect">
            <a:avLst/>
          </a:prstGeom>
          <a:noFill/>
        </p:spPr>
      </p:pic>
      <p:sp>
        <p:nvSpPr>
          <p:cNvPr id="9" name="Cloud Callout 8"/>
          <p:cNvSpPr/>
          <p:nvPr/>
        </p:nvSpPr>
        <p:spPr>
          <a:xfrm>
            <a:off x="6553200" y="2372258"/>
            <a:ext cx="2286000" cy="1447800"/>
          </a:xfrm>
          <a:prstGeom prst="cloudCallout">
            <a:avLst>
              <a:gd name="adj1" fmla="val -208"/>
              <a:gd name="adj2" fmla="val 100806"/>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6858001" y="2667000"/>
            <a:ext cx="381000" cy="260480"/>
          </a:xfrm>
          <a:prstGeom prst="rect">
            <a:avLst/>
          </a:prstGeom>
          <a:noFill/>
          <a:ln w="9525">
            <a:noFill/>
            <a:miter lim="800000"/>
            <a:headEnd/>
            <a:tailEnd/>
          </a:ln>
        </p:spPr>
      </p:pic>
      <p:pic>
        <p:nvPicPr>
          <p:cNvPr id="1032" name="Picture 8"/>
          <p:cNvPicPr>
            <a:picLocks noChangeAspect="1" noChangeArrowheads="1"/>
          </p:cNvPicPr>
          <p:nvPr/>
        </p:nvPicPr>
        <p:blipFill>
          <a:blip r:embed="rId4" cstate="print"/>
          <a:srcRect/>
          <a:stretch>
            <a:fillRect/>
          </a:stretch>
        </p:blipFill>
        <p:spPr bwMode="auto">
          <a:xfrm>
            <a:off x="7772400" y="2590800"/>
            <a:ext cx="619369" cy="457200"/>
          </a:xfrm>
          <a:prstGeom prst="rect">
            <a:avLst/>
          </a:prstGeom>
          <a:noFill/>
          <a:ln w="9525">
            <a:noFill/>
            <a:miter lim="800000"/>
            <a:headEnd/>
            <a:tailEnd/>
          </a:ln>
        </p:spPr>
      </p:pic>
      <p:pic>
        <p:nvPicPr>
          <p:cNvPr id="1033" name="Picture 9"/>
          <p:cNvPicPr>
            <a:picLocks noChangeAspect="1" noChangeArrowheads="1"/>
          </p:cNvPicPr>
          <p:nvPr/>
        </p:nvPicPr>
        <p:blipFill>
          <a:blip r:embed="rId5" cstate="print"/>
          <a:srcRect/>
          <a:stretch>
            <a:fillRect/>
          </a:stretch>
        </p:blipFill>
        <p:spPr bwMode="auto">
          <a:xfrm>
            <a:off x="6924675" y="2971800"/>
            <a:ext cx="1203208" cy="63491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Design –Project Management</a:t>
            </a:r>
            <a:endParaRPr lang="en-US" dirty="0"/>
          </a:p>
        </p:txBody>
      </p:sp>
      <p:sp>
        <p:nvSpPr>
          <p:cNvPr id="3" name="Content Placeholder 2"/>
          <p:cNvSpPr>
            <a:spLocks noGrp="1"/>
          </p:cNvSpPr>
          <p:nvPr>
            <p:ph idx="1"/>
          </p:nvPr>
        </p:nvSpPr>
        <p:spPr>
          <a:xfrm>
            <a:off x="457200" y="1371601"/>
            <a:ext cx="8229600" cy="5181599"/>
          </a:xfrm>
        </p:spPr>
        <p:txBody>
          <a:bodyPr/>
          <a:lstStyle/>
          <a:p>
            <a:r>
              <a:rPr lang="en-US" dirty="0" smtClean="0"/>
              <a:t>From the project management’s perspective, studying software design is important, mainly, because:</a:t>
            </a:r>
          </a:p>
          <a:p>
            <a:pPr lvl="1"/>
            <a:r>
              <a:rPr lang="en-US" dirty="0" smtClean="0"/>
              <a:t>Good software design help minimize effects of requirements’ volatility</a:t>
            </a:r>
          </a:p>
          <a:p>
            <a:pPr lvl="2"/>
            <a:r>
              <a:rPr lang="en-US" dirty="0" smtClean="0"/>
              <a:t>This can minimize impact on schedule and cost.</a:t>
            </a:r>
          </a:p>
          <a:p>
            <a:pPr lvl="1"/>
            <a:r>
              <a:rPr lang="en-US" dirty="0" smtClean="0"/>
              <a:t>Increases efficiency in human resource allocation.</a:t>
            </a:r>
          </a:p>
          <a:p>
            <a:pPr lvl="2"/>
            <a:r>
              <a:rPr lang="en-US" dirty="0" smtClean="0"/>
              <a:t>Designs decompose systems so that teams can work on                                          different parts of the problem in parallel.</a:t>
            </a:r>
          </a:p>
          <a:p>
            <a:pPr lvl="2"/>
            <a:r>
              <a:rPr lang="en-US" dirty="0" smtClean="0"/>
              <a:t>By decomposing system, teams can work in distributed fashion.</a:t>
            </a:r>
          </a:p>
          <a:p>
            <a:pPr lvl="2"/>
            <a:r>
              <a:rPr lang="en-US" dirty="0" smtClean="0"/>
              <a:t>These can have positive effects in schedule and cost.</a:t>
            </a:r>
          </a:p>
          <a:p>
            <a:pPr lvl="1"/>
            <a:r>
              <a:rPr lang="en-US" dirty="0" smtClean="0"/>
              <a:t>Shields the project from having “one guy” owning the whole system.</a:t>
            </a:r>
          </a:p>
          <a:p>
            <a:pPr lvl="2"/>
            <a:r>
              <a:rPr lang="en-US" dirty="0" smtClean="0"/>
              <a:t>Multiple personnel owns multiple components.</a:t>
            </a:r>
          </a:p>
          <a:p>
            <a:pPr lvl="3"/>
            <a:r>
              <a:rPr lang="en-US" dirty="0" smtClean="0"/>
              <a:t>If one leaves the company, it is easier to replace…</a:t>
            </a:r>
          </a:p>
          <a:p>
            <a:pPr lvl="2"/>
            <a:r>
              <a:rPr lang="en-US" dirty="0" smtClean="0"/>
              <a:t>Documented designs can be used by new personnel to minimize                                the learning curve.</a:t>
            </a:r>
          </a:p>
          <a:p>
            <a:r>
              <a:rPr lang="en-US" dirty="0" smtClean="0"/>
              <a:t>Overall, design helps improve project management.</a:t>
            </a:r>
          </a:p>
          <a:p>
            <a:pPr lvl="1"/>
            <a:r>
              <a:rPr lang="en-US" dirty="0" smtClean="0"/>
              <a:t>Planning, organization, staffing, and tracking  </a:t>
            </a:r>
          </a:p>
          <a:p>
            <a:pPr lvl="2"/>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7" name="Picture 2" descr="C:\Users\cotero\AppData\Local\Microsoft\Windows\Temporary Internet Files\Content.IE5\ES8921MZ\MC900048773[1].wmf"/>
          <p:cNvPicPr>
            <a:picLocks noChangeAspect="1" noChangeArrowheads="1"/>
          </p:cNvPicPr>
          <p:nvPr/>
        </p:nvPicPr>
        <p:blipFill>
          <a:blip r:embed="rId2" cstate="print"/>
          <a:srcRect/>
          <a:stretch>
            <a:fillRect/>
          </a:stretch>
        </p:blipFill>
        <p:spPr bwMode="auto">
          <a:xfrm>
            <a:off x="7162800" y="4648200"/>
            <a:ext cx="1100504" cy="1225589"/>
          </a:xfrm>
          <a:prstGeom prst="rect">
            <a:avLst/>
          </a:prstGeom>
          <a:noFill/>
        </p:spPr>
      </p:pic>
      <p:sp>
        <p:nvSpPr>
          <p:cNvPr id="8" name="Cloud Callout 7"/>
          <p:cNvSpPr/>
          <p:nvPr/>
        </p:nvSpPr>
        <p:spPr>
          <a:xfrm>
            <a:off x="6553200" y="2372258"/>
            <a:ext cx="2286000" cy="1447800"/>
          </a:xfrm>
          <a:prstGeom prst="cloudCallout">
            <a:avLst>
              <a:gd name="adj1" fmla="val 3959"/>
              <a:gd name="adj2" fmla="val 100806"/>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C:\Users\cotero\AppData\Local\Microsoft\Windows\Temporary Internet Files\Content.IE5\6QQ1AAQV\MC900431586[1].png"/>
          <p:cNvPicPr>
            <a:picLocks noChangeAspect="1" noChangeArrowheads="1"/>
          </p:cNvPicPr>
          <p:nvPr/>
        </p:nvPicPr>
        <p:blipFill>
          <a:blip r:embed="rId3" cstate="print"/>
          <a:srcRect/>
          <a:stretch>
            <a:fillRect/>
          </a:stretch>
        </p:blipFill>
        <p:spPr bwMode="auto">
          <a:xfrm>
            <a:off x="8534400" y="3048000"/>
            <a:ext cx="228600" cy="228600"/>
          </a:xfrm>
          <a:prstGeom prst="rect">
            <a:avLst/>
          </a:prstGeom>
          <a:noFill/>
        </p:spPr>
      </p:pic>
      <p:pic>
        <p:nvPicPr>
          <p:cNvPr id="2053" name="Picture 5" descr="C:\Users\cotero\AppData\Local\Microsoft\Windows\Temporary Internet Files\Content.IE5\6QQ1AAQV\MC900389188[1].wmf"/>
          <p:cNvPicPr>
            <a:picLocks noChangeAspect="1" noChangeArrowheads="1"/>
          </p:cNvPicPr>
          <p:nvPr/>
        </p:nvPicPr>
        <p:blipFill>
          <a:blip r:embed="rId4" cstate="print"/>
          <a:srcRect/>
          <a:stretch>
            <a:fillRect/>
          </a:stretch>
        </p:blipFill>
        <p:spPr bwMode="auto">
          <a:xfrm>
            <a:off x="6858000" y="2667000"/>
            <a:ext cx="533400" cy="557324"/>
          </a:xfrm>
          <a:prstGeom prst="rect">
            <a:avLst/>
          </a:prstGeom>
          <a:noFill/>
        </p:spPr>
      </p:pic>
      <p:pic>
        <p:nvPicPr>
          <p:cNvPr id="2054" name="Picture 6" descr="C:\Users\cotero\AppData\Local\Microsoft\Windows\Temporary Internet Files\Content.IE5\MFZE6V1B\MC900441938[1].wmf"/>
          <p:cNvPicPr>
            <a:picLocks noChangeAspect="1" noChangeArrowheads="1"/>
          </p:cNvPicPr>
          <p:nvPr/>
        </p:nvPicPr>
        <p:blipFill>
          <a:blip r:embed="rId5" cstate="print"/>
          <a:srcRect/>
          <a:stretch>
            <a:fillRect/>
          </a:stretch>
        </p:blipFill>
        <p:spPr bwMode="auto">
          <a:xfrm>
            <a:off x="7620000" y="3276600"/>
            <a:ext cx="381000" cy="458505"/>
          </a:xfrm>
          <a:prstGeom prst="rect">
            <a:avLst/>
          </a:prstGeom>
          <a:noFill/>
        </p:spPr>
      </p:pic>
      <p:pic>
        <p:nvPicPr>
          <p:cNvPr id="2055" name="Picture 7" descr="C:\Users\cotero\AppData\Local\Microsoft\Windows\Temporary Internet Files\Content.IE5\MFZE6V1B\MC900441459[1].png"/>
          <p:cNvPicPr>
            <a:picLocks noChangeAspect="1" noChangeArrowheads="1"/>
          </p:cNvPicPr>
          <p:nvPr/>
        </p:nvPicPr>
        <p:blipFill>
          <a:blip r:embed="rId6" cstate="print"/>
          <a:srcRect/>
          <a:stretch>
            <a:fillRect/>
          </a:stretch>
        </p:blipFill>
        <p:spPr bwMode="auto">
          <a:xfrm>
            <a:off x="6934200" y="3276600"/>
            <a:ext cx="457200" cy="457200"/>
          </a:xfrm>
          <a:prstGeom prst="rect">
            <a:avLst/>
          </a:prstGeom>
          <a:noFill/>
        </p:spPr>
      </p:pic>
      <p:pic>
        <p:nvPicPr>
          <p:cNvPr id="2056" name="Picture 8" descr="C:\Users\cotero\AppData\Local\Microsoft\Windows\Temporary Internet Files\Content.IE5\ES8921MZ\MC900341865[1].jpg"/>
          <p:cNvPicPr>
            <a:picLocks noChangeAspect="1" noChangeArrowheads="1"/>
          </p:cNvPicPr>
          <p:nvPr/>
        </p:nvPicPr>
        <p:blipFill>
          <a:blip r:embed="rId7" cstate="print"/>
          <a:srcRect/>
          <a:stretch>
            <a:fillRect/>
          </a:stretch>
        </p:blipFill>
        <p:spPr bwMode="auto">
          <a:xfrm>
            <a:off x="8382000" y="2667000"/>
            <a:ext cx="304800" cy="291592"/>
          </a:xfrm>
          <a:prstGeom prst="rect">
            <a:avLst/>
          </a:prstGeom>
          <a:noFill/>
        </p:spPr>
      </p:pic>
      <p:pic>
        <p:nvPicPr>
          <p:cNvPr id="2057" name="Picture 9" descr="C:\Users\cotero\AppData\Local\Microsoft\Windows\Temporary Internet Files\Content.IE5\07RO37DR\MC900341836[1].jpg"/>
          <p:cNvPicPr>
            <a:picLocks noChangeAspect="1" noChangeArrowheads="1"/>
          </p:cNvPicPr>
          <p:nvPr/>
        </p:nvPicPr>
        <p:blipFill>
          <a:blip r:embed="rId8" cstate="print"/>
          <a:srcRect/>
          <a:stretch>
            <a:fillRect/>
          </a:stretch>
        </p:blipFill>
        <p:spPr bwMode="auto">
          <a:xfrm>
            <a:off x="7429500" y="2514600"/>
            <a:ext cx="914400" cy="736092"/>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Challenges</a:t>
            </a:r>
            <a:endParaRPr lang="en-US" dirty="0"/>
          </a:p>
        </p:txBody>
      </p:sp>
      <p:sp>
        <p:nvSpPr>
          <p:cNvPr id="3" name="Content Placeholder 2"/>
          <p:cNvSpPr>
            <a:spLocks noGrp="1"/>
          </p:cNvSpPr>
          <p:nvPr>
            <p:ph idx="1"/>
          </p:nvPr>
        </p:nvSpPr>
        <p:spPr>
          <a:xfrm>
            <a:off x="457200" y="1371601"/>
            <a:ext cx="8229600" cy="5181599"/>
          </a:xfrm>
        </p:spPr>
        <p:txBody>
          <a:bodyPr>
            <a:normAutofit fontScale="85000" lnSpcReduction="20000"/>
          </a:bodyPr>
          <a:lstStyle/>
          <a:p>
            <a:r>
              <a:rPr lang="en-US" dirty="0" smtClean="0"/>
              <a:t>Today, the software design phase has evolved from an ad-hoc and sometimes overlooked phase to an essential phase of the development life-cycle.</a:t>
            </a:r>
          </a:p>
          <a:p>
            <a:endParaRPr lang="en-US" dirty="0" smtClean="0"/>
          </a:p>
          <a:p>
            <a:r>
              <a:rPr lang="en-US" dirty="0" smtClean="0"/>
              <a:t>The increasing complexity of today’s software systems has created a set of particular challenges that makes it hard for software engineers to meet the continuous customer demand for higher software quality.</a:t>
            </a:r>
          </a:p>
          <a:p>
            <a:endParaRPr lang="en-US" dirty="0" smtClean="0"/>
          </a:p>
          <a:p>
            <a:r>
              <a:rPr lang="en-US" dirty="0" smtClean="0"/>
              <a:t>These challenges have prompted software engineers to pay closer attention to the design process:</a:t>
            </a:r>
          </a:p>
          <a:p>
            <a:pPr lvl="1"/>
            <a:r>
              <a:rPr lang="en-US" dirty="0" smtClean="0"/>
              <a:t>To better understand, apply, and promulgate well-known design principles, processes, and professional practices.</a:t>
            </a:r>
          </a:p>
          <a:p>
            <a:pPr lvl="1">
              <a:buNone/>
            </a:pPr>
            <a:endParaRPr lang="en-US" dirty="0" smtClean="0"/>
          </a:p>
          <a:p>
            <a:r>
              <a:rPr lang="en-US" dirty="0" smtClean="0"/>
              <a:t>The major design challenges include:</a:t>
            </a:r>
          </a:p>
          <a:p>
            <a:pPr lvl="1"/>
            <a:r>
              <a:rPr lang="en-US" dirty="0" smtClean="0"/>
              <a:t>Requirements volatility</a:t>
            </a:r>
          </a:p>
          <a:p>
            <a:pPr lvl="1"/>
            <a:r>
              <a:rPr lang="en-US" dirty="0" smtClean="0"/>
              <a:t>Inconsistent development processes</a:t>
            </a:r>
          </a:p>
          <a:p>
            <a:pPr lvl="1"/>
            <a:r>
              <a:rPr lang="en-US" dirty="0" smtClean="0"/>
              <a:t>Fast, and ever-changing technology</a:t>
            </a:r>
          </a:p>
          <a:p>
            <a:pPr lvl="1"/>
            <a:r>
              <a:rPr lang="en-US" dirty="0" smtClean="0"/>
              <a:t>Ethical and professional practices</a:t>
            </a:r>
          </a:p>
          <a:p>
            <a:pPr lvl="1"/>
            <a:r>
              <a:rPr lang="en-US" dirty="0" smtClean="0"/>
              <a:t>Managing design influences</a:t>
            </a:r>
          </a:p>
          <a:p>
            <a:pPr lvl="1">
              <a:buNone/>
            </a:pPr>
            <a:endParaRPr lang="en-US" dirty="0" smtClean="0"/>
          </a:p>
          <a:p>
            <a:r>
              <a:rPr lang="en-US" dirty="0" smtClean="0"/>
              <a:t>To understand these better, we need to explore them in more depth…</a:t>
            </a:r>
          </a:p>
          <a:p>
            <a:pPr lvl="1"/>
            <a:endParaRPr lang="en-US" dirty="0" smtClean="0"/>
          </a:p>
          <a:p>
            <a:pPr lvl="1"/>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Design Challenge #1 – </a:t>
            </a:r>
            <a:br>
              <a:rPr lang="en-US" dirty="0" smtClean="0"/>
            </a:br>
            <a:r>
              <a:rPr lang="en-US" dirty="0" smtClean="0"/>
              <a:t>Requirements Volatility</a:t>
            </a:r>
            <a:endParaRPr lang="en-US" dirty="0"/>
          </a:p>
        </p:txBody>
      </p:sp>
      <p:sp>
        <p:nvSpPr>
          <p:cNvPr id="3" name="Content Placeholder 2"/>
          <p:cNvSpPr>
            <a:spLocks noGrp="1"/>
          </p:cNvSpPr>
          <p:nvPr>
            <p:ph idx="1"/>
          </p:nvPr>
        </p:nvSpPr>
        <p:spPr/>
        <p:txBody>
          <a:bodyPr/>
          <a:lstStyle/>
          <a:p>
            <a:r>
              <a:rPr lang="en-US" sz="1800" dirty="0" smtClean="0"/>
              <a:t>Requirements’ volatility is a major reason for the complexity of software projects.</a:t>
            </a:r>
          </a:p>
          <a:p>
            <a:pPr lvl="1"/>
            <a:r>
              <a:rPr lang="en-US" sz="1600" dirty="0" smtClean="0"/>
              <a:t>The common view is that  software can be modified “easily”</a:t>
            </a:r>
          </a:p>
          <a:p>
            <a:pPr lvl="2"/>
            <a:r>
              <a:rPr lang="en-US" sz="1400" dirty="0" smtClean="0"/>
              <a:t>Requirements are not fully specified before design and construction</a:t>
            </a:r>
          </a:p>
          <a:p>
            <a:pPr lvl="2"/>
            <a:r>
              <a:rPr lang="en-US" sz="1400" dirty="0" smtClean="0"/>
              <a:t>Requirements are changed after design and construction</a:t>
            </a:r>
          </a:p>
          <a:p>
            <a:pPr lvl="1"/>
            <a:r>
              <a:rPr lang="en-US" sz="1600" dirty="0" smtClean="0"/>
              <a:t>Consider if we take this approach for the development of a house!</a:t>
            </a:r>
            <a:endParaRPr lang="en-US" sz="1600"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pic>
        <p:nvPicPr>
          <p:cNvPr id="3075" name="Picture 3" descr="C:\Users\cotero\AppData\Local\Microsoft\Windows\Temporary Internet Files\Content.IE5\6QQ1AAQV\MC900048773[1].wmf"/>
          <p:cNvPicPr>
            <a:picLocks noChangeAspect="1" noChangeArrowheads="1"/>
          </p:cNvPicPr>
          <p:nvPr/>
        </p:nvPicPr>
        <p:blipFill>
          <a:blip r:embed="rId2" cstate="print"/>
          <a:srcRect/>
          <a:stretch>
            <a:fillRect/>
          </a:stretch>
        </p:blipFill>
        <p:spPr bwMode="auto">
          <a:xfrm>
            <a:off x="4248150" y="4067175"/>
            <a:ext cx="685800" cy="609600"/>
          </a:xfrm>
          <a:prstGeom prst="rect">
            <a:avLst/>
          </a:prstGeom>
          <a:noFill/>
        </p:spPr>
      </p:pic>
      <p:sp>
        <p:nvSpPr>
          <p:cNvPr id="23" name="Cloud Callout 22"/>
          <p:cNvSpPr/>
          <p:nvPr/>
        </p:nvSpPr>
        <p:spPr>
          <a:xfrm>
            <a:off x="4495800" y="2895600"/>
            <a:ext cx="1905000" cy="990600"/>
          </a:xfrm>
          <a:prstGeom prst="cloudCallout">
            <a:avLst>
              <a:gd name="adj1" fmla="val -35968"/>
              <a:gd name="adj2" fmla="val 68689"/>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4800600" y="2971800"/>
            <a:ext cx="1447800" cy="830997"/>
          </a:xfrm>
          <a:prstGeom prst="rect">
            <a:avLst/>
          </a:prstGeom>
          <a:noFill/>
        </p:spPr>
        <p:txBody>
          <a:bodyPr wrap="square" rtlCol="0">
            <a:spAutoFit/>
          </a:bodyPr>
          <a:lstStyle/>
          <a:p>
            <a:r>
              <a:rPr lang="en-US" sz="1200" dirty="0" smtClean="0"/>
              <a:t>Oops… I don’t remember seeing a requirement  for this…</a:t>
            </a:r>
            <a:endParaRPr lang="en-US" sz="1200" dirty="0"/>
          </a:p>
        </p:txBody>
      </p:sp>
      <p:pic>
        <p:nvPicPr>
          <p:cNvPr id="3077" name="Picture 5" descr="C:\Users\cotero\AppData\Local\Microsoft\Windows\Temporary Internet Files\Content.IE5\MFZE6V1B\MC900230760[1].wmf"/>
          <p:cNvPicPr>
            <a:picLocks noChangeAspect="1" noChangeArrowheads="1"/>
          </p:cNvPicPr>
          <p:nvPr/>
        </p:nvPicPr>
        <p:blipFill>
          <a:blip r:embed="rId3" cstate="print"/>
          <a:srcRect/>
          <a:stretch>
            <a:fillRect/>
          </a:stretch>
        </p:blipFill>
        <p:spPr bwMode="auto">
          <a:xfrm>
            <a:off x="2895600" y="3886200"/>
            <a:ext cx="1016152" cy="762341"/>
          </a:xfrm>
          <a:prstGeom prst="rect">
            <a:avLst/>
          </a:prstGeom>
          <a:noFill/>
        </p:spPr>
      </p:pic>
      <p:pic>
        <p:nvPicPr>
          <p:cNvPr id="3076" name="Picture 4" descr="C:\Users\cotero\AppData\Local\Microsoft\Windows\Temporary Internet Files\Content.IE5\6QQ1AAQV\MP900442412[1].jpg"/>
          <p:cNvPicPr>
            <a:picLocks noChangeAspect="1" noChangeArrowheads="1"/>
          </p:cNvPicPr>
          <p:nvPr/>
        </p:nvPicPr>
        <p:blipFill>
          <a:blip r:embed="rId4" cstate="print"/>
          <a:srcRect/>
          <a:stretch>
            <a:fillRect/>
          </a:stretch>
        </p:blipFill>
        <p:spPr bwMode="auto">
          <a:xfrm>
            <a:off x="3505200" y="3505200"/>
            <a:ext cx="704123" cy="533400"/>
          </a:xfrm>
          <a:prstGeom prst="rect">
            <a:avLst/>
          </a:prstGeom>
          <a:noFill/>
        </p:spPr>
      </p:pic>
      <p:sp>
        <p:nvSpPr>
          <p:cNvPr id="10" name="Rectangle 9"/>
          <p:cNvSpPr/>
          <p:nvPr/>
        </p:nvSpPr>
        <p:spPr>
          <a:xfrm>
            <a:off x="7850622" y="3490033"/>
            <a:ext cx="142875" cy="3147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60022" y="3993712"/>
            <a:ext cx="1295400" cy="503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393422" y="4245552"/>
            <a:ext cx="228600" cy="251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6477000" y="3048000"/>
            <a:ext cx="1980927" cy="305159"/>
          </a:xfrm>
          <a:prstGeom prst="rect">
            <a:avLst/>
          </a:prstGeom>
          <a:noFill/>
        </p:spPr>
        <p:txBody>
          <a:bodyPr wrap="none" rtlCol="0">
            <a:spAutoFit/>
          </a:bodyPr>
          <a:lstStyle/>
          <a:p>
            <a:r>
              <a:rPr lang="en-US" dirty="0" smtClean="0"/>
              <a:t>Product Developed</a:t>
            </a:r>
            <a:endParaRPr lang="en-US" dirty="0"/>
          </a:p>
        </p:txBody>
      </p:sp>
      <p:grpSp>
        <p:nvGrpSpPr>
          <p:cNvPr id="29" name="Group 28"/>
          <p:cNvGrpSpPr/>
          <p:nvPr/>
        </p:nvGrpSpPr>
        <p:grpSpPr>
          <a:xfrm>
            <a:off x="762000" y="2971800"/>
            <a:ext cx="1687963" cy="1447800"/>
            <a:chOff x="6019800" y="3124200"/>
            <a:chExt cx="1687963" cy="1828800"/>
          </a:xfrm>
        </p:grpSpPr>
        <p:grpSp>
          <p:nvGrpSpPr>
            <p:cNvPr id="20" name="Group 19"/>
            <p:cNvGrpSpPr/>
            <p:nvPr/>
          </p:nvGrpSpPr>
          <p:grpSpPr>
            <a:xfrm>
              <a:off x="6096000" y="3505200"/>
              <a:ext cx="1447800" cy="1447800"/>
              <a:chOff x="6096000" y="4724400"/>
              <a:chExt cx="1447800" cy="1447800"/>
            </a:xfrm>
          </p:grpSpPr>
          <p:sp>
            <p:nvSpPr>
              <p:cNvPr id="15" name="Rectangle 14"/>
              <p:cNvSpPr/>
              <p:nvPr/>
            </p:nvSpPr>
            <p:spPr>
              <a:xfrm>
                <a:off x="7162800" y="4876800"/>
                <a:ext cx="14287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p:cNvSpPr/>
              <p:nvPr/>
            </p:nvSpPr>
            <p:spPr>
              <a:xfrm>
                <a:off x="6096000" y="4724400"/>
                <a:ext cx="1447800" cy="8382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172200" y="5562600"/>
                <a:ext cx="129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705600" y="5867400"/>
                <a:ext cx="228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p:cNvSpPr txBox="1"/>
            <p:nvPr/>
          </p:nvSpPr>
          <p:spPr>
            <a:xfrm>
              <a:off x="6019800" y="3124200"/>
              <a:ext cx="1687963" cy="369332"/>
            </a:xfrm>
            <a:prstGeom prst="rect">
              <a:avLst/>
            </a:prstGeom>
            <a:noFill/>
          </p:spPr>
          <p:txBody>
            <a:bodyPr wrap="none" rtlCol="0">
              <a:spAutoFit/>
            </a:bodyPr>
            <a:lstStyle/>
            <a:p>
              <a:r>
                <a:rPr lang="en-US" dirty="0" smtClean="0"/>
                <a:t>Desired Product</a:t>
              </a:r>
              <a:endParaRPr lang="en-US" dirty="0"/>
            </a:p>
          </p:txBody>
        </p:sp>
      </p:grpSp>
      <p:cxnSp>
        <p:nvCxnSpPr>
          <p:cNvPr id="34" name="Straight Connector 33"/>
          <p:cNvCxnSpPr/>
          <p:nvPr/>
        </p:nvCxnSpPr>
        <p:spPr>
          <a:xfrm>
            <a:off x="228600" y="4724400"/>
            <a:ext cx="86106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5" name="Group 34"/>
          <p:cNvGrpSpPr/>
          <p:nvPr/>
        </p:nvGrpSpPr>
        <p:grpSpPr>
          <a:xfrm>
            <a:off x="685800" y="4800600"/>
            <a:ext cx="1980927" cy="1447800"/>
            <a:chOff x="6019800" y="3124200"/>
            <a:chExt cx="1980927" cy="1828800"/>
          </a:xfrm>
        </p:grpSpPr>
        <p:grpSp>
          <p:nvGrpSpPr>
            <p:cNvPr id="36" name="Group 19"/>
            <p:cNvGrpSpPr/>
            <p:nvPr/>
          </p:nvGrpSpPr>
          <p:grpSpPr>
            <a:xfrm>
              <a:off x="6096000" y="3505200"/>
              <a:ext cx="1447800" cy="1447800"/>
              <a:chOff x="6096000" y="4724400"/>
              <a:chExt cx="1447800" cy="1447800"/>
            </a:xfrm>
          </p:grpSpPr>
          <p:sp>
            <p:nvSpPr>
              <p:cNvPr id="38" name="Rectangle 37"/>
              <p:cNvSpPr/>
              <p:nvPr/>
            </p:nvSpPr>
            <p:spPr>
              <a:xfrm>
                <a:off x="7162800" y="4876800"/>
                <a:ext cx="14287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p:cNvSpPr/>
              <p:nvPr/>
            </p:nvSpPr>
            <p:spPr>
              <a:xfrm>
                <a:off x="6096000" y="4724400"/>
                <a:ext cx="1447800" cy="8382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6172200" y="5562600"/>
                <a:ext cx="129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6705600" y="5867400"/>
                <a:ext cx="228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p:cNvSpPr txBox="1"/>
            <p:nvPr/>
          </p:nvSpPr>
          <p:spPr>
            <a:xfrm>
              <a:off x="6019800" y="3124200"/>
              <a:ext cx="1980927" cy="466525"/>
            </a:xfrm>
            <a:prstGeom prst="rect">
              <a:avLst/>
            </a:prstGeom>
            <a:noFill/>
          </p:spPr>
          <p:txBody>
            <a:bodyPr wrap="none" rtlCol="0">
              <a:spAutoFit/>
            </a:bodyPr>
            <a:lstStyle/>
            <a:p>
              <a:r>
                <a:rPr lang="en-US" dirty="0" smtClean="0"/>
                <a:t>Product Developed</a:t>
              </a:r>
              <a:endParaRPr lang="en-US" dirty="0"/>
            </a:p>
          </p:txBody>
        </p:sp>
      </p:grpSp>
      <p:grpSp>
        <p:nvGrpSpPr>
          <p:cNvPr id="47" name="Group 46"/>
          <p:cNvGrpSpPr/>
          <p:nvPr/>
        </p:nvGrpSpPr>
        <p:grpSpPr>
          <a:xfrm>
            <a:off x="1066800" y="4038600"/>
            <a:ext cx="228600" cy="228600"/>
            <a:chOff x="1066800" y="4038600"/>
            <a:chExt cx="228600" cy="228600"/>
          </a:xfrm>
        </p:grpSpPr>
        <p:sp>
          <p:nvSpPr>
            <p:cNvPr id="42" name="Rectangle 41"/>
            <p:cNvSpPr/>
            <p:nvPr/>
          </p:nvSpPr>
          <p:spPr>
            <a:xfrm>
              <a:off x="1066800" y="4038600"/>
              <a:ext cx="2286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a:stCxn id="42" idx="0"/>
              <a:endCxn id="42" idx="2"/>
            </p:cNvCxnSpPr>
            <p:nvPr/>
          </p:nvCxnSpPr>
          <p:spPr>
            <a:xfrm>
              <a:off x="1181100" y="4038600"/>
              <a:ext cx="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42" idx="1"/>
              <a:endCxn id="42" idx="3"/>
            </p:cNvCxnSpPr>
            <p:nvPr/>
          </p:nvCxnSpPr>
          <p:spPr>
            <a:xfrm>
              <a:off x="1066800" y="4152900"/>
              <a:ext cx="2286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a:off x="1828800" y="4038600"/>
            <a:ext cx="228600" cy="228600"/>
            <a:chOff x="1066800" y="4038600"/>
            <a:chExt cx="228600" cy="228600"/>
          </a:xfrm>
        </p:grpSpPr>
        <p:sp>
          <p:nvSpPr>
            <p:cNvPr id="49" name="Rectangle 48"/>
            <p:cNvSpPr/>
            <p:nvPr/>
          </p:nvSpPr>
          <p:spPr>
            <a:xfrm>
              <a:off x="1066800" y="4038600"/>
              <a:ext cx="2286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a:stCxn id="49" idx="0"/>
              <a:endCxn id="49" idx="2"/>
            </p:cNvCxnSpPr>
            <p:nvPr/>
          </p:nvCxnSpPr>
          <p:spPr>
            <a:xfrm>
              <a:off x="1181100" y="4038600"/>
              <a:ext cx="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9" idx="1"/>
              <a:endCxn id="49" idx="3"/>
            </p:cNvCxnSpPr>
            <p:nvPr/>
          </p:nvCxnSpPr>
          <p:spPr>
            <a:xfrm>
              <a:off x="1066800" y="4152900"/>
              <a:ext cx="2286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7010400" y="4114800"/>
            <a:ext cx="228600" cy="228600"/>
            <a:chOff x="1066800" y="4038600"/>
            <a:chExt cx="228600" cy="228600"/>
          </a:xfrm>
        </p:grpSpPr>
        <p:sp>
          <p:nvSpPr>
            <p:cNvPr id="53" name="Rectangle 52"/>
            <p:cNvSpPr/>
            <p:nvPr/>
          </p:nvSpPr>
          <p:spPr>
            <a:xfrm>
              <a:off x="1066800" y="4038600"/>
              <a:ext cx="2286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p:cNvCxnSpPr>
              <a:stCxn id="53" idx="0"/>
              <a:endCxn id="53" idx="2"/>
            </p:cNvCxnSpPr>
            <p:nvPr/>
          </p:nvCxnSpPr>
          <p:spPr>
            <a:xfrm>
              <a:off x="1181100" y="4038600"/>
              <a:ext cx="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3" idx="1"/>
              <a:endCxn id="53" idx="3"/>
            </p:cNvCxnSpPr>
            <p:nvPr/>
          </p:nvCxnSpPr>
          <p:spPr>
            <a:xfrm>
              <a:off x="1066800" y="4152900"/>
              <a:ext cx="2286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6" name="Group 55"/>
          <p:cNvGrpSpPr/>
          <p:nvPr/>
        </p:nvGrpSpPr>
        <p:grpSpPr>
          <a:xfrm>
            <a:off x="7772400" y="4114800"/>
            <a:ext cx="228600" cy="228600"/>
            <a:chOff x="1066800" y="4038600"/>
            <a:chExt cx="228600" cy="228600"/>
          </a:xfrm>
        </p:grpSpPr>
        <p:sp>
          <p:nvSpPr>
            <p:cNvPr id="57" name="Rectangle 56"/>
            <p:cNvSpPr/>
            <p:nvPr/>
          </p:nvSpPr>
          <p:spPr>
            <a:xfrm>
              <a:off x="1066800" y="4038600"/>
              <a:ext cx="2286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a:stCxn id="57" idx="0"/>
              <a:endCxn id="57" idx="2"/>
            </p:cNvCxnSpPr>
            <p:nvPr/>
          </p:nvCxnSpPr>
          <p:spPr>
            <a:xfrm>
              <a:off x="1181100" y="4038600"/>
              <a:ext cx="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7" idx="1"/>
              <a:endCxn id="57" idx="3"/>
            </p:cNvCxnSpPr>
            <p:nvPr/>
          </p:nvCxnSpPr>
          <p:spPr>
            <a:xfrm>
              <a:off x="1066800" y="4152900"/>
              <a:ext cx="2286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Isosceles Triangle 6"/>
          <p:cNvSpPr/>
          <p:nvPr/>
        </p:nvSpPr>
        <p:spPr>
          <a:xfrm rot="655918">
            <a:off x="6781558" y="3428280"/>
            <a:ext cx="1697238" cy="69255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oup 59"/>
          <p:cNvGrpSpPr/>
          <p:nvPr/>
        </p:nvGrpSpPr>
        <p:grpSpPr>
          <a:xfrm>
            <a:off x="990600" y="5867400"/>
            <a:ext cx="228600" cy="228600"/>
            <a:chOff x="1066800" y="4038600"/>
            <a:chExt cx="228600" cy="228600"/>
          </a:xfrm>
        </p:grpSpPr>
        <p:sp>
          <p:nvSpPr>
            <p:cNvPr id="61" name="Rectangle 60"/>
            <p:cNvSpPr/>
            <p:nvPr/>
          </p:nvSpPr>
          <p:spPr>
            <a:xfrm>
              <a:off x="1066800" y="4038600"/>
              <a:ext cx="2286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p:cNvCxnSpPr>
              <a:stCxn id="61" idx="0"/>
              <a:endCxn id="61" idx="2"/>
            </p:cNvCxnSpPr>
            <p:nvPr/>
          </p:nvCxnSpPr>
          <p:spPr>
            <a:xfrm>
              <a:off x="1181100" y="4038600"/>
              <a:ext cx="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61" idx="1"/>
              <a:endCxn id="61" idx="3"/>
            </p:cNvCxnSpPr>
            <p:nvPr/>
          </p:nvCxnSpPr>
          <p:spPr>
            <a:xfrm>
              <a:off x="1066800" y="4152900"/>
              <a:ext cx="2286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1752600" y="5867400"/>
            <a:ext cx="228600" cy="228600"/>
            <a:chOff x="1066800" y="4038600"/>
            <a:chExt cx="228600" cy="228600"/>
          </a:xfrm>
        </p:grpSpPr>
        <p:sp>
          <p:nvSpPr>
            <p:cNvPr id="65" name="Rectangle 64"/>
            <p:cNvSpPr/>
            <p:nvPr/>
          </p:nvSpPr>
          <p:spPr>
            <a:xfrm>
              <a:off x="1066800" y="4038600"/>
              <a:ext cx="2286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p:cNvCxnSpPr>
              <a:stCxn id="65" idx="0"/>
              <a:endCxn id="65" idx="2"/>
            </p:cNvCxnSpPr>
            <p:nvPr/>
          </p:nvCxnSpPr>
          <p:spPr>
            <a:xfrm>
              <a:off x="1181100" y="4038600"/>
              <a:ext cx="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65" idx="1"/>
              <a:endCxn id="65" idx="3"/>
            </p:cNvCxnSpPr>
            <p:nvPr/>
          </p:nvCxnSpPr>
          <p:spPr>
            <a:xfrm>
              <a:off x="1066800" y="4152900"/>
              <a:ext cx="22860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68" name="Picture 5" descr="C:\Users\cotero\AppData\Local\Microsoft\Windows\Temporary Internet Files\Content.IE5\MFZE6V1B\MC900230760[1].wmf"/>
          <p:cNvPicPr>
            <a:picLocks noChangeAspect="1" noChangeArrowheads="1"/>
          </p:cNvPicPr>
          <p:nvPr/>
        </p:nvPicPr>
        <p:blipFill>
          <a:blip r:embed="rId3" cstate="print"/>
          <a:srcRect/>
          <a:stretch>
            <a:fillRect/>
          </a:stretch>
        </p:blipFill>
        <p:spPr bwMode="auto">
          <a:xfrm>
            <a:off x="2667000" y="5791200"/>
            <a:ext cx="1016152" cy="762341"/>
          </a:xfrm>
          <a:prstGeom prst="rect">
            <a:avLst/>
          </a:prstGeom>
          <a:noFill/>
        </p:spPr>
      </p:pic>
      <p:sp>
        <p:nvSpPr>
          <p:cNvPr id="69" name="Cloud Callout 68"/>
          <p:cNvSpPr/>
          <p:nvPr/>
        </p:nvSpPr>
        <p:spPr>
          <a:xfrm>
            <a:off x="3124200" y="4953000"/>
            <a:ext cx="1905000" cy="914400"/>
          </a:xfrm>
          <a:prstGeom prst="cloudCallout">
            <a:avLst>
              <a:gd name="adj1" fmla="val -35968"/>
              <a:gd name="adj2" fmla="val 68689"/>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p:cNvSpPr txBox="1"/>
          <p:nvPr/>
        </p:nvSpPr>
        <p:spPr>
          <a:xfrm>
            <a:off x="3381375" y="5001994"/>
            <a:ext cx="1524000" cy="830997"/>
          </a:xfrm>
          <a:prstGeom prst="rect">
            <a:avLst/>
          </a:prstGeom>
          <a:noFill/>
        </p:spPr>
        <p:txBody>
          <a:bodyPr wrap="square" rtlCol="0">
            <a:spAutoFit/>
          </a:bodyPr>
          <a:lstStyle/>
          <a:p>
            <a:r>
              <a:rPr lang="en-US" sz="1200" dirty="0" smtClean="0"/>
              <a:t>Customers now want a bigger house and more windows by next week!</a:t>
            </a:r>
            <a:endParaRPr lang="en-US" sz="1200" dirty="0"/>
          </a:p>
        </p:txBody>
      </p:sp>
      <p:pic>
        <p:nvPicPr>
          <p:cNvPr id="71" name="Picture 3" descr="C:\Users\cotero\AppData\Local\Microsoft\Windows\Temporary Internet Files\Content.IE5\6QQ1AAQV\MC900048773[1].wmf"/>
          <p:cNvPicPr>
            <a:picLocks noChangeAspect="1" noChangeArrowheads="1"/>
          </p:cNvPicPr>
          <p:nvPr/>
        </p:nvPicPr>
        <p:blipFill>
          <a:blip r:embed="rId2" cstate="print"/>
          <a:srcRect/>
          <a:stretch>
            <a:fillRect/>
          </a:stretch>
        </p:blipFill>
        <p:spPr bwMode="auto">
          <a:xfrm>
            <a:off x="5334000" y="5791200"/>
            <a:ext cx="685800" cy="609600"/>
          </a:xfrm>
          <a:prstGeom prst="rect">
            <a:avLst/>
          </a:prstGeom>
          <a:noFill/>
        </p:spPr>
      </p:pic>
      <p:sp>
        <p:nvSpPr>
          <p:cNvPr id="72" name="Cloud Callout 71"/>
          <p:cNvSpPr/>
          <p:nvPr/>
        </p:nvSpPr>
        <p:spPr>
          <a:xfrm>
            <a:off x="5791200" y="5029200"/>
            <a:ext cx="1752600" cy="762000"/>
          </a:xfrm>
          <a:prstGeom prst="cloudCallout">
            <a:avLst>
              <a:gd name="adj1" fmla="val -35968"/>
              <a:gd name="adj2" fmla="val 68689"/>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p:cNvSpPr txBox="1"/>
          <p:nvPr/>
        </p:nvSpPr>
        <p:spPr>
          <a:xfrm>
            <a:off x="6019800" y="5181600"/>
            <a:ext cx="1447800" cy="461665"/>
          </a:xfrm>
          <a:prstGeom prst="rect">
            <a:avLst/>
          </a:prstGeom>
          <a:noFill/>
        </p:spPr>
        <p:txBody>
          <a:bodyPr wrap="square" rtlCol="0">
            <a:spAutoFit/>
          </a:bodyPr>
          <a:lstStyle/>
          <a:p>
            <a:r>
              <a:rPr lang="en-US" sz="1200" dirty="0" smtClean="0"/>
              <a:t>There goes my job again!!</a:t>
            </a:r>
            <a:endParaRPr 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Design Challenge #1 – </a:t>
            </a:r>
            <a:br>
              <a:rPr lang="en-US" dirty="0" smtClean="0"/>
            </a:br>
            <a:r>
              <a:rPr lang="en-US" dirty="0" smtClean="0"/>
              <a:t>Requirements Volatility</a:t>
            </a:r>
            <a:endParaRPr lang="en-US" dirty="0"/>
          </a:p>
        </p:txBody>
      </p:sp>
      <p:sp>
        <p:nvSpPr>
          <p:cNvPr id="3" name="Content Placeholder 2"/>
          <p:cNvSpPr>
            <a:spLocks noGrp="1"/>
          </p:cNvSpPr>
          <p:nvPr>
            <p:ph idx="1"/>
          </p:nvPr>
        </p:nvSpPr>
        <p:spPr/>
        <p:txBody>
          <a:bodyPr/>
          <a:lstStyle/>
          <a:p>
            <a:r>
              <a:rPr lang="en-US" dirty="0" smtClean="0"/>
              <a:t>In software projects, although much effort is put into the requirements phase to ensure that requirements are complete and consistent, that is rarely the case.</a:t>
            </a:r>
          </a:p>
          <a:p>
            <a:pPr lvl="1"/>
            <a:r>
              <a:rPr lang="en-US" dirty="0" smtClean="0"/>
              <a:t>This makes the software design phase the most influential one when it comes to minimizing the effects of new or changing requirements.</a:t>
            </a:r>
          </a:p>
          <a:p>
            <a:pPr lvl="1"/>
            <a:r>
              <a:rPr lang="en-US" dirty="0" smtClean="0"/>
              <a:t>This forces designers to create designs that provide solutions to problems at a given state while also anticipating changes and accommodating them with minimal effort.</a:t>
            </a:r>
          </a:p>
          <a:p>
            <a:pPr lvl="1"/>
            <a:endParaRPr lang="en-US" dirty="0" smtClean="0"/>
          </a:p>
          <a:p>
            <a:r>
              <a:rPr lang="en-US" dirty="0" smtClean="0"/>
              <a:t>Because of requirements’ volatility, software engineers must have a strong understanding of the principles of software design and develop skills to manage complexity and change in software projects.</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Design Challenge #2 – </a:t>
            </a:r>
            <a:br>
              <a:rPr lang="en-US" dirty="0" smtClean="0"/>
            </a:br>
            <a:r>
              <a:rPr lang="en-US" dirty="0" smtClean="0"/>
              <a:t>The Process</a:t>
            </a:r>
            <a:endParaRPr lang="en-US" dirty="0"/>
          </a:p>
        </p:txBody>
      </p:sp>
      <p:sp>
        <p:nvSpPr>
          <p:cNvPr id="3" name="Content Placeholder 2"/>
          <p:cNvSpPr>
            <a:spLocks noGrp="1"/>
          </p:cNvSpPr>
          <p:nvPr>
            <p:ph idx="1"/>
          </p:nvPr>
        </p:nvSpPr>
        <p:spPr>
          <a:xfrm>
            <a:off x="457200" y="1371601"/>
            <a:ext cx="8229600" cy="5181599"/>
          </a:xfrm>
        </p:spPr>
        <p:txBody>
          <a:bodyPr/>
          <a:lstStyle/>
          <a:p>
            <a:r>
              <a:rPr lang="en-US" dirty="0" smtClean="0"/>
              <a:t>Software engineering is a process-oriented field.  In the design phase, processes involve a set of activities and tasks required to bridge the gap between requirements and construction.  For example:</a:t>
            </a:r>
          </a:p>
          <a:p>
            <a:pPr lvl="1"/>
            <a:r>
              <a:rPr lang="en-US" dirty="0" smtClean="0"/>
              <a:t>Architectural and detailed designs</a:t>
            </a:r>
          </a:p>
          <a:p>
            <a:pPr lvl="1"/>
            <a:r>
              <a:rPr lang="en-US" dirty="0" smtClean="0"/>
              <a:t>Design reviews</a:t>
            </a:r>
          </a:p>
          <a:p>
            <a:pPr lvl="1"/>
            <a:r>
              <a:rPr lang="en-US" dirty="0" smtClean="0"/>
              <a:t>Establishing quality evaluation criteria</a:t>
            </a:r>
          </a:p>
          <a:p>
            <a:pPr lvl="1"/>
            <a:r>
              <a:rPr lang="en-US" dirty="0" smtClean="0"/>
              <a:t>Establishing design change management and version control</a:t>
            </a:r>
          </a:p>
          <a:p>
            <a:pPr lvl="1"/>
            <a:r>
              <a:rPr lang="en-US" dirty="0" smtClean="0"/>
              <a:t>Adopting design tools</a:t>
            </a:r>
          </a:p>
          <a:p>
            <a:pPr lvl="1"/>
            <a:r>
              <a:rPr lang="en-US" dirty="0" smtClean="0"/>
              <a:t>…</a:t>
            </a:r>
          </a:p>
          <a:p>
            <a:r>
              <a:rPr lang="en-US" dirty="0" smtClean="0"/>
              <a:t>The problem is that in many cases, a company’s design process</a:t>
            </a:r>
          </a:p>
          <a:p>
            <a:pPr lvl="1"/>
            <a:r>
              <a:rPr lang="en-US" dirty="0" smtClean="0"/>
              <a:t>is not well established,</a:t>
            </a:r>
          </a:p>
          <a:p>
            <a:pPr lvl="1"/>
            <a:r>
              <a:rPr lang="en-US" dirty="0" smtClean="0"/>
              <a:t>is poorly understood,</a:t>
            </a:r>
          </a:p>
          <a:p>
            <a:pPr lvl="1"/>
            <a:r>
              <a:rPr lang="en-US" dirty="0" smtClean="0"/>
              <a:t>is approached with minimalistic expectations,</a:t>
            </a:r>
          </a:p>
          <a:p>
            <a:pPr lvl="1"/>
            <a:r>
              <a:rPr lang="en-US" dirty="0" smtClean="0"/>
              <a:t>is focused on one form of design, e.g., user interface, while ignoring others, or,</a:t>
            </a:r>
          </a:p>
          <a:p>
            <a:pPr lvl="1"/>
            <a:r>
              <a:rPr lang="en-US" dirty="0" smtClean="0"/>
              <a:t>is simply, not done at all!</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Design Challenge #3 – </a:t>
            </a:r>
            <a:br>
              <a:rPr lang="en-US" dirty="0" smtClean="0"/>
            </a:br>
            <a:r>
              <a:rPr lang="en-US" dirty="0" smtClean="0"/>
              <a:t>The Technology</a:t>
            </a:r>
            <a:endParaRPr lang="en-US" dirty="0"/>
          </a:p>
        </p:txBody>
      </p:sp>
      <p:sp>
        <p:nvSpPr>
          <p:cNvPr id="3" name="Content Placeholder 2"/>
          <p:cNvSpPr>
            <a:spLocks noGrp="1"/>
          </p:cNvSpPr>
          <p:nvPr>
            <p:ph idx="1"/>
          </p:nvPr>
        </p:nvSpPr>
        <p:spPr>
          <a:xfrm>
            <a:off x="457200" y="1371601"/>
            <a:ext cx="8229600" cy="5105399"/>
          </a:xfrm>
        </p:spPr>
        <p:txBody>
          <a:bodyPr/>
          <a:lstStyle/>
          <a:p>
            <a:r>
              <a:rPr lang="en-US" dirty="0" smtClean="0"/>
              <a:t>The technology for designing and implementing today’ software systems continues to evolve to provide improved capabilities.  For example,</a:t>
            </a:r>
          </a:p>
          <a:p>
            <a:pPr lvl="1"/>
            <a:r>
              <a:rPr lang="en-US" dirty="0" smtClean="0"/>
              <a:t>Modeling languages and tools</a:t>
            </a:r>
          </a:p>
          <a:p>
            <a:pPr lvl="1"/>
            <a:r>
              <a:rPr lang="en-US" dirty="0" smtClean="0"/>
              <a:t>Programming languages</a:t>
            </a:r>
          </a:p>
          <a:p>
            <a:pPr lvl="1"/>
            <a:r>
              <a:rPr lang="en-US" dirty="0" smtClean="0"/>
              <a:t>Integrated development environments </a:t>
            </a:r>
          </a:p>
          <a:p>
            <a:pPr lvl="1"/>
            <a:r>
              <a:rPr lang="en-US" dirty="0" smtClean="0"/>
              <a:t>Design strategies, patterns, etc.</a:t>
            </a:r>
          </a:p>
          <a:p>
            <a:pPr lvl="1"/>
            <a:r>
              <a:rPr lang="en-US" dirty="0" smtClean="0"/>
              <a:t>…</a:t>
            </a:r>
          </a:p>
          <a:p>
            <a:r>
              <a:rPr lang="en-US" dirty="0" smtClean="0"/>
              <a:t>As new technologies emerge, software designers are required to assimilate and employ them all at the same time.</a:t>
            </a:r>
          </a:p>
          <a:p>
            <a:pPr lvl="1"/>
            <a:r>
              <a:rPr lang="en-US" dirty="0" smtClean="0"/>
              <a:t>In some cases, old and new technology needs to coexist in the same project!</a:t>
            </a:r>
          </a:p>
          <a:p>
            <a:r>
              <a:rPr lang="en-US" dirty="0" smtClean="0"/>
              <a:t>This creates a demand for capable designers that can assimilate new concepts and technology quickly and effectively.</a:t>
            </a:r>
          </a:p>
          <a:p>
            <a:pPr lvl="1"/>
            <a:r>
              <a:rPr lang="en-US" dirty="0" smtClean="0"/>
              <a:t>This is challenging because of the time required for both learning new technology and completing a project on-time, while making sure that the new technology interoperates well with old legacy systems.</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Design Challenge #4 – </a:t>
            </a:r>
            <a:br>
              <a:rPr lang="en-US" dirty="0" smtClean="0"/>
            </a:br>
            <a:r>
              <a:rPr lang="en-US" dirty="0" smtClean="0"/>
              <a:t>Ethical and Professional Practices</a:t>
            </a:r>
            <a:endParaRPr lang="en-US" dirty="0"/>
          </a:p>
        </p:txBody>
      </p:sp>
      <p:sp>
        <p:nvSpPr>
          <p:cNvPr id="3" name="Content Placeholder 2"/>
          <p:cNvSpPr>
            <a:spLocks noGrp="1"/>
          </p:cNvSpPr>
          <p:nvPr>
            <p:ph idx="1"/>
          </p:nvPr>
        </p:nvSpPr>
        <p:spPr/>
        <p:txBody>
          <a:bodyPr>
            <a:normAutofit lnSpcReduction="10000"/>
          </a:bodyPr>
          <a:lstStyle/>
          <a:p>
            <a:r>
              <a:rPr lang="en-US" dirty="0" smtClean="0"/>
              <a:t>Designers create blueprints that drive the construction of software.</a:t>
            </a:r>
          </a:p>
          <a:p>
            <a:pPr lvl="1"/>
            <a:r>
              <a:rPr lang="en-US" dirty="0" smtClean="0"/>
              <a:t>Tight schedules can create external pressures to deviate from the formal design process to get the product out the door.</a:t>
            </a:r>
          </a:p>
          <a:p>
            <a:pPr lvl="1"/>
            <a:r>
              <a:rPr lang="en-US" dirty="0" smtClean="0"/>
              <a:t>In some cases, this can have catastrophic consequences</a:t>
            </a:r>
          </a:p>
          <a:p>
            <a:pPr lvl="1"/>
            <a:endParaRPr lang="en-US" dirty="0" smtClean="0"/>
          </a:p>
          <a:p>
            <a:r>
              <a:rPr lang="en-US" dirty="0" smtClean="0"/>
              <a:t>To correctly and responsibly execute the design phase, designers are required to exert strong leadership skills to:</a:t>
            </a:r>
          </a:p>
          <a:p>
            <a:pPr lvl="1"/>
            <a:r>
              <a:rPr lang="en-US" dirty="0" smtClean="0"/>
              <a:t>Influence and negotiate with stakeholders</a:t>
            </a:r>
          </a:p>
          <a:p>
            <a:pPr lvl="1"/>
            <a:r>
              <a:rPr lang="en-US" dirty="0" smtClean="0"/>
              <a:t>Motivate the development team</a:t>
            </a:r>
          </a:p>
          <a:p>
            <a:pPr lvl="1"/>
            <a:r>
              <a:rPr lang="en-US" dirty="0" smtClean="0"/>
              <a:t>Enforcing ethical guidelines</a:t>
            </a:r>
          </a:p>
          <a:p>
            <a:pPr lvl="1"/>
            <a:r>
              <a:rPr lang="en-US" dirty="0" smtClean="0"/>
              <a:t>Evaluate the social impacts of their designs in the public domain or in safety-critical systems</a:t>
            </a:r>
          </a:p>
          <a:p>
            <a:pPr lvl="1"/>
            <a:r>
              <a:rPr lang="en-US" dirty="0" smtClean="0"/>
              <a:t>Follow and enforce the ethical and professional practices</a:t>
            </a:r>
          </a:p>
          <a:p>
            <a:pPr lvl="1"/>
            <a:endParaRPr lang="en-US" dirty="0" smtClean="0"/>
          </a:p>
          <a:p>
            <a:r>
              <a:rPr lang="en-US" dirty="0" smtClean="0"/>
              <a:t>This is a challenge when attempting under numerous pressures from different stakeholders, e.g., management, customer, peers, etc.</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Design Challenge #5 – </a:t>
            </a:r>
            <a:br>
              <a:rPr lang="en-US" dirty="0" smtClean="0"/>
            </a:br>
            <a:r>
              <a:rPr lang="en-US" dirty="0" smtClean="0"/>
              <a:t>Managing Design Influences</a:t>
            </a:r>
            <a:endParaRPr lang="en-US" dirty="0"/>
          </a:p>
        </p:txBody>
      </p:sp>
      <p:sp>
        <p:nvSpPr>
          <p:cNvPr id="3" name="Content Placeholder 2"/>
          <p:cNvSpPr>
            <a:spLocks noGrp="1"/>
          </p:cNvSpPr>
          <p:nvPr>
            <p:ph idx="1"/>
          </p:nvPr>
        </p:nvSpPr>
        <p:spPr/>
        <p:txBody>
          <a:bodyPr>
            <a:normAutofit/>
          </a:bodyPr>
          <a:lstStyle/>
          <a:p>
            <a:r>
              <a:rPr lang="en-US" dirty="0" smtClean="0"/>
              <a:t>Besides negative pressures, designs are shaped by other influences from stakeholders, the development organization, and other factors (e.g., the designers’ own experiences).</a:t>
            </a:r>
          </a:p>
          <a:p>
            <a:endParaRPr lang="en-US" dirty="0" smtClean="0"/>
          </a:p>
          <a:p>
            <a:r>
              <a:rPr lang="en-US" dirty="0" smtClean="0"/>
              <a:t>These influences can have cyclical effects between the system and its external influences, such that external factors affect the development of the system and the system affects its external factors [1].</a:t>
            </a:r>
          </a:p>
          <a:p>
            <a:endParaRPr lang="en-US" dirty="0" smtClean="0"/>
          </a:p>
          <a:p>
            <a:r>
              <a:rPr lang="en-US" dirty="0" smtClean="0"/>
              <a:t>Managing these influences is essential for maximizing the quality of systems and their related influence on future business opportunities.	</a:t>
            </a:r>
          </a:p>
          <a:p>
            <a:pPr lvl="1"/>
            <a:endParaRPr lang="en-US" dirty="0" smtClean="0"/>
          </a:p>
          <a:p>
            <a:r>
              <a:rPr lang="en-US" dirty="0" smtClean="0"/>
              <a:t>Of specific importance are design influences that come from</a:t>
            </a:r>
          </a:p>
          <a:p>
            <a:pPr lvl="1"/>
            <a:r>
              <a:rPr lang="en-US" dirty="0" smtClean="0"/>
              <a:t>the system’s stakeholders and,</a:t>
            </a:r>
          </a:p>
          <a:p>
            <a:pPr lvl="1"/>
            <a:r>
              <a:rPr lang="en-US" dirty="0" smtClean="0"/>
              <a:t>its developing organization</a:t>
            </a:r>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p:cNvGrpSpPr/>
          <p:nvPr/>
        </p:nvGrpSpPr>
        <p:grpSpPr>
          <a:xfrm>
            <a:off x="3810000" y="3479515"/>
            <a:ext cx="4953000" cy="2845085"/>
            <a:chOff x="3886200" y="3276600"/>
            <a:chExt cx="4953000" cy="2845085"/>
          </a:xfrm>
        </p:grpSpPr>
        <p:sp>
          <p:nvSpPr>
            <p:cNvPr id="12" name="Rectangle 11"/>
            <p:cNvSpPr/>
            <p:nvPr/>
          </p:nvSpPr>
          <p:spPr>
            <a:xfrm>
              <a:off x="3886200" y="4343400"/>
              <a:ext cx="3124200" cy="129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7"/>
            <p:cNvPicPr>
              <a:picLocks noChangeAspect="1" noChangeArrowheads="1"/>
            </p:cNvPicPr>
            <p:nvPr/>
          </p:nvPicPr>
          <p:blipFill>
            <a:blip r:embed="rId2" cstate="print"/>
            <a:srcRect/>
            <a:stretch>
              <a:fillRect/>
            </a:stretch>
          </p:blipFill>
          <p:spPr bwMode="auto">
            <a:xfrm flipH="1">
              <a:off x="7620000" y="4343400"/>
              <a:ext cx="1066800" cy="1638300"/>
            </a:xfrm>
            <a:prstGeom prst="rect">
              <a:avLst/>
            </a:prstGeom>
            <a:noFill/>
            <a:ln w="9525">
              <a:noFill/>
              <a:miter lim="800000"/>
              <a:headEnd/>
              <a:tailEnd/>
            </a:ln>
          </p:spPr>
        </p:pic>
        <p:pic>
          <p:nvPicPr>
            <p:cNvPr id="17" name="Picture 7"/>
            <p:cNvPicPr>
              <a:picLocks noChangeAspect="1" noChangeArrowheads="1"/>
            </p:cNvPicPr>
            <p:nvPr/>
          </p:nvPicPr>
          <p:blipFill>
            <a:blip r:embed="rId3" cstate="print"/>
            <a:srcRect/>
            <a:stretch>
              <a:fillRect/>
            </a:stretch>
          </p:blipFill>
          <p:spPr bwMode="auto">
            <a:xfrm>
              <a:off x="5810250" y="3924300"/>
              <a:ext cx="648260" cy="990600"/>
            </a:xfrm>
            <a:prstGeom prst="rect">
              <a:avLst/>
            </a:prstGeom>
            <a:noFill/>
            <a:ln w="9525">
              <a:noFill/>
              <a:miter lim="800000"/>
              <a:headEnd/>
              <a:tailEnd/>
            </a:ln>
          </p:spPr>
        </p:pic>
        <p:pic>
          <p:nvPicPr>
            <p:cNvPr id="18" name="Picture 3" descr="C:\Users\cotero\AppData\Local\Microsoft\Windows\Temporary Internet Files\Content.IE5\6QQ1AAQV\MC900048773[1].wmf"/>
            <p:cNvPicPr>
              <a:picLocks noChangeAspect="1" noChangeArrowheads="1"/>
            </p:cNvPicPr>
            <p:nvPr/>
          </p:nvPicPr>
          <p:blipFill>
            <a:blip r:embed="rId4" cstate="print"/>
            <a:srcRect/>
            <a:stretch>
              <a:fillRect/>
            </a:stretch>
          </p:blipFill>
          <p:spPr bwMode="auto">
            <a:xfrm>
              <a:off x="6172200" y="5029200"/>
              <a:ext cx="685800" cy="609600"/>
            </a:xfrm>
            <a:prstGeom prst="rect">
              <a:avLst/>
            </a:prstGeom>
            <a:noFill/>
          </p:spPr>
        </p:pic>
        <p:sp>
          <p:nvSpPr>
            <p:cNvPr id="19" name="Cloud Callout 18"/>
            <p:cNvSpPr/>
            <p:nvPr/>
          </p:nvSpPr>
          <p:spPr>
            <a:xfrm>
              <a:off x="6629400" y="4572000"/>
              <a:ext cx="1143000" cy="457200"/>
            </a:xfrm>
            <a:prstGeom prst="cloudCallout">
              <a:avLst>
                <a:gd name="adj1" fmla="val -35968"/>
                <a:gd name="adj2" fmla="val 6868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934200" y="4648200"/>
              <a:ext cx="685800" cy="276999"/>
            </a:xfrm>
            <a:prstGeom prst="rect">
              <a:avLst/>
            </a:prstGeom>
            <a:noFill/>
          </p:spPr>
          <p:txBody>
            <a:bodyPr wrap="square" rtlCol="0">
              <a:spAutoFit/>
            </a:bodyPr>
            <a:lstStyle/>
            <a:p>
              <a:r>
                <a:rPr lang="en-US" sz="1200" dirty="0" smtClean="0"/>
                <a:t>Yikes!</a:t>
              </a:r>
              <a:endParaRPr lang="en-US" sz="1200" dirty="0"/>
            </a:p>
          </p:txBody>
        </p:sp>
        <p:pic>
          <p:nvPicPr>
            <p:cNvPr id="1031" name="Picture 7"/>
            <p:cNvPicPr>
              <a:picLocks noChangeAspect="1" noChangeArrowheads="1"/>
            </p:cNvPicPr>
            <p:nvPr/>
          </p:nvPicPr>
          <p:blipFill>
            <a:blip r:embed="rId2" cstate="print"/>
            <a:srcRect/>
            <a:stretch>
              <a:fillRect/>
            </a:stretch>
          </p:blipFill>
          <p:spPr bwMode="auto">
            <a:xfrm>
              <a:off x="5029200" y="4724400"/>
              <a:ext cx="914400" cy="1397285"/>
            </a:xfrm>
            <a:prstGeom prst="rect">
              <a:avLst/>
            </a:prstGeom>
            <a:noFill/>
            <a:ln w="9525">
              <a:noFill/>
              <a:miter lim="800000"/>
              <a:headEnd/>
              <a:tailEnd/>
            </a:ln>
          </p:spPr>
        </p:pic>
        <p:sp>
          <p:nvSpPr>
            <p:cNvPr id="21" name="Cloud Callout 20"/>
            <p:cNvSpPr/>
            <p:nvPr/>
          </p:nvSpPr>
          <p:spPr>
            <a:xfrm>
              <a:off x="6019800" y="3276600"/>
              <a:ext cx="1447800" cy="685800"/>
            </a:xfrm>
            <a:prstGeom prst="cloudCallout">
              <a:avLst>
                <a:gd name="adj1" fmla="val -35968"/>
                <a:gd name="adj2" fmla="val 6868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6172200" y="3352800"/>
              <a:ext cx="1219200" cy="461665"/>
            </a:xfrm>
            <a:prstGeom prst="rect">
              <a:avLst/>
            </a:prstGeom>
            <a:noFill/>
          </p:spPr>
          <p:txBody>
            <a:bodyPr wrap="square" rtlCol="0">
              <a:spAutoFit/>
            </a:bodyPr>
            <a:lstStyle/>
            <a:p>
              <a:r>
                <a:rPr lang="en-US" sz="1200" dirty="0" smtClean="0"/>
                <a:t>I want performance!</a:t>
              </a:r>
              <a:endParaRPr lang="en-US" sz="1200" dirty="0"/>
            </a:p>
          </p:txBody>
        </p:sp>
        <p:sp>
          <p:nvSpPr>
            <p:cNvPr id="23" name="Cloud Callout 22"/>
            <p:cNvSpPr/>
            <p:nvPr/>
          </p:nvSpPr>
          <p:spPr>
            <a:xfrm>
              <a:off x="4295775" y="4191000"/>
              <a:ext cx="1447800" cy="533400"/>
            </a:xfrm>
            <a:prstGeom prst="cloudCallout">
              <a:avLst>
                <a:gd name="adj1" fmla="val 16006"/>
                <a:gd name="adj2" fmla="val 7226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4371975" y="4295001"/>
              <a:ext cx="1219200" cy="276999"/>
            </a:xfrm>
            <a:prstGeom prst="rect">
              <a:avLst/>
            </a:prstGeom>
            <a:noFill/>
          </p:spPr>
          <p:txBody>
            <a:bodyPr wrap="square" rtlCol="0">
              <a:spAutoFit/>
            </a:bodyPr>
            <a:lstStyle/>
            <a:p>
              <a:r>
                <a:rPr lang="en-US" sz="1200" dirty="0" smtClean="0"/>
                <a:t>I want Security!</a:t>
              </a:r>
              <a:endParaRPr lang="en-US" sz="1200" dirty="0"/>
            </a:p>
          </p:txBody>
        </p:sp>
        <p:sp>
          <p:nvSpPr>
            <p:cNvPr id="25" name="TextBox 24"/>
            <p:cNvSpPr txBox="1"/>
            <p:nvPr/>
          </p:nvSpPr>
          <p:spPr>
            <a:xfrm>
              <a:off x="7467600" y="3676650"/>
              <a:ext cx="1219200" cy="276999"/>
            </a:xfrm>
            <a:prstGeom prst="rect">
              <a:avLst/>
            </a:prstGeom>
            <a:noFill/>
          </p:spPr>
          <p:txBody>
            <a:bodyPr wrap="square" rtlCol="0">
              <a:spAutoFit/>
            </a:bodyPr>
            <a:lstStyle/>
            <a:p>
              <a:r>
                <a:rPr lang="en-US" sz="1200" dirty="0" smtClean="0"/>
                <a:t>I want Usability!</a:t>
              </a:r>
              <a:endParaRPr lang="en-US" sz="1200" dirty="0"/>
            </a:p>
          </p:txBody>
        </p:sp>
        <p:sp>
          <p:nvSpPr>
            <p:cNvPr id="26" name="Cloud Callout 25"/>
            <p:cNvSpPr/>
            <p:nvPr/>
          </p:nvSpPr>
          <p:spPr>
            <a:xfrm>
              <a:off x="7391400" y="3581400"/>
              <a:ext cx="1447800" cy="533400"/>
            </a:xfrm>
            <a:prstGeom prst="cloudCallout">
              <a:avLst>
                <a:gd name="adj1" fmla="val 216"/>
                <a:gd name="adj2" fmla="val 9726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normAutofit fontScale="90000"/>
          </a:bodyPr>
          <a:lstStyle/>
          <a:p>
            <a:r>
              <a:rPr lang="en-US" dirty="0" smtClean="0"/>
              <a:t>Software Design Challenge #5 – </a:t>
            </a:r>
            <a:br>
              <a:rPr lang="en-US" dirty="0" smtClean="0"/>
            </a:br>
            <a:r>
              <a:rPr lang="en-US" dirty="0" smtClean="0"/>
              <a:t>Managing Design Influences</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13" name="Content Placeholder 12"/>
          <p:cNvSpPr>
            <a:spLocks noGrp="1"/>
          </p:cNvSpPr>
          <p:nvPr>
            <p:ph idx="1"/>
          </p:nvPr>
        </p:nvSpPr>
        <p:spPr>
          <a:xfrm>
            <a:off x="457200" y="1371601"/>
            <a:ext cx="8229600" cy="3886199"/>
          </a:xfrm>
        </p:spPr>
        <p:txBody>
          <a:bodyPr>
            <a:normAutofit lnSpcReduction="10000"/>
          </a:bodyPr>
          <a:lstStyle/>
          <a:p>
            <a:r>
              <a:rPr lang="en-US" dirty="0" smtClean="0"/>
              <a:t>Software projects can have a multitude of stakeholders, each with specific wants and needs that influence the software design.</a:t>
            </a:r>
          </a:p>
          <a:p>
            <a:pPr lvl="1"/>
            <a:r>
              <a:rPr lang="en-US" dirty="0" smtClean="0"/>
              <a:t>Some conflicting with each other!</a:t>
            </a:r>
          </a:p>
          <a:p>
            <a:pPr lvl="1"/>
            <a:r>
              <a:rPr lang="en-US" dirty="0" smtClean="0"/>
              <a:t>Each stakeholder believes he/she is correct.</a:t>
            </a:r>
          </a:p>
          <a:p>
            <a:pPr lvl="1"/>
            <a:endParaRPr lang="en-US" dirty="0" smtClean="0"/>
          </a:p>
          <a:p>
            <a:r>
              <a:rPr lang="en-US" dirty="0" smtClean="0"/>
              <a:t>This requires some design trade-offs to satisfy each customer.</a:t>
            </a:r>
          </a:p>
          <a:p>
            <a:pPr lvl="1"/>
            <a:r>
              <a:rPr lang="en-US" dirty="0" smtClean="0"/>
              <a:t>Difficult to do in large-scale systems!</a:t>
            </a:r>
          </a:p>
          <a:p>
            <a:pPr lvl="1"/>
            <a:endParaRPr lang="en-US" dirty="0" smtClean="0"/>
          </a:p>
          <a:p>
            <a:r>
              <a:rPr lang="en-US" dirty="0" smtClean="0"/>
              <a:t>This is difficult to do since design decisions                                            need to accommodate all concerns                                                                without negatively affecting the                                                                project.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Design Challenge #5 – </a:t>
            </a:r>
            <a:br>
              <a:rPr lang="en-US" dirty="0" smtClean="0"/>
            </a:br>
            <a:r>
              <a:rPr lang="en-US" dirty="0" smtClean="0"/>
              <a:t>Managing Design Influences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developing organization also influences designs significantly.</a:t>
            </a:r>
          </a:p>
          <a:p>
            <a:pPr lvl="1"/>
            <a:r>
              <a:rPr lang="en-US" dirty="0" smtClean="0"/>
              <a:t>Consider software development across site boundaries!</a:t>
            </a:r>
          </a:p>
          <a:p>
            <a:pPr lvl="2"/>
            <a:r>
              <a:rPr lang="en-US" dirty="0" smtClean="0"/>
              <a:t>Consider coordinating design efforts</a:t>
            </a:r>
          </a:p>
          <a:p>
            <a:pPr lvl="2"/>
            <a:r>
              <a:rPr lang="en-US" dirty="0" smtClean="0"/>
              <a:t>Consider conducting peer reviews</a:t>
            </a:r>
          </a:p>
          <a:p>
            <a:pPr lvl="2"/>
            <a:r>
              <a:rPr lang="en-US" dirty="0" smtClean="0"/>
              <a:t>Consider developing code from design</a:t>
            </a:r>
          </a:p>
          <a:p>
            <a:pPr lvl="2"/>
            <a:r>
              <a:rPr lang="en-US" dirty="0" smtClean="0"/>
              <a:t>Consider managing version control</a:t>
            </a:r>
          </a:p>
          <a:p>
            <a:pPr lvl="1"/>
            <a:r>
              <a:rPr lang="en-US" dirty="0" smtClean="0"/>
              <a:t>In this case, design must support such development!</a:t>
            </a:r>
          </a:p>
          <a:p>
            <a:pPr lvl="1"/>
            <a:endParaRPr lang="en-US" dirty="0" smtClean="0"/>
          </a:p>
          <a:p>
            <a:r>
              <a:rPr lang="en-US" dirty="0" smtClean="0"/>
              <a:t>At the same time, designs can influence the developing organization to enter new areas of business.</a:t>
            </a:r>
          </a:p>
          <a:p>
            <a:pPr lvl="1"/>
            <a:r>
              <a:rPr lang="en-US" dirty="0" smtClean="0"/>
              <a:t>Consider a design that supports plug-ins to enhance capabilities of the software.  Someone may realize that existing functionality can be enhanced via plug-in to solve a problem in a different domain, giving the developing organization a competitive advantage!</a:t>
            </a:r>
          </a:p>
          <a:p>
            <a:endParaRPr lang="en-US" dirty="0" smtClean="0"/>
          </a:p>
          <a:p>
            <a:r>
              <a:rPr lang="en-US" dirty="0" smtClean="0"/>
              <a:t>Managing these influences is challenging because it requires designers to span out of the technical domain to have keen interest in the organization as a whole.</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Process</a:t>
            </a:r>
            <a:endParaRPr lang="en-US" dirty="0"/>
          </a:p>
        </p:txBody>
      </p:sp>
      <p:sp>
        <p:nvSpPr>
          <p:cNvPr id="3" name="Content Placeholder 2"/>
          <p:cNvSpPr>
            <a:spLocks noGrp="1"/>
          </p:cNvSpPr>
          <p:nvPr>
            <p:ph idx="1"/>
          </p:nvPr>
        </p:nvSpPr>
        <p:spPr>
          <a:xfrm>
            <a:off x="457200" y="1371601"/>
            <a:ext cx="8229600" cy="5181599"/>
          </a:xfrm>
        </p:spPr>
        <p:txBody>
          <a:bodyPr>
            <a:normAutofit/>
          </a:bodyPr>
          <a:lstStyle/>
          <a:p>
            <a:r>
              <a:rPr lang="en-US" dirty="0" smtClean="0"/>
              <a:t>Up until now, we have spent quite a bit of time discussing properties of software design.  We have also defined software design from the </a:t>
            </a:r>
            <a:r>
              <a:rPr lang="en-US" i="1" dirty="0" smtClean="0"/>
              <a:t>process perspective</a:t>
            </a:r>
            <a:r>
              <a:rPr lang="en-US" dirty="0" smtClean="0"/>
              <a:t>, which referred to the phase, activities, tasks, and interrelationship between them required to model software’s structure and behavior before construction.</a:t>
            </a:r>
          </a:p>
          <a:p>
            <a:pPr lvl="1"/>
            <a:r>
              <a:rPr lang="en-US" dirty="0" smtClean="0"/>
              <a:t>However, we have not formally described what goes on within the design phase.  </a:t>
            </a:r>
          </a:p>
          <a:p>
            <a:pPr lvl="1"/>
            <a:r>
              <a:rPr lang="en-US" dirty="0" smtClean="0"/>
              <a:t>Let‘s examine in depth the software design process…</a:t>
            </a:r>
          </a:p>
          <a:p>
            <a:endParaRPr lang="en-US" dirty="0" smtClean="0"/>
          </a:p>
          <a:p>
            <a:r>
              <a:rPr lang="en-US" dirty="0" smtClean="0"/>
              <a:t>A software design process is a set of activities and controls that specify how resources work together for the production of software design artifacts. </a:t>
            </a:r>
          </a:p>
          <a:p>
            <a:pPr lvl="1"/>
            <a:r>
              <a:rPr lang="en-US" dirty="0" smtClean="0"/>
              <a:t>Two major activities of the software design process include:</a:t>
            </a:r>
          </a:p>
          <a:p>
            <a:pPr lvl="2"/>
            <a:r>
              <a:rPr lang="en-US" dirty="0" smtClean="0"/>
              <a:t>Software Architecture</a:t>
            </a:r>
          </a:p>
          <a:p>
            <a:pPr lvl="2"/>
            <a:r>
              <a:rPr lang="en-US" dirty="0" smtClean="0"/>
              <a:t>Detailed Design</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Process</a:t>
            </a:r>
            <a:endParaRPr lang="en-US" dirty="0"/>
          </a:p>
        </p:txBody>
      </p:sp>
      <p:sp>
        <p:nvSpPr>
          <p:cNvPr id="3" name="Content Placeholder 2"/>
          <p:cNvSpPr>
            <a:spLocks noGrp="1"/>
          </p:cNvSpPr>
          <p:nvPr>
            <p:ph idx="1"/>
          </p:nvPr>
        </p:nvSpPr>
        <p:spPr>
          <a:xfrm>
            <a:off x="457200" y="1371601"/>
            <a:ext cx="8229600" cy="5105399"/>
          </a:xfrm>
        </p:spPr>
        <p:txBody>
          <a:bodyPr>
            <a:normAutofit/>
          </a:bodyPr>
          <a:lstStyle/>
          <a:p>
            <a:r>
              <a:rPr lang="en-US" dirty="0" smtClean="0"/>
              <a:t>Software Architecture</a:t>
            </a:r>
          </a:p>
          <a:p>
            <a:pPr lvl="1"/>
            <a:r>
              <a:rPr lang="en-US" dirty="0" smtClean="0"/>
              <a:t>Corresponds to a macro design approach for creating models that depict the quality and function of the software system.</a:t>
            </a:r>
          </a:p>
          <a:p>
            <a:pPr lvl="1"/>
            <a:r>
              <a:rPr lang="en-US" dirty="0" smtClean="0"/>
              <a:t>Provides black-box models used to evaluate the system’s projected capabilities as well as its expected quality.</a:t>
            </a:r>
          </a:p>
          <a:p>
            <a:pPr lvl="1"/>
            <a:r>
              <a:rPr lang="en-US" dirty="0" smtClean="0"/>
              <a:t>Designed using multiple perspectives, therefore, allows different stakeholders with different backgrounds to evaluate the design to ensure that it addresses their concerns.</a:t>
            </a:r>
          </a:p>
          <a:p>
            <a:pPr lvl="1"/>
            <a:r>
              <a:rPr lang="en-US" dirty="0" smtClean="0"/>
              <a:t>It provides the major structural components and interfaces of the system.</a:t>
            </a:r>
          </a:p>
          <a:p>
            <a:pPr lvl="1"/>
            <a:r>
              <a:rPr lang="en-US" dirty="0" smtClean="0"/>
              <a:t>It focuses on the quality aspects of the system before detailed design or construction can begin.</a:t>
            </a:r>
          </a:p>
          <a:p>
            <a:pPr lvl="1"/>
            <a:r>
              <a:rPr lang="en-US" dirty="0" smtClean="0"/>
              <a:t>They serve as important communication, reasoning, and analysis tool that supports the development and growth of the system [1]</a:t>
            </a:r>
          </a:p>
          <a:p>
            <a:pPr lvl="1"/>
            <a:r>
              <a:rPr lang="en-US" dirty="0" smtClean="0"/>
              <a:t>Lays the foundation for all subsequent work in the software engineering life-cycle.</a:t>
            </a:r>
          </a:p>
          <a:p>
            <a:pPr lvl="2">
              <a:buNone/>
            </a:pPr>
            <a:r>
              <a:rPr lang="en-US" dirty="0" smtClean="0"/>
              <a:t>  </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Process</a:t>
            </a:r>
            <a:endParaRPr lang="en-US" dirty="0"/>
          </a:p>
        </p:txBody>
      </p:sp>
      <p:sp>
        <p:nvSpPr>
          <p:cNvPr id="3" name="Content Placeholder 2"/>
          <p:cNvSpPr>
            <a:spLocks noGrp="1"/>
          </p:cNvSpPr>
          <p:nvPr>
            <p:ph idx="1"/>
          </p:nvPr>
        </p:nvSpPr>
        <p:spPr>
          <a:xfrm>
            <a:off x="457200" y="1371601"/>
            <a:ext cx="8229600" cy="5105399"/>
          </a:xfrm>
        </p:spPr>
        <p:txBody>
          <a:bodyPr>
            <a:normAutofit/>
          </a:bodyPr>
          <a:lstStyle/>
          <a:p>
            <a:r>
              <a:rPr lang="en-US" dirty="0" smtClean="0"/>
              <a:t>Detailed Design</a:t>
            </a:r>
          </a:p>
          <a:p>
            <a:pPr lvl="1"/>
            <a:r>
              <a:rPr lang="en-US" dirty="0" smtClean="0"/>
              <a:t>Whereas software architecture deals with the major structural components and interfaces of the system, detailed design focuses mostly on the internals of those components and interfaces.</a:t>
            </a:r>
          </a:p>
          <a:p>
            <a:pPr lvl="1"/>
            <a:r>
              <a:rPr lang="en-US" dirty="0" smtClean="0"/>
              <a:t>Begins after the software architecture activity is specified, reviewed, and deemed </a:t>
            </a:r>
            <a:r>
              <a:rPr lang="en-US" i="1" dirty="0" smtClean="0"/>
              <a:t>sufficiently</a:t>
            </a:r>
            <a:r>
              <a:rPr lang="en-US" dirty="0" smtClean="0"/>
              <a:t> complete.</a:t>
            </a:r>
          </a:p>
          <a:p>
            <a:pPr lvl="1"/>
            <a:r>
              <a:rPr lang="en-US" dirty="0" smtClean="0"/>
              <a:t>Builds on the software architecture to provide a </a:t>
            </a:r>
            <a:r>
              <a:rPr lang="en-US" i="1" dirty="0" smtClean="0"/>
              <a:t>white-box</a:t>
            </a:r>
            <a:r>
              <a:rPr lang="en-US" dirty="0" smtClean="0"/>
              <a:t> approach to design the structure and behavior of the system.</a:t>
            </a:r>
          </a:p>
          <a:p>
            <a:pPr lvl="1"/>
            <a:r>
              <a:rPr lang="en-US" dirty="0" smtClean="0"/>
              <a:t>Refines the architecture to reach a point where the software design, including architecture and detailed design, is deemed sufficiently complete for the construction phase to begin.</a:t>
            </a:r>
          </a:p>
          <a:p>
            <a:pPr lvl="1"/>
            <a:r>
              <a:rPr lang="en-US" dirty="0" smtClean="0"/>
              <a:t>Focuses on functional requirements, whereas the architecture focuses mostly on non-functional, or quality, requirements.</a:t>
            </a:r>
          </a:p>
          <a:p>
            <a:pPr lvl="1"/>
            <a:r>
              <a:rPr lang="en-US" dirty="0" smtClean="0"/>
              <a:t>Two important tasks of the detailed design activity include:</a:t>
            </a:r>
          </a:p>
          <a:p>
            <a:pPr lvl="2"/>
            <a:r>
              <a:rPr lang="en-US" dirty="0" smtClean="0"/>
              <a:t>Interface Design</a:t>
            </a:r>
          </a:p>
          <a:p>
            <a:pPr lvl="2"/>
            <a:r>
              <a:rPr lang="en-US" dirty="0" smtClean="0"/>
              <a:t>Component Design</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Process</a:t>
            </a:r>
            <a:endParaRPr lang="en-US" dirty="0"/>
          </a:p>
        </p:txBody>
      </p:sp>
      <p:sp>
        <p:nvSpPr>
          <p:cNvPr id="3" name="Content Placeholder 2"/>
          <p:cNvSpPr>
            <a:spLocks noGrp="1"/>
          </p:cNvSpPr>
          <p:nvPr>
            <p:ph idx="1"/>
          </p:nvPr>
        </p:nvSpPr>
        <p:spPr>
          <a:xfrm>
            <a:off x="457200" y="1371601"/>
            <a:ext cx="8229600" cy="5181599"/>
          </a:xfrm>
        </p:spPr>
        <p:txBody>
          <a:bodyPr>
            <a:normAutofit lnSpcReduction="10000"/>
          </a:bodyPr>
          <a:lstStyle/>
          <a:p>
            <a:r>
              <a:rPr lang="en-US" dirty="0" smtClean="0"/>
              <a:t>Interface design</a:t>
            </a:r>
          </a:p>
          <a:p>
            <a:pPr lvl="1"/>
            <a:r>
              <a:rPr lang="en-US" dirty="0" smtClean="0"/>
              <a:t>Refers to the design activity that deals with specification of interfaces between components in the design.</a:t>
            </a:r>
          </a:p>
          <a:p>
            <a:pPr lvl="1"/>
            <a:r>
              <a:rPr lang="en-US" dirty="0" smtClean="0"/>
              <a:t>Provide a standardized way for accessing services provided by software components.</a:t>
            </a:r>
          </a:p>
          <a:p>
            <a:pPr lvl="1"/>
            <a:r>
              <a:rPr lang="en-US" dirty="0" smtClean="0"/>
              <a:t>Allow for multiple efforts to occur in parallel, as long as interfaces are obeyed, therefore, it is one of the first tasks during detailed design.</a:t>
            </a:r>
          </a:p>
          <a:p>
            <a:pPr lvl="1"/>
            <a:r>
              <a:rPr lang="en-US" dirty="0" smtClean="0"/>
              <a:t>Can be performed for both internal interfaces and external interfaces, e.g., XML messaging specification for communication across the network.</a:t>
            </a:r>
          </a:p>
          <a:p>
            <a:r>
              <a:rPr lang="en-US" dirty="0" smtClean="0"/>
              <a:t>Component design</a:t>
            </a:r>
          </a:p>
          <a:p>
            <a:pPr lvl="1"/>
            <a:r>
              <a:rPr lang="en-US" dirty="0" smtClean="0"/>
              <a:t>During architecture, major components are identified.  During component design, the internal design of (the structure and behavior of) these components is created.</a:t>
            </a:r>
          </a:p>
          <a:p>
            <a:pPr lvl="1"/>
            <a:r>
              <a:rPr lang="en-US" dirty="0" smtClean="0"/>
              <a:t>In object-oriented systems, using UML, component designs are typically in the form of class diagrams, sequence diagrams, etc.</a:t>
            </a:r>
          </a:p>
          <a:p>
            <a:pPr lvl="1"/>
            <a:r>
              <a:rPr lang="en-US" dirty="0" smtClean="0"/>
              <a:t>When creating these designs, several design principles, heuristics, and patterns are often used in professional practice.</a:t>
            </a:r>
          </a:p>
          <a:p>
            <a:pPr lvl="1"/>
            <a:r>
              <a:rPr lang="en-US" dirty="0" smtClean="0"/>
              <a:t>Sometimes referred to as component-level design.</a:t>
            </a:r>
          </a:p>
          <a:p>
            <a:pPr lvl="1"/>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Process</a:t>
            </a:r>
            <a:endParaRPr lang="en-US" dirty="0"/>
          </a:p>
        </p:txBody>
      </p:sp>
      <p:sp>
        <p:nvSpPr>
          <p:cNvPr id="3" name="Content Placeholder 2"/>
          <p:cNvSpPr>
            <a:spLocks noGrp="1"/>
          </p:cNvSpPr>
          <p:nvPr>
            <p:ph idx="1"/>
          </p:nvPr>
        </p:nvSpPr>
        <p:spPr>
          <a:xfrm>
            <a:off x="457200" y="1371601"/>
            <a:ext cx="8229600" cy="5181599"/>
          </a:xfrm>
        </p:spPr>
        <p:txBody>
          <a:bodyPr>
            <a:normAutofit fontScale="85000" lnSpcReduction="20000"/>
          </a:bodyPr>
          <a:lstStyle/>
          <a:p>
            <a:r>
              <a:rPr lang="en-US" dirty="0" smtClean="0"/>
              <a:t>Software architecture and detailed design are well-known activities of the software design phase, however, other important activities are required for supporting the creation of architectural and detailed designs.</a:t>
            </a:r>
          </a:p>
          <a:p>
            <a:pPr lvl="1"/>
            <a:r>
              <a:rPr lang="en-US" dirty="0" smtClean="0"/>
              <a:t>Therefore, when scoping the software design process, the effort required for these other activities must be considered!</a:t>
            </a:r>
          </a:p>
          <a:p>
            <a:pPr lvl="1"/>
            <a:endParaRPr lang="en-US" dirty="0" smtClean="0"/>
          </a:p>
          <a:p>
            <a:r>
              <a:rPr lang="en-US" dirty="0" smtClean="0"/>
              <a:t>Other important activities that require time and effort include:</a:t>
            </a:r>
          </a:p>
          <a:p>
            <a:pPr lvl="1"/>
            <a:r>
              <a:rPr lang="en-US" dirty="0" smtClean="0"/>
              <a:t>Design documentation</a:t>
            </a:r>
          </a:p>
          <a:p>
            <a:pPr lvl="1"/>
            <a:r>
              <a:rPr lang="en-US" dirty="0" smtClean="0"/>
              <a:t>Management activities</a:t>
            </a:r>
          </a:p>
          <a:p>
            <a:pPr lvl="1"/>
            <a:endParaRPr lang="en-US" dirty="0" smtClean="0"/>
          </a:p>
          <a:p>
            <a:r>
              <a:rPr lang="en-US" dirty="0" smtClean="0"/>
              <a:t>An often neglected activity when scoping design efforts is the design that occurs during construction.  This form of design is important to model complex functions or routines identified during detailed design.  </a:t>
            </a:r>
          </a:p>
          <a:p>
            <a:pPr lvl="1"/>
            <a:r>
              <a:rPr lang="en-US" dirty="0" smtClean="0"/>
              <a:t>Construction design is a form of detailed design that occurs mostly during the construction phase.</a:t>
            </a:r>
          </a:p>
          <a:p>
            <a:pPr lvl="1"/>
            <a:r>
              <a:rPr lang="en-US" dirty="0" smtClean="0"/>
              <a:t>Construction design is important to reason, communicate, and document the solution to complex programming problems.</a:t>
            </a:r>
          </a:p>
          <a:p>
            <a:pPr lvl="1">
              <a:buNone/>
            </a:pPr>
            <a:endParaRPr lang="en-US" dirty="0" smtClean="0"/>
          </a:p>
          <a:p>
            <a:r>
              <a:rPr lang="en-US" dirty="0" smtClean="0"/>
              <a:t>Another important design activity is the Human-computer interface design.</a:t>
            </a:r>
          </a:p>
          <a:p>
            <a:pPr lvl="1"/>
            <a:r>
              <a:rPr lang="en-US" dirty="0" smtClean="0"/>
              <a:t>Design activity where general principles are applied to optimize the interface between humans and computers.  </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733800" y="1828800"/>
            <a:ext cx="5105400" cy="3847154"/>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Software Design Process</a:t>
            </a:r>
            <a:endParaRPr lang="en-US" dirty="0"/>
          </a:p>
        </p:txBody>
      </p:sp>
      <p:sp>
        <p:nvSpPr>
          <p:cNvPr id="3" name="Content Placeholder 2"/>
          <p:cNvSpPr>
            <a:spLocks noGrp="1"/>
          </p:cNvSpPr>
          <p:nvPr>
            <p:ph idx="1"/>
          </p:nvPr>
        </p:nvSpPr>
        <p:spPr>
          <a:xfrm>
            <a:off x="457200" y="1371601"/>
            <a:ext cx="8229600" cy="5181599"/>
          </a:xfrm>
        </p:spPr>
        <p:txBody>
          <a:bodyPr>
            <a:normAutofit fontScale="85000" lnSpcReduction="20000"/>
          </a:bodyPr>
          <a:lstStyle/>
          <a:p>
            <a:r>
              <a:rPr lang="en-US" dirty="0" smtClean="0"/>
              <a:t>The software design phase has several activities, each having one or more tasks.</a:t>
            </a:r>
          </a:p>
          <a:p>
            <a:pPr lvl="1"/>
            <a:r>
              <a:rPr lang="en-US" dirty="0" smtClean="0"/>
              <a:t>Architecture</a:t>
            </a:r>
          </a:p>
          <a:p>
            <a:pPr lvl="2"/>
            <a:r>
              <a:rPr lang="en-US" dirty="0" smtClean="0"/>
              <a:t>Identifying views</a:t>
            </a:r>
          </a:p>
          <a:p>
            <a:pPr lvl="2"/>
            <a:r>
              <a:rPr lang="en-US" dirty="0" smtClean="0"/>
              <a:t>Identifying patterns</a:t>
            </a:r>
          </a:p>
          <a:p>
            <a:pPr lvl="2"/>
            <a:r>
              <a:rPr lang="en-US" dirty="0" smtClean="0"/>
              <a:t>…</a:t>
            </a:r>
          </a:p>
          <a:p>
            <a:pPr lvl="1"/>
            <a:r>
              <a:rPr lang="en-US" dirty="0" smtClean="0"/>
              <a:t>Detailed Design</a:t>
            </a:r>
          </a:p>
          <a:p>
            <a:pPr lvl="2"/>
            <a:r>
              <a:rPr lang="en-US" dirty="0" smtClean="0"/>
              <a:t>Interface design</a:t>
            </a:r>
          </a:p>
          <a:p>
            <a:pPr lvl="2"/>
            <a:r>
              <a:rPr lang="en-US" dirty="0" smtClean="0"/>
              <a:t>Component design</a:t>
            </a:r>
          </a:p>
          <a:p>
            <a:pPr lvl="2"/>
            <a:r>
              <a:rPr lang="en-US" dirty="0" smtClean="0"/>
              <a:t>…</a:t>
            </a:r>
          </a:p>
          <a:p>
            <a:pPr lvl="1"/>
            <a:r>
              <a:rPr lang="en-US" dirty="0" smtClean="0"/>
              <a:t>Construction Design</a:t>
            </a:r>
          </a:p>
          <a:p>
            <a:pPr lvl="2"/>
            <a:r>
              <a:rPr lang="en-US" dirty="0" smtClean="0"/>
              <a:t>Flow-based design</a:t>
            </a:r>
          </a:p>
          <a:p>
            <a:pPr lvl="2"/>
            <a:r>
              <a:rPr lang="en-US" dirty="0" smtClean="0"/>
              <a:t>Table-based design</a:t>
            </a:r>
          </a:p>
          <a:p>
            <a:pPr lvl="2"/>
            <a:r>
              <a:rPr lang="en-US" dirty="0" smtClean="0"/>
              <a:t>…</a:t>
            </a:r>
          </a:p>
          <a:p>
            <a:pPr lvl="1"/>
            <a:r>
              <a:rPr lang="en-US" dirty="0" smtClean="0"/>
              <a:t>Human-computer Interface Design</a:t>
            </a:r>
          </a:p>
          <a:p>
            <a:pPr lvl="2"/>
            <a:r>
              <a:rPr lang="en-US" dirty="0" smtClean="0"/>
              <a:t>…</a:t>
            </a:r>
          </a:p>
          <a:p>
            <a:endParaRPr lang="en-US" dirty="0" smtClean="0"/>
          </a:p>
          <a:p>
            <a:r>
              <a:rPr lang="en-US" dirty="0" smtClean="0"/>
              <a:t>Each design activity needs to be</a:t>
            </a:r>
          </a:p>
          <a:p>
            <a:pPr lvl="1"/>
            <a:r>
              <a:rPr lang="en-US" i="1" dirty="0" smtClean="0"/>
              <a:t>Documented</a:t>
            </a:r>
            <a:r>
              <a:rPr lang="en-US" dirty="0" smtClean="0"/>
              <a:t>, and</a:t>
            </a:r>
          </a:p>
          <a:p>
            <a:pPr lvl="1"/>
            <a:r>
              <a:rPr lang="en-US" dirty="0" smtClean="0"/>
              <a:t>All processes need to be managed!</a:t>
            </a:r>
          </a:p>
          <a:p>
            <a:endParaRPr lang="en-US" dirty="0" smtClean="0"/>
          </a:p>
          <a:p>
            <a:r>
              <a:rPr lang="en-US" b="1" dirty="0" smtClean="0">
                <a:solidFill>
                  <a:srgbClr val="FF0000"/>
                </a:solidFill>
              </a:rPr>
              <a:t>We will spend the rest of the semester </a:t>
            </a:r>
            <a:r>
              <a:rPr lang="en-US" dirty="0" smtClean="0"/>
              <a:t>learning how to carry out these activities (including tasks), how to document these efforts, and how to manage them! </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Process</a:t>
            </a:r>
            <a:endParaRPr lang="en-US" dirty="0"/>
          </a:p>
        </p:txBody>
      </p:sp>
      <p:sp>
        <p:nvSpPr>
          <p:cNvPr id="3" name="Content Placeholder 2"/>
          <p:cNvSpPr>
            <a:spLocks noGrp="1"/>
          </p:cNvSpPr>
          <p:nvPr>
            <p:ph idx="1"/>
          </p:nvPr>
        </p:nvSpPr>
        <p:spPr>
          <a:xfrm>
            <a:off x="457200" y="1371601"/>
            <a:ext cx="8229600" cy="3886199"/>
          </a:xfrm>
        </p:spPr>
        <p:txBody>
          <a:bodyPr>
            <a:normAutofit fontScale="85000" lnSpcReduction="10000"/>
          </a:bodyPr>
          <a:lstStyle/>
          <a:p>
            <a:r>
              <a:rPr lang="en-US" dirty="0" smtClean="0"/>
              <a:t>In the previous slide, it is seen that architectural designs are elaborated through detailed design, which are further elaborated through construction design.  In practice, design activities are not carried out in such orderly and controlled fashion.</a:t>
            </a:r>
          </a:p>
          <a:p>
            <a:pPr lvl="1"/>
            <a:r>
              <a:rPr lang="en-US" dirty="0" smtClean="0"/>
              <a:t>Quite a bit of iteration occurs between these activities.</a:t>
            </a:r>
          </a:p>
          <a:p>
            <a:endParaRPr lang="en-US" dirty="0" smtClean="0"/>
          </a:p>
          <a:p>
            <a:pPr marL="342900" lvl="1" indent="-342900">
              <a:buFont typeface="Wingdings" pitchFamily="2" charset="2"/>
              <a:buChar char="Ø"/>
            </a:pPr>
            <a:r>
              <a:rPr lang="en-US" sz="2000" dirty="0" smtClean="0"/>
              <a:t>In a perfect world, all design work would take place during the design phase.  In practice, the distribution of design activities varies throughout the software development life-cycle.</a:t>
            </a:r>
          </a:p>
          <a:p>
            <a:pPr lvl="1"/>
            <a:r>
              <a:rPr lang="en-US" dirty="0" smtClean="0"/>
              <a:t>In most projects, most of the design efforts occur during the design phase, but some design inevitably occurs in other life-cycle phases, e.g.,</a:t>
            </a:r>
          </a:p>
          <a:p>
            <a:pPr lvl="2"/>
            <a:r>
              <a:rPr lang="en-US" dirty="0" smtClean="0"/>
              <a:t>Requirements</a:t>
            </a:r>
          </a:p>
          <a:p>
            <a:pPr lvl="2"/>
            <a:r>
              <a:rPr lang="en-US" dirty="0" smtClean="0"/>
              <a:t>Construction</a:t>
            </a:r>
          </a:p>
          <a:p>
            <a:pPr lvl="1"/>
            <a:r>
              <a:rPr lang="en-US" dirty="0" smtClean="0"/>
              <a:t>In some cases, architectural design efforts occur during the requirement’s phase.</a:t>
            </a:r>
          </a:p>
          <a:p>
            <a:pPr lvl="1"/>
            <a:r>
              <a:rPr lang="en-US" dirty="0" smtClean="0"/>
              <a:t>In some cases, detailed design occurs during the construction phase.</a:t>
            </a:r>
          </a:p>
          <a:p>
            <a:pPr lvl="1"/>
            <a:r>
              <a:rPr lang="en-US" dirty="0" smtClean="0"/>
              <a:t>These cases will become evident as we cover these activities during the course.</a:t>
            </a:r>
          </a:p>
          <a:p>
            <a:pPr lvl="1"/>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grpSp>
        <p:nvGrpSpPr>
          <p:cNvPr id="29" name="Group 28"/>
          <p:cNvGrpSpPr/>
          <p:nvPr/>
        </p:nvGrpSpPr>
        <p:grpSpPr>
          <a:xfrm>
            <a:off x="2797820" y="5476875"/>
            <a:ext cx="3679180" cy="847725"/>
            <a:chOff x="2667000" y="5629275"/>
            <a:chExt cx="3679180" cy="847725"/>
          </a:xfrm>
        </p:grpSpPr>
        <p:pic>
          <p:nvPicPr>
            <p:cNvPr id="1026" name="Picture 2"/>
            <p:cNvPicPr>
              <a:picLocks noChangeAspect="1" noChangeArrowheads="1"/>
            </p:cNvPicPr>
            <p:nvPr/>
          </p:nvPicPr>
          <p:blipFill>
            <a:blip r:embed="rId2" cstate="print"/>
            <a:srcRect/>
            <a:stretch>
              <a:fillRect/>
            </a:stretch>
          </p:blipFill>
          <p:spPr bwMode="auto">
            <a:xfrm>
              <a:off x="2667000" y="5638800"/>
              <a:ext cx="3679180" cy="838200"/>
            </a:xfrm>
            <a:prstGeom prst="rect">
              <a:avLst/>
            </a:prstGeom>
            <a:noFill/>
            <a:ln w="9525">
              <a:noFill/>
              <a:miter lim="800000"/>
              <a:headEnd/>
              <a:tailEnd/>
            </a:ln>
          </p:spPr>
        </p:pic>
        <p:sp>
          <p:nvSpPr>
            <p:cNvPr id="13" name="Rectangle 12"/>
            <p:cNvSpPr/>
            <p:nvPr/>
          </p:nvSpPr>
          <p:spPr>
            <a:xfrm>
              <a:off x="2962275" y="5667375"/>
              <a:ext cx="447675"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219575" y="5629275"/>
              <a:ext cx="447675"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581650" y="5676900"/>
              <a:ext cx="447675"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Curved Connector 18"/>
            <p:cNvCxnSpPr/>
            <p:nvPr/>
          </p:nvCxnSpPr>
          <p:spPr>
            <a:xfrm rot="16200000" flipH="1" flipV="1">
              <a:off x="3781425" y="5019675"/>
              <a:ext cx="38100" cy="1257300"/>
            </a:xfrm>
            <a:prstGeom prst="curvedConnector3">
              <a:avLst>
                <a:gd name="adj1" fmla="val -875000"/>
              </a:avLst>
            </a:prstGeom>
            <a:ln w="6350">
              <a:solidFill>
                <a:srgbClr val="FF00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21" name="Curved Connector 20"/>
            <p:cNvCxnSpPr/>
            <p:nvPr/>
          </p:nvCxnSpPr>
          <p:spPr>
            <a:xfrm rot="16200000" flipV="1">
              <a:off x="5191125" y="5076825"/>
              <a:ext cx="38100" cy="1162050"/>
            </a:xfrm>
            <a:prstGeom prst="curvedConnector3">
              <a:avLst>
                <a:gd name="adj1" fmla="val 975000"/>
              </a:avLst>
            </a:prstGeom>
            <a:ln w="6350">
              <a:solidFill>
                <a:srgbClr val="FF0000"/>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4419600" y="5638800"/>
              <a:ext cx="447675"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the next session, we will continue the focused discussions on software engineering design.  Specifically,</a:t>
            </a:r>
          </a:p>
          <a:p>
            <a:pPr lvl="1"/>
            <a:r>
              <a:rPr lang="en-US" dirty="0" smtClean="0"/>
              <a:t>Roles of software designers</a:t>
            </a:r>
          </a:p>
          <a:p>
            <a:pPr lvl="2"/>
            <a:r>
              <a:rPr lang="en-US" dirty="0" smtClean="0"/>
              <a:t>Systems Engineer</a:t>
            </a:r>
          </a:p>
          <a:p>
            <a:pPr lvl="2"/>
            <a:r>
              <a:rPr lang="en-US" dirty="0" smtClean="0"/>
              <a:t>Software architect</a:t>
            </a:r>
          </a:p>
          <a:p>
            <a:pPr lvl="2"/>
            <a:r>
              <a:rPr lang="en-US" dirty="0" smtClean="0"/>
              <a:t>Component designer</a:t>
            </a:r>
          </a:p>
          <a:p>
            <a:pPr lvl="2"/>
            <a:r>
              <a:rPr lang="en-US" dirty="0" smtClean="0"/>
              <a:t>User interface designer</a:t>
            </a:r>
          </a:p>
          <a:p>
            <a:pPr lvl="1"/>
            <a:r>
              <a:rPr lang="en-US" dirty="0" smtClean="0"/>
              <a:t>Design principles</a:t>
            </a:r>
          </a:p>
          <a:p>
            <a:pPr lvl="2"/>
            <a:r>
              <a:rPr lang="en-US" dirty="0" smtClean="0"/>
              <a:t>Modularization</a:t>
            </a:r>
          </a:p>
          <a:p>
            <a:pPr lvl="2"/>
            <a:r>
              <a:rPr lang="en-US" dirty="0" smtClean="0"/>
              <a:t>Abstraction</a:t>
            </a:r>
          </a:p>
          <a:p>
            <a:pPr lvl="2"/>
            <a:r>
              <a:rPr lang="en-US" dirty="0" smtClean="0"/>
              <a:t>Encapsulation</a:t>
            </a:r>
          </a:p>
          <a:p>
            <a:pPr lvl="2"/>
            <a:r>
              <a:rPr lang="en-US" dirty="0" smtClean="0"/>
              <a:t>Cohesion and coupling</a:t>
            </a:r>
          </a:p>
          <a:p>
            <a:pPr lvl="2"/>
            <a:r>
              <a:rPr lang="en-US" dirty="0" smtClean="0"/>
              <a:t>Separation of interface and implementation</a:t>
            </a:r>
          </a:p>
          <a:p>
            <a:pPr lvl="2"/>
            <a:r>
              <a:rPr lang="en-US" dirty="0" smtClean="0"/>
              <a:t>Sufficiency and completeness</a:t>
            </a:r>
          </a:p>
          <a:p>
            <a:pPr lvl="1"/>
            <a:r>
              <a:rPr lang="en-US" dirty="0" smtClean="0"/>
              <a:t>Design strategies</a:t>
            </a:r>
          </a:p>
          <a:p>
            <a:pPr lvl="2"/>
            <a:r>
              <a:rPr lang="en-US" dirty="0" smtClean="0"/>
              <a:t>Object-oriented vs. structured design</a:t>
            </a:r>
          </a:p>
          <a:p>
            <a:pPr lvl="1"/>
            <a:r>
              <a:rPr lang="en-US" dirty="0" smtClean="0"/>
              <a:t>Practical design considerations</a:t>
            </a:r>
          </a:p>
          <a:p>
            <a:pPr lvl="1"/>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Bass, Len, Paul Clements, and Rick Kazman.  Software Architecture in Practice, 2d ed. Boston: Addison-Wesley, 2003.</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4344</TotalTime>
  <Words>2749</Words>
  <Application>Microsoft Office PowerPoint</Application>
  <PresentationFormat>On-screen Show (4:3)</PresentationFormat>
  <Paragraphs>360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UVa-Wise-Clean-BW</vt:lpstr>
      <vt:lpstr>Chapter 1: Introduction to  Software Engineering Design </vt:lpstr>
      <vt:lpstr>Session’s Agenda</vt:lpstr>
      <vt:lpstr>Software Engineering Design</vt:lpstr>
      <vt:lpstr>Software Engineering Design</vt:lpstr>
      <vt:lpstr>Software Engineering Design – Product Development</vt:lpstr>
      <vt:lpstr>Software Engineering Design –Project Management</vt:lpstr>
      <vt:lpstr>Software Design Challenges</vt:lpstr>
      <vt:lpstr>Software Design Challenge #1 –  Requirements Volatility</vt:lpstr>
      <vt:lpstr>Software Design Challenge #1 –  Requirements Volatility</vt:lpstr>
      <vt:lpstr>Software Design Challenge #2 –  The Process</vt:lpstr>
      <vt:lpstr>Software Design Challenge #3 –  The Technology</vt:lpstr>
      <vt:lpstr>Software Design Challenge #4 –  Ethical and Professional Practices</vt:lpstr>
      <vt:lpstr>Software Design Challenge #5 –  Managing Design Influences</vt:lpstr>
      <vt:lpstr>Software Design Challenge #5 –  Managing Design Influences</vt:lpstr>
      <vt:lpstr>Software Design Challenge #5 –  Managing Design Influences</vt:lpstr>
      <vt:lpstr>Software Design Process</vt:lpstr>
      <vt:lpstr>Software Design Process</vt:lpstr>
      <vt:lpstr>Software Design Process</vt:lpstr>
      <vt:lpstr>Software Design Process</vt:lpstr>
      <vt:lpstr>Software Design Process</vt:lpstr>
      <vt:lpstr>Software Design Process</vt:lpstr>
      <vt:lpstr>Software Design Process</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Simulation</dc:title>
  <dc:creator>ceo7k</dc:creator>
  <cp:lastModifiedBy>Wan Mohd Nasir Wan Kadir</cp:lastModifiedBy>
  <cp:revision>389</cp:revision>
  <dcterms:created xsi:type="dcterms:W3CDTF">2006-08-16T00:00:00Z</dcterms:created>
  <dcterms:modified xsi:type="dcterms:W3CDTF">2013-04-20T04:01:24Z</dcterms:modified>
</cp:coreProperties>
</file>
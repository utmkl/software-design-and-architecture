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23"/>
  </p:notesMasterIdLst>
  <p:sldIdLst>
    <p:sldId id="296" r:id="rId3"/>
    <p:sldId id="257" r:id="rId4"/>
    <p:sldId id="273" r:id="rId5"/>
    <p:sldId id="274" r:id="rId6"/>
    <p:sldId id="297" r:id="rId7"/>
    <p:sldId id="278" r:id="rId8"/>
    <p:sldId id="279" r:id="rId9"/>
    <p:sldId id="280" r:id="rId10"/>
    <p:sldId id="281" r:id="rId11"/>
    <p:sldId id="282" r:id="rId12"/>
    <p:sldId id="288" r:id="rId13"/>
    <p:sldId id="290" r:id="rId14"/>
    <p:sldId id="289" r:id="rId15"/>
    <p:sldId id="292" r:id="rId16"/>
    <p:sldId id="283" r:id="rId17"/>
    <p:sldId id="293" r:id="rId18"/>
    <p:sldId id="284" r:id="rId19"/>
    <p:sldId id="294" r:id="rId20"/>
    <p:sldId id="287" r:id="rId21"/>
    <p:sldId id="295" r:id="rId2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296" y="3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1/31/2019</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extLst>
      <p:ext uri="{BB962C8B-B14F-4D97-AF65-F5344CB8AC3E}">
        <p14:creationId xmlns:p14="http://schemas.microsoft.com/office/powerpoint/2010/main" val="3021072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smtClean="0"/>
              <a:t>8/24/2012</a:t>
            </a:r>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13" name="Title 1"/>
          <p:cNvSpPr>
            <a:spLocks noGrp="1"/>
          </p:cNvSpPr>
          <p:nvPr>
            <p:ph type="ctrTitle"/>
          </p:nvPr>
        </p:nvSpPr>
        <p:spPr>
          <a:xfrm>
            <a:off x="0" y="671286"/>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14" name="Subtitle 2"/>
          <p:cNvSpPr>
            <a:spLocks noGrp="1"/>
          </p:cNvSpPr>
          <p:nvPr>
            <p:ph type="subTitle" idx="1"/>
          </p:nvPr>
        </p:nvSpPr>
        <p:spPr>
          <a:xfrm>
            <a:off x="0" y="1752600"/>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5"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6"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8/24/2012</a:t>
            </a:r>
            <a:endParaRPr lang="en-US"/>
          </a:p>
        </p:txBody>
      </p:sp>
      <p:sp>
        <p:nvSpPr>
          <p:cNvPr id="4" name="Footer Placeholder 3"/>
          <p:cNvSpPr>
            <a:spLocks noGrp="1"/>
          </p:cNvSpPr>
          <p:nvPr>
            <p:ph type="ftr" sz="quarter" idx="11"/>
          </p:nvPr>
        </p:nvSpPr>
        <p:spPr/>
        <p:txBody>
          <a:bodyPr/>
          <a:lstStyle/>
          <a:p>
            <a:r>
              <a:rPr lang="en-US" smtClean="0"/>
              <a:t>Software Engineering Design: Theory and Practice</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r>
              <a:rPr lang="en-US" smtClean="0"/>
              <a:t>8/24/2012</a:t>
            </a:r>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smtClean="0"/>
              <a:t>Software Engineering Design: Theory and Practice</a:t>
            </a:r>
            <a:endParaRPr lang="en-US"/>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r>
              <a:rPr lang="en-US" smtClean="0"/>
              <a:t>8/24/2012</a:t>
            </a:r>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r>
              <a:rPr lang="en-US" smtClean="0"/>
              <a:t>8/24/2012</a:t>
            </a:r>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a:p>
        </p:txBody>
      </p:sp>
      <p:sp>
        <p:nvSpPr>
          <p:cNvPr id="6" name="Slide Number Placeholder 5"/>
          <p:cNvSpPr>
            <a:spLocks noGrp="1"/>
          </p:cNvSpPr>
          <p:nvPr>
            <p:ph type="sldNum" sz="quarter" idx="12"/>
          </p:nvPr>
        </p:nvSpPr>
        <p:spPr/>
        <p:txBody>
          <a:bodyPr/>
          <a:lstStyle/>
          <a:p>
            <a:fld id="{A8978D5B-C4DD-402D-9F9D-2486B9102388}"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a:p>
        </p:txBody>
      </p:sp>
      <p:sp>
        <p:nvSpPr>
          <p:cNvPr id="6" name="Slide Number Placeholder 5"/>
          <p:cNvSpPr>
            <a:spLocks noGrp="1"/>
          </p:cNvSpPr>
          <p:nvPr>
            <p:ph type="sldNum" sz="quarter" idx="12"/>
          </p:nvPr>
        </p:nvSpPr>
        <p:spPr/>
        <p:txBody>
          <a:bodyPr/>
          <a:lstStyle/>
          <a:p>
            <a:fld id="{A8978D5B-C4DD-402D-9F9D-2486B9102388}"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a:p>
        </p:txBody>
      </p:sp>
      <p:sp>
        <p:nvSpPr>
          <p:cNvPr id="6" name="Slide Number Placeholder 5"/>
          <p:cNvSpPr>
            <a:spLocks noGrp="1"/>
          </p:cNvSpPr>
          <p:nvPr>
            <p:ph type="sldNum" sz="quarter" idx="12"/>
          </p:nvPr>
        </p:nvSpPr>
        <p:spPr/>
        <p:txBody>
          <a:bodyPr/>
          <a:lstStyle/>
          <a:p>
            <a:fld id="{A8978D5B-C4DD-402D-9F9D-2486B9102388}"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8/24/2012</a:t>
            </a:r>
            <a:endParaRPr lang="en-US"/>
          </a:p>
        </p:txBody>
      </p:sp>
      <p:sp>
        <p:nvSpPr>
          <p:cNvPr id="6" name="Footer Placeholder 5"/>
          <p:cNvSpPr>
            <a:spLocks noGrp="1"/>
          </p:cNvSpPr>
          <p:nvPr>
            <p:ph type="ftr" sz="quarter" idx="11"/>
          </p:nvPr>
        </p:nvSpPr>
        <p:spPr/>
        <p:txBody>
          <a:bodyPr/>
          <a:lstStyle/>
          <a:p>
            <a:r>
              <a:rPr lang="en-US" smtClean="0"/>
              <a:t>Software Engineering Design: Theory and Practice</a:t>
            </a:r>
            <a:endParaRPr lang="en-US"/>
          </a:p>
        </p:txBody>
      </p:sp>
      <p:sp>
        <p:nvSpPr>
          <p:cNvPr id="7" name="Slide Number Placeholder 6"/>
          <p:cNvSpPr>
            <a:spLocks noGrp="1"/>
          </p:cNvSpPr>
          <p:nvPr>
            <p:ph type="sldNum" sz="quarter" idx="12"/>
          </p:nvPr>
        </p:nvSpPr>
        <p:spPr/>
        <p:txBody>
          <a:bodyPr/>
          <a:lstStyle/>
          <a:p>
            <a:fld id="{A8978D5B-C4DD-402D-9F9D-2486B9102388}"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8/24/2012</a:t>
            </a:r>
            <a:endParaRPr lang="en-US"/>
          </a:p>
        </p:txBody>
      </p:sp>
      <p:sp>
        <p:nvSpPr>
          <p:cNvPr id="8" name="Footer Placeholder 7"/>
          <p:cNvSpPr>
            <a:spLocks noGrp="1"/>
          </p:cNvSpPr>
          <p:nvPr>
            <p:ph type="ftr" sz="quarter" idx="11"/>
          </p:nvPr>
        </p:nvSpPr>
        <p:spPr/>
        <p:txBody>
          <a:bodyPr/>
          <a:lstStyle/>
          <a:p>
            <a:r>
              <a:rPr lang="en-US" smtClean="0"/>
              <a:t>Software Engineering Design: Theory and Practice</a:t>
            </a:r>
            <a:endParaRPr lang="en-US"/>
          </a:p>
        </p:txBody>
      </p:sp>
      <p:sp>
        <p:nvSpPr>
          <p:cNvPr id="9" name="Slide Number Placeholder 8"/>
          <p:cNvSpPr>
            <a:spLocks noGrp="1"/>
          </p:cNvSpPr>
          <p:nvPr>
            <p:ph type="sldNum" sz="quarter" idx="12"/>
          </p:nvPr>
        </p:nvSpPr>
        <p:spPr/>
        <p:txBody>
          <a:bodyPr/>
          <a:lstStyle/>
          <a:p>
            <a:fld id="{A8978D5B-C4DD-402D-9F9D-2486B9102388}"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8/24/2012</a:t>
            </a:r>
            <a:endParaRPr lang="en-US"/>
          </a:p>
        </p:txBody>
      </p:sp>
      <p:sp>
        <p:nvSpPr>
          <p:cNvPr id="4" name="Footer Placeholder 3"/>
          <p:cNvSpPr>
            <a:spLocks noGrp="1"/>
          </p:cNvSpPr>
          <p:nvPr>
            <p:ph type="ftr" sz="quarter" idx="11"/>
          </p:nvPr>
        </p:nvSpPr>
        <p:spPr/>
        <p:txBody>
          <a:bodyPr/>
          <a:lstStyle/>
          <a:p>
            <a:r>
              <a:rPr lang="en-US" smtClean="0"/>
              <a:t>Software Engineering Design: Theory and Practice</a:t>
            </a:r>
            <a:endParaRPr lang="en-US"/>
          </a:p>
        </p:txBody>
      </p:sp>
      <p:sp>
        <p:nvSpPr>
          <p:cNvPr id="5" name="Slide Number Placeholder 4"/>
          <p:cNvSpPr>
            <a:spLocks noGrp="1"/>
          </p:cNvSpPr>
          <p:nvPr>
            <p:ph type="sldNum" sz="quarter" idx="12"/>
          </p:nvPr>
        </p:nvSpPr>
        <p:spPr/>
        <p:txBody>
          <a:bodyPr/>
          <a:lstStyle/>
          <a:p>
            <a:fld id="{A8978D5B-C4DD-402D-9F9D-2486B9102388}"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8/24/2012</a:t>
            </a:r>
            <a:endParaRPr lang="en-US"/>
          </a:p>
        </p:txBody>
      </p:sp>
      <p:sp>
        <p:nvSpPr>
          <p:cNvPr id="3" name="Footer Placeholder 2"/>
          <p:cNvSpPr>
            <a:spLocks noGrp="1"/>
          </p:cNvSpPr>
          <p:nvPr>
            <p:ph type="ftr" sz="quarter" idx="11"/>
          </p:nvPr>
        </p:nvSpPr>
        <p:spPr/>
        <p:txBody>
          <a:bodyPr/>
          <a:lstStyle/>
          <a:p>
            <a:r>
              <a:rPr lang="en-US" smtClean="0"/>
              <a:t>Software Engineering Design: Theory and Practice</a:t>
            </a:r>
            <a:endParaRPr lang="en-US"/>
          </a:p>
        </p:txBody>
      </p:sp>
      <p:sp>
        <p:nvSpPr>
          <p:cNvPr id="4" name="Slide Number Placeholder 3"/>
          <p:cNvSpPr>
            <a:spLocks noGrp="1"/>
          </p:cNvSpPr>
          <p:nvPr>
            <p:ph type="sldNum" sz="quarter" idx="12"/>
          </p:nvPr>
        </p:nvSpPr>
        <p:spPr/>
        <p:txBody>
          <a:bodyPr/>
          <a:lstStyle/>
          <a:p>
            <a:fld id="{A8978D5B-C4DD-402D-9F9D-2486B9102388}"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8/24/2012</a:t>
            </a:r>
            <a:endParaRPr lang="en-US"/>
          </a:p>
        </p:txBody>
      </p:sp>
      <p:sp>
        <p:nvSpPr>
          <p:cNvPr id="6" name="Footer Placeholder 5"/>
          <p:cNvSpPr>
            <a:spLocks noGrp="1"/>
          </p:cNvSpPr>
          <p:nvPr>
            <p:ph type="ftr" sz="quarter" idx="11"/>
          </p:nvPr>
        </p:nvSpPr>
        <p:spPr/>
        <p:txBody>
          <a:bodyPr/>
          <a:lstStyle/>
          <a:p>
            <a:r>
              <a:rPr lang="en-US" smtClean="0"/>
              <a:t>Software Engineering Design: Theory and Practice</a:t>
            </a:r>
            <a:endParaRPr lang="en-US"/>
          </a:p>
        </p:txBody>
      </p:sp>
      <p:sp>
        <p:nvSpPr>
          <p:cNvPr id="7" name="Slide Number Placeholder 6"/>
          <p:cNvSpPr>
            <a:spLocks noGrp="1"/>
          </p:cNvSpPr>
          <p:nvPr>
            <p:ph type="sldNum" sz="quarter" idx="12"/>
          </p:nvPr>
        </p:nvSpPr>
        <p:spPr/>
        <p:txBody>
          <a:bodyPr/>
          <a:lstStyle/>
          <a:p>
            <a:fld id="{A8978D5B-C4DD-402D-9F9D-2486B9102388}"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8/24/2012</a:t>
            </a:r>
            <a:endParaRPr lang="en-US"/>
          </a:p>
        </p:txBody>
      </p:sp>
      <p:sp>
        <p:nvSpPr>
          <p:cNvPr id="6" name="Footer Placeholder 5"/>
          <p:cNvSpPr>
            <a:spLocks noGrp="1"/>
          </p:cNvSpPr>
          <p:nvPr>
            <p:ph type="ftr" sz="quarter" idx="11"/>
          </p:nvPr>
        </p:nvSpPr>
        <p:spPr/>
        <p:txBody>
          <a:bodyPr/>
          <a:lstStyle/>
          <a:p>
            <a:r>
              <a:rPr lang="en-US" smtClean="0"/>
              <a:t>Software Engineering Design: Theory and Practice</a:t>
            </a:r>
            <a:endParaRPr lang="en-US"/>
          </a:p>
        </p:txBody>
      </p:sp>
      <p:sp>
        <p:nvSpPr>
          <p:cNvPr id="7" name="Slide Number Placeholder 6"/>
          <p:cNvSpPr>
            <a:spLocks noGrp="1"/>
          </p:cNvSpPr>
          <p:nvPr>
            <p:ph type="sldNum" sz="quarter" idx="12"/>
          </p:nvPr>
        </p:nvSpPr>
        <p:spPr/>
        <p:txBody>
          <a:bodyPr/>
          <a:lstStyle/>
          <a:p>
            <a:fld id="{A8978D5B-C4DD-402D-9F9D-2486B9102388}"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a:p>
        </p:txBody>
      </p:sp>
      <p:sp>
        <p:nvSpPr>
          <p:cNvPr id="6" name="Slide Number Placeholder 5"/>
          <p:cNvSpPr>
            <a:spLocks noGrp="1"/>
          </p:cNvSpPr>
          <p:nvPr>
            <p:ph type="sldNum" sz="quarter" idx="12"/>
          </p:nvPr>
        </p:nvSpPr>
        <p:spPr/>
        <p:txBody>
          <a:bodyPr/>
          <a:lstStyle/>
          <a:p>
            <a:fld id="{A8978D5B-C4DD-402D-9F9D-2486B9102388}"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a:p>
        </p:txBody>
      </p:sp>
      <p:sp>
        <p:nvSpPr>
          <p:cNvPr id="6" name="Slide Number Placeholder 5"/>
          <p:cNvSpPr>
            <a:spLocks noGrp="1"/>
          </p:cNvSpPr>
          <p:nvPr>
            <p:ph type="sldNum" sz="quarter" idx="12"/>
          </p:nvPr>
        </p:nvSpPr>
        <p:spPr/>
        <p:txBody>
          <a:bodyPr/>
          <a:lstStyle/>
          <a:p>
            <a:fld id="{A8978D5B-C4DD-402D-9F9D-2486B910238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r>
              <a:rPr lang="en-US" smtClean="0"/>
              <a:t>8/24/2012</a:t>
            </a:r>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8/24/2012</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Software Engineering Design: Theory and Practice</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978D5B-C4DD-402D-9F9D-2486B910238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www.youtube.com/v/kBrVRTVNph0"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Chapter 1: Introduction to </a:t>
            </a:r>
            <a:br>
              <a:rPr lang="en-US" dirty="0" smtClean="0"/>
            </a:br>
            <a:r>
              <a:rPr lang="en-US" dirty="0" smtClean="0"/>
              <a:t>Software Engineering Design</a:t>
            </a:r>
            <a:br>
              <a:rPr lang="en-US" dirty="0" smtClean="0"/>
            </a:br>
            <a:endParaRPr lang="en-US" dirty="0"/>
          </a:p>
        </p:txBody>
      </p:sp>
      <p:sp>
        <p:nvSpPr>
          <p:cNvPr id="3" name="Subtitle 2"/>
          <p:cNvSpPr>
            <a:spLocks noGrp="1"/>
          </p:cNvSpPr>
          <p:nvPr>
            <p:ph type="subTitle" idx="1"/>
          </p:nvPr>
        </p:nvSpPr>
        <p:spPr/>
        <p:txBody>
          <a:bodyPr>
            <a:normAutofit/>
          </a:bodyPr>
          <a:lstStyle/>
          <a:p>
            <a:r>
              <a:rPr lang="en-US" dirty="0" smtClean="0"/>
              <a:t>Session I: Motivation and General Design Concepts</a:t>
            </a:r>
            <a:endParaRPr lang="en-US" dirty="0"/>
          </a:p>
        </p:txBody>
      </p:sp>
      <p:sp>
        <p:nvSpPr>
          <p:cNvPr id="4" name="Date Placeholder 3"/>
          <p:cNvSpPr>
            <a:spLocks noGrp="1"/>
          </p:cNvSpPr>
          <p:nvPr>
            <p:ph type="dt" sz="half" idx="10"/>
          </p:nvPr>
        </p:nvSpPr>
        <p:spPr/>
        <p:txBody>
          <a:bodyPr/>
          <a:lstStyle/>
          <a:p>
            <a:r>
              <a:rPr lang="en-US" dirty="0" smtClean="0"/>
              <a:t>8/24/2012</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p:txBody>
          <a:bodyPr>
            <a:normAutofit/>
          </a:bodyPr>
          <a:lstStyle/>
          <a:p>
            <a:r>
              <a:rPr lang="en-US" dirty="0" smtClean="0"/>
              <a:t>What’s it all about?</a:t>
            </a:r>
          </a:p>
          <a:p>
            <a:pPr lvl="1"/>
            <a:r>
              <a:rPr lang="en-US" dirty="0" smtClean="0"/>
              <a:t>Motivation for software engineering design</a:t>
            </a:r>
          </a:p>
          <a:p>
            <a:pPr lvl="1">
              <a:buNone/>
            </a:pPr>
            <a:endParaRPr lang="en-US" dirty="0" smtClean="0"/>
          </a:p>
          <a:p>
            <a:r>
              <a:rPr lang="en-US" dirty="0" smtClean="0"/>
              <a:t>Engineering Design</a:t>
            </a:r>
          </a:p>
          <a:p>
            <a:pPr lvl="1"/>
            <a:r>
              <a:rPr lang="en-US" dirty="0" smtClean="0"/>
              <a:t>Let’s revisit the software engineering life-cycle</a:t>
            </a:r>
          </a:p>
          <a:p>
            <a:pPr lvl="1"/>
            <a:r>
              <a:rPr lang="en-US" dirty="0" smtClean="0"/>
              <a:t>Context of software design</a:t>
            </a:r>
          </a:p>
          <a:p>
            <a:pPr lvl="1">
              <a:buNone/>
            </a:pPr>
            <a:endParaRPr lang="en-US" dirty="0" smtClean="0"/>
          </a:p>
          <a:p>
            <a:r>
              <a:rPr lang="en-US" dirty="0" smtClean="0"/>
              <a:t>Problem-solving</a:t>
            </a:r>
          </a:p>
          <a:p>
            <a:pPr lvl="1"/>
            <a:r>
              <a:rPr lang="en-US" dirty="0" smtClean="0"/>
              <a:t>Problem-solving process</a:t>
            </a:r>
          </a:p>
          <a:p>
            <a:pPr lvl="1"/>
            <a:r>
              <a:rPr lang="en-US" dirty="0" smtClean="0"/>
              <a:t>Types of problems</a:t>
            </a:r>
          </a:p>
          <a:p>
            <a:pPr lvl="1"/>
            <a:r>
              <a:rPr lang="en-US" dirty="0" smtClean="0"/>
              <a:t>Types of thinking</a:t>
            </a:r>
          </a:p>
          <a:p>
            <a:pPr lvl="1"/>
            <a:r>
              <a:rPr lang="en-US" dirty="0" smtClean="0"/>
              <a:t>Types of solution approaches</a:t>
            </a:r>
          </a:p>
          <a:p>
            <a:pPr lvl="1"/>
            <a:endParaRPr lang="en-US" dirty="0" smtClean="0"/>
          </a:p>
          <a:p>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 for Software Engineering Design</a:t>
            </a:r>
            <a:endParaRPr lang="en-US" dirty="0"/>
          </a:p>
        </p:txBody>
      </p:sp>
      <p:sp>
        <p:nvSpPr>
          <p:cNvPr id="3" name="Content Placeholder 2"/>
          <p:cNvSpPr>
            <a:spLocks noGrp="1"/>
          </p:cNvSpPr>
          <p:nvPr>
            <p:ph idx="1"/>
          </p:nvPr>
        </p:nvSpPr>
        <p:spPr>
          <a:xfrm>
            <a:off x="457200" y="1371601"/>
            <a:ext cx="8229600" cy="5029199"/>
          </a:xfrm>
        </p:spPr>
        <p:txBody>
          <a:bodyPr>
            <a:normAutofit fontScale="85000" lnSpcReduction="10000"/>
          </a:bodyPr>
          <a:lstStyle/>
          <a:p>
            <a:r>
              <a:rPr lang="en-US" dirty="0" smtClean="0"/>
              <a:t>Let’s go straight to the point, what is software engineering?</a:t>
            </a:r>
          </a:p>
          <a:p>
            <a:pPr lvl="1"/>
            <a:r>
              <a:rPr lang="en-US" dirty="0" smtClean="0"/>
              <a:t>According to the IEEE [1], Software Engineering is:</a:t>
            </a:r>
          </a:p>
          <a:p>
            <a:pPr lvl="2"/>
            <a:r>
              <a:rPr lang="en-US" dirty="0" smtClean="0"/>
              <a:t>(1) the application of a </a:t>
            </a:r>
            <a:r>
              <a:rPr lang="en-US" b="1" i="1" dirty="0" smtClean="0"/>
              <a:t>systematic</a:t>
            </a:r>
            <a:r>
              <a:rPr lang="en-US" dirty="0" smtClean="0"/>
              <a:t>, </a:t>
            </a:r>
            <a:r>
              <a:rPr lang="en-US" b="1" i="1" dirty="0" smtClean="0"/>
              <a:t>disciplined</a:t>
            </a:r>
            <a:r>
              <a:rPr lang="en-US" dirty="0" smtClean="0"/>
              <a:t>, and </a:t>
            </a:r>
            <a:r>
              <a:rPr lang="en-US" b="1" i="1" dirty="0" smtClean="0"/>
              <a:t>quantifiable</a:t>
            </a:r>
            <a:r>
              <a:rPr lang="en-US" dirty="0" smtClean="0"/>
              <a:t> approach to the development, operation, and maintenance  of software; that is, the application of engineering to software.</a:t>
            </a:r>
          </a:p>
          <a:p>
            <a:pPr lvl="2"/>
            <a:r>
              <a:rPr lang="en-US" dirty="0" smtClean="0"/>
              <a:t>(2) The study of approaches as in (1)</a:t>
            </a:r>
          </a:p>
          <a:p>
            <a:pPr lvl="2">
              <a:buNone/>
            </a:pPr>
            <a:endParaRPr lang="en-US" dirty="0" smtClean="0"/>
          </a:p>
          <a:p>
            <a:r>
              <a:rPr lang="en-US" dirty="0" smtClean="0"/>
              <a:t>What do we mean by </a:t>
            </a:r>
            <a:r>
              <a:rPr lang="en-US" b="1" i="1" dirty="0" smtClean="0"/>
              <a:t>systematic</a:t>
            </a:r>
            <a:r>
              <a:rPr lang="en-US" dirty="0" smtClean="0"/>
              <a:t>? According to an online dictionary [2]: </a:t>
            </a:r>
          </a:p>
          <a:p>
            <a:pPr lvl="1"/>
            <a:r>
              <a:rPr lang="en-US" dirty="0" smtClean="0"/>
              <a:t>Presented or formulated as a coherent body of ideas or principles</a:t>
            </a:r>
          </a:p>
          <a:p>
            <a:pPr lvl="1"/>
            <a:r>
              <a:rPr lang="en-US" dirty="0" smtClean="0"/>
              <a:t>Methodical in procedure or plan</a:t>
            </a:r>
          </a:p>
          <a:p>
            <a:pPr lvl="1">
              <a:buNone/>
            </a:pPr>
            <a:endParaRPr lang="en-US" dirty="0" smtClean="0"/>
          </a:p>
          <a:p>
            <a:r>
              <a:rPr lang="en-US" dirty="0" smtClean="0"/>
              <a:t>What do we mean by </a:t>
            </a:r>
            <a:r>
              <a:rPr lang="en-US" b="1" i="1" dirty="0" smtClean="0"/>
              <a:t>disciplined</a:t>
            </a:r>
            <a:r>
              <a:rPr lang="en-US" dirty="0" smtClean="0"/>
              <a:t>?  (From the word discipline [2]):</a:t>
            </a:r>
          </a:p>
          <a:p>
            <a:pPr lvl="1"/>
            <a:r>
              <a:rPr lang="en-US" dirty="0" smtClean="0"/>
              <a:t>A rule or system of rules governing conduct or activity</a:t>
            </a:r>
          </a:p>
          <a:p>
            <a:pPr lvl="2"/>
            <a:endParaRPr lang="en-US" dirty="0" smtClean="0"/>
          </a:p>
          <a:p>
            <a:r>
              <a:rPr lang="en-US" dirty="0" smtClean="0"/>
              <a:t>What do we mean by </a:t>
            </a:r>
            <a:r>
              <a:rPr lang="en-US" b="1" i="1" dirty="0" smtClean="0"/>
              <a:t>quantifiable</a:t>
            </a:r>
            <a:r>
              <a:rPr lang="en-US" dirty="0" smtClean="0"/>
              <a:t>? (From [2])</a:t>
            </a:r>
          </a:p>
          <a:p>
            <a:pPr lvl="1"/>
            <a:r>
              <a:rPr lang="en-US" dirty="0" smtClean="0"/>
              <a:t>To determine, express, or measure the quantity of</a:t>
            </a:r>
          </a:p>
          <a:p>
            <a:pPr lvl="1"/>
            <a:endParaRPr lang="en-US" dirty="0" smtClean="0"/>
          </a:p>
          <a:p>
            <a:r>
              <a:rPr lang="en-US" dirty="0" smtClean="0"/>
              <a:t>Given clear definition of these important terms, let’s ask ourselves, </a:t>
            </a:r>
            <a:r>
              <a:rPr lang="en-US" i="1" dirty="0" smtClean="0"/>
              <a:t>do we really need a systematic, disciplined, and quantifiable approach to developing software?</a:t>
            </a:r>
            <a:r>
              <a:rPr lang="en-US" dirty="0" smtClean="0"/>
              <a:t>  Let’s look at some examples…</a:t>
            </a:r>
          </a:p>
          <a:p>
            <a:pPr lvl="2"/>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 for Software Engineering Design</a:t>
            </a:r>
            <a:endParaRPr lang="en-US" dirty="0"/>
          </a:p>
        </p:txBody>
      </p:sp>
      <p:sp>
        <p:nvSpPr>
          <p:cNvPr id="3" name="Content Placeholder 2"/>
          <p:cNvSpPr>
            <a:spLocks noGrp="1"/>
          </p:cNvSpPr>
          <p:nvPr>
            <p:ph idx="1"/>
          </p:nvPr>
        </p:nvSpPr>
        <p:spPr>
          <a:xfrm>
            <a:off x="457200" y="1371601"/>
            <a:ext cx="6172200" cy="4876799"/>
          </a:xfrm>
        </p:spPr>
        <p:txBody>
          <a:bodyPr>
            <a:normAutofit fontScale="85000" lnSpcReduction="10000"/>
          </a:bodyPr>
          <a:lstStyle/>
          <a:p>
            <a:r>
              <a:rPr lang="en-US" dirty="0" smtClean="0"/>
              <a:t>A software example: </a:t>
            </a:r>
            <a:r>
              <a:rPr lang="en-US" i="1" dirty="0" smtClean="0"/>
              <a:t>The Mighty Calculator</a:t>
            </a:r>
          </a:p>
          <a:p>
            <a:pPr lvl="1"/>
            <a:r>
              <a:rPr lang="en-US" dirty="0" smtClean="0"/>
              <a:t>(1) Do we need software engineering to develop this product?</a:t>
            </a:r>
          </a:p>
          <a:p>
            <a:pPr lvl="2"/>
            <a:r>
              <a:rPr lang="en-US" dirty="0" smtClean="0"/>
              <a:t>Do we need a systematic approach?</a:t>
            </a:r>
          </a:p>
          <a:p>
            <a:pPr lvl="2"/>
            <a:r>
              <a:rPr lang="en-US" dirty="0" smtClean="0"/>
              <a:t>Do we need a disciplined approach?</a:t>
            </a:r>
          </a:p>
          <a:p>
            <a:pPr lvl="2"/>
            <a:r>
              <a:rPr lang="en-US" dirty="0" smtClean="0"/>
              <a:t>Do we need a quantifiable approach?</a:t>
            </a:r>
          </a:p>
          <a:p>
            <a:pPr lvl="1"/>
            <a:endParaRPr lang="en-US" dirty="0" smtClean="0"/>
          </a:p>
          <a:p>
            <a:r>
              <a:rPr lang="en-US" dirty="0" smtClean="0"/>
              <a:t>Stop and think about these questions!  You may be wondering, well…, it depends!</a:t>
            </a:r>
          </a:p>
          <a:p>
            <a:pPr lvl="1"/>
            <a:r>
              <a:rPr lang="en-US" dirty="0" smtClean="0"/>
              <a:t>(2) Is this my own pet project?</a:t>
            </a:r>
          </a:p>
          <a:p>
            <a:pPr lvl="1"/>
            <a:r>
              <a:rPr lang="en-US" dirty="0" smtClean="0"/>
              <a:t>(3) Is somebody paying me for this product?</a:t>
            </a:r>
          </a:p>
          <a:p>
            <a:pPr lvl="1"/>
            <a:r>
              <a:rPr lang="en-US" dirty="0" smtClean="0"/>
              <a:t>(4) Will other people use this product?</a:t>
            </a:r>
          </a:p>
          <a:p>
            <a:pPr lvl="1"/>
            <a:r>
              <a:rPr lang="en-US" dirty="0" smtClean="0"/>
              <a:t>(5) Is there a time-frame for this product’s development?</a:t>
            </a:r>
          </a:p>
          <a:p>
            <a:pPr lvl="1"/>
            <a:r>
              <a:rPr lang="en-US" dirty="0" smtClean="0"/>
              <a:t>(6) Do I need to quantify the approach used?</a:t>
            </a:r>
          </a:p>
          <a:p>
            <a:endParaRPr lang="en-US" dirty="0" smtClean="0"/>
          </a:p>
          <a:p>
            <a:r>
              <a:rPr lang="en-US" dirty="0" smtClean="0"/>
              <a:t>Depending on (2), (3), (4), (5), and (6) the answer to (1) may be: </a:t>
            </a:r>
            <a:r>
              <a:rPr lang="en-US" b="1" dirty="0" smtClean="0"/>
              <a:t>yes, no, or maybe</a:t>
            </a:r>
            <a:r>
              <a:rPr lang="en-US" dirty="0" smtClean="0"/>
              <a:t>!!</a:t>
            </a:r>
          </a:p>
          <a:p>
            <a:pPr>
              <a:buNone/>
            </a:pPr>
            <a:endParaRPr lang="en-US" dirty="0" smtClean="0"/>
          </a:p>
          <a:p>
            <a:r>
              <a:rPr lang="en-US" dirty="0" smtClean="0"/>
              <a:t>Let’s look at another example…</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6629400" y="2057400"/>
            <a:ext cx="1780524" cy="2514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Motivation for software Engineering Design</a:t>
            </a:r>
            <a:endParaRPr lang="en-MY"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025709209"/>
              </p:ext>
            </p:extLst>
          </p:nvPr>
        </p:nvGraphicFramePr>
        <p:xfrm>
          <a:off x="457200" y="1371600"/>
          <a:ext cx="8229600" cy="313944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r>
                        <a:rPr lang="en-MY" dirty="0" smtClean="0"/>
                        <a:t>Question </a:t>
                      </a:r>
                      <a:endParaRPr lang="en-MY" dirty="0"/>
                    </a:p>
                  </a:txBody>
                  <a:tcPr/>
                </a:tc>
                <a:tc>
                  <a:txBody>
                    <a:bodyPr/>
                    <a:lstStyle/>
                    <a:p>
                      <a:r>
                        <a:rPr lang="en-US" dirty="0" smtClean="0"/>
                        <a:t>Chevy Volt </a:t>
                      </a:r>
                      <a:r>
                        <a:rPr lang="en-US" sz="1100" b="1" dirty="0" smtClean="0">
                          <a:solidFill>
                            <a:schemeClr val="accent1">
                              <a:lumMod val="75000"/>
                            </a:schemeClr>
                          </a:solidFill>
                        </a:rPr>
                        <a:t>video</a:t>
                      </a:r>
                    </a:p>
                    <a:p>
                      <a:endParaRPr lang="en-MY" dirty="0"/>
                    </a:p>
                  </a:txBody>
                  <a:tcPr/>
                </a:tc>
                <a:tc>
                  <a:txBody>
                    <a:bodyPr/>
                    <a:lstStyle/>
                    <a:p>
                      <a:r>
                        <a:rPr lang="en-US" sz="1800" dirty="0" smtClean="0"/>
                        <a:t>X-47B unmanned</a:t>
                      </a:r>
                      <a:r>
                        <a:rPr lang="en-US" sz="1800" baseline="0" dirty="0" smtClean="0"/>
                        <a:t> aircraft</a:t>
                      </a:r>
                    </a:p>
                    <a:p>
                      <a:pPr marL="0" marR="0" lvl="3" indent="0" algn="l" defTabSz="914400" rtl="0" eaLnBrk="1" fontAlgn="auto" latinLnBrk="0" hangingPunct="1">
                        <a:lnSpc>
                          <a:spcPct val="100000"/>
                        </a:lnSpc>
                        <a:spcBef>
                          <a:spcPts val="0"/>
                        </a:spcBef>
                        <a:spcAft>
                          <a:spcPts val="0"/>
                        </a:spcAft>
                        <a:buClrTx/>
                        <a:buSzTx/>
                        <a:buFontTx/>
                        <a:buNone/>
                        <a:tabLst/>
                        <a:defRPr/>
                      </a:pPr>
                      <a:r>
                        <a:rPr lang="en-US" sz="800" dirty="0" smtClean="0">
                          <a:hlinkClick r:id="rId2"/>
                        </a:rPr>
                        <a:t>http://www.youtube.com/v/kBrVRTVNph0</a:t>
                      </a:r>
                      <a:endParaRPr lang="en-US" sz="800" dirty="0" smtClean="0"/>
                    </a:p>
                    <a:p>
                      <a:endParaRPr lang="en-MY" dirty="0"/>
                    </a:p>
                  </a:txBody>
                  <a:tcPr/>
                </a:tc>
              </a:tr>
              <a:tr h="370840">
                <a:tc>
                  <a:txBody>
                    <a:bodyPr/>
                    <a:lstStyle/>
                    <a:p>
                      <a:r>
                        <a:rPr lang="en-MY" baseline="0" dirty="0" smtClean="0"/>
                        <a:t>Is Software Engineering Design needed in these software? Why? (give  3 short justifications)</a:t>
                      </a:r>
                      <a:endParaRPr lang="en-MY" dirty="0"/>
                    </a:p>
                  </a:txBody>
                  <a:tcPr/>
                </a:tc>
                <a:tc>
                  <a:txBody>
                    <a:bodyPr/>
                    <a:lstStyle/>
                    <a:p>
                      <a:endParaRPr lang="en-MY" dirty="0"/>
                    </a:p>
                  </a:txBody>
                  <a:tcPr/>
                </a:tc>
                <a:tc>
                  <a:txBody>
                    <a:bodyPr/>
                    <a:lstStyle/>
                    <a:p>
                      <a:endParaRPr lang="en-MY" dirty="0"/>
                    </a:p>
                  </a:txBody>
                  <a:tcPr/>
                </a:tc>
              </a:tr>
              <a:tr h="370840">
                <a:tc>
                  <a:txBody>
                    <a:bodyPr/>
                    <a:lstStyle/>
                    <a:p>
                      <a:r>
                        <a:rPr lang="en-MY" dirty="0" smtClean="0"/>
                        <a:t>Wher</a:t>
                      </a:r>
                      <a:r>
                        <a:rPr lang="en-MY" baseline="0" dirty="0" smtClean="0"/>
                        <a:t>e does software engineering design applied in these software development?</a:t>
                      </a:r>
                      <a:endParaRPr lang="en-MY" dirty="0"/>
                    </a:p>
                  </a:txBody>
                  <a:tcPr/>
                </a:tc>
                <a:tc>
                  <a:txBody>
                    <a:bodyPr/>
                    <a:lstStyle/>
                    <a:p>
                      <a:endParaRPr lang="en-MY"/>
                    </a:p>
                  </a:txBody>
                  <a:tcPr/>
                </a:tc>
                <a:tc>
                  <a:txBody>
                    <a:bodyPr/>
                    <a:lstStyle/>
                    <a:p>
                      <a:endParaRPr lang="en-MY" dirty="0"/>
                    </a:p>
                  </a:txBody>
                  <a:tcPr/>
                </a:tc>
              </a:tr>
            </a:tbl>
          </a:graphicData>
        </a:graphic>
      </p:graphicFrame>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4285370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Engineering Software</a:t>
            </a:r>
            <a:endParaRPr lang="en-US" dirty="0"/>
          </a:p>
        </p:txBody>
      </p:sp>
      <p:sp>
        <p:nvSpPr>
          <p:cNvPr id="3" name="Content Placeholder 2"/>
          <p:cNvSpPr>
            <a:spLocks noGrp="1"/>
          </p:cNvSpPr>
          <p:nvPr>
            <p:ph idx="1"/>
          </p:nvPr>
        </p:nvSpPr>
        <p:spPr>
          <a:xfrm>
            <a:off x="457200" y="1371601"/>
            <a:ext cx="8305800" cy="5181599"/>
          </a:xfrm>
        </p:spPr>
        <p:txBody>
          <a:bodyPr>
            <a:normAutofit fontScale="85000" lnSpcReduction="10000"/>
          </a:bodyPr>
          <a:lstStyle/>
          <a:p>
            <a:r>
              <a:rPr lang="en-US" dirty="0" smtClean="0"/>
              <a:t>Hopefully, by now, your are convinced that a </a:t>
            </a:r>
            <a:r>
              <a:rPr lang="en-US" b="1" i="1" dirty="0" smtClean="0"/>
              <a:t>systematic</a:t>
            </a:r>
            <a:r>
              <a:rPr lang="en-US" dirty="0" smtClean="0"/>
              <a:t>, </a:t>
            </a:r>
            <a:r>
              <a:rPr lang="en-US" b="1" i="1" dirty="0" smtClean="0"/>
              <a:t>disciplined</a:t>
            </a:r>
            <a:r>
              <a:rPr lang="en-US" dirty="0" smtClean="0"/>
              <a:t>, and </a:t>
            </a:r>
            <a:r>
              <a:rPr lang="en-US" b="1" i="1" dirty="0" smtClean="0"/>
              <a:t>quantifiable</a:t>
            </a:r>
            <a:r>
              <a:rPr lang="en-US" dirty="0" smtClean="0"/>
              <a:t> approach is needed to build certain types of software systems; that is, software engineering is necessary to build some (if not all) software products.   </a:t>
            </a:r>
            <a:r>
              <a:rPr lang="en-US" i="1" dirty="0" smtClean="0"/>
              <a:t>But how do we engineer software?</a:t>
            </a:r>
          </a:p>
          <a:p>
            <a:endParaRPr lang="en-US" i="1" dirty="0" smtClean="0"/>
          </a:p>
          <a:p>
            <a:r>
              <a:rPr lang="en-US" dirty="0" smtClean="0"/>
              <a:t>Luckily, a formal process for engineering software has been known for quite some time.  This process supports a </a:t>
            </a:r>
            <a:r>
              <a:rPr lang="en-US" b="1" i="1" dirty="0" smtClean="0"/>
              <a:t>systematic</a:t>
            </a:r>
            <a:r>
              <a:rPr lang="en-US" dirty="0" smtClean="0"/>
              <a:t>, </a:t>
            </a:r>
            <a:r>
              <a:rPr lang="en-US" b="1" i="1" dirty="0" smtClean="0"/>
              <a:t>disciplined</a:t>
            </a:r>
            <a:r>
              <a:rPr lang="en-US" dirty="0" smtClean="0"/>
              <a:t>, and </a:t>
            </a:r>
            <a:r>
              <a:rPr lang="en-US" b="1" i="1" dirty="0" smtClean="0"/>
              <a:t>quantifiable</a:t>
            </a:r>
            <a:r>
              <a:rPr lang="en-US" dirty="0" smtClean="0"/>
              <a:t> approach to software product development, and includes the following phases: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Of </a:t>
            </a:r>
            <a:r>
              <a:rPr lang="en-US" b="1" dirty="0" smtClean="0"/>
              <a:t>importance</a:t>
            </a:r>
            <a:r>
              <a:rPr lang="en-US" dirty="0" smtClean="0"/>
              <a:t> to this course is the </a:t>
            </a:r>
            <a:r>
              <a:rPr lang="en-US" b="1" i="1" dirty="0" smtClean="0"/>
              <a:t>design</a:t>
            </a:r>
            <a:r>
              <a:rPr lang="en-US" i="1" dirty="0" smtClean="0"/>
              <a:t> phase</a:t>
            </a:r>
            <a:r>
              <a:rPr lang="en-US" dirty="0" smtClean="0"/>
              <a:t>, where requirements are used to create a blueprint of the software to be constructed.  Before delving deep into software engineering design, let’s look at the general concept of engineering design…</a:t>
            </a:r>
          </a:p>
          <a:p>
            <a:endParaRPr lang="en-US" dirty="0" smtClean="0"/>
          </a:p>
          <a:p>
            <a:pPr>
              <a:buNone/>
            </a:pP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pic>
        <p:nvPicPr>
          <p:cNvPr id="36867" name="Picture 3"/>
          <p:cNvPicPr>
            <a:picLocks noChangeAspect="1" noChangeArrowheads="1"/>
          </p:cNvPicPr>
          <p:nvPr/>
        </p:nvPicPr>
        <p:blipFill>
          <a:blip r:embed="rId2" cstate="print"/>
          <a:srcRect/>
          <a:stretch>
            <a:fillRect/>
          </a:stretch>
        </p:blipFill>
        <p:spPr bwMode="auto">
          <a:xfrm>
            <a:off x="1905000" y="3505200"/>
            <a:ext cx="5367337" cy="19620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Engineering Design</a:t>
            </a:r>
            <a:endParaRPr lang="en-US" dirty="0"/>
          </a:p>
        </p:txBody>
      </p:sp>
      <p:sp>
        <p:nvSpPr>
          <p:cNvPr id="3" name="Content Placeholder 2"/>
          <p:cNvSpPr>
            <a:spLocks noGrp="1"/>
          </p:cNvSpPr>
          <p:nvPr>
            <p:ph idx="1"/>
          </p:nvPr>
        </p:nvSpPr>
        <p:spPr>
          <a:xfrm>
            <a:off x="457200" y="1371601"/>
            <a:ext cx="8229600" cy="4876799"/>
          </a:xfrm>
        </p:spPr>
        <p:txBody>
          <a:bodyPr>
            <a:normAutofit fontScale="92500"/>
          </a:bodyPr>
          <a:lstStyle/>
          <a:p>
            <a:r>
              <a:rPr lang="en-US" dirty="0" smtClean="0"/>
              <a:t>Design is not a new concept conceived by software engineers.  Design is used in all other engineering disciplines, e.g., electrical, mechanical, civil, etc.  Dym and Little define engineering design as [6]:</a:t>
            </a:r>
          </a:p>
          <a:p>
            <a:pPr lvl="1"/>
            <a:r>
              <a:rPr lang="en-US" dirty="0" smtClean="0"/>
              <a:t>A systematic, </a:t>
            </a:r>
            <a:r>
              <a:rPr lang="en-US" dirty="0" smtClean="0">
                <a:solidFill>
                  <a:srgbClr val="FF0000"/>
                </a:solidFill>
              </a:rPr>
              <a:t>intelligent process </a:t>
            </a:r>
            <a:r>
              <a:rPr lang="en-US" dirty="0" smtClean="0"/>
              <a:t>in which designers </a:t>
            </a:r>
            <a:r>
              <a:rPr lang="en-US" dirty="0" smtClean="0">
                <a:solidFill>
                  <a:srgbClr val="FF0000"/>
                </a:solidFill>
              </a:rPr>
              <a:t>generate, evaluate and specify designs</a:t>
            </a:r>
            <a:r>
              <a:rPr lang="en-US" dirty="0" smtClean="0"/>
              <a:t> for devices, systems or processes whose form(s) and function(s) </a:t>
            </a:r>
            <a:r>
              <a:rPr lang="en-US" dirty="0" smtClean="0">
                <a:solidFill>
                  <a:srgbClr val="FF0000"/>
                </a:solidFill>
              </a:rPr>
              <a:t>achieve clients’ objectives and users’ needs </a:t>
            </a:r>
            <a:r>
              <a:rPr lang="en-US" dirty="0" smtClean="0"/>
              <a:t>while satisfying a specified set of </a:t>
            </a:r>
            <a:r>
              <a:rPr lang="en-US" dirty="0" smtClean="0">
                <a:solidFill>
                  <a:srgbClr val="FF0000"/>
                </a:solidFill>
              </a:rPr>
              <a:t>constraints</a:t>
            </a:r>
            <a:r>
              <a:rPr lang="en-US" dirty="0" smtClean="0"/>
              <a:t>.</a:t>
            </a:r>
          </a:p>
          <a:p>
            <a:pPr lvl="1"/>
            <a:endParaRPr lang="en-US" dirty="0" smtClean="0"/>
          </a:p>
          <a:p>
            <a:r>
              <a:rPr lang="en-US" dirty="0" smtClean="0"/>
              <a:t>Design is a lengthy and complex process which requires significant investment in time and effort.  So, </a:t>
            </a:r>
            <a:r>
              <a:rPr lang="en-US" i="1" dirty="0" smtClean="0"/>
              <a:t>why conduct design in engineering disciplines?</a:t>
            </a:r>
          </a:p>
          <a:p>
            <a:pPr lvl="1"/>
            <a:r>
              <a:rPr lang="en-US" dirty="0" smtClean="0"/>
              <a:t>Using commonsense, complex products (e.g., bridges, airplanes, watercrafts, medical devices, safety-critical software systems, etc.) are hard to create, costly to change, and when built carelessly, can harm human life.</a:t>
            </a:r>
          </a:p>
          <a:p>
            <a:pPr lvl="1"/>
            <a:r>
              <a:rPr lang="en-US" dirty="0" smtClean="0"/>
              <a:t>Design allows teams to organize in </a:t>
            </a:r>
            <a:r>
              <a:rPr lang="en-US" b="1" i="1" dirty="0" smtClean="0"/>
              <a:t>disciplined</a:t>
            </a:r>
            <a:r>
              <a:rPr lang="en-US" dirty="0" smtClean="0"/>
              <a:t> manner and provides a </a:t>
            </a:r>
            <a:r>
              <a:rPr lang="en-US" b="1" i="1" dirty="0" smtClean="0"/>
              <a:t>systematic</a:t>
            </a:r>
            <a:r>
              <a:rPr lang="en-US" dirty="0" smtClean="0"/>
              <a:t> approach to carefully ensure that products are built to meet their specification.</a:t>
            </a:r>
          </a:p>
          <a:p>
            <a:pPr lvl="2"/>
            <a:r>
              <a:rPr lang="en-US" sz="1100" dirty="0" smtClean="0"/>
              <a:t>Remember the definition of software engineering??</a:t>
            </a:r>
            <a:endParaRPr lang="en-US" sz="1100"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7" name="Cloud Callout 6"/>
          <p:cNvSpPr/>
          <p:nvPr/>
        </p:nvSpPr>
        <p:spPr>
          <a:xfrm>
            <a:off x="6172200" y="5867400"/>
            <a:ext cx="1371600" cy="609600"/>
          </a:xfrm>
          <a:prstGeom prst="cloudCallout">
            <a:avLst>
              <a:gd name="adj1" fmla="val -77136"/>
              <a:gd name="adj2" fmla="val -99762"/>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286500" y="5943600"/>
            <a:ext cx="1638300" cy="461665"/>
          </a:xfrm>
          <a:prstGeom prst="rect">
            <a:avLst/>
          </a:prstGeom>
          <a:noFill/>
        </p:spPr>
        <p:txBody>
          <a:bodyPr wrap="square" rtlCol="0">
            <a:spAutoFit/>
          </a:bodyPr>
          <a:lstStyle/>
          <a:p>
            <a:r>
              <a:rPr lang="en-US" sz="800" dirty="0" smtClean="0"/>
              <a:t>Disciplined, systematic… </a:t>
            </a:r>
          </a:p>
          <a:p>
            <a:r>
              <a:rPr lang="en-US" sz="800" dirty="0" smtClean="0"/>
              <a:t>these look familiar,</a:t>
            </a:r>
          </a:p>
          <a:p>
            <a:r>
              <a:rPr lang="en-US" sz="800" dirty="0" smtClean="0"/>
              <a:t> right??</a:t>
            </a:r>
            <a:endParaRPr lang="en-US" sz="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Engineering Problem Solving</a:t>
            </a:r>
            <a:endParaRPr lang="en-US" dirty="0"/>
          </a:p>
        </p:txBody>
      </p:sp>
      <p:sp>
        <p:nvSpPr>
          <p:cNvPr id="3" name="Content Placeholder 2"/>
          <p:cNvSpPr>
            <a:spLocks noGrp="1"/>
          </p:cNvSpPr>
          <p:nvPr>
            <p:ph idx="1"/>
          </p:nvPr>
        </p:nvSpPr>
        <p:spPr>
          <a:xfrm>
            <a:off x="457200" y="1371601"/>
            <a:ext cx="8229600" cy="5181599"/>
          </a:xfrm>
        </p:spPr>
        <p:txBody>
          <a:bodyPr>
            <a:normAutofit/>
          </a:bodyPr>
          <a:lstStyle/>
          <a:p>
            <a:r>
              <a:rPr lang="en-US" dirty="0" smtClean="0"/>
              <a:t>In the previous slide, engineering design was defined as an intelligent process… what do we mean by intelligent process?</a:t>
            </a:r>
          </a:p>
          <a:p>
            <a:pPr lvl="1"/>
            <a:r>
              <a:rPr lang="en-US" dirty="0" smtClean="0"/>
              <a:t>We refer to it as intelligent process because a great deal of problem-solving occurs during design.</a:t>
            </a:r>
          </a:p>
          <a:p>
            <a:pPr lvl="1"/>
            <a:r>
              <a:rPr lang="en-US" dirty="0" smtClean="0"/>
              <a:t>During the design process, engineers are constantly engaging in problem-solving activities.</a:t>
            </a:r>
          </a:p>
          <a:p>
            <a:pPr lvl="2"/>
            <a:r>
              <a:rPr lang="en-US" dirty="0" smtClean="0"/>
              <a:t>Their work requires them to identify, evaluate, and proposed solutions to complex problems.</a:t>
            </a:r>
          </a:p>
          <a:p>
            <a:pPr lvl="2"/>
            <a:r>
              <a:rPr lang="en-US" dirty="0" smtClean="0"/>
              <a:t>Some problems encountered by engineers have never been solved before!</a:t>
            </a:r>
          </a:p>
          <a:p>
            <a:pPr lvl="2"/>
            <a:endParaRPr lang="en-US" dirty="0" smtClean="0"/>
          </a:p>
          <a:p>
            <a:r>
              <a:rPr lang="en-US" dirty="0" smtClean="0"/>
              <a:t>Because of the large number of problem-solving activities present during design, a formal discussion on problem-solving is required.</a:t>
            </a:r>
          </a:p>
          <a:p>
            <a:pPr lvl="1"/>
            <a:r>
              <a:rPr lang="en-US" dirty="0" smtClean="0"/>
              <a:t>To become a good designer, engineers must be good problem solvers.</a:t>
            </a:r>
          </a:p>
          <a:p>
            <a:pPr lvl="1"/>
            <a:r>
              <a:rPr lang="en-US" dirty="0" smtClean="0"/>
              <a:t>To become a good problem solver… well, that requires lots of time and effort, but we can at least set up a framework for solving problems throughout the design phase.  Let’s examine the fundamentals of problem solving…</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Engineering Problem Solving</a:t>
            </a:r>
            <a:endParaRPr lang="en-US" dirty="0"/>
          </a:p>
        </p:txBody>
      </p:sp>
      <p:sp>
        <p:nvSpPr>
          <p:cNvPr id="3" name="Content Placeholder 2"/>
          <p:cNvSpPr>
            <a:spLocks noGrp="1"/>
          </p:cNvSpPr>
          <p:nvPr>
            <p:ph idx="1"/>
          </p:nvPr>
        </p:nvSpPr>
        <p:spPr>
          <a:xfrm>
            <a:off x="457200" y="1371601"/>
            <a:ext cx="8229600" cy="5181599"/>
          </a:xfrm>
        </p:spPr>
        <p:txBody>
          <a:bodyPr>
            <a:normAutofit fontScale="92500" lnSpcReduction="20000"/>
          </a:bodyPr>
          <a:lstStyle/>
          <a:p>
            <a:r>
              <a:rPr lang="en-US" dirty="0" smtClean="0"/>
              <a:t>In a general sense, problem-solving during design occurs in three different states:</a:t>
            </a:r>
          </a:p>
          <a:p>
            <a:pPr lvl="1"/>
            <a:r>
              <a:rPr lang="en-US" dirty="0" smtClean="0"/>
              <a:t>Initial State</a:t>
            </a:r>
          </a:p>
          <a:p>
            <a:pPr lvl="1"/>
            <a:r>
              <a:rPr lang="en-US" dirty="0" smtClean="0"/>
              <a:t>Operational State</a:t>
            </a:r>
          </a:p>
          <a:p>
            <a:pPr lvl="1"/>
            <a:r>
              <a:rPr lang="en-US" dirty="0" smtClean="0"/>
              <a:t>Goal State</a:t>
            </a:r>
          </a:p>
          <a:p>
            <a:pPr lvl="1">
              <a:buNone/>
            </a:pPr>
            <a:endParaRPr lang="en-US" dirty="0" smtClean="0"/>
          </a:p>
          <a:p>
            <a:r>
              <a:rPr lang="en-US" dirty="0" smtClean="0"/>
              <a:t>Initial State</a:t>
            </a:r>
          </a:p>
          <a:p>
            <a:pPr lvl="1"/>
            <a:r>
              <a:rPr lang="en-US" dirty="0" smtClean="0"/>
              <a:t>Problems are formulated and interpreted</a:t>
            </a:r>
          </a:p>
          <a:p>
            <a:pPr lvl="1"/>
            <a:r>
              <a:rPr lang="en-US" dirty="0" smtClean="0"/>
              <a:t>In some cases, understanding the problem is a problem                                               itself.</a:t>
            </a:r>
          </a:p>
          <a:p>
            <a:pPr lvl="1">
              <a:buNone/>
            </a:pPr>
            <a:endParaRPr lang="en-US" dirty="0" smtClean="0"/>
          </a:p>
          <a:p>
            <a:r>
              <a:rPr lang="en-US" dirty="0" smtClean="0"/>
              <a:t>Operational State</a:t>
            </a:r>
          </a:p>
          <a:p>
            <a:pPr lvl="1"/>
            <a:r>
              <a:rPr lang="en-US" dirty="0" smtClean="0"/>
              <a:t>Once problem is understood, operational state begins</a:t>
            </a:r>
          </a:p>
          <a:p>
            <a:pPr lvl="1"/>
            <a:r>
              <a:rPr lang="en-US" dirty="0" smtClean="0"/>
              <a:t>Thinking about the problem and viable solutions come to light</a:t>
            </a:r>
          </a:p>
          <a:p>
            <a:pPr lvl="1">
              <a:buNone/>
            </a:pPr>
            <a:endParaRPr lang="en-US" dirty="0" smtClean="0"/>
          </a:p>
          <a:p>
            <a:r>
              <a:rPr lang="en-US" dirty="0" smtClean="0"/>
              <a:t>Goal State</a:t>
            </a:r>
          </a:p>
          <a:p>
            <a:pPr lvl="1"/>
            <a:r>
              <a:rPr lang="en-US" dirty="0" smtClean="0"/>
              <a:t>Once an appropriate solution is identified, evaluated, and validated, goal state is reached</a:t>
            </a:r>
          </a:p>
          <a:p>
            <a:pPr lvl="1"/>
            <a:r>
              <a:rPr lang="en-US" dirty="0" smtClean="0"/>
              <a:t>Final solution found, marking the end of the problem-solving process</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grpSp>
        <p:nvGrpSpPr>
          <p:cNvPr id="10" name="Group 9"/>
          <p:cNvGrpSpPr/>
          <p:nvPr/>
        </p:nvGrpSpPr>
        <p:grpSpPr>
          <a:xfrm>
            <a:off x="7759775" y="2571750"/>
            <a:ext cx="803425" cy="762000"/>
            <a:chOff x="6248400" y="1981200"/>
            <a:chExt cx="803425" cy="762000"/>
          </a:xfrm>
        </p:grpSpPr>
        <p:sp>
          <p:nvSpPr>
            <p:cNvPr id="7" name="Oval 6"/>
            <p:cNvSpPr/>
            <p:nvPr/>
          </p:nvSpPr>
          <p:spPr>
            <a:xfrm>
              <a:off x="6248400" y="1981200"/>
              <a:ext cx="7620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9" name="TextBox 8"/>
            <p:cNvSpPr txBox="1"/>
            <p:nvPr/>
          </p:nvSpPr>
          <p:spPr>
            <a:xfrm>
              <a:off x="6248400" y="2190690"/>
              <a:ext cx="803425" cy="400110"/>
            </a:xfrm>
            <a:prstGeom prst="rect">
              <a:avLst/>
            </a:prstGeom>
            <a:noFill/>
          </p:spPr>
          <p:txBody>
            <a:bodyPr wrap="none" rtlCol="0">
              <a:spAutoFit/>
            </a:bodyPr>
            <a:lstStyle/>
            <a:p>
              <a:pPr algn="ctr"/>
              <a:r>
                <a:rPr lang="en-US" sz="1000" dirty="0" smtClean="0">
                  <a:solidFill>
                    <a:schemeClr val="bg1"/>
                  </a:solidFill>
                </a:rPr>
                <a:t>Operational</a:t>
              </a:r>
            </a:p>
            <a:p>
              <a:pPr algn="ctr"/>
              <a:r>
                <a:rPr lang="en-US" sz="1000" dirty="0" smtClean="0">
                  <a:solidFill>
                    <a:schemeClr val="bg1"/>
                  </a:solidFill>
                </a:rPr>
                <a:t>Sate</a:t>
              </a:r>
              <a:endParaRPr lang="en-US" sz="1000" dirty="0">
                <a:solidFill>
                  <a:schemeClr val="bg1"/>
                </a:solidFill>
              </a:endParaRPr>
            </a:p>
          </p:txBody>
        </p:sp>
      </p:grpSp>
      <p:sp>
        <p:nvSpPr>
          <p:cNvPr id="11" name="Oval 10"/>
          <p:cNvSpPr/>
          <p:nvPr/>
        </p:nvSpPr>
        <p:spPr>
          <a:xfrm>
            <a:off x="6772500" y="1733550"/>
            <a:ext cx="7620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2" name="TextBox 11"/>
          <p:cNvSpPr txBox="1"/>
          <p:nvPr/>
        </p:nvSpPr>
        <p:spPr>
          <a:xfrm>
            <a:off x="6936807" y="1943040"/>
            <a:ext cx="474810" cy="400110"/>
          </a:xfrm>
          <a:prstGeom prst="rect">
            <a:avLst/>
          </a:prstGeom>
          <a:noFill/>
        </p:spPr>
        <p:txBody>
          <a:bodyPr wrap="none" rtlCol="0">
            <a:spAutoFit/>
          </a:bodyPr>
          <a:lstStyle/>
          <a:p>
            <a:pPr algn="ctr"/>
            <a:r>
              <a:rPr lang="en-US" sz="1000" dirty="0" smtClean="0">
                <a:solidFill>
                  <a:schemeClr val="bg1"/>
                </a:solidFill>
              </a:rPr>
              <a:t>Initial</a:t>
            </a:r>
          </a:p>
          <a:p>
            <a:pPr algn="ctr"/>
            <a:r>
              <a:rPr lang="en-US" sz="1000" dirty="0" smtClean="0">
                <a:solidFill>
                  <a:schemeClr val="bg1"/>
                </a:solidFill>
              </a:rPr>
              <a:t>Sate</a:t>
            </a:r>
            <a:endParaRPr lang="en-US" sz="1000" dirty="0">
              <a:solidFill>
                <a:schemeClr val="bg1"/>
              </a:solidFill>
            </a:endParaRPr>
          </a:p>
        </p:txBody>
      </p:sp>
      <p:grpSp>
        <p:nvGrpSpPr>
          <p:cNvPr id="20" name="Group 19"/>
          <p:cNvGrpSpPr/>
          <p:nvPr/>
        </p:nvGrpSpPr>
        <p:grpSpPr>
          <a:xfrm>
            <a:off x="5781900" y="2571750"/>
            <a:ext cx="762000" cy="762000"/>
            <a:chOff x="5410200" y="2895600"/>
            <a:chExt cx="762000" cy="762000"/>
          </a:xfrm>
        </p:grpSpPr>
        <p:sp>
          <p:nvSpPr>
            <p:cNvPr id="13" name="Oval 12"/>
            <p:cNvSpPr/>
            <p:nvPr/>
          </p:nvSpPr>
          <p:spPr>
            <a:xfrm>
              <a:off x="5410200" y="2895600"/>
              <a:ext cx="7620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4" name="TextBox 13"/>
            <p:cNvSpPr txBox="1"/>
            <p:nvPr/>
          </p:nvSpPr>
          <p:spPr>
            <a:xfrm>
              <a:off x="5572125" y="3086040"/>
              <a:ext cx="421910" cy="400110"/>
            </a:xfrm>
            <a:prstGeom prst="rect">
              <a:avLst/>
            </a:prstGeom>
            <a:noFill/>
          </p:spPr>
          <p:txBody>
            <a:bodyPr wrap="none" rtlCol="0">
              <a:spAutoFit/>
            </a:bodyPr>
            <a:lstStyle/>
            <a:p>
              <a:pPr algn="ctr"/>
              <a:r>
                <a:rPr lang="en-US" sz="1000" dirty="0" smtClean="0">
                  <a:solidFill>
                    <a:schemeClr val="bg1"/>
                  </a:solidFill>
                </a:rPr>
                <a:t>Goal</a:t>
              </a:r>
            </a:p>
            <a:p>
              <a:pPr algn="ctr"/>
              <a:r>
                <a:rPr lang="en-US" sz="1000" dirty="0" smtClean="0">
                  <a:solidFill>
                    <a:schemeClr val="bg1"/>
                  </a:solidFill>
                </a:rPr>
                <a:t>Sate</a:t>
              </a:r>
              <a:endParaRPr lang="en-US" sz="1000" dirty="0">
                <a:solidFill>
                  <a:schemeClr val="bg1"/>
                </a:solidFill>
              </a:endParaRPr>
            </a:p>
          </p:txBody>
        </p:sp>
      </p:grpSp>
      <p:cxnSp>
        <p:nvCxnSpPr>
          <p:cNvPr id="16" name="Shape 15"/>
          <p:cNvCxnSpPr>
            <a:stCxn id="11" idx="6"/>
            <a:endCxn id="7" idx="0"/>
          </p:cNvCxnSpPr>
          <p:nvPr/>
        </p:nvCxnSpPr>
        <p:spPr>
          <a:xfrm>
            <a:off x="7534500" y="2114550"/>
            <a:ext cx="606275" cy="457200"/>
          </a:xfrm>
          <a:prstGeom prst="curvedConnector2">
            <a:avLst/>
          </a:prstGeom>
          <a:ln w="127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8" name="Curved Connector 17"/>
          <p:cNvCxnSpPr>
            <a:stCxn id="7" idx="4"/>
            <a:endCxn id="13" idx="4"/>
          </p:cNvCxnSpPr>
          <p:nvPr/>
        </p:nvCxnSpPr>
        <p:spPr>
          <a:xfrm rot="5400000">
            <a:off x="7151838" y="2344813"/>
            <a:ext cx="12700" cy="1977875"/>
          </a:xfrm>
          <a:prstGeom prst="curvedConnector3">
            <a:avLst>
              <a:gd name="adj1" fmla="val 2850001"/>
            </a:avLst>
          </a:prstGeom>
          <a:ln w="127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572600" y="1809750"/>
            <a:ext cx="1257075" cy="400110"/>
          </a:xfrm>
          <a:prstGeom prst="rect">
            <a:avLst/>
          </a:prstGeom>
          <a:noFill/>
        </p:spPr>
        <p:txBody>
          <a:bodyPr wrap="none" rtlCol="0">
            <a:spAutoFit/>
          </a:bodyPr>
          <a:lstStyle/>
          <a:p>
            <a:r>
              <a:rPr lang="en-US" sz="1000" dirty="0" smtClean="0"/>
              <a:t>Problem Interpreted</a:t>
            </a:r>
          </a:p>
          <a:p>
            <a:r>
              <a:rPr lang="en-US" sz="1000" dirty="0" smtClean="0"/>
              <a:t> and Formulated</a:t>
            </a:r>
            <a:endParaRPr lang="en-US" sz="1000" dirty="0"/>
          </a:p>
        </p:txBody>
      </p:sp>
      <p:sp>
        <p:nvSpPr>
          <p:cNvPr id="19" name="TextBox 18"/>
          <p:cNvSpPr txBox="1"/>
          <p:nvPr/>
        </p:nvSpPr>
        <p:spPr>
          <a:xfrm>
            <a:off x="6429600" y="3181350"/>
            <a:ext cx="1463862" cy="400110"/>
          </a:xfrm>
          <a:prstGeom prst="rect">
            <a:avLst/>
          </a:prstGeom>
          <a:noFill/>
        </p:spPr>
        <p:txBody>
          <a:bodyPr wrap="none" rtlCol="0">
            <a:spAutoFit/>
          </a:bodyPr>
          <a:lstStyle/>
          <a:p>
            <a:r>
              <a:rPr lang="en-US" sz="1000" dirty="0" smtClean="0"/>
              <a:t>Solution Identified, </a:t>
            </a:r>
          </a:p>
          <a:p>
            <a:r>
              <a:rPr lang="en-US" sz="1000" dirty="0" smtClean="0"/>
              <a:t>evaluated, and validated</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Engineering Problem Solving – Initial State</a:t>
            </a:r>
            <a:endParaRPr lang="en-US" dirty="0"/>
          </a:p>
        </p:txBody>
      </p:sp>
      <p:sp>
        <p:nvSpPr>
          <p:cNvPr id="3" name="Content Placeholder 2"/>
          <p:cNvSpPr>
            <a:spLocks noGrp="1"/>
          </p:cNvSpPr>
          <p:nvPr>
            <p:ph idx="1"/>
          </p:nvPr>
        </p:nvSpPr>
        <p:spPr>
          <a:xfrm>
            <a:off x="457200" y="1371601"/>
            <a:ext cx="8229600" cy="5181599"/>
          </a:xfrm>
        </p:spPr>
        <p:txBody>
          <a:bodyPr>
            <a:normAutofit fontScale="92500" lnSpcReduction="10000"/>
          </a:bodyPr>
          <a:lstStyle/>
          <a:p>
            <a:pPr algn="just"/>
            <a:r>
              <a:rPr lang="en-US" dirty="0" smtClean="0"/>
              <a:t>Moving from state-to-state (i.e., </a:t>
            </a:r>
            <a:r>
              <a:rPr lang="en-US" dirty="0" err="1" smtClean="0"/>
              <a:t>initial</a:t>
            </a:r>
            <a:r>
              <a:rPr lang="en-US" dirty="0" err="1" smtClean="0">
                <a:sym typeface="Wingdings" pitchFamily="2" charset="2"/>
              </a:rPr>
              <a:t></a:t>
            </a:r>
            <a:r>
              <a:rPr lang="en-US" dirty="0" err="1" smtClean="0"/>
              <a:t>operational</a:t>
            </a:r>
            <a:r>
              <a:rPr lang="en-US" dirty="0" err="1" smtClean="0">
                <a:sym typeface="Wingdings" pitchFamily="2" charset="2"/>
              </a:rPr>
              <a:t>goal</a:t>
            </a:r>
            <a:r>
              <a:rPr lang="en-US" dirty="0" smtClean="0">
                <a:sym typeface="Wingdings" pitchFamily="2" charset="2"/>
              </a:rPr>
              <a:t>) is not as simple as it sounds.  </a:t>
            </a:r>
            <a:r>
              <a:rPr lang="en-US" dirty="0" smtClean="0"/>
              <a:t>During the Initial State of problem solving, it becomes evident that not all problems are the same; they vary in size, complexity, and the amount of time required to reach the goal state.  Problems can be classified as:</a:t>
            </a:r>
          </a:p>
          <a:p>
            <a:pPr lvl="1"/>
            <a:r>
              <a:rPr lang="en-US" dirty="0" smtClean="0"/>
              <a:t>Well-defined</a:t>
            </a:r>
          </a:p>
          <a:p>
            <a:pPr lvl="1"/>
            <a:r>
              <a:rPr lang="en-US" dirty="0" smtClean="0"/>
              <a:t>Ill-defined</a:t>
            </a:r>
          </a:p>
          <a:p>
            <a:pPr lvl="1"/>
            <a:r>
              <a:rPr lang="en-US" dirty="0" smtClean="0"/>
              <a:t>Wicked Problem</a:t>
            </a:r>
          </a:p>
          <a:p>
            <a:pPr lvl="1"/>
            <a:endParaRPr lang="en-US" dirty="0" smtClean="0"/>
          </a:p>
          <a:p>
            <a:r>
              <a:rPr lang="en-US" i="1" dirty="0" smtClean="0"/>
              <a:t>Well-defined</a:t>
            </a:r>
            <a:r>
              <a:rPr lang="en-US" dirty="0" smtClean="0"/>
              <a:t> problems have clear defined goals and their constraints are well understood.</a:t>
            </a:r>
          </a:p>
          <a:p>
            <a:pPr lvl="1"/>
            <a:r>
              <a:rPr lang="en-US" dirty="0" smtClean="0"/>
              <a:t>This makes scoping the problem, proposing a solution, and arriving at a the solution easier than with other types of problems. </a:t>
            </a:r>
          </a:p>
          <a:p>
            <a:pPr lvl="1">
              <a:buNone/>
            </a:pPr>
            <a:endParaRPr lang="en-US" dirty="0" smtClean="0"/>
          </a:p>
          <a:p>
            <a:r>
              <a:rPr lang="en-US" i="1" dirty="0" smtClean="0"/>
              <a:t>Ill-defined</a:t>
            </a:r>
            <a:r>
              <a:rPr lang="en-US" dirty="0" smtClean="0"/>
              <a:t> problems are ambiguous with undefined goals.</a:t>
            </a:r>
          </a:p>
          <a:p>
            <a:pPr lvl="1"/>
            <a:r>
              <a:rPr lang="en-US" dirty="0" smtClean="0"/>
              <a:t>They require more time and effort to clarify and interpret the problem</a:t>
            </a:r>
          </a:p>
          <a:p>
            <a:pPr lvl="1"/>
            <a:r>
              <a:rPr lang="en-US" dirty="0" smtClean="0"/>
              <a:t>Sometimes, these problems can be transformed into well-defined problems.</a:t>
            </a:r>
          </a:p>
          <a:p>
            <a:pPr lvl="1"/>
            <a:r>
              <a:rPr lang="en-US" dirty="0" smtClean="0"/>
              <a:t>Once formulated, we can move on to propose and arrive at a solution.</a:t>
            </a:r>
          </a:p>
          <a:p>
            <a:pPr lvl="1">
              <a:buNone/>
            </a:pPr>
            <a:endParaRPr lang="en-US" dirty="0" smtClean="0"/>
          </a:p>
          <a:p>
            <a:pPr lvl="1"/>
            <a:endParaRPr lang="en-US" dirty="0" smtClean="0"/>
          </a:p>
          <a:p>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Engineering Problem Solving – Initial State</a:t>
            </a:r>
            <a:endParaRPr lang="en-US" dirty="0"/>
          </a:p>
        </p:txBody>
      </p:sp>
      <p:sp>
        <p:nvSpPr>
          <p:cNvPr id="3" name="Content Placeholder 2"/>
          <p:cNvSpPr>
            <a:spLocks noGrp="1"/>
          </p:cNvSpPr>
          <p:nvPr>
            <p:ph idx="1"/>
          </p:nvPr>
        </p:nvSpPr>
        <p:spPr>
          <a:xfrm>
            <a:off x="457200" y="1371601"/>
            <a:ext cx="8229600" cy="5105399"/>
          </a:xfrm>
        </p:spPr>
        <p:txBody>
          <a:bodyPr>
            <a:normAutofit fontScale="92500" lnSpcReduction="10000"/>
          </a:bodyPr>
          <a:lstStyle/>
          <a:p>
            <a:r>
              <a:rPr lang="en-US" i="1" dirty="0" smtClean="0"/>
              <a:t>Wicked-problems</a:t>
            </a:r>
            <a:r>
              <a:rPr lang="en-US" dirty="0" smtClean="0"/>
              <a:t> are problems where no single formulation exists.</a:t>
            </a:r>
          </a:p>
          <a:p>
            <a:pPr lvl="1"/>
            <a:r>
              <a:rPr lang="en-US" dirty="0" smtClean="0"/>
              <a:t>Many acceptable formulations can take place with no definite solution</a:t>
            </a:r>
          </a:p>
          <a:p>
            <a:pPr lvl="1"/>
            <a:r>
              <a:rPr lang="en-US" dirty="0" smtClean="0"/>
              <a:t>Solutions are not deemed correct or incorrect, but good or bad</a:t>
            </a:r>
          </a:p>
          <a:p>
            <a:pPr lvl="1"/>
            <a:r>
              <a:rPr lang="en-US" dirty="0" smtClean="0"/>
              <a:t>They require more time and effort to propose and arrive at “some” solution</a:t>
            </a:r>
          </a:p>
          <a:p>
            <a:pPr lvl="1"/>
            <a:r>
              <a:rPr lang="en-US" dirty="0" smtClean="0"/>
              <a:t>The problem is formulated after it has been solved!</a:t>
            </a:r>
          </a:p>
          <a:p>
            <a:endParaRPr lang="en-US" dirty="0" smtClean="0"/>
          </a:p>
          <a:p>
            <a:r>
              <a:rPr lang="en-US" dirty="0" smtClean="0"/>
              <a:t>Example of wicked problems include:</a:t>
            </a:r>
          </a:p>
          <a:p>
            <a:pPr lvl="1"/>
            <a:r>
              <a:rPr lang="en-US" dirty="0" smtClean="0"/>
              <a:t>Healthcare</a:t>
            </a:r>
          </a:p>
          <a:p>
            <a:pPr lvl="1"/>
            <a:r>
              <a:rPr lang="en-US" dirty="0" smtClean="0"/>
              <a:t>Global climate change</a:t>
            </a:r>
          </a:p>
          <a:p>
            <a:pPr lvl="1"/>
            <a:r>
              <a:rPr lang="en-US" dirty="0" smtClean="0"/>
              <a:t>Border security</a:t>
            </a:r>
          </a:p>
          <a:p>
            <a:pPr lvl="1"/>
            <a:r>
              <a:rPr lang="en-US" dirty="0" smtClean="0"/>
              <a:t>Design, more to the point, software design</a:t>
            </a:r>
          </a:p>
          <a:p>
            <a:pPr lvl="2"/>
            <a:r>
              <a:rPr lang="en-US" dirty="0" smtClean="0"/>
              <a:t>Design a secure system</a:t>
            </a:r>
          </a:p>
          <a:p>
            <a:pPr lvl="2"/>
            <a:r>
              <a:rPr lang="en-US" dirty="0" smtClean="0"/>
              <a:t>Design a usable system</a:t>
            </a:r>
          </a:p>
          <a:p>
            <a:pPr lvl="2"/>
            <a:r>
              <a:rPr lang="en-US" dirty="0" smtClean="0"/>
              <a:t>Design a maintainable system</a:t>
            </a:r>
          </a:p>
          <a:p>
            <a:pPr lvl="2">
              <a:buNone/>
            </a:pPr>
            <a:endParaRPr lang="en-US" dirty="0" smtClean="0"/>
          </a:p>
          <a:p>
            <a:r>
              <a:rPr lang="en-US" dirty="0" smtClean="0"/>
              <a:t>Design is a wicked problem, and during the design process, many well-defined, ill-defined, and wicked sub-problems are encountered!</a:t>
            </a:r>
          </a:p>
          <a:p>
            <a:pPr lvl="2">
              <a:buNone/>
            </a:pPr>
            <a:endParaRPr lang="en-US" dirty="0" smtClean="0"/>
          </a:p>
          <a:p>
            <a:pPr lvl="1"/>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grpSp>
        <p:nvGrpSpPr>
          <p:cNvPr id="69" name="Group 68"/>
          <p:cNvGrpSpPr/>
          <p:nvPr/>
        </p:nvGrpSpPr>
        <p:grpSpPr>
          <a:xfrm>
            <a:off x="5181600" y="3276600"/>
            <a:ext cx="3581400" cy="2133600"/>
            <a:chOff x="5181600" y="3276600"/>
            <a:chExt cx="3581400" cy="2133600"/>
          </a:xfrm>
        </p:grpSpPr>
        <p:sp>
          <p:nvSpPr>
            <p:cNvPr id="8" name="Oval 7"/>
            <p:cNvSpPr/>
            <p:nvPr/>
          </p:nvSpPr>
          <p:spPr>
            <a:xfrm>
              <a:off x="5181600" y="3429000"/>
              <a:ext cx="35814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p:cNvGrpSpPr/>
            <p:nvPr/>
          </p:nvGrpSpPr>
          <p:grpSpPr>
            <a:xfrm>
              <a:off x="5257800" y="3505200"/>
              <a:ext cx="609600" cy="457200"/>
              <a:chOff x="5410200" y="3200400"/>
              <a:chExt cx="609600" cy="457200"/>
            </a:xfrm>
          </p:grpSpPr>
          <p:sp>
            <p:nvSpPr>
              <p:cNvPr id="10" name="Oval 9"/>
              <p:cNvSpPr/>
              <p:nvPr/>
            </p:nvSpPr>
            <p:spPr>
              <a:xfrm>
                <a:off x="5410200" y="3200400"/>
                <a:ext cx="609600" cy="457200"/>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429250" y="3219450"/>
                <a:ext cx="582211" cy="400110"/>
              </a:xfrm>
              <a:prstGeom prst="rect">
                <a:avLst/>
              </a:prstGeom>
              <a:noFill/>
            </p:spPr>
            <p:txBody>
              <a:bodyPr wrap="none" rtlCol="0">
                <a:spAutoFit/>
              </a:bodyPr>
              <a:lstStyle/>
              <a:p>
                <a:pPr algn="ctr"/>
                <a:r>
                  <a:rPr lang="en-US" sz="1000" dirty="0" smtClean="0"/>
                  <a:t>Well-</a:t>
                </a:r>
              </a:p>
              <a:p>
                <a:pPr algn="ctr"/>
                <a:r>
                  <a:rPr lang="en-US" sz="1000" dirty="0" smtClean="0"/>
                  <a:t>defined</a:t>
                </a:r>
                <a:endParaRPr lang="en-US" sz="1000" dirty="0"/>
              </a:p>
            </p:txBody>
          </p:sp>
        </p:grpSp>
        <p:grpSp>
          <p:nvGrpSpPr>
            <p:cNvPr id="14" name="Group 13"/>
            <p:cNvGrpSpPr/>
            <p:nvPr/>
          </p:nvGrpSpPr>
          <p:grpSpPr>
            <a:xfrm>
              <a:off x="5791200" y="3429000"/>
              <a:ext cx="609600" cy="457200"/>
              <a:chOff x="5410200" y="3200400"/>
              <a:chExt cx="609600" cy="457200"/>
            </a:xfrm>
          </p:grpSpPr>
          <p:sp>
            <p:nvSpPr>
              <p:cNvPr id="15" name="Oval 14"/>
              <p:cNvSpPr/>
              <p:nvPr/>
            </p:nvSpPr>
            <p:spPr>
              <a:xfrm>
                <a:off x="5410200" y="3200400"/>
                <a:ext cx="609600" cy="457200"/>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5429250" y="3219450"/>
                <a:ext cx="582211" cy="400110"/>
              </a:xfrm>
              <a:prstGeom prst="rect">
                <a:avLst/>
              </a:prstGeom>
              <a:noFill/>
            </p:spPr>
            <p:txBody>
              <a:bodyPr wrap="none" rtlCol="0">
                <a:spAutoFit/>
              </a:bodyPr>
              <a:lstStyle/>
              <a:p>
                <a:pPr algn="ctr"/>
                <a:r>
                  <a:rPr lang="en-US" sz="1000" dirty="0" smtClean="0"/>
                  <a:t>Well-</a:t>
                </a:r>
              </a:p>
              <a:p>
                <a:pPr algn="ctr"/>
                <a:r>
                  <a:rPr lang="en-US" sz="1000" dirty="0" smtClean="0"/>
                  <a:t>defined</a:t>
                </a:r>
                <a:endParaRPr lang="en-US" sz="1000" dirty="0"/>
              </a:p>
            </p:txBody>
          </p:sp>
        </p:grpSp>
        <p:grpSp>
          <p:nvGrpSpPr>
            <p:cNvPr id="20" name="Group 19"/>
            <p:cNvGrpSpPr/>
            <p:nvPr/>
          </p:nvGrpSpPr>
          <p:grpSpPr>
            <a:xfrm>
              <a:off x="7315200" y="3429000"/>
              <a:ext cx="609600" cy="457200"/>
              <a:chOff x="5410200" y="3200400"/>
              <a:chExt cx="609600" cy="457200"/>
            </a:xfrm>
          </p:grpSpPr>
          <p:sp>
            <p:nvSpPr>
              <p:cNvPr id="21" name="Oval 20"/>
              <p:cNvSpPr/>
              <p:nvPr/>
            </p:nvSpPr>
            <p:spPr>
              <a:xfrm>
                <a:off x="5410200" y="3200400"/>
                <a:ext cx="609600" cy="457200"/>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5429250" y="3219450"/>
                <a:ext cx="582211" cy="400110"/>
              </a:xfrm>
              <a:prstGeom prst="rect">
                <a:avLst/>
              </a:prstGeom>
              <a:noFill/>
            </p:spPr>
            <p:txBody>
              <a:bodyPr wrap="none" rtlCol="0">
                <a:spAutoFit/>
              </a:bodyPr>
              <a:lstStyle/>
              <a:p>
                <a:pPr algn="ctr"/>
                <a:r>
                  <a:rPr lang="en-US" sz="1000" dirty="0" smtClean="0"/>
                  <a:t>Well-</a:t>
                </a:r>
              </a:p>
              <a:p>
                <a:pPr algn="ctr"/>
                <a:r>
                  <a:rPr lang="en-US" sz="1000" dirty="0" smtClean="0"/>
                  <a:t>defined</a:t>
                </a:r>
                <a:endParaRPr lang="en-US" sz="1000" dirty="0"/>
              </a:p>
            </p:txBody>
          </p:sp>
        </p:grpSp>
        <p:grpSp>
          <p:nvGrpSpPr>
            <p:cNvPr id="23" name="Group 22"/>
            <p:cNvGrpSpPr/>
            <p:nvPr/>
          </p:nvGrpSpPr>
          <p:grpSpPr>
            <a:xfrm>
              <a:off x="8153400" y="3429000"/>
              <a:ext cx="609600" cy="457200"/>
              <a:chOff x="5410200" y="3200400"/>
              <a:chExt cx="609600" cy="457200"/>
            </a:xfrm>
          </p:grpSpPr>
          <p:sp>
            <p:nvSpPr>
              <p:cNvPr id="24" name="Oval 23"/>
              <p:cNvSpPr/>
              <p:nvPr/>
            </p:nvSpPr>
            <p:spPr>
              <a:xfrm>
                <a:off x="5410200" y="3200400"/>
                <a:ext cx="609600" cy="457200"/>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5429250" y="3219450"/>
                <a:ext cx="582211" cy="400110"/>
              </a:xfrm>
              <a:prstGeom prst="rect">
                <a:avLst/>
              </a:prstGeom>
              <a:noFill/>
            </p:spPr>
            <p:txBody>
              <a:bodyPr wrap="none" rtlCol="0">
                <a:spAutoFit/>
              </a:bodyPr>
              <a:lstStyle/>
              <a:p>
                <a:pPr algn="ctr"/>
                <a:r>
                  <a:rPr lang="en-US" sz="1000" dirty="0" smtClean="0"/>
                  <a:t>Well-</a:t>
                </a:r>
              </a:p>
              <a:p>
                <a:pPr algn="ctr"/>
                <a:r>
                  <a:rPr lang="en-US" sz="1000" dirty="0" smtClean="0"/>
                  <a:t>defined</a:t>
                </a:r>
                <a:endParaRPr lang="en-US" sz="1000" dirty="0"/>
              </a:p>
            </p:txBody>
          </p:sp>
        </p:grpSp>
        <p:grpSp>
          <p:nvGrpSpPr>
            <p:cNvPr id="26" name="Group 25"/>
            <p:cNvGrpSpPr/>
            <p:nvPr/>
          </p:nvGrpSpPr>
          <p:grpSpPr>
            <a:xfrm>
              <a:off x="6248400" y="3429000"/>
              <a:ext cx="609600" cy="457200"/>
              <a:chOff x="5410200" y="3200400"/>
              <a:chExt cx="609600" cy="457200"/>
            </a:xfrm>
          </p:grpSpPr>
          <p:sp>
            <p:nvSpPr>
              <p:cNvPr id="27" name="Oval 26"/>
              <p:cNvSpPr/>
              <p:nvPr/>
            </p:nvSpPr>
            <p:spPr>
              <a:xfrm>
                <a:off x="5410200" y="3200400"/>
                <a:ext cx="609600" cy="457200"/>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5429250" y="3219450"/>
                <a:ext cx="582211" cy="400110"/>
              </a:xfrm>
              <a:prstGeom prst="rect">
                <a:avLst/>
              </a:prstGeom>
              <a:noFill/>
            </p:spPr>
            <p:txBody>
              <a:bodyPr wrap="none" rtlCol="0">
                <a:spAutoFit/>
              </a:bodyPr>
              <a:lstStyle/>
              <a:p>
                <a:pPr algn="ctr"/>
                <a:r>
                  <a:rPr lang="en-US" sz="1000" dirty="0" smtClean="0"/>
                  <a:t>Well-</a:t>
                </a:r>
              </a:p>
              <a:p>
                <a:pPr algn="ctr"/>
                <a:r>
                  <a:rPr lang="en-US" sz="1000" dirty="0" smtClean="0"/>
                  <a:t>defined</a:t>
                </a:r>
                <a:endParaRPr lang="en-US" sz="1000" dirty="0"/>
              </a:p>
            </p:txBody>
          </p:sp>
        </p:grpSp>
        <p:grpSp>
          <p:nvGrpSpPr>
            <p:cNvPr id="29" name="Group 28"/>
            <p:cNvGrpSpPr/>
            <p:nvPr/>
          </p:nvGrpSpPr>
          <p:grpSpPr>
            <a:xfrm>
              <a:off x="6553200" y="3657600"/>
              <a:ext cx="609600" cy="457200"/>
              <a:chOff x="5410200" y="3200400"/>
              <a:chExt cx="609600" cy="457200"/>
            </a:xfrm>
          </p:grpSpPr>
          <p:sp>
            <p:nvSpPr>
              <p:cNvPr id="30" name="Oval 29"/>
              <p:cNvSpPr/>
              <p:nvPr/>
            </p:nvSpPr>
            <p:spPr>
              <a:xfrm>
                <a:off x="5410200" y="3200400"/>
                <a:ext cx="609600" cy="457200"/>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5429250" y="3219450"/>
                <a:ext cx="582211" cy="400110"/>
              </a:xfrm>
              <a:prstGeom prst="rect">
                <a:avLst/>
              </a:prstGeom>
              <a:noFill/>
            </p:spPr>
            <p:txBody>
              <a:bodyPr wrap="none" rtlCol="0">
                <a:spAutoFit/>
              </a:bodyPr>
              <a:lstStyle/>
              <a:p>
                <a:pPr algn="ctr"/>
                <a:r>
                  <a:rPr lang="en-US" sz="1000" dirty="0" smtClean="0"/>
                  <a:t>Well-</a:t>
                </a:r>
              </a:p>
              <a:p>
                <a:pPr algn="ctr"/>
                <a:r>
                  <a:rPr lang="en-US" sz="1000" dirty="0" smtClean="0"/>
                  <a:t>defined</a:t>
                </a:r>
                <a:endParaRPr lang="en-US" sz="1000" dirty="0"/>
              </a:p>
            </p:txBody>
          </p:sp>
        </p:grpSp>
        <p:grpSp>
          <p:nvGrpSpPr>
            <p:cNvPr id="57" name="Group 56"/>
            <p:cNvGrpSpPr/>
            <p:nvPr/>
          </p:nvGrpSpPr>
          <p:grpSpPr>
            <a:xfrm>
              <a:off x="6096000" y="3581400"/>
              <a:ext cx="609600" cy="457200"/>
              <a:chOff x="8839200" y="3048000"/>
              <a:chExt cx="609600" cy="457200"/>
            </a:xfrm>
          </p:grpSpPr>
          <p:sp>
            <p:nvSpPr>
              <p:cNvPr id="42" name="Oval 41"/>
              <p:cNvSpPr/>
              <p:nvPr/>
            </p:nvSpPr>
            <p:spPr>
              <a:xfrm>
                <a:off x="8839200" y="3048000"/>
                <a:ext cx="609600" cy="457200"/>
              </a:xfrm>
              <a:prstGeom prst="ellipse">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8858250" y="3076515"/>
                <a:ext cx="582211" cy="400110"/>
              </a:xfrm>
              <a:prstGeom prst="rect">
                <a:avLst/>
              </a:prstGeom>
              <a:noFill/>
            </p:spPr>
            <p:txBody>
              <a:bodyPr wrap="none" rtlCol="0">
                <a:spAutoFit/>
              </a:bodyPr>
              <a:lstStyle/>
              <a:p>
                <a:pPr algn="ctr"/>
                <a:r>
                  <a:rPr lang="en-US" sz="1000" dirty="0" smtClean="0"/>
                  <a:t>Ill-</a:t>
                </a:r>
              </a:p>
              <a:p>
                <a:pPr algn="ctr"/>
                <a:r>
                  <a:rPr lang="en-US" sz="1000" dirty="0" smtClean="0"/>
                  <a:t>defined</a:t>
                </a:r>
                <a:endParaRPr lang="en-US" sz="1000" dirty="0"/>
              </a:p>
            </p:txBody>
          </p:sp>
        </p:grpSp>
        <p:grpSp>
          <p:nvGrpSpPr>
            <p:cNvPr id="47" name="Group 46"/>
            <p:cNvGrpSpPr/>
            <p:nvPr/>
          </p:nvGrpSpPr>
          <p:grpSpPr>
            <a:xfrm>
              <a:off x="5638800" y="3581400"/>
              <a:ext cx="609600" cy="457200"/>
              <a:chOff x="8001000" y="3810000"/>
              <a:chExt cx="609600" cy="457200"/>
            </a:xfrm>
          </p:grpSpPr>
          <p:sp>
            <p:nvSpPr>
              <p:cNvPr id="45" name="Oval 44"/>
              <p:cNvSpPr/>
              <p:nvPr/>
            </p:nvSpPr>
            <p:spPr>
              <a:xfrm>
                <a:off x="8001000" y="3810000"/>
                <a:ext cx="609600" cy="457200"/>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8025661" y="3916204"/>
                <a:ext cx="570989" cy="246221"/>
              </a:xfrm>
              <a:prstGeom prst="rect">
                <a:avLst/>
              </a:prstGeom>
              <a:noFill/>
            </p:spPr>
            <p:txBody>
              <a:bodyPr wrap="none" rtlCol="0">
                <a:spAutoFit/>
              </a:bodyPr>
              <a:lstStyle/>
              <a:p>
                <a:pPr algn="ctr"/>
                <a:r>
                  <a:rPr lang="en-US" sz="1000" dirty="0" smtClean="0"/>
                  <a:t>Wicked</a:t>
                </a:r>
              </a:p>
            </p:txBody>
          </p:sp>
        </p:grpSp>
        <p:grpSp>
          <p:nvGrpSpPr>
            <p:cNvPr id="48" name="Group 47"/>
            <p:cNvGrpSpPr/>
            <p:nvPr/>
          </p:nvGrpSpPr>
          <p:grpSpPr>
            <a:xfrm>
              <a:off x="6934200" y="3962400"/>
              <a:ext cx="609600" cy="457200"/>
              <a:chOff x="8001000" y="3810000"/>
              <a:chExt cx="609600" cy="457200"/>
            </a:xfrm>
          </p:grpSpPr>
          <p:sp>
            <p:nvSpPr>
              <p:cNvPr id="49" name="Oval 48"/>
              <p:cNvSpPr/>
              <p:nvPr/>
            </p:nvSpPr>
            <p:spPr>
              <a:xfrm>
                <a:off x="8001000" y="3810000"/>
                <a:ext cx="609600" cy="457200"/>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p:cNvSpPr txBox="1"/>
              <p:nvPr/>
            </p:nvSpPr>
            <p:spPr>
              <a:xfrm>
                <a:off x="8025661" y="3916204"/>
                <a:ext cx="570989" cy="246221"/>
              </a:xfrm>
              <a:prstGeom prst="rect">
                <a:avLst/>
              </a:prstGeom>
              <a:noFill/>
            </p:spPr>
            <p:txBody>
              <a:bodyPr wrap="none" rtlCol="0">
                <a:spAutoFit/>
              </a:bodyPr>
              <a:lstStyle/>
              <a:p>
                <a:pPr algn="ctr"/>
                <a:r>
                  <a:rPr lang="en-US" sz="1000" dirty="0" smtClean="0"/>
                  <a:t>Wicked</a:t>
                </a:r>
              </a:p>
            </p:txBody>
          </p:sp>
        </p:grpSp>
        <p:grpSp>
          <p:nvGrpSpPr>
            <p:cNvPr id="51" name="Group 50"/>
            <p:cNvGrpSpPr/>
            <p:nvPr/>
          </p:nvGrpSpPr>
          <p:grpSpPr>
            <a:xfrm>
              <a:off x="7620000" y="3276600"/>
              <a:ext cx="609600" cy="457200"/>
              <a:chOff x="8001000" y="3810000"/>
              <a:chExt cx="609600" cy="457200"/>
            </a:xfrm>
          </p:grpSpPr>
          <p:sp>
            <p:nvSpPr>
              <p:cNvPr id="52" name="Oval 51"/>
              <p:cNvSpPr/>
              <p:nvPr/>
            </p:nvSpPr>
            <p:spPr>
              <a:xfrm>
                <a:off x="8001000" y="3810000"/>
                <a:ext cx="609600" cy="457200"/>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p:nvPr/>
            </p:nvSpPr>
            <p:spPr>
              <a:xfrm>
                <a:off x="8025661" y="3916204"/>
                <a:ext cx="570989" cy="246221"/>
              </a:xfrm>
              <a:prstGeom prst="rect">
                <a:avLst/>
              </a:prstGeom>
              <a:noFill/>
            </p:spPr>
            <p:txBody>
              <a:bodyPr wrap="none" rtlCol="0">
                <a:spAutoFit/>
              </a:bodyPr>
              <a:lstStyle/>
              <a:p>
                <a:pPr algn="ctr"/>
                <a:r>
                  <a:rPr lang="en-US" sz="1000" dirty="0" smtClean="0"/>
                  <a:t>Wicked</a:t>
                </a:r>
              </a:p>
            </p:txBody>
          </p:sp>
        </p:grpSp>
        <p:grpSp>
          <p:nvGrpSpPr>
            <p:cNvPr id="54" name="Group 53"/>
            <p:cNvGrpSpPr/>
            <p:nvPr/>
          </p:nvGrpSpPr>
          <p:grpSpPr>
            <a:xfrm>
              <a:off x="6705600" y="3276600"/>
              <a:ext cx="609600" cy="457200"/>
              <a:chOff x="8001000" y="3810000"/>
              <a:chExt cx="609600" cy="457200"/>
            </a:xfrm>
          </p:grpSpPr>
          <p:sp>
            <p:nvSpPr>
              <p:cNvPr id="55" name="Oval 54"/>
              <p:cNvSpPr/>
              <p:nvPr/>
            </p:nvSpPr>
            <p:spPr>
              <a:xfrm>
                <a:off x="8001000" y="3810000"/>
                <a:ext cx="609600" cy="457200"/>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p:cNvSpPr txBox="1"/>
              <p:nvPr/>
            </p:nvSpPr>
            <p:spPr>
              <a:xfrm>
                <a:off x="8025661" y="3916204"/>
                <a:ext cx="570989" cy="246221"/>
              </a:xfrm>
              <a:prstGeom prst="rect">
                <a:avLst/>
              </a:prstGeom>
              <a:noFill/>
            </p:spPr>
            <p:txBody>
              <a:bodyPr wrap="none" rtlCol="0">
                <a:spAutoFit/>
              </a:bodyPr>
              <a:lstStyle/>
              <a:p>
                <a:pPr algn="ctr"/>
                <a:r>
                  <a:rPr lang="en-US" sz="1000" dirty="0" smtClean="0"/>
                  <a:t>Wicked</a:t>
                </a:r>
              </a:p>
            </p:txBody>
          </p:sp>
        </p:grpSp>
        <p:grpSp>
          <p:nvGrpSpPr>
            <p:cNvPr id="58" name="Group 57"/>
            <p:cNvGrpSpPr/>
            <p:nvPr/>
          </p:nvGrpSpPr>
          <p:grpSpPr>
            <a:xfrm>
              <a:off x="7315200" y="3657600"/>
              <a:ext cx="609600" cy="457200"/>
              <a:chOff x="8839200" y="3048000"/>
              <a:chExt cx="609600" cy="457200"/>
            </a:xfrm>
          </p:grpSpPr>
          <p:sp>
            <p:nvSpPr>
              <p:cNvPr id="59" name="Oval 58"/>
              <p:cNvSpPr/>
              <p:nvPr/>
            </p:nvSpPr>
            <p:spPr>
              <a:xfrm>
                <a:off x="8839200" y="3048000"/>
                <a:ext cx="609600" cy="457200"/>
              </a:xfrm>
              <a:prstGeom prst="ellipse">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p:cNvSpPr txBox="1"/>
              <p:nvPr/>
            </p:nvSpPr>
            <p:spPr>
              <a:xfrm>
                <a:off x="8858250" y="3076515"/>
                <a:ext cx="582211" cy="400110"/>
              </a:xfrm>
              <a:prstGeom prst="rect">
                <a:avLst/>
              </a:prstGeom>
              <a:noFill/>
            </p:spPr>
            <p:txBody>
              <a:bodyPr wrap="none" rtlCol="0">
                <a:spAutoFit/>
              </a:bodyPr>
              <a:lstStyle/>
              <a:p>
                <a:pPr algn="ctr"/>
                <a:r>
                  <a:rPr lang="en-US" sz="1000" dirty="0" smtClean="0"/>
                  <a:t>Ill-</a:t>
                </a:r>
              </a:p>
              <a:p>
                <a:pPr algn="ctr"/>
                <a:r>
                  <a:rPr lang="en-US" sz="1000" dirty="0" smtClean="0"/>
                  <a:t>defined</a:t>
                </a:r>
                <a:endParaRPr lang="en-US" sz="1000" dirty="0"/>
              </a:p>
            </p:txBody>
          </p:sp>
        </p:grpSp>
        <p:grpSp>
          <p:nvGrpSpPr>
            <p:cNvPr id="61" name="Group 60"/>
            <p:cNvGrpSpPr/>
            <p:nvPr/>
          </p:nvGrpSpPr>
          <p:grpSpPr>
            <a:xfrm>
              <a:off x="7772400" y="3581400"/>
              <a:ext cx="609600" cy="457200"/>
              <a:chOff x="8839200" y="3048000"/>
              <a:chExt cx="609600" cy="457200"/>
            </a:xfrm>
          </p:grpSpPr>
          <p:sp>
            <p:nvSpPr>
              <p:cNvPr id="62" name="Oval 61"/>
              <p:cNvSpPr/>
              <p:nvPr/>
            </p:nvSpPr>
            <p:spPr>
              <a:xfrm>
                <a:off x="8839200" y="3048000"/>
                <a:ext cx="609600" cy="457200"/>
              </a:xfrm>
              <a:prstGeom prst="ellipse">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8858250" y="3076515"/>
                <a:ext cx="582211" cy="400110"/>
              </a:xfrm>
              <a:prstGeom prst="rect">
                <a:avLst/>
              </a:prstGeom>
              <a:noFill/>
            </p:spPr>
            <p:txBody>
              <a:bodyPr wrap="none" rtlCol="0">
                <a:spAutoFit/>
              </a:bodyPr>
              <a:lstStyle/>
              <a:p>
                <a:pPr algn="ctr"/>
                <a:r>
                  <a:rPr lang="en-US" sz="1000" dirty="0" smtClean="0"/>
                  <a:t>Ill-</a:t>
                </a:r>
              </a:p>
              <a:p>
                <a:pPr algn="ctr"/>
                <a:r>
                  <a:rPr lang="en-US" sz="1000" dirty="0" smtClean="0"/>
                  <a:t>defined</a:t>
                </a:r>
                <a:endParaRPr lang="en-US" sz="1000" dirty="0"/>
              </a:p>
            </p:txBody>
          </p:sp>
        </p:grpSp>
        <p:grpSp>
          <p:nvGrpSpPr>
            <p:cNvPr id="64" name="Group 63"/>
            <p:cNvGrpSpPr/>
            <p:nvPr/>
          </p:nvGrpSpPr>
          <p:grpSpPr>
            <a:xfrm>
              <a:off x="6858000" y="3505200"/>
              <a:ext cx="609600" cy="457200"/>
              <a:chOff x="8839200" y="3048000"/>
              <a:chExt cx="609600" cy="457200"/>
            </a:xfrm>
          </p:grpSpPr>
          <p:sp>
            <p:nvSpPr>
              <p:cNvPr id="65" name="Oval 64"/>
              <p:cNvSpPr/>
              <p:nvPr/>
            </p:nvSpPr>
            <p:spPr>
              <a:xfrm>
                <a:off x="8839200" y="3048000"/>
                <a:ext cx="609600" cy="457200"/>
              </a:xfrm>
              <a:prstGeom prst="ellipse">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p:cNvSpPr txBox="1"/>
              <p:nvPr/>
            </p:nvSpPr>
            <p:spPr>
              <a:xfrm>
                <a:off x="8858250" y="3076515"/>
                <a:ext cx="582211" cy="400110"/>
              </a:xfrm>
              <a:prstGeom prst="rect">
                <a:avLst/>
              </a:prstGeom>
              <a:noFill/>
            </p:spPr>
            <p:txBody>
              <a:bodyPr wrap="none" rtlCol="0">
                <a:spAutoFit/>
              </a:bodyPr>
              <a:lstStyle/>
              <a:p>
                <a:pPr algn="ctr"/>
                <a:r>
                  <a:rPr lang="en-US" sz="1000" dirty="0" smtClean="0"/>
                  <a:t>Ill-</a:t>
                </a:r>
              </a:p>
              <a:p>
                <a:pPr algn="ctr"/>
                <a:r>
                  <a:rPr lang="en-US" sz="1000" dirty="0" smtClean="0"/>
                  <a:t>defined</a:t>
                </a:r>
                <a:endParaRPr lang="en-US" sz="1000" dirty="0"/>
              </a:p>
            </p:txBody>
          </p:sp>
        </p:grpSp>
        <p:grpSp>
          <p:nvGrpSpPr>
            <p:cNvPr id="17" name="Group 16"/>
            <p:cNvGrpSpPr/>
            <p:nvPr/>
          </p:nvGrpSpPr>
          <p:grpSpPr>
            <a:xfrm>
              <a:off x="5562600" y="3810000"/>
              <a:ext cx="609600" cy="457200"/>
              <a:chOff x="5410200" y="3200400"/>
              <a:chExt cx="609600" cy="457200"/>
            </a:xfrm>
          </p:grpSpPr>
          <p:sp>
            <p:nvSpPr>
              <p:cNvPr id="18" name="Oval 17"/>
              <p:cNvSpPr/>
              <p:nvPr/>
            </p:nvSpPr>
            <p:spPr>
              <a:xfrm>
                <a:off x="5410200" y="3200400"/>
                <a:ext cx="609600" cy="457200"/>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5429250" y="3219450"/>
                <a:ext cx="582211" cy="400110"/>
              </a:xfrm>
              <a:prstGeom prst="rect">
                <a:avLst/>
              </a:prstGeom>
              <a:noFill/>
            </p:spPr>
            <p:txBody>
              <a:bodyPr wrap="none" rtlCol="0">
                <a:spAutoFit/>
              </a:bodyPr>
              <a:lstStyle/>
              <a:p>
                <a:pPr algn="ctr"/>
                <a:r>
                  <a:rPr lang="en-US" sz="1000" dirty="0" smtClean="0"/>
                  <a:t>Well-</a:t>
                </a:r>
              </a:p>
              <a:p>
                <a:pPr algn="ctr"/>
                <a:r>
                  <a:rPr lang="en-US" sz="1000" dirty="0" smtClean="0"/>
                  <a:t>defined</a:t>
                </a:r>
                <a:endParaRPr lang="en-US" sz="1000" dirty="0"/>
              </a:p>
            </p:txBody>
          </p:sp>
        </p:grpSp>
        <p:sp>
          <p:nvSpPr>
            <p:cNvPr id="7" name="Moon 6"/>
            <p:cNvSpPr/>
            <p:nvPr/>
          </p:nvSpPr>
          <p:spPr>
            <a:xfrm rot="16200000">
              <a:off x="6172200" y="2819400"/>
              <a:ext cx="1600200" cy="3581400"/>
            </a:xfrm>
            <a:prstGeom prst="moon">
              <a:avLst>
                <a:gd name="adj" fmla="val 87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6200775" y="4114800"/>
              <a:ext cx="1560042" cy="646331"/>
            </a:xfrm>
            <a:prstGeom prst="rect">
              <a:avLst/>
            </a:prstGeom>
            <a:noFill/>
          </p:spPr>
          <p:txBody>
            <a:bodyPr wrap="none" rtlCol="0">
              <a:spAutoFit/>
            </a:bodyPr>
            <a:lstStyle/>
            <a:p>
              <a:r>
                <a:rPr lang="en-US" sz="3600" dirty="0" smtClean="0">
                  <a:solidFill>
                    <a:schemeClr val="bg1"/>
                  </a:solidFill>
                  <a:latin typeface="Berlin Sans FB Demi" pitchFamily="34" charset="0"/>
                </a:rPr>
                <a:t>Design</a:t>
              </a:r>
              <a:endParaRPr lang="en-US" sz="3600" dirty="0">
                <a:solidFill>
                  <a:schemeClr val="bg1"/>
                </a:solidFill>
                <a:latin typeface="Berlin Sans FB Demi" pitchFamily="34" charset="0"/>
              </a:endParaRPr>
            </a:p>
          </p:txBody>
        </p:sp>
        <p:sp>
          <p:nvSpPr>
            <p:cNvPr id="68" name="TextBox 67"/>
            <p:cNvSpPr txBox="1"/>
            <p:nvPr/>
          </p:nvSpPr>
          <p:spPr>
            <a:xfrm>
              <a:off x="6353175" y="4691390"/>
              <a:ext cx="1244251" cy="261610"/>
            </a:xfrm>
            <a:prstGeom prst="rect">
              <a:avLst/>
            </a:prstGeom>
            <a:noFill/>
          </p:spPr>
          <p:txBody>
            <a:bodyPr wrap="none" rtlCol="0">
              <a:spAutoFit/>
            </a:bodyPr>
            <a:lstStyle/>
            <a:p>
              <a:r>
                <a:rPr lang="en-US" sz="1100" dirty="0" smtClean="0">
                  <a:solidFill>
                    <a:schemeClr val="bg1"/>
                  </a:solidFill>
                </a:rPr>
                <a:t>“Wicked Problem”</a:t>
              </a:r>
              <a:endParaRPr lang="en-US" sz="1100" dirty="0">
                <a:solidFill>
                  <a:schemeClr val="bg1"/>
                </a:solidFill>
              </a:endParaRP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Engineering Problem Solving – Initial State</a:t>
            </a:r>
            <a:endParaRPr lang="en-US" dirty="0"/>
          </a:p>
        </p:txBody>
      </p:sp>
      <p:sp>
        <p:nvSpPr>
          <p:cNvPr id="3" name="Content Placeholder 2"/>
          <p:cNvSpPr>
            <a:spLocks noGrp="1"/>
          </p:cNvSpPr>
          <p:nvPr>
            <p:ph idx="1"/>
          </p:nvPr>
        </p:nvSpPr>
        <p:spPr>
          <a:xfrm>
            <a:off x="457200" y="1371601"/>
            <a:ext cx="8229600" cy="5105399"/>
          </a:xfrm>
        </p:spPr>
        <p:txBody>
          <a:bodyPr>
            <a:normAutofit fontScale="85000" lnSpcReduction="10000"/>
          </a:bodyPr>
          <a:lstStyle/>
          <a:p>
            <a:r>
              <a:rPr lang="en-US" dirty="0" smtClean="0"/>
              <a:t>Let’s use a bird’s eye view and tackle </a:t>
            </a:r>
            <a:r>
              <a:rPr lang="en-US" i="1" dirty="0" smtClean="0"/>
              <a:t>Design</a:t>
            </a:r>
            <a:r>
              <a:rPr lang="en-US" dirty="0" smtClean="0"/>
              <a:t> as a problem.  During the </a:t>
            </a:r>
            <a:r>
              <a:rPr lang="en-US" i="1" dirty="0" smtClean="0"/>
              <a:t>Initial State</a:t>
            </a:r>
            <a:r>
              <a:rPr lang="en-US" dirty="0" smtClean="0"/>
              <a:t>, we classify it as a </a:t>
            </a:r>
            <a:r>
              <a:rPr lang="en-US" i="1" dirty="0" smtClean="0"/>
              <a:t>Wicked Problem</a:t>
            </a:r>
            <a:r>
              <a:rPr lang="en-US" dirty="0" smtClean="0"/>
              <a:t>.  Why does this make sense?  </a:t>
            </a:r>
          </a:p>
          <a:p>
            <a:pPr lvl="1"/>
            <a:r>
              <a:rPr lang="en-US" dirty="0" smtClean="0"/>
              <a:t>Consider the following task: </a:t>
            </a:r>
            <a:r>
              <a:rPr lang="en-US" i="1" dirty="0" smtClean="0"/>
              <a:t>Develop a secure software system.</a:t>
            </a:r>
          </a:p>
          <a:p>
            <a:pPr lvl="2"/>
            <a:r>
              <a:rPr lang="en-US" dirty="0" smtClean="0"/>
              <a:t>What is the goal? </a:t>
            </a:r>
          </a:p>
          <a:p>
            <a:pPr lvl="3"/>
            <a:r>
              <a:rPr lang="en-US" i="1" dirty="0" smtClean="0"/>
              <a:t>That’s easy, to design and develop a secure system!</a:t>
            </a:r>
          </a:p>
          <a:p>
            <a:pPr lvl="2"/>
            <a:r>
              <a:rPr lang="en-US" dirty="0" smtClean="0"/>
              <a:t>What is the problem? More specifically, can we formulate this problem in a way that can be solved?  </a:t>
            </a:r>
          </a:p>
          <a:p>
            <a:pPr lvl="3"/>
            <a:r>
              <a:rPr lang="en-US" dirty="0" smtClean="0"/>
              <a:t>Stop and think about this!</a:t>
            </a:r>
          </a:p>
          <a:p>
            <a:pPr lvl="1"/>
            <a:r>
              <a:rPr lang="en-US" dirty="0" smtClean="0"/>
              <a:t>Consider the following task: </a:t>
            </a:r>
            <a:r>
              <a:rPr lang="en-US" i="1" dirty="0" smtClean="0"/>
              <a:t>Develop a usable system</a:t>
            </a:r>
            <a:r>
              <a:rPr lang="en-US" dirty="0" smtClean="0"/>
              <a:t>.</a:t>
            </a:r>
          </a:p>
          <a:p>
            <a:pPr lvl="2"/>
            <a:r>
              <a:rPr lang="en-US" dirty="0" smtClean="0"/>
              <a:t>What is the goal? </a:t>
            </a:r>
          </a:p>
          <a:p>
            <a:pPr lvl="3"/>
            <a:r>
              <a:rPr lang="en-US" i="1" dirty="0" smtClean="0"/>
              <a:t>Easy again, to design and develop an “easy to use” system.</a:t>
            </a:r>
          </a:p>
          <a:p>
            <a:pPr lvl="2"/>
            <a:r>
              <a:rPr lang="en-US" dirty="0" smtClean="0"/>
              <a:t>Can we formulate this problem in a way that can be solved?  </a:t>
            </a:r>
          </a:p>
          <a:p>
            <a:pPr lvl="3"/>
            <a:r>
              <a:rPr lang="en-US" i="1" dirty="0" smtClean="0"/>
              <a:t>We can certainly try, but you will find that most of the time, the problem can only be formulated after many iterations between customer and designer and only after an acceptable solution has been found!</a:t>
            </a:r>
          </a:p>
          <a:p>
            <a:pPr lvl="2"/>
            <a:endParaRPr lang="en-US" i="1" dirty="0" smtClean="0"/>
          </a:p>
          <a:p>
            <a:r>
              <a:rPr lang="en-US" dirty="0" smtClean="0"/>
              <a:t>Designers spend a great deal of time formulating acceptable versions of these wicked problems!  That is,  acceptable to stakeholders, including customers, managers, etc.</a:t>
            </a:r>
          </a:p>
          <a:p>
            <a:pPr lvl="1"/>
            <a:r>
              <a:rPr lang="en-US" dirty="0" smtClean="0"/>
              <a:t>For example, an attempt to problem formulation for developing a secure software system may include creating an authentication (e.g., username and password) mechanism.  Although this may be an acceptable problem formulation for the project’s stakeholders, it clearly does not solve the security problem!</a:t>
            </a:r>
          </a:p>
          <a:p>
            <a:pPr lvl="2"/>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Engineering Problem Solving – Operational State</a:t>
            </a:r>
            <a:endParaRPr lang="en-US" dirty="0"/>
          </a:p>
        </p:txBody>
      </p:sp>
      <p:sp>
        <p:nvSpPr>
          <p:cNvPr id="3" name="Content Placeholder 2"/>
          <p:cNvSpPr>
            <a:spLocks noGrp="1"/>
          </p:cNvSpPr>
          <p:nvPr>
            <p:ph idx="1"/>
          </p:nvPr>
        </p:nvSpPr>
        <p:spPr>
          <a:xfrm>
            <a:off x="457200" y="1371601"/>
            <a:ext cx="8229600" cy="5029199"/>
          </a:xfrm>
        </p:spPr>
        <p:txBody>
          <a:bodyPr>
            <a:normAutofit fontScale="92500" lnSpcReduction="20000"/>
          </a:bodyPr>
          <a:lstStyle/>
          <a:p>
            <a:r>
              <a:rPr lang="en-US" dirty="0" smtClean="0"/>
              <a:t>During the Operational State of problem solving, it becomes evident that not all problems can be tackled the same way.  Different techniques for problem-solving can be employed, including:</a:t>
            </a:r>
          </a:p>
          <a:p>
            <a:pPr lvl="1"/>
            <a:r>
              <a:rPr lang="en-US" dirty="0" smtClean="0"/>
              <a:t>Divide and conquer</a:t>
            </a:r>
          </a:p>
          <a:p>
            <a:pPr lvl="1"/>
            <a:r>
              <a:rPr lang="en-US" dirty="0" smtClean="0"/>
              <a:t>Reusing solutions, e.g., patterns.</a:t>
            </a:r>
          </a:p>
          <a:p>
            <a:endParaRPr lang="en-US" dirty="0" smtClean="0"/>
          </a:p>
          <a:p>
            <a:r>
              <a:rPr lang="en-US" dirty="0" smtClean="0"/>
              <a:t>Many times, problem-solving requires a “think outside the box” mentality.  What exactly does this mean?</a:t>
            </a:r>
          </a:p>
          <a:p>
            <a:pPr lvl="1"/>
            <a:r>
              <a:rPr lang="en-US" dirty="0" smtClean="0"/>
              <a:t>In a nutshell, it means that we need to think in ways that deviate from conventional wisdom.</a:t>
            </a:r>
          </a:p>
          <a:p>
            <a:endParaRPr lang="en-US" dirty="0" smtClean="0"/>
          </a:p>
          <a:p>
            <a:r>
              <a:rPr lang="en-US" dirty="0" smtClean="0"/>
              <a:t>For example, try solving the popular nine-dot puzzle problem using the figure to the right and the following requirements:</a:t>
            </a:r>
          </a:p>
          <a:p>
            <a:pPr lvl="1"/>
            <a:r>
              <a:rPr lang="en-US" dirty="0" smtClean="0"/>
              <a:t>Draw four straight lines to connect all dots.</a:t>
            </a:r>
          </a:p>
          <a:p>
            <a:pPr lvl="1"/>
            <a:r>
              <a:rPr lang="en-US" dirty="0" smtClean="0"/>
              <a:t>The pencil cannot be lifted from the paper once the                                               line-drawing process begins.</a:t>
            </a:r>
          </a:p>
          <a:p>
            <a:pPr lvl="1"/>
            <a:r>
              <a:rPr lang="en-US" dirty="0" smtClean="0"/>
              <a:t>No lines can be retraced.</a:t>
            </a:r>
          </a:p>
          <a:p>
            <a:pPr lvl="1"/>
            <a:r>
              <a:rPr lang="en-US" dirty="0" smtClean="0">
                <a:solidFill>
                  <a:srgbClr val="FF0000"/>
                </a:solidFill>
              </a:rPr>
              <a:t>A line must pass through every dot.</a:t>
            </a:r>
            <a:endParaRPr lang="en-US" dirty="0">
              <a:solidFill>
                <a:srgbClr val="FF0000"/>
              </a:solidFill>
            </a:endParaRPr>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pic>
        <p:nvPicPr>
          <p:cNvPr id="55299" name="Picture 3"/>
          <p:cNvPicPr>
            <a:picLocks noChangeAspect="1" noChangeArrowheads="1"/>
          </p:cNvPicPr>
          <p:nvPr/>
        </p:nvPicPr>
        <p:blipFill>
          <a:blip r:embed="rId2" cstate="print"/>
          <a:srcRect/>
          <a:stretch>
            <a:fillRect/>
          </a:stretch>
        </p:blipFill>
        <p:spPr bwMode="auto">
          <a:xfrm>
            <a:off x="7162800" y="4800600"/>
            <a:ext cx="1038225" cy="8858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Engineering Problem Solving – Operational State</a:t>
            </a:r>
            <a:endParaRPr lang="en-US" dirty="0"/>
          </a:p>
        </p:txBody>
      </p:sp>
      <p:sp>
        <p:nvSpPr>
          <p:cNvPr id="3" name="Content Placeholder 2"/>
          <p:cNvSpPr>
            <a:spLocks noGrp="1"/>
          </p:cNvSpPr>
          <p:nvPr>
            <p:ph idx="1"/>
          </p:nvPr>
        </p:nvSpPr>
        <p:spPr>
          <a:xfrm>
            <a:off x="457200" y="1371601"/>
            <a:ext cx="8229600" cy="5181599"/>
          </a:xfrm>
        </p:spPr>
        <p:txBody>
          <a:bodyPr>
            <a:normAutofit/>
          </a:bodyPr>
          <a:lstStyle/>
          <a:p>
            <a:r>
              <a:rPr lang="en-US" dirty="0" smtClean="0"/>
              <a:t>During the Operational State of problem solving, it is natural to perceive and approach problems in certain ways, based on our current knowledge.</a:t>
            </a:r>
          </a:p>
          <a:p>
            <a:pPr lvl="1"/>
            <a:r>
              <a:rPr lang="en-US" dirty="0" smtClean="0"/>
              <a:t>For example, the nine-dot problem resembles a square, therefore it is hard for some people to operate outside of the assumption that lines should begin and end on a dot.</a:t>
            </a:r>
          </a:p>
          <a:p>
            <a:pPr lvl="1"/>
            <a:r>
              <a:rPr lang="en-US" dirty="0" smtClean="0"/>
              <a:t>This </a:t>
            </a:r>
            <a:r>
              <a:rPr lang="en-US" i="1" dirty="0" smtClean="0"/>
              <a:t>functional fixedness </a:t>
            </a:r>
            <a:r>
              <a:rPr lang="en-US" dirty="0" smtClean="0"/>
              <a:t>limits the ability to find solutions based on objects having a different function from their usual ones.</a:t>
            </a:r>
          </a:p>
          <a:p>
            <a:pPr lvl="1"/>
            <a:endParaRPr lang="en-US" dirty="0" smtClean="0"/>
          </a:p>
          <a:p>
            <a:endParaRPr lang="en-US" dirty="0" smtClean="0"/>
          </a:p>
          <a:p>
            <a:endParaRPr lang="en-US" dirty="0" smtClean="0"/>
          </a:p>
          <a:p>
            <a:r>
              <a:rPr lang="en-US" dirty="0" smtClean="0"/>
              <a:t>To increase the chance of overcoming </a:t>
            </a:r>
            <a:r>
              <a:rPr lang="en-US" i="1" dirty="0" smtClean="0"/>
              <a:t>functional fixedness</a:t>
            </a:r>
            <a:r>
              <a:rPr lang="en-US" dirty="0" smtClean="0"/>
              <a:t>, problems need to be attempted several times and considered from many different </a:t>
            </a:r>
            <a:r>
              <a:rPr lang="en-US" i="1" dirty="0" smtClean="0"/>
              <a:t>viewpoints</a:t>
            </a:r>
            <a:r>
              <a:rPr lang="en-US" dirty="0" smtClean="0"/>
              <a:t> and unusual angles.</a:t>
            </a:r>
          </a:p>
          <a:p>
            <a:pPr lvl="1"/>
            <a:r>
              <a:rPr lang="en-US" dirty="0" smtClean="0"/>
              <a:t>Don’t forget about this… this advice will come in handy during the software architecture activity!</a:t>
            </a:r>
          </a:p>
          <a:p>
            <a:pPr lvl="1"/>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7" name="Picture 3"/>
          <p:cNvPicPr>
            <a:picLocks noChangeAspect="1" noChangeArrowheads="1"/>
          </p:cNvPicPr>
          <p:nvPr/>
        </p:nvPicPr>
        <p:blipFill>
          <a:blip r:embed="rId2" cstate="print"/>
          <a:srcRect/>
          <a:stretch>
            <a:fillRect/>
          </a:stretch>
        </p:blipFill>
        <p:spPr bwMode="auto">
          <a:xfrm>
            <a:off x="7181850" y="3371850"/>
            <a:ext cx="1038225" cy="885825"/>
          </a:xfrm>
          <a:prstGeom prst="rect">
            <a:avLst/>
          </a:prstGeom>
          <a:noFill/>
          <a:ln w="9525">
            <a:noFill/>
            <a:miter lim="800000"/>
            <a:headEnd/>
            <a:tailEnd/>
          </a:ln>
        </p:spPr>
      </p:pic>
      <p:grpSp>
        <p:nvGrpSpPr>
          <p:cNvPr id="8" name="Group 7"/>
          <p:cNvGrpSpPr/>
          <p:nvPr/>
        </p:nvGrpSpPr>
        <p:grpSpPr>
          <a:xfrm>
            <a:off x="7315200" y="3495675"/>
            <a:ext cx="1143000" cy="1000125"/>
            <a:chOff x="8439150" y="2257425"/>
            <a:chExt cx="1143000" cy="1000125"/>
          </a:xfrm>
        </p:grpSpPr>
        <p:cxnSp>
          <p:nvCxnSpPr>
            <p:cNvPr id="9" name="Straight Connector 8"/>
            <p:cNvCxnSpPr/>
            <p:nvPr/>
          </p:nvCxnSpPr>
          <p:spPr>
            <a:xfrm flipH="1" flipV="1">
              <a:off x="8439150" y="2266950"/>
              <a:ext cx="914400" cy="76200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439150" y="2266950"/>
              <a:ext cx="0" cy="99060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8439150" y="2257425"/>
              <a:ext cx="1143000" cy="99060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439150" y="2266950"/>
              <a:ext cx="1143000"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Engineering Problem Solving – Operational State</a:t>
            </a:r>
            <a:endParaRPr lang="en-US" dirty="0"/>
          </a:p>
        </p:txBody>
      </p:sp>
      <p:sp>
        <p:nvSpPr>
          <p:cNvPr id="3" name="Content Placeholder 2"/>
          <p:cNvSpPr>
            <a:spLocks noGrp="1"/>
          </p:cNvSpPr>
          <p:nvPr>
            <p:ph idx="1"/>
          </p:nvPr>
        </p:nvSpPr>
        <p:spPr/>
        <p:txBody>
          <a:bodyPr/>
          <a:lstStyle/>
          <a:p>
            <a:r>
              <a:rPr lang="en-US" dirty="0" smtClean="0"/>
              <a:t>During the Operational State of problem solving, different types of thinking takes place.</a:t>
            </a:r>
          </a:p>
          <a:p>
            <a:pPr lvl="1"/>
            <a:r>
              <a:rPr lang="en-US" dirty="0" smtClean="0"/>
              <a:t>Convergent thinking</a:t>
            </a:r>
          </a:p>
          <a:p>
            <a:pPr lvl="1"/>
            <a:r>
              <a:rPr lang="en-US" dirty="0" smtClean="0"/>
              <a:t>Divergent thinking</a:t>
            </a:r>
          </a:p>
          <a:p>
            <a:pPr lvl="1"/>
            <a:endParaRPr lang="en-US" dirty="0" smtClean="0"/>
          </a:p>
          <a:p>
            <a:r>
              <a:rPr lang="en-US" dirty="0" smtClean="0"/>
              <a:t>Convergent thinking</a:t>
            </a:r>
          </a:p>
          <a:p>
            <a:pPr lvl="1"/>
            <a:r>
              <a:rPr lang="en-US" dirty="0" smtClean="0"/>
              <a:t>Type of thinking that seeks to find one single solution to a problem, e.g., a math problem.</a:t>
            </a:r>
          </a:p>
          <a:p>
            <a:pPr lvl="1"/>
            <a:endParaRPr lang="en-US" dirty="0" smtClean="0"/>
          </a:p>
          <a:p>
            <a:r>
              <a:rPr lang="en-US" dirty="0" smtClean="0"/>
              <a:t>Divergent thinking</a:t>
            </a:r>
          </a:p>
          <a:p>
            <a:pPr lvl="1"/>
            <a:r>
              <a:rPr lang="en-US" dirty="0" smtClean="0"/>
              <a:t>Type of thinking that seeks to find multiple solutions to a problem.  </a:t>
            </a:r>
          </a:p>
          <a:p>
            <a:pPr lvl="1"/>
            <a:r>
              <a:rPr lang="en-US" dirty="0" smtClean="0"/>
              <a:t>This type of thinking is associated with originality, inventiveness, and flexibility.</a:t>
            </a:r>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Engineering Problem Solving – Operational State</a:t>
            </a:r>
            <a:endParaRPr lang="en-US" dirty="0"/>
          </a:p>
        </p:txBody>
      </p:sp>
      <p:sp>
        <p:nvSpPr>
          <p:cNvPr id="3" name="Content Placeholder 2"/>
          <p:cNvSpPr>
            <a:spLocks noGrp="1"/>
          </p:cNvSpPr>
          <p:nvPr>
            <p:ph idx="1"/>
          </p:nvPr>
        </p:nvSpPr>
        <p:spPr>
          <a:xfrm>
            <a:off x="457200" y="1371601"/>
            <a:ext cx="8229600" cy="5181599"/>
          </a:xfrm>
        </p:spPr>
        <p:txBody>
          <a:bodyPr>
            <a:normAutofit fontScale="92500" lnSpcReduction="20000"/>
          </a:bodyPr>
          <a:lstStyle/>
          <a:p>
            <a:r>
              <a:rPr lang="en-US" dirty="0" smtClean="0"/>
              <a:t>During the Operational State of problem solving, different problem-solving methods take place.</a:t>
            </a:r>
          </a:p>
          <a:p>
            <a:pPr lvl="1"/>
            <a:r>
              <a:rPr lang="en-US" dirty="0" smtClean="0"/>
              <a:t>Algorithms</a:t>
            </a:r>
          </a:p>
          <a:p>
            <a:pPr lvl="1"/>
            <a:r>
              <a:rPr lang="en-US" dirty="0" smtClean="0"/>
              <a:t>Heuristics</a:t>
            </a:r>
          </a:p>
          <a:p>
            <a:pPr lvl="1"/>
            <a:endParaRPr lang="en-US" dirty="0" smtClean="0"/>
          </a:p>
          <a:p>
            <a:r>
              <a:rPr lang="en-US" dirty="0" smtClean="0"/>
              <a:t>Algorithm</a:t>
            </a:r>
          </a:p>
          <a:p>
            <a:pPr lvl="1"/>
            <a:r>
              <a:rPr lang="en-US" dirty="0" smtClean="0"/>
              <a:t>Step-by-step procedure for finding the correct solution to a given problem.</a:t>
            </a:r>
          </a:p>
          <a:p>
            <a:pPr lvl="1"/>
            <a:r>
              <a:rPr lang="en-US" dirty="0" smtClean="0"/>
              <a:t>Do not normally involve subjective decisions or rely on intuition or creativity to find solutions.</a:t>
            </a:r>
          </a:p>
          <a:p>
            <a:pPr lvl="1"/>
            <a:r>
              <a:rPr lang="en-US" dirty="0" smtClean="0"/>
              <a:t>Examples:</a:t>
            </a:r>
          </a:p>
          <a:p>
            <a:pPr lvl="2"/>
            <a:r>
              <a:rPr lang="en-US" dirty="0" smtClean="0"/>
              <a:t>Bubble sort, Merge sort, etc.</a:t>
            </a:r>
          </a:p>
          <a:p>
            <a:pPr lvl="2"/>
            <a:endParaRPr lang="en-US" dirty="0" smtClean="0"/>
          </a:p>
          <a:p>
            <a:r>
              <a:rPr lang="en-US" dirty="0" smtClean="0"/>
              <a:t>Heuristic</a:t>
            </a:r>
          </a:p>
          <a:p>
            <a:pPr lvl="1"/>
            <a:r>
              <a:rPr lang="en-US" dirty="0" smtClean="0"/>
              <a:t>Rules of thumb (or procedure) that may or may not lead to the solution of a problem.</a:t>
            </a:r>
          </a:p>
          <a:p>
            <a:pPr lvl="1"/>
            <a:r>
              <a:rPr lang="en-US" dirty="0" smtClean="0"/>
              <a:t>In some cases, they can lead to optimal solutions, in others, they can lead to solutions that are far from optimal, or no solution at all!</a:t>
            </a:r>
          </a:p>
          <a:p>
            <a:pPr lvl="1"/>
            <a:r>
              <a:rPr lang="en-US" dirty="0" smtClean="0"/>
              <a:t>Heuristics are advantageous when tackling tough problems where an efficient algorithm may not exist.  </a:t>
            </a:r>
          </a:p>
          <a:p>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ChangeAspect="1" noChangeArrowheads="1"/>
          </p:cNvPicPr>
          <p:nvPr/>
        </p:nvPicPr>
        <p:blipFill>
          <a:blip r:embed="rId2" cstate="print"/>
          <a:srcRect/>
          <a:stretch>
            <a:fillRect/>
          </a:stretch>
        </p:blipFill>
        <p:spPr bwMode="auto">
          <a:xfrm>
            <a:off x="4524375" y="2181225"/>
            <a:ext cx="4133850" cy="261290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Engineering Problem Solving – Holistic Approach</a:t>
            </a:r>
            <a:endParaRPr lang="en-US" dirty="0"/>
          </a:p>
        </p:txBody>
      </p:sp>
      <p:sp>
        <p:nvSpPr>
          <p:cNvPr id="3" name="Content Placeholder 2"/>
          <p:cNvSpPr>
            <a:spLocks noGrp="1"/>
          </p:cNvSpPr>
          <p:nvPr>
            <p:ph idx="1"/>
          </p:nvPr>
        </p:nvSpPr>
        <p:spPr>
          <a:xfrm>
            <a:off x="457200" y="1371601"/>
            <a:ext cx="8229600" cy="5333999"/>
          </a:xfrm>
        </p:spPr>
        <p:txBody>
          <a:bodyPr>
            <a:normAutofit fontScale="92500" lnSpcReduction="10000"/>
          </a:bodyPr>
          <a:lstStyle/>
          <a:p>
            <a:r>
              <a:rPr lang="en-US" dirty="0" smtClean="0"/>
              <a:t>We can use everything discussed so far to come up with a holistic problem-solving framework that can help us tackle problems of any size during the design process.  The framework consists of the following tasks:</a:t>
            </a:r>
          </a:p>
          <a:p>
            <a:pPr lvl="1"/>
            <a:r>
              <a:rPr lang="en-US" dirty="0" smtClean="0"/>
              <a:t>Interpreting the problem</a:t>
            </a:r>
          </a:p>
          <a:p>
            <a:pPr lvl="1"/>
            <a:r>
              <a:rPr lang="en-US" dirty="0" smtClean="0"/>
              <a:t>Evaluating the constraints</a:t>
            </a:r>
          </a:p>
          <a:p>
            <a:pPr lvl="1"/>
            <a:r>
              <a:rPr lang="en-US" dirty="0" smtClean="0"/>
              <a:t>Collaborative brainstorming</a:t>
            </a:r>
          </a:p>
          <a:p>
            <a:pPr lvl="1"/>
            <a:r>
              <a:rPr lang="en-US" dirty="0" smtClean="0"/>
              <a:t>Synthesizing the possibilities</a:t>
            </a:r>
          </a:p>
          <a:p>
            <a:pPr lvl="1"/>
            <a:r>
              <a:rPr lang="en-US" dirty="0" smtClean="0"/>
              <a:t>Evaluating the solution</a:t>
            </a:r>
          </a:p>
          <a:p>
            <a:pPr lvl="1"/>
            <a:r>
              <a:rPr lang="en-US" dirty="0" smtClean="0"/>
              <a:t>Implementing the solution</a:t>
            </a:r>
          </a:p>
          <a:p>
            <a:pPr lvl="1"/>
            <a:endParaRPr lang="en-US" dirty="0" smtClean="0"/>
          </a:p>
          <a:p>
            <a:r>
              <a:rPr lang="en-US" dirty="0" smtClean="0"/>
              <a:t>In addition, we must consider:</a:t>
            </a:r>
          </a:p>
          <a:p>
            <a:pPr lvl="1"/>
            <a:r>
              <a:rPr lang="en-US" dirty="0" smtClean="0"/>
              <a:t>Resources</a:t>
            </a:r>
          </a:p>
          <a:p>
            <a:pPr lvl="2"/>
            <a:r>
              <a:rPr lang="en-US" dirty="0" smtClean="0"/>
              <a:t>Means by which activities are performed, e.g., people, software, hardware.</a:t>
            </a:r>
          </a:p>
          <a:p>
            <a:pPr lvl="1"/>
            <a:r>
              <a:rPr lang="en-US" dirty="0" smtClean="0"/>
              <a:t>Activities</a:t>
            </a:r>
          </a:p>
          <a:p>
            <a:pPr lvl="2"/>
            <a:r>
              <a:rPr lang="en-US" dirty="0" smtClean="0"/>
              <a:t>Internal tasks determined by the development organization that must be followed when solving problems, e.g., architecture, detailed design, status reports, etc..</a:t>
            </a:r>
          </a:p>
          <a:p>
            <a:pPr lvl="1"/>
            <a:r>
              <a:rPr lang="en-US" dirty="0" smtClean="0"/>
              <a:t>Controls</a:t>
            </a:r>
          </a:p>
          <a:p>
            <a:pPr lvl="2"/>
            <a:r>
              <a:rPr lang="en-US" dirty="0" smtClean="0"/>
              <a:t>Internal constraints set by the development organization so that problem solutions aligns well with organizational goals and processes, e.g., processes, permitted tools, etc.</a:t>
            </a:r>
          </a:p>
          <a:p>
            <a:pPr lvl="2"/>
            <a:endParaRPr lang="en-US" dirty="0" smtClean="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Engineering Problem Solving – Holistic Approach</a:t>
            </a:r>
            <a:endParaRPr lang="en-US" dirty="0"/>
          </a:p>
        </p:txBody>
      </p:sp>
      <p:sp>
        <p:nvSpPr>
          <p:cNvPr id="3" name="Content Placeholder 2"/>
          <p:cNvSpPr>
            <a:spLocks noGrp="1"/>
          </p:cNvSpPr>
          <p:nvPr>
            <p:ph idx="1"/>
          </p:nvPr>
        </p:nvSpPr>
        <p:spPr>
          <a:xfrm>
            <a:off x="457200" y="1371601"/>
            <a:ext cx="8229600" cy="5181599"/>
          </a:xfrm>
        </p:spPr>
        <p:txBody>
          <a:bodyPr>
            <a:normAutofit fontScale="92500" lnSpcReduction="20000"/>
          </a:bodyPr>
          <a:lstStyle/>
          <a:p>
            <a:pPr marL="342900" lvl="1" indent="-342900">
              <a:buFont typeface="Wingdings" pitchFamily="2" charset="2"/>
              <a:buChar char="Ø"/>
            </a:pPr>
            <a:r>
              <a:rPr lang="en-US" sz="2100" dirty="0" smtClean="0"/>
              <a:t>Interpreting the problem</a:t>
            </a:r>
          </a:p>
          <a:p>
            <a:pPr lvl="1"/>
            <a:r>
              <a:rPr lang="en-US" dirty="0" smtClean="0"/>
              <a:t>Performed during the Initial State of problem-solving</a:t>
            </a:r>
          </a:p>
          <a:p>
            <a:pPr lvl="1"/>
            <a:r>
              <a:rPr lang="en-US" dirty="0" smtClean="0"/>
              <a:t>Problem classification, e.g., well-defined, ill-defined, wicked.</a:t>
            </a:r>
          </a:p>
          <a:p>
            <a:pPr lvl="1"/>
            <a:endParaRPr lang="en-US" dirty="0" smtClean="0"/>
          </a:p>
          <a:p>
            <a:r>
              <a:rPr lang="en-US" dirty="0" smtClean="0"/>
              <a:t>Evaluate constraints</a:t>
            </a:r>
          </a:p>
          <a:p>
            <a:pPr lvl="1"/>
            <a:r>
              <a:rPr lang="en-US" dirty="0" smtClean="0"/>
              <a:t>Identify external constraints to set bounds on the solution landscape.</a:t>
            </a:r>
          </a:p>
          <a:p>
            <a:pPr lvl="1"/>
            <a:endParaRPr lang="en-US" dirty="0" smtClean="0"/>
          </a:p>
          <a:p>
            <a:r>
              <a:rPr lang="en-US" dirty="0" smtClean="0"/>
              <a:t>Collaborative brainstorming</a:t>
            </a:r>
          </a:p>
          <a:p>
            <a:pPr lvl="1"/>
            <a:r>
              <a:rPr lang="en-US" dirty="0" smtClean="0"/>
              <a:t>Performed during the Operational State of problem-solving.</a:t>
            </a:r>
          </a:p>
          <a:p>
            <a:pPr lvl="1"/>
            <a:r>
              <a:rPr lang="en-US" dirty="0" smtClean="0"/>
              <a:t>Think about different solutions to the problem, i.e., divergent thinking.</a:t>
            </a:r>
          </a:p>
          <a:p>
            <a:pPr lvl="1"/>
            <a:endParaRPr lang="en-US" dirty="0" smtClean="0"/>
          </a:p>
          <a:p>
            <a:r>
              <a:rPr lang="en-US" dirty="0" smtClean="0"/>
              <a:t>Synthesize the possibilities</a:t>
            </a:r>
          </a:p>
          <a:p>
            <a:pPr lvl="1"/>
            <a:r>
              <a:rPr lang="en-US" dirty="0" smtClean="0"/>
              <a:t>Performed during the Operational State of problem-solving.</a:t>
            </a:r>
          </a:p>
          <a:p>
            <a:pPr lvl="1"/>
            <a:r>
              <a:rPr lang="en-US" dirty="0" smtClean="0"/>
              <a:t>Switch to convergent thinking to seek one acceptable solution.</a:t>
            </a:r>
          </a:p>
          <a:p>
            <a:pPr lvl="1"/>
            <a:endParaRPr lang="en-US" dirty="0" smtClean="0"/>
          </a:p>
          <a:p>
            <a:r>
              <a:rPr lang="en-US" dirty="0" smtClean="0"/>
              <a:t>Evaluate solution</a:t>
            </a:r>
          </a:p>
          <a:p>
            <a:pPr lvl="1"/>
            <a:r>
              <a:rPr lang="en-US" dirty="0" smtClean="0"/>
              <a:t>Performed during the Operational State of problem-solving.</a:t>
            </a:r>
          </a:p>
          <a:p>
            <a:pPr lvl="1"/>
            <a:r>
              <a:rPr lang="en-US" dirty="0" smtClean="0"/>
              <a:t>Flaws in the solution may trigger a transition back to the collaborative brainstorming activity.</a:t>
            </a:r>
          </a:p>
          <a:p>
            <a:pPr lvl="2">
              <a:buNone/>
            </a:pPr>
            <a:endParaRPr lang="en-US" dirty="0" smtClean="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of Engineering Design and Problem-Solving</a:t>
            </a:r>
            <a:endParaRPr lang="en-US" dirty="0"/>
          </a:p>
        </p:txBody>
      </p:sp>
      <p:sp>
        <p:nvSpPr>
          <p:cNvPr id="3" name="Content Placeholder 2"/>
          <p:cNvSpPr>
            <a:spLocks noGrp="1"/>
          </p:cNvSpPr>
          <p:nvPr>
            <p:ph idx="1"/>
          </p:nvPr>
        </p:nvSpPr>
        <p:spPr/>
        <p:txBody>
          <a:bodyPr>
            <a:normAutofit lnSpcReduction="10000"/>
          </a:bodyPr>
          <a:lstStyle/>
          <a:p>
            <a:r>
              <a:rPr lang="en-US" dirty="0" smtClean="0"/>
              <a:t>We’ve provided general information about engineering design.  </a:t>
            </a:r>
          </a:p>
          <a:p>
            <a:pPr lvl="1"/>
            <a:r>
              <a:rPr lang="en-US" dirty="0" smtClean="0"/>
              <a:t>Motivation for software engineering design</a:t>
            </a:r>
          </a:p>
          <a:p>
            <a:pPr lvl="1"/>
            <a:r>
              <a:rPr lang="en-US" dirty="0" smtClean="0"/>
              <a:t>General engineering concepts</a:t>
            </a:r>
          </a:p>
          <a:p>
            <a:pPr lvl="1"/>
            <a:r>
              <a:rPr lang="en-US" dirty="0" smtClean="0"/>
              <a:t>General problem-solving concepts</a:t>
            </a:r>
          </a:p>
          <a:p>
            <a:pPr lvl="1">
              <a:buNone/>
            </a:pPr>
            <a:endParaRPr lang="en-US" dirty="0" smtClean="0"/>
          </a:p>
          <a:p>
            <a:r>
              <a:rPr lang="en-US" dirty="0" smtClean="0"/>
              <a:t>In the next session, we will focus our efforts to explain engineering design in the software domain, i.e., software engineering design.  Specifically, we will cover:</a:t>
            </a:r>
          </a:p>
          <a:p>
            <a:pPr lvl="1"/>
            <a:r>
              <a:rPr lang="en-US" dirty="0" smtClean="0"/>
              <a:t>A focused discussion on software engineering design</a:t>
            </a:r>
          </a:p>
          <a:p>
            <a:pPr lvl="1"/>
            <a:r>
              <a:rPr lang="en-US" dirty="0" smtClean="0"/>
              <a:t>Software design challenges</a:t>
            </a:r>
          </a:p>
          <a:p>
            <a:pPr lvl="1"/>
            <a:r>
              <a:rPr lang="en-US" dirty="0" smtClean="0"/>
              <a:t>Software design process	</a:t>
            </a:r>
          </a:p>
          <a:p>
            <a:pPr lvl="2"/>
            <a:r>
              <a:rPr lang="en-US" dirty="0" smtClean="0"/>
              <a:t>Software architecture</a:t>
            </a:r>
          </a:p>
          <a:p>
            <a:pPr lvl="2"/>
            <a:r>
              <a:rPr lang="en-US" dirty="0" smtClean="0"/>
              <a:t>Detailed design</a:t>
            </a:r>
          </a:p>
          <a:p>
            <a:pPr lvl="2"/>
            <a:r>
              <a:rPr lang="en-US" dirty="0" smtClean="0"/>
              <a:t>Construction design</a:t>
            </a:r>
          </a:p>
          <a:p>
            <a:pPr lvl="2"/>
            <a:r>
              <a:rPr lang="en-US" dirty="0" smtClean="0"/>
              <a:t>HCI design</a:t>
            </a:r>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pPr>
              <a:buNone/>
            </a:pPr>
            <a:r>
              <a:rPr lang="en-US" dirty="0" smtClean="0"/>
              <a:t>[</a:t>
            </a:r>
            <a:r>
              <a:rPr lang="en-US" sz="1700" dirty="0" smtClean="0"/>
              <a:t>1] IEEE. “IEEE Standard Glossary of Software Engineering Terminology.” IEEE, 1990. http://ieeexplore.ieee.org/xpl/mostRecentIssue.jsp?punumber=2238, Retrieved on August 23, 2012.</a:t>
            </a:r>
          </a:p>
          <a:p>
            <a:pPr>
              <a:buNone/>
            </a:pPr>
            <a:r>
              <a:rPr lang="en-US" sz="1700" dirty="0" smtClean="0"/>
              <a:t>[2] http://www.merriam-webster.com/dictionary/systematic</a:t>
            </a:r>
          </a:p>
          <a:p>
            <a:pPr>
              <a:buNone/>
            </a:pPr>
            <a:r>
              <a:rPr lang="en-US" sz="1700" dirty="0" smtClean="0"/>
              <a:t>[3] http://news.cnet.com/8301-11128_3-20021346-54.html, Retrieved on August 23, 2012.</a:t>
            </a:r>
          </a:p>
          <a:p>
            <a:pPr>
              <a:buNone/>
            </a:pPr>
            <a:r>
              <a:rPr lang="en-US" sz="1700" dirty="0" smtClean="0"/>
              <a:t>[4] http://www.youtube.com/watch?v=CjjASGV36mw&amp;feature=player_embedded,   Retrieved on August 23, 2012.</a:t>
            </a:r>
          </a:p>
          <a:p>
            <a:pPr>
              <a:buNone/>
            </a:pPr>
            <a:r>
              <a:rPr lang="en-US" sz="1700" dirty="0" smtClean="0"/>
              <a:t>[5] http://www.as.northropgrumman.com/products/nucasx47b/assets/X-47B_Navy_UCAS_FactSheet.pdf, Retrieved on August 23, 2012.</a:t>
            </a:r>
          </a:p>
          <a:p>
            <a:pPr>
              <a:buNone/>
            </a:pPr>
            <a:r>
              <a:rPr lang="en-US" sz="1700" dirty="0" smtClean="0"/>
              <a:t>[6] Dym, Clive L., AND Patrick Little.  Engineering Design: A Project-Based Introduction.  Hoboken, NJ: Wiley, 2008.</a:t>
            </a:r>
          </a:p>
          <a:p>
            <a:endParaRPr lang="en-US" sz="1700" dirty="0" smtClean="0"/>
          </a:p>
          <a:p>
            <a:endParaRPr lang="en-US" dirty="0"/>
          </a:p>
        </p:txBody>
      </p:sp>
      <p:sp>
        <p:nvSpPr>
          <p:cNvPr id="4" name="Date Placeholder 3"/>
          <p:cNvSpPr>
            <a:spLocks noGrp="1"/>
          </p:cNvSpPr>
          <p:nvPr>
            <p:ph type="dt" sz="half" idx="10"/>
          </p:nvPr>
        </p:nvSpPr>
        <p:spPr/>
        <p:txBody>
          <a:bodyPr/>
          <a:lstStyle/>
          <a:p>
            <a:r>
              <a:rPr lang="en-US" smtClean="0"/>
              <a:t>8/24/2012</a:t>
            </a:r>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3376</TotalTime>
  <Words>2672</Words>
  <Application>Microsoft Office PowerPoint</Application>
  <PresentationFormat>On-screen Show (4:3)</PresentationFormat>
  <Paragraphs>359</Paragraphs>
  <Slides>20</Slides>
  <Notes>0</Notes>
  <HiddenSlides>0</HiddenSlides>
  <MMClips>0</MMClips>
  <ScaleCrop>false</ScaleCrop>
  <HeadingPairs>
    <vt:vector size="4" baseType="variant">
      <vt:variant>
        <vt:lpstr>Theme</vt:lpstr>
      </vt:variant>
      <vt:variant>
        <vt:i4>2</vt:i4>
      </vt:variant>
      <vt:variant>
        <vt:lpstr>Slide Titles</vt:lpstr>
      </vt:variant>
      <vt:variant>
        <vt:i4>20</vt:i4>
      </vt:variant>
    </vt:vector>
  </HeadingPairs>
  <TitlesOfParts>
    <vt:vector size="22" baseType="lpstr">
      <vt:lpstr>UVa-Wise-Clean-BW</vt:lpstr>
      <vt:lpstr>Custom Design</vt:lpstr>
      <vt:lpstr>Chapter 1: Introduction to  Software Engineering Design </vt:lpstr>
      <vt:lpstr>Session’s Agenda</vt:lpstr>
      <vt:lpstr>Motivation for Software Engineering Design</vt:lpstr>
      <vt:lpstr>Motivation for Software Engineering Design</vt:lpstr>
      <vt:lpstr>Motivation for software Engineering Design</vt:lpstr>
      <vt:lpstr>Engineering Software</vt:lpstr>
      <vt:lpstr>Engineering Design</vt:lpstr>
      <vt:lpstr>Engineering Problem Solving</vt:lpstr>
      <vt:lpstr>Engineering Problem Solving</vt:lpstr>
      <vt:lpstr>Engineering Problem Solving – Initial State</vt:lpstr>
      <vt:lpstr>Engineering Problem Solving – Initial State</vt:lpstr>
      <vt:lpstr>Engineering Problem Solving – Initial State</vt:lpstr>
      <vt:lpstr>Engineering Problem Solving – Operational State</vt:lpstr>
      <vt:lpstr>Engineering Problem Solving – Operational State</vt:lpstr>
      <vt:lpstr>Engineering Problem Solving – Operational State</vt:lpstr>
      <vt:lpstr>Engineering Problem Solving – Operational State</vt:lpstr>
      <vt:lpstr>Engineering Problem Solving – Holistic Approach</vt:lpstr>
      <vt:lpstr>Engineering Problem Solving – Holistic Approach</vt:lpstr>
      <vt:lpstr>Summary of Engineering Design and Problem-Solving</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and Simulation</dc:title>
  <dc:creator>ceo7k</dc:creator>
  <cp:lastModifiedBy>User</cp:lastModifiedBy>
  <cp:revision>373</cp:revision>
  <dcterms:created xsi:type="dcterms:W3CDTF">2006-08-16T00:00:00Z</dcterms:created>
  <dcterms:modified xsi:type="dcterms:W3CDTF">2019-01-31T01:32:58Z</dcterms:modified>
</cp:coreProperties>
</file>
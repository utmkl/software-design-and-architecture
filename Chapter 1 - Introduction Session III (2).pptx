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78" r:id="rId4"/>
    <p:sldId id="279" r:id="rId5"/>
    <p:sldId id="280" r:id="rId6"/>
    <p:sldId id="290" r:id="rId7"/>
    <p:sldId id="281" r:id="rId8"/>
    <p:sldId id="282" r:id="rId9"/>
    <p:sldId id="283" r:id="rId10"/>
    <p:sldId id="291" r:id="rId11"/>
    <p:sldId id="284" r:id="rId12"/>
    <p:sldId id="285" r:id="rId13"/>
    <p:sldId id="286" r:id="rId14"/>
    <p:sldId id="287" r:id="rId15"/>
    <p:sldId id="288" r:id="rId16"/>
    <p:sldId id="289" r:id="rId17"/>
    <p:sldId id="277" r:id="rId1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B8A79D-98CE-4809-AFD3-66B398C7B6CE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</dgm:pt>
    <dgm:pt modelId="{2488B0C5-3794-4605-AC65-2D6F7540FD73}">
      <dgm:prSet phldrT="[Text]"/>
      <dgm:spPr/>
      <dgm:t>
        <a:bodyPr/>
        <a:lstStyle/>
        <a:p>
          <a:endParaRPr lang="en-US" dirty="0"/>
        </a:p>
      </dgm:t>
    </dgm:pt>
    <dgm:pt modelId="{85FE1369-0BBB-4F51-A324-24A10946C624}" type="parTrans" cxnId="{4887C1FF-903C-4430-A452-189A98216F0B}">
      <dgm:prSet/>
      <dgm:spPr/>
      <dgm:t>
        <a:bodyPr/>
        <a:lstStyle/>
        <a:p>
          <a:endParaRPr lang="en-US"/>
        </a:p>
      </dgm:t>
    </dgm:pt>
    <dgm:pt modelId="{ED833820-C28C-4282-B677-09883296F1E5}" type="sibTrans" cxnId="{4887C1FF-903C-4430-A452-189A98216F0B}">
      <dgm:prSet/>
      <dgm:spPr/>
      <dgm:t>
        <a:bodyPr/>
        <a:lstStyle/>
        <a:p>
          <a:endParaRPr lang="en-US"/>
        </a:p>
      </dgm:t>
    </dgm:pt>
    <dgm:pt modelId="{832D8C91-AAA4-4683-AC5D-B244CC5DDE57}">
      <dgm:prSet phldrT="[Text]"/>
      <dgm:spPr/>
      <dgm:t>
        <a:bodyPr/>
        <a:lstStyle/>
        <a:p>
          <a:endParaRPr lang="en-US" dirty="0"/>
        </a:p>
      </dgm:t>
    </dgm:pt>
    <dgm:pt modelId="{7A8852A8-685E-46CB-A022-A7BDEB0F570B}" type="parTrans" cxnId="{27ED939E-AF2B-4A39-BB6D-6BFEA1DA53C6}">
      <dgm:prSet/>
      <dgm:spPr/>
      <dgm:t>
        <a:bodyPr/>
        <a:lstStyle/>
        <a:p>
          <a:endParaRPr lang="en-US"/>
        </a:p>
      </dgm:t>
    </dgm:pt>
    <dgm:pt modelId="{59D5B5C0-F5F0-496F-ACB3-787C5B5C360E}" type="sibTrans" cxnId="{27ED939E-AF2B-4A39-BB6D-6BFEA1DA53C6}">
      <dgm:prSet/>
      <dgm:spPr/>
      <dgm:t>
        <a:bodyPr/>
        <a:lstStyle/>
        <a:p>
          <a:endParaRPr lang="en-US"/>
        </a:p>
      </dgm:t>
    </dgm:pt>
    <dgm:pt modelId="{88092084-84CA-46CA-98E5-F8236DF9FC71}">
      <dgm:prSet phldrT="[Text]"/>
      <dgm:spPr/>
      <dgm:t>
        <a:bodyPr/>
        <a:lstStyle/>
        <a:p>
          <a:endParaRPr lang="en-US" dirty="0"/>
        </a:p>
      </dgm:t>
    </dgm:pt>
    <dgm:pt modelId="{4F7E8D73-3979-4D91-B7AD-1775FB7269BC}" type="parTrans" cxnId="{EBDA2155-E26B-42D8-94E3-A57F6EC7EFAA}">
      <dgm:prSet/>
      <dgm:spPr/>
      <dgm:t>
        <a:bodyPr/>
        <a:lstStyle/>
        <a:p>
          <a:endParaRPr lang="en-US"/>
        </a:p>
      </dgm:t>
    </dgm:pt>
    <dgm:pt modelId="{8FE88232-70C0-4388-8D51-D1492DCECB44}" type="sibTrans" cxnId="{EBDA2155-E26B-42D8-94E3-A57F6EC7EFAA}">
      <dgm:prSet/>
      <dgm:spPr/>
      <dgm:t>
        <a:bodyPr/>
        <a:lstStyle/>
        <a:p>
          <a:endParaRPr lang="en-US"/>
        </a:p>
      </dgm:t>
    </dgm:pt>
    <dgm:pt modelId="{CBB1F614-3FF4-4383-A798-7FD252359833}" type="pres">
      <dgm:prSet presAssocID="{B8B8A79D-98CE-4809-AFD3-66B398C7B6CE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0A363938-3A9A-4DFC-8628-BC2B908F1ECC}" type="pres">
      <dgm:prSet presAssocID="{2488B0C5-3794-4605-AC65-2D6F7540FD73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3593DB-7AE6-4D27-A471-2E07509F39DF}" type="pres">
      <dgm:prSet presAssocID="{2488B0C5-3794-4605-AC65-2D6F7540FD73}" presName="gear1srcNode" presStyleLbl="node1" presStyleIdx="0" presStyleCnt="3"/>
      <dgm:spPr/>
      <dgm:t>
        <a:bodyPr/>
        <a:lstStyle/>
        <a:p>
          <a:endParaRPr lang="en-US"/>
        </a:p>
      </dgm:t>
    </dgm:pt>
    <dgm:pt modelId="{8D21A2B9-4401-4A0C-ABA2-3A0C47674F30}" type="pres">
      <dgm:prSet presAssocID="{2488B0C5-3794-4605-AC65-2D6F7540FD73}" presName="gear1dstNode" presStyleLbl="node1" presStyleIdx="0" presStyleCnt="3"/>
      <dgm:spPr/>
      <dgm:t>
        <a:bodyPr/>
        <a:lstStyle/>
        <a:p>
          <a:endParaRPr lang="en-US"/>
        </a:p>
      </dgm:t>
    </dgm:pt>
    <dgm:pt modelId="{0D5CE8A0-A089-46C0-9698-B2BC1588BEF3}" type="pres">
      <dgm:prSet presAssocID="{832D8C91-AAA4-4683-AC5D-B244CC5DDE57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881A4F-771D-420F-8BE0-A33F04FD42F4}" type="pres">
      <dgm:prSet presAssocID="{832D8C91-AAA4-4683-AC5D-B244CC5DDE57}" presName="gear2srcNode" presStyleLbl="node1" presStyleIdx="1" presStyleCnt="3"/>
      <dgm:spPr/>
      <dgm:t>
        <a:bodyPr/>
        <a:lstStyle/>
        <a:p>
          <a:endParaRPr lang="en-US"/>
        </a:p>
      </dgm:t>
    </dgm:pt>
    <dgm:pt modelId="{312846ED-9D10-49EC-B2CD-0516C2C4B139}" type="pres">
      <dgm:prSet presAssocID="{832D8C91-AAA4-4683-AC5D-B244CC5DDE57}" presName="gear2dstNode" presStyleLbl="node1" presStyleIdx="1" presStyleCnt="3"/>
      <dgm:spPr/>
      <dgm:t>
        <a:bodyPr/>
        <a:lstStyle/>
        <a:p>
          <a:endParaRPr lang="en-US"/>
        </a:p>
      </dgm:t>
    </dgm:pt>
    <dgm:pt modelId="{7E0CD143-4248-4413-8B34-83B7A54E29E7}" type="pres">
      <dgm:prSet presAssocID="{88092084-84CA-46CA-98E5-F8236DF9FC71}" presName="gear3" presStyleLbl="node1" presStyleIdx="2" presStyleCnt="3"/>
      <dgm:spPr/>
      <dgm:t>
        <a:bodyPr/>
        <a:lstStyle/>
        <a:p>
          <a:endParaRPr lang="en-US"/>
        </a:p>
      </dgm:t>
    </dgm:pt>
    <dgm:pt modelId="{526A45E8-A3B2-4C27-AC4C-9926475D420F}" type="pres">
      <dgm:prSet presAssocID="{88092084-84CA-46CA-98E5-F8236DF9FC71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C92BD3-6942-41BF-AB3B-450C998100B0}" type="pres">
      <dgm:prSet presAssocID="{88092084-84CA-46CA-98E5-F8236DF9FC71}" presName="gear3srcNode" presStyleLbl="node1" presStyleIdx="2" presStyleCnt="3"/>
      <dgm:spPr/>
      <dgm:t>
        <a:bodyPr/>
        <a:lstStyle/>
        <a:p>
          <a:endParaRPr lang="en-US"/>
        </a:p>
      </dgm:t>
    </dgm:pt>
    <dgm:pt modelId="{2E6D3BC6-3567-464B-AD84-0D4E071A42FD}" type="pres">
      <dgm:prSet presAssocID="{88092084-84CA-46CA-98E5-F8236DF9FC71}" presName="gear3dstNode" presStyleLbl="node1" presStyleIdx="2" presStyleCnt="3"/>
      <dgm:spPr/>
      <dgm:t>
        <a:bodyPr/>
        <a:lstStyle/>
        <a:p>
          <a:endParaRPr lang="en-US"/>
        </a:p>
      </dgm:t>
    </dgm:pt>
    <dgm:pt modelId="{49A95C27-4D7A-4CFC-8C6C-596952F05208}" type="pres">
      <dgm:prSet presAssocID="{ED833820-C28C-4282-B677-09883296F1E5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69D761A1-572F-4105-B141-A345210D4302}" type="pres">
      <dgm:prSet presAssocID="{59D5B5C0-F5F0-496F-ACB3-787C5B5C360E}" presName="connector2" presStyleLbl="sibTrans2D1" presStyleIdx="1" presStyleCnt="3"/>
      <dgm:spPr/>
      <dgm:t>
        <a:bodyPr/>
        <a:lstStyle/>
        <a:p>
          <a:endParaRPr lang="en-US"/>
        </a:p>
      </dgm:t>
    </dgm:pt>
    <dgm:pt modelId="{AB14D0F9-86B0-4A56-BD39-655687AFEB29}" type="pres">
      <dgm:prSet presAssocID="{8FE88232-70C0-4388-8D51-D1492DCECB44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5BB85A2E-9A82-4119-A336-1F5B4B3E8203}" type="presOf" srcId="{2488B0C5-3794-4605-AC65-2D6F7540FD73}" destId="{8D21A2B9-4401-4A0C-ABA2-3A0C47674F30}" srcOrd="2" destOrd="0" presId="urn:microsoft.com/office/officeart/2005/8/layout/gear1"/>
    <dgm:cxn modelId="{9715E62F-FAF1-47CB-BF7B-9342FA5B756E}" type="presOf" srcId="{832D8C91-AAA4-4683-AC5D-B244CC5DDE57}" destId="{0D5CE8A0-A089-46C0-9698-B2BC1588BEF3}" srcOrd="0" destOrd="0" presId="urn:microsoft.com/office/officeart/2005/8/layout/gear1"/>
    <dgm:cxn modelId="{2FE2CFDC-1360-40C8-9DDF-719EBB9B44E2}" type="presOf" srcId="{8FE88232-70C0-4388-8D51-D1492DCECB44}" destId="{AB14D0F9-86B0-4A56-BD39-655687AFEB29}" srcOrd="0" destOrd="0" presId="urn:microsoft.com/office/officeart/2005/8/layout/gear1"/>
    <dgm:cxn modelId="{927FC16C-F256-4168-BCAF-48467C584F2F}" type="presOf" srcId="{2488B0C5-3794-4605-AC65-2D6F7540FD73}" destId="{0A363938-3A9A-4DFC-8628-BC2B908F1ECC}" srcOrd="0" destOrd="0" presId="urn:microsoft.com/office/officeart/2005/8/layout/gear1"/>
    <dgm:cxn modelId="{7FC63C8B-22E7-4725-8EA7-9D9B53C738C2}" type="presOf" srcId="{88092084-84CA-46CA-98E5-F8236DF9FC71}" destId="{7E0CD143-4248-4413-8B34-83B7A54E29E7}" srcOrd="0" destOrd="0" presId="urn:microsoft.com/office/officeart/2005/8/layout/gear1"/>
    <dgm:cxn modelId="{EBDA2155-E26B-42D8-94E3-A57F6EC7EFAA}" srcId="{B8B8A79D-98CE-4809-AFD3-66B398C7B6CE}" destId="{88092084-84CA-46CA-98E5-F8236DF9FC71}" srcOrd="2" destOrd="0" parTransId="{4F7E8D73-3979-4D91-B7AD-1775FB7269BC}" sibTransId="{8FE88232-70C0-4388-8D51-D1492DCECB44}"/>
    <dgm:cxn modelId="{BB607882-31D5-4355-B2E9-E3E28DDB084B}" type="presOf" srcId="{832D8C91-AAA4-4683-AC5D-B244CC5DDE57}" destId="{312846ED-9D10-49EC-B2CD-0516C2C4B139}" srcOrd="2" destOrd="0" presId="urn:microsoft.com/office/officeart/2005/8/layout/gear1"/>
    <dgm:cxn modelId="{6AEA6BDF-2465-434D-A4F4-000B75D0349A}" type="presOf" srcId="{88092084-84CA-46CA-98E5-F8236DF9FC71}" destId="{34C92BD3-6942-41BF-AB3B-450C998100B0}" srcOrd="2" destOrd="0" presId="urn:microsoft.com/office/officeart/2005/8/layout/gear1"/>
    <dgm:cxn modelId="{4887C1FF-903C-4430-A452-189A98216F0B}" srcId="{B8B8A79D-98CE-4809-AFD3-66B398C7B6CE}" destId="{2488B0C5-3794-4605-AC65-2D6F7540FD73}" srcOrd="0" destOrd="0" parTransId="{85FE1369-0BBB-4F51-A324-24A10946C624}" sibTransId="{ED833820-C28C-4282-B677-09883296F1E5}"/>
    <dgm:cxn modelId="{F35DBFE2-0823-4DC4-9D6E-6A4B8859BFFD}" type="presOf" srcId="{88092084-84CA-46CA-98E5-F8236DF9FC71}" destId="{2E6D3BC6-3567-464B-AD84-0D4E071A42FD}" srcOrd="3" destOrd="0" presId="urn:microsoft.com/office/officeart/2005/8/layout/gear1"/>
    <dgm:cxn modelId="{3B34E275-4228-428E-8F2B-5CFF12BBB752}" type="presOf" srcId="{59D5B5C0-F5F0-496F-ACB3-787C5B5C360E}" destId="{69D761A1-572F-4105-B141-A345210D4302}" srcOrd="0" destOrd="0" presId="urn:microsoft.com/office/officeart/2005/8/layout/gear1"/>
    <dgm:cxn modelId="{D193A25B-C5A5-4A87-A6FC-061C379CC845}" type="presOf" srcId="{2488B0C5-3794-4605-AC65-2D6F7540FD73}" destId="{C33593DB-7AE6-4D27-A471-2E07509F39DF}" srcOrd="1" destOrd="0" presId="urn:microsoft.com/office/officeart/2005/8/layout/gear1"/>
    <dgm:cxn modelId="{0A50FC89-4075-4815-8FDA-1E9DE290BB60}" type="presOf" srcId="{832D8C91-AAA4-4683-AC5D-B244CC5DDE57}" destId="{2A881A4F-771D-420F-8BE0-A33F04FD42F4}" srcOrd="1" destOrd="0" presId="urn:microsoft.com/office/officeart/2005/8/layout/gear1"/>
    <dgm:cxn modelId="{CCBF6734-0D2D-4D54-A88C-F84DD3C20738}" type="presOf" srcId="{B8B8A79D-98CE-4809-AFD3-66B398C7B6CE}" destId="{CBB1F614-3FF4-4383-A798-7FD252359833}" srcOrd="0" destOrd="0" presId="urn:microsoft.com/office/officeart/2005/8/layout/gear1"/>
    <dgm:cxn modelId="{2AADA255-3C75-47F5-90FE-231F85429FFB}" type="presOf" srcId="{88092084-84CA-46CA-98E5-F8236DF9FC71}" destId="{526A45E8-A3B2-4C27-AC4C-9926475D420F}" srcOrd="1" destOrd="0" presId="urn:microsoft.com/office/officeart/2005/8/layout/gear1"/>
    <dgm:cxn modelId="{27ED939E-AF2B-4A39-BB6D-6BFEA1DA53C6}" srcId="{B8B8A79D-98CE-4809-AFD3-66B398C7B6CE}" destId="{832D8C91-AAA4-4683-AC5D-B244CC5DDE57}" srcOrd="1" destOrd="0" parTransId="{7A8852A8-685E-46CB-A022-A7BDEB0F570B}" sibTransId="{59D5B5C0-F5F0-496F-ACB3-787C5B5C360E}"/>
    <dgm:cxn modelId="{7B743D30-9087-483D-8E60-C3BBB4D3AB21}" type="presOf" srcId="{ED833820-C28C-4282-B677-09883296F1E5}" destId="{49A95C27-4D7A-4CFC-8C6C-596952F05208}" srcOrd="0" destOrd="0" presId="urn:microsoft.com/office/officeart/2005/8/layout/gear1"/>
    <dgm:cxn modelId="{16A2439D-8B75-4052-9348-D209EAC1B835}" type="presParOf" srcId="{CBB1F614-3FF4-4383-A798-7FD252359833}" destId="{0A363938-3A9A-4DFC-8628-BC2B908F1ECC}" srcOrd="0" destOrd="0" presId="urn:microsoft.com/office/officeart/2005/8/layout/gear1"/>
    <dgm:cxn modelId="{9A45E01A-8521-410C-877C-B599AC88C546}" type="presParOf" srcId="{CBB1F614-3FF4-4383-A798-7FD252359833}" destId="{C33593DB-7AE6-4D27-A471-2E07509F39DF}" srcOrd="1" destOrd="0" presId="urn:microsoft.com/office/officeart/2005/8/layout/gear1"/>
    <dgm:cxn modelId="{E3252E2B-8F9E-4FBF-BD57-A80B5AB6BE34}" type="presParOf" srcId="{CBB1F614-3FF4-4383-A798-7FD252359833}" destId="{8D21A2B9-4401-4A0C-ABA2-3A0C47674F30}" srcOrd="2" destOrd="0" presId="urn:microsoft.com/office/officeart/2005/8/layout/gear1"/>
    <dgm:cxn modelId="{BFC5994C-3B36-4676-A9CB-92016F6A8292}" type="presParOf" srcId="{CBB1F614-3FF4-4383-A798-7FD252359833}" destId="{0D5CE8A0-A089-46C0-9698-B2BC1588BEF3}" srcOrd="3" destOrd="0" presId="urn:microsoft.com/office/officeart/2005/8/layout/gear1"/>
    <dgm:cxn modelId="{3E8B8637-0DF1-4AC6-9587-B24AA4A4702C}" type="presParOf" srcId="{CBB1F614-3FF4-4383-A798-7FD252359833}" destId="{2A881A4F-771D-420F-8BE0-A33F04FD42F4}" srcOrd="4" destOrd="0" presId="urn:microsoft.com/office/officeart/2005/8/layout/gear1"/>
    <dgm:cxn modelId="{E1FE276E-F1AA-4E86-ADDF-AA9EED5C3064}" type="presParOf" srcId="{CBB1F614-3FF4-4383-A798-7FD252359833}" destId="{312846ED-9D10-49EC-B2CD-0516C2C4B139}" srcOrd="5" destOrd="0" presId="urn:microsoft.com/office/officeart/2005/8/layout/gear1"/>
    <dgm:cxn modelId="{ACFEE1D8-B05C-4624-A3AA-9AE4F503DD44}" type="presParOf" srcId="{CBB1F614-3FF4-4383-A798-7FD252359833}" destId="{7E0CD143-4248-4413-8B34-83B7A54E29E7}" srcOrd="6" destOrd="0" presId="urn:microsoft.com/office/officeart/2005/8/layout/gear1"/>
    <dgm:cxn modelId="{76EA7E13-9BDD-49D1-A20D-9F4826061E0D}" type="presParOf" srcId="{CBB1F614-3FF4-4383-A798-7FD252359833}" destId="{526A45E8-A3B2-4C27-AC4C-9926475D420F}" srcOrd="7" destOrd="0" presId="urn:microsoft.com/office/officeart/2005/8/layout/gear1"/>
    <dgm:cxn modelId="{FB1F32FA-646D-4053-BB1A-FE13E7FA4104}" type="presParOf" srcId="{CBB1F614-3FF4-4383-A798-7FD252359833}" destId="{34C92BD3-6942-41BF-AB3B-450C998100B0}" srcOrd="8" destOrd="0" presId="urn:microsoft.com/office/officeart/2005/8/layout/gear1"/>
    <dgm:cxn modelId="{4B82214F-15AC-4862-81B9-87B33BDD5CBA}" type="presParOf" srcId="{CBB1F614-3FF4-4383-A798-7FD252359833}" destId="{2E6D3BC6-3567-464B-AD84-0D4E071A42FD}" srcOrd="9" destOrd="0" presId="urn:microsoft.com/office/officeart/2005/8/layout/gear1"/>
    <dgm:cxn modelId="{A46A9D43-6C00-4DD5-9080-644DE0F20F99}" type="presParOf" srcId="{CBB1F614-3FF4-4383-A798-7FD252359833}" destId="{49A95C27-4D7A-4CFC-8C6C-596952F05208}" srcOrd="10" destOrd="0" presId="urn:microsoft.com/office/officeart/2005/8/layout/gear1"/>
    <dgm:cxn modelId="{6375E299-1E4E-4B95-81BF-00FC00CB92BF}" type="presParOf" srcId="{CBB1F614-3FF4-4383-A798-7FD252359833}" destId="{69D761A1-572F-4105-B141-A345210D4302}" srcOrd="11" destOrd="0" presId="urn:microsoft.com/office/officeart/2005/8/layout/gear1"/>
    <dgm:cxn modelId="{3613B909-1632-450E-9230-E8BBCD76B1E2}" type="presParOf" srcId="{CBB1F614-3FF4-4383-A798-7FD252359833}" destId="{AB14D0F9-86B0-4A56-BD39-655687AFEB29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A363938-3A9A-4DFC-8628-BC2B908F1ECC}">
      <dsp:nvSpPr>
        <dsp:cNvPr id="0" name=""/>
        <dsp:cNvSpPr/>
      </dsp:nvSpPr>
      <dsp:spPr>
        <a:xfrm>
          <a:off x="1193800" y="914400"/>
          <a:ext cx="1117600" cy="1117600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400" kern="1200" dirty="0"/>
        </a:p>
      </dsp:txBody>
      <dsp:txXfrm>
        <a:off x="1193800" y="914400"/>
        <a:ext cx="1117600" cy="1117600"/>
      </dsp:txXfrm>
    </dsp:sp>
    <dsp:sp modelId="{0D5CE8A0-A089-46C0-9698-B2BC1588BEF3}">
      <dsp:nvSpPr>
        <dsp:cNvPr id="0" name=""/>
        <dsp:cNvSpPr/>
      </dsp:nvSpPr>
      <dsp:spPr>
        <a:xfrm>
          <a:off x="543560" y="650240"/>
          <a:ext cx="812800" cy="81280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/>
        </a:p>
      </dsp:txBody>
      <dsp:txXfrm>
        <a:off x="543560" y="650240"/>
        <a:ext cx="812800" cy="812800"/>
      </dsp:txXfrm>
    </dsp:sp>
    <dsp:sp modelId="{7E0CD143-4248-4413-8B34-83B7A54E29E7}">
      <dsp:nvSpPr>
        <dsp:cNvPr id="0" name=""/>
        <dsp:cNvSpPr/>
      </dsp:nvSpPr>
      <dsp:spPr>
        <a:xfrm rot="20700000">
          <a:off x="998810" y="89490"/>
          <a:ext cx="796378" cy="796378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700" kern="1200" dirty="0"/>
        </a:p>
      </dsp:txBody>
      <dsp:txXfrm>
        <a:off x="1173480" y="264160"/>
        <a:ext cx="447040" cy="447040"/>
      </dsp:txXfrm>
    </dsp:sp>
    <dsp:sp modelId="{49A95C27-4D7A-4CFC-8C6C-596952F05208}">
      <dsp:nvSpPr>
        <dsp:cNvPr id="0" name=""/>
        <dsp:cNvSpPr/>
      </dsp:nvSpPr>
      <dsp:spPr>
        <a:xfrm>
          <a:off x="1086102" y="757746"/>
          <a:ext cx="1430528" cy="1430528"/>
        </a:xfrm>
        <a:prstGeom prst="circularArrow">
          <a:avLst>
            <a:gd name="adj1" fmla="val 4687"/>
            <a:gd name="adj2" fmla="val 299029"/>
            <a:gd name="adj3" fmla="val 2423653"/>
            <a:gd name="adj4" fmla="val 16077324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D761A1-572F-4105-B141-A345210D4302}">
      <dsp:nvSpPr>
        <dsp:cNvPr id="0" name=""/>
        <dsp:cNvSpPr/>
      </dsp:nvSpPr>
      <dsp:spPr>
        <a:xfrm>
          <a:off x="399614" y="479677"/>
          <a:ext cx="1039368" cy="103936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4D0F9-86B0-4A56-BD39-655687AFEB29}">
      <dsp:nvSpPr>
        <dsp:cNvPr id="0" name=""/>
        <dsp:cNvSpPr/>
      </dsp:nvSpPr>
      <dsp:spPr>
        <a:xfrm>
          <a:off x="814600" y="-75666"/>
          <a:ext cx="1120648" cy="112064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9B3061A-7F4E-4E3A-A627-E1FC384385A9}" type="datetimeFigureOut">
              <a:rPr lang="en-US" smtClean="0"/>
              <a:pPr/>
              <a:t>10/2/2012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58D7772-57C4-43FE-B30D-FBB40B6BD3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9144000" cy="1066800"/>
          </a:xfrm>
        </p:spPr>
        <p:txBody>
          <a:bodyPr>
            <a:normAutofit/>
          </a:bodyPr>
          <a:lstStyle>
            <a:lvl1pPr algn="ctr">
              <a:defRPr sz="2400" b="1" cap="small" baseline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52599"/>
            <a:ext cx="91440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small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1676400" y="2713434"/>
            <a:ext cx="64770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Software Engineering Design: Theory and Practice</a:t>
            </a:r>
            <a:r>
              <a:rPr lang="en-US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Carlos</a:t>
            </a:r>
            <a:r>
              <a:rPr lang="en-US" sz="1600" b="0" baseline="0" dirty="0" smtClean="0">
                <a:latin typeface="Times New Roman" pitchFamily="18" charset="0"/>
                <a:cs typeface="Times New Roman" pitchFamily="18" charset="0"/>
              </a:rPr>
              <a:t> E. Otero</a:t>
            </a:r>
            <a:endParaRPr lang="en-US" sz="1200" b="0" dirty="0">
              <a:latin typeface="Times New Roman" pitchFamily="18" charset="0"/>
              <a:cs typeface="Times New Roman" pitchFamily="18" charset="0"/>
            </a:endParaRPr>
          </a:p>
          <a:p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Slides copyright ©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2012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Carlos E. Otero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 non-profit educational use only</a:t>
            </a:r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May be reproduced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only for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student use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used in conjunction with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Software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Engineering Design: Theory and Practice.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Any other reproduction or use is prohibited without the express written permission of the author.</a:t>
            </a:r>
          </a:p>
          <a:p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All copyright information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must appear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if these slides are posted on a website for student use.</a:t>
            </a:r>
          </a:p>
        </p:txBody>
      </p:sp>
      <p:pic>
        <p:nvPicPr>
          <p:cNvPr id="1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3200400"/>
            <a:ext cx="762000" cy="1102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800599"/>
          </a:xfrm>
        </p:spPr>
        <p:txBody>
          <a:bodyPr/>
          <a:lstStyle>
            <a:lvl1pPr>
              <a:buFont typeface="Wingdings" pitchFamily="2" charset="2"/>
              <a:buChar char="Ø"/>
              <a:defRPr sz="2000"/>
            </a:lvl1pPr>
            <a:lvl2pPr>
              <a:buFont typeface="Wingdings" pitchFamily="2" charset="2"/>
              <a:buChar char="ü"/>
              <a:defRPr sz="1800"/>
            </a:lvl2pPr>
            <a:lvl3pPr>
              <a:buFont typeface="Wingdings" pitchFamily="2" charset="2"/>
              <a:buChar char="§"/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62078"/>
            <a:ext cx="990600" cy="304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62078"/>
            <a:ext cx="6096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62078"/>
            <a:ext cx="11430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004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 bwMode="auto">
          <a:xfrm>
            <a:off x="219722" y="228600"/>
            <a:ext cx="8686800" cy="6324600"/>
          </a:xfrm>
          <a:prstGeom prst="round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 algn="ct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 algn="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2400" b="1" kern="1200" cap="small" baseline="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Chapter 1: Introduction to </a:t>
            </a:r>
            <a:br>
              <a:rPr lang="en-US" dirty="0" smtClean="0"/>
            </a:br>
            <a:r>
              <a:rPr lang="en-US" dirty="0" smtClean="0"/>
              <a:t>Software Engineering Design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Session III: Software Design Fundamentals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8/24/2012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8767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Roles of software designers</a:t>
            </a:r>
          </a:p>
          <a:p>
            <a:pPr lvl="1"/>
            <a:r>
              <a:rPr lang="en-US" dirty="0" smtClean="0"/>
              <a:t>Systems Engineer</a:t>
            </a:r>
          </a:p>
          <a:p>
            <a:pPr lvl="1"/>
            <a:r>
              <a:rPr lang="en-US" dirty="0" smtClean="0"/>
              <a:t>Software architect</a:t>
            </a:r>
          </a:p>
          <a:p>
            <a:pPr lvl="1"/>
            <a:r>
              <a:rPr lang="en-US" dirty="0" smtClean="0"/>
              <a:t>Component designer</a:t>
            </a:r>
          </a:p>
          <a:p>
            <a:pPr lvl="1"/>
            <a:r>
              <a:rPr lang="en-US" dirty="0" smtClean="0"/>
              <a:t>User interface designer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Software design fundamentals</a:t>
            </a:r>
          </a:p>
          <a:p>
            <a:pPr lvl="1"/>
            <a:r>
              <a:rPr lang="en-US" dirty="0" smtClean="0"/>
              <a:t>Design principles</a:t>
            </a:r>
          </a:p>
          <a:p>
            <a:pPr lvl="2"/>
            <a:r>
              <a:rPr lang="en-US" dirty="0" smtClean="0"/>
              <a:t>Modularization</a:t>
            </a:r>
          </a:p>
          <a:p>
            <a:pPr lvl="2"/>
            <a:r>
              <a:rPr lang="en-US" dirty="0" smtClean="0"/>
              <a:t>Abstraction</a:t>
            </a:r>
          </a:p>
          <a:p>
            <a:pPr lvl="2"/>
            <a:r>
              <a:rPr lang="en-US" dirty="0" smtClean="0"/>
              <a:t>Encapsulation</a:t>
            </a:r>
          </a:p>
          <a:p>
            <a:pPr lvl="2"/>
            <a:r>
              <a:rPr lang="en-US" dirty="0" smtClean="0"/>
              <a:t>Cohesion and coupling</a:t>
            </a:r>
          </a:p>
          <a:p>
            <a:pPr lvl="2"/>
            <a:r>
              <a:rPr lang="en-US" dirty="0" smtClean="0"/>
              <a:t>Separation of interface and implementation</a:t>
            </a:r>
          </a:p>
          <a:p>
            <a:pPr lvl="2"/>
            <a:r>
              <a:rPr lang="en-US" dirty="0" smtClean="0"/>
              <a:t>Sufficiency and completeness</a:t>
            </a:r>
          </a:p>
          <a:p>
            <a:pPr lvl="1"/>
            <a:r>
              <a:rPr lang="en-US" dirty="0" smtClean="0"/>
              <a:t>Design strategies</a:t>
            </a:r>
          </a:p>
          <a:p>
            <a:pPr lvl="2"/>
            <a:r>
              <a:rPr lang="en-US" dirty="0" smtClean="0"/>
              <a:t>Object-oriented vs. structured design</a:t>
            </a:r>
          </a:p>
          <a:p>
            <a:pPr lvl="1"/>
            <a:r>
              <a:rPr lang="en-US" dirty="0" smtClean="0"/>
              <a:t>Practical design considerations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Software Designers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Systems Engineer</a:t>
            </a:r>
          </a:p>
          <a:p>
            <a:pPr lvl="1"/>
            <a:r>
              <a:rPr lang="en-US" dirty="0" smtClean="0"/>
              <a:t>Designs systems using a holistic approach, which includes designing how software, hardware, people, etc. collaborate to achieve the system’s goal.</a:t>
            </a:r>
          </a:p>
          <a:p>
            <a:endParaRPr lang="en-US" dirty="0" smtClean="0"/>
          </a:p>
          <a:p>
            <a:r>
              <a:rPr lang="en-US" dirty="0" smtClean="0"/>
              <a:t>Software Architect</a:t>
            </a:r>
          </a:p>
          <a:p>
            <a:pPr lvl="1"/>
            <a:r>
              <a:rPr lang="en-US" dirty="0" smtClean="0"/>
              <a:t>Design software systems using (for the most part) a black-box modeling approach; concern is placed on the external properties of software components that determine the system’s quality and support the further design of functional requirements.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Component Designer</a:t>
            </a:r>
          </a:p>
          <a:p>
            <a:pPr lvl="1"/>
            <a:r>
              <a:rPr lang="en-US" dirty="0" smtClean="0"/>
              <a:t>Focuses on designing the internal structure and behavior of software components identified during the architecture phase; typically, these designers have strong programming skills, since they implement their designs in code.</a:t>
            </a:r>
          </a:p>
          <a:p>
            <a:endParaRPr lang="en-US" dirty="0" smtClean="0"/>
          </a:p>
          <a:p>
            <a:r>
              <a:rPr lang="en-US" dirty="0" smtClean="0"/>
              <a:t>User Interface Designer</a:t>
            </a:r>
          </a:p>
          <a:p>
            <a:pPr lvl="1"/>
            <a:r>
              <a:rPr lang="en-US" dirty="0" smtClean="0"/>
              <a:t>Design the software’s user interface; skilled in determining ways that increase the usability of the system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Within the design process, many principles, strategies, and practical considerations exist to help designers execute the design process in effective and consistent manner.</a:t>
            </a:r>
          </a:p>
          <a:p>
            <a:endParaRPr lang="en-US" dirty="0" smtClean="0"/>
          </a:p>
          <a:p>
            <a:r>
              <a:rPr lang="en-US" dirty="0" smtClean="0"/>
              <a:t>General design principles</a:t>
            </a:r>
          </a:p>
          <a:p>
            <a:pPr lvl="1"/>
            <a:r>
              <a:rPr lang="en-US" dirty="0" smtClean="0"/>
              <a:t>Refer to knowledge matter that has been found effective throughout the years in multiple projects on different domains.</a:t>
            </a:r>
          </a:p>
          <a:p>
            <a:pPr lvl="1"/>
            <a:r>
              <a:rPr lang="en-US" dirty="0" smtClean="0"/>
              <a:t>Serve as fundamental drivers for decision-making during the software design process.</a:t>
            </a:r>
          </a:p>
          <a:p>
            <a:pPr lvl="2"/>
            <a:r>
              <a:rPr lang="en-US" dirty="0" smtClean="0"/>
              <a:t>They are used as basis for reasoning and serve as justification for design decisions.</a:t>
            </a:r>
          </a:p>
          <a:p>
            <a:pPr lvl="1"/>
            <a:r>
              <a:rPr lang="en-US" dirty="0" smtClean="0"/>
              <a:t>Provide designers a foundation from which other design methods can be applied.</a:t>
            </a:r>
          </a:p>
          <a:p>
            <a:pPr lvl="1"/>
            <a:r>
              <a:rPr lang="en-US" dirty="0" smtClean="0"/>
              <a:t>Are not specific to particular design strategies (e.g., object-oriented) or process.</a:t>
            </a:r>
          </a:p>
          <a:p>
            <a:pPr lvl="2"/>
            <a:r>
              <a:rPr lang="en-US" dirty="0" smtClean="0"/>
              <a:t>The are fundamental to every design effort.</a:t>
            </a:r>
          </a:p>
          <a:p>
            <a:pPr lvl="2"/>
            <a:r>
              <a:rPr lang="en-US" dirty="0" smtClean="0"/>
              <a:t>Can be employed during architecture, detailed design, construction design, etc.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5105399"/>
          </a:xfrm>
        </p:spPr>
        <p:txBody>
          <a:bodyPr>
            <a:normAutofit/>
          </a:bodyPr>
          <a:lstStyle/>
          <a:p>
            <a:r>
              <a:rPr lang="en-US" dirty="0" smtClean="0"/>
              <a:t>Design Principle #1: </a:t>
            </a:r>
            <a:r>
              <a:rPr lang="en-US" i="1" dirty="0" smtClean="0"/>
              <a:t>Modularization</a:t>
            </a:r>
          </a:p>
          <a:p>
            <a:pPr lvl="1"/>
            <a:r>
              <a:rPr lang="en-US" dirty="0" smtClean="0"/>
              <a:t>It is the principle that drives the continues decomposition of the software system until fine-grained components are created.</a:t>
            </a:r>
          </a:p>
          <a:p>
            <a:pPr lvl="1"/>
            <a:r>
              <a:rPr lang="en-US" dirty="0" smtClean="0"/>
              <a:t>One of the most important design principle, since it allows software systems to be manageable at all phased of the development life-cycle.</a:t>
            </a:r>
          </a:p>
          <a:p>
            <a:pPr lvl="1"/>
            <a:r>
              <a:rPr lang="en-US" dirty="0" smtClean="0"/>
              <a:t>When you modularize a design, you are also modularizing requirements, programming, test cases, etc.</a:t>
            </a:r>
          </a:p>
          <a:p>
            <a:pPr lvl="1"/>
            <a:r>
              <a:rPr lang="en-US" dirty="0" smtClean="0"/>
              <a:t>Plays a key role during all design activities; when applied effectively, it provides a roadmap for software development starting from coarse-grained components that are further modularized into fine-grained components directly related to code.</a:t>
            </a:r>
          </a:p>
          <a:p>
            <a:pPr lvl="1"/>
            <a:r>
              <a:rPr lang="en-US" dirty="0" smtClean="0"/>
              <a:t>Leads to designs that are easy to understand, resulting in systems that are easier to develop and maintain.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 - Modularization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51053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Conceptual view of modularization: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Modularization is the process of continuous decomposition of the software system until fine-grained components are created.  But how do we justify the “modularization engine”? </a:t>
            </a:r>
          </a:p>
          <a:p>
            <a:pPr lvl="1"/>
            <a:r>
              <a:rPr lang="en-US" dirty="0" smtClean="0"/>
              <a:t> It turns out that two other principles can effectively guide designers during this process</a:t>
            </a:r>
          </a:p>
          <a:p>
            <a:pPr lvl="2"/>
            <a:r>
              <a:rPr lang="en-US" dirty="0" smtClean="0"/>
              <a:t>Abstraction</a:t>
            </a:r>
          </a:p>
          <a:p>
            <a:pPr lvl="2"/>
            <a:r>
              <a:rPr lang="en-US" dirty="0" smtClean="0"/>
              <a:t>Encapsulation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63" name="Group 62"/>
          <p:cNvGrpSpPr/>
          <p:nvPr/>
        </p:nvGrpSpPr>
        <p:grpSpPr>
          <a:xfrm>
            <a:off x="800219" y="2057400"/>
            <a:ext cx="7505581" cy="2362200"/>
            <a:chOff x="800219" y="2057400"/>
            <a:chExt cx="7505581" cy="2362200"/>
          </a:xfrm>
        </p:grpSpPr>
        <p:graphicFrame>
          <p:nvGraphicFramePr>
            <p:cNvPr id="9" name="Diagram 8"/>
            <p:cNvGraphicFramePr/>
            <p:nvPr/>
          </p:nvGraphicFramePr>
          <p:xfrm>
            <a:off x="4153019" y="2057400"/>
            <a:ext cx="2590800" cy="2032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38" name="Straight Connector 37"/>
            <p:cNvCxnSpPr/>
            <p:nvPr/>
          </p:nvCxnSpPr>
          <p:spPr>
            <a:xfrm flipV="1">
              <a:off x="800219" y="31242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1257419" y="2895600"/>
              <a:ext cx="3048000" cy="2286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1257419" y="2895600"/>
              <a:ext cx="228600" cy="228600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4076819" y="2895600"/>
              <a:ext cx="228600" cy="228600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00219" y="3657600"/>
              <a:ext cx="3048000" cy="2286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/>
            <p:nvPr/>
          </p:nvCxnSpPr>
          <p:spPr>
            <a:xfrm flipV="1">
              <a:off x="8002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11050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14098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17146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17146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20194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20194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23242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V="1">
              <a:off x="26290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29338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32386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26290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29338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32386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35434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3848219" y="28956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3848219" y="3124200"/>
              <a:ext cx="457200" cy="762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lowchart: Connector 35"/>
            <p:cNvSpPr/>
            <p:nvPr/>
          </p:nvSpPr>
          <p:spPr>
            <a:xfrm>
              <a:off x="800219" y="3657600"/>
              <a:ext cx="228600" cy="228600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lowchart: Connector 36"/>
            <p:cNvSpPr/>
            <p:nvPr/>
          </p:nvSpPr>
          <p:spPr>
            <a:xfrm>
              <a:off x="3619619" y="3657600"/>
              <a:ext cx="228600" cy="228600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ube 38"/>
            <p:cNvSpPr/>
            <p:nvPr/>
          </p:nvSpPr>
          <p:spPr>
            <a:xfrm>
              <a:off x="1714619" y="2133600"/>
              <a:ext cx="1216152" cy="1216152"/>
            </a:xfrm>
            <a:prstGeom prst="cube">
              <a:avLst/>
            </a:prstGeom>
            <a:solidFill>
              <a:schemeClr val="bg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4619" y="2667000"/>
              <a:ext cx="8627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Monolithic</a:t>
              </a:r>
            </a:p>
            <a:p>
              <a:pPr algn="ctr"/>
              <a:r>
                <a:rPr lang="en-US" sz="1200" dirty="0" smtClean="0"/>
                <a:t> System</a:t>
              </a:r>
              <a:endParaRPr lang="en-US" sz="1200" dirty="0"/>
            </a:p>
          </p:txBody>
        </p:sp>
        <p:sp>
          <p:nvSpPr>
            <p:cNvPr id="41" name="Cube 40"/>
            <p:cNvSpPr/>
            <p:nvPr/>
          </p:nvSpPr>
          <p:spPr>
            <a:xfrm>
              <a:off x="6667619" y="22860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Cube 41"/>
            <p:cNvSpPr/>
            <p:nvPr/>
          </p:nvSpPr>
          <p:spPr>
            <a:xfrm rot="1049280">
              <a:off x="6439019" y="27432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Cube 42"/>
            <p:cNvSpPr/>
            <p:nvPr/>
          </p:nvSpPr>
          <p:spPr>
            <a:xfrm rot="2419483">
              <a:off x="7162573" y="2738462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Cube 43"/>
            <p:cNvSpPr/>
            <p:nvPr/>
          </p:nvSpPr>
          <p:spPr>
            <a:xfrm rot="2090744">
              <a:off x="8001000" y="2733582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Cube 44"/>
            <p:cNvSpPr/>
            <p:nvPr/>
          </p:nvSpPr>
          <p:spPr>
            <a:xfrm rot="2319588">
              <a:off x="6858027" y="3346756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Cube 45"/>
            <p:cNvSpPr/>
            <p:nvPr/>
          </p:nvSpPr>
          <p:spPr>
            <a:xfrm rot="771080">
              <a:off x="7375025" y="3231434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Cube 46"/>
            <p:cNvSpPr/>
            <p:nvPr/>
          </p:nvSpPr>
          <p:spPr>
            <a:xfrm rot="1985502">
              <a:off x="7543505" y="3874667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ight Arrow 47"/>
            <p:cNvSpPr/>
            <p:nvPr/>
          </p:nvSpPr>
          <p:spPr>
            <a:xfrm>
              <a:off x="3314819" y="2362200"/>
              <a:ext cx="914400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124819" y="2133600"/>
              <a:ext cx="10051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Modularized</a:t>
              </a:r>
            </a:p>
            <a:p>
              <a:pPr algn="ctr"/>
              <a:r>
                <a:rPr lang="en-US" sz="1200" dirty="0" smtClean="0"/>
                <a:t> Units</a:t>
              </a:r>
              <a:endParaRPr lang="en-US" sz="1200" dirty="0"/>
            </a:p>
          </p:txBody>
        </p:sp>
        <p:sp>
          <p:nvSpPr>
            <p:cNvPr id="52" name="Cube 51"/>
            <p:cNvSpPr/>
            <p:nvPr/>
          </p:nvSpPr>
          <p:spPr>
            <a:xfrm>
              <a:off x="7976333" y="3371275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762619" y="4142601"/>
              <a:ext cx="1828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Modularization Engine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5181599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Design Principle #2: </a:t>
            </a:r>
            <a:r>
              <a:rPr lang="en-US" i="1" dirty="0" smtClean="0"/>
              <a:t>Abstraction</a:t>
            </a:r>
          </a:p>
          <a:p>
            <a:pPr lvl="1"/>
            <a:r>
              <a:rPr lang="en-US" dirty="0" smtClean="0"/>
              <a:t>Abstraction is the principle that focuses on essential characteristics of entities—in their active context—while deferring unnecessary details.</a:t>
            </a:r>
          </a:p>
          <a:p>
            <a:pPr lvl="1"/>
            <a:r>
              <a:rPr lang="en-US" dirty="0" smtClean="0"/>
              <a:t>While the principle of modularization specifies what needs to be done, the principle of abstraction provides guidance as to how it should be done.  Modularizing systems in ad-hoc manner leads to designs that are incoherent, hard to understand, and hard to maintain.</a:t>
            </a:r>
          </a:p>
          <a:p>
            <a:pPr lvl="1"/>
            <a:r>
              <a:rPr lang="en-US" dirty="0" smtClean="0"/>
              <a:t>Abstraction can be employed to extract essential characteristics of:</a:t>
            </a:r>
          </a:p>
          <a:p>
            <a:pPr lvl="2"/>
            <a:r>
              <a:rPr lang="en-US" dirty="0" smtClean="0"/>
              <a:t>Data</a:t>
            </a:r>
          </a:p>
          <a:p>
            <a:pPr lvl="2"/>
            <a:r>
              <a:rPr lang="en-US" dirty="0" smtClean="0"/>
              <a:t>Procedures or behavior</a:t>
            </a:r>
          </a:p>
          <a:p>
            <a:r>
              <a:rPr lang="en-US" i="1" dirty="0" smtClean="0"/>
              <a:t>Procedural abstraction</a:t>
            </a:r>
          </a:p>
          <a:p>
            <a:pPr lvl="1"/>
            <a:r>
              <a:rPr lang="en-US" dirty="0" smtClean="0"/>
              <a:t>Specific type of abstraction that simplifies reasoning about behavioral operations containing a sequence of steps.</a:t>
            </a:r>
          </a:p>
          <a:p>
            <a:pPr lvl="1"/>
            <a:r>
              <a:rPr lang="en-US" dirty="0" smtClean="0"/>
              <a:t>We use this all the time, e.g., consider the statement “</a:t>
            </a:r>
            <a:r>
              <a:rPr lang="en-US" i="1" dirty="0" smtClean="0"/>
              <a:t>Computer 1 </a:t>
            </a:r>
            <a:r>
              <a:rPr lang="en-US" b="1" i="1" dirty="0" smtClean="0">
                <a:solidFill>
                  <a:srgbClr val="FF0000"/>
                </a:solidFill>
              </a:rPr>
              <a:t>SENDS</a:t>
            </a:r>
            <a:r>
              <a:rPr lang="en-US" i="1" dirty="0" smtClean="0"/>
              <a:t> a message to server computer 2</a:t>
            </a:r>
            <a:r>
              <a:rPr lang="en-US" dirty="0" smtClean="0"/>
              <a:t>”</a:t>
            </a:r>
          </a:p>
          <a:p>
            <a:pPr lvl="2"/>
            <a:r>
              <a:rPr lang="en-US" dirty="0" smtClean="0"/>
              <a:t>Image if we had to say, e.g., “</a:t>
            </a:r>
            <a:r>
              <a:rPr lang="en-US" i="1" dirty="0" smtClean="0"/>
              <a:t>Computer 1 retrieves the server’s information, opens a TCP/IP connection, sends the message, waits for response, and closes the connection.</a:t>
            </a:r>
            <a:r>
              <a:rPr lang="en-US" dirty="0" smtClean="0"/>
              <a:t>”  Luckily, the procedural abstraction </a:t>
            </a:r>
            <a:r>
              <a:rPr lang="en-US" i="1" dirty="0" smtClean="0">
                <a:solidFill>
                  <a:srgbClr val="FF0000"/>
                </a:solidFill>
              </a:rPr>
              <a:t>SEND</a:t>
            </a:r>
            <a:r>
              <a:rPr lang="en-US" dirty="0" smtClean="0"/>
              <a:t> helps simplify the operations so that we can reason about this operations more efficiently.</a:t>
            </a:r>
          </a:p>
          <a:p>
            <a:r>
              <a:rPr lang="en-US" i="1" dirty="0" smtClean="0"/>
              <a:t>Data abstraction</a:t>
            </a:r>
          </a:p>
          <a:p>
            <a:pPr lvl="1"/>
            <a:r>
              <a:rPr lang="en-US" dirty="0" smtClean="0"/>
              <a:t>Specific type of abstraction that simplifies reasoning about structural composition of data objects.</a:t>
            </a:r>
          </a:p>
          <a:p>
            <a:pPr lvl="2"/>
            <a:r>
              <a:rPr lang="en-US" dirty="0" smtClean="0"/>
              <a:t>In the previous example, </a:t>
            </a:r>
            <a:r>
              <a:rPr lang="en-US" i="1" dirty="0" smtClean="0">
                <a:solidFill>
                  <a:srgbClr val="FF0000"/>
                </a:solidFill>
              </a:rPr>
              <a:t>MESSAGE</a:t>
            </a:r>
            <a:r>
              <a:rPr lang="en-US" dirty="0" smtClean="0"/>
              <a:t>  is an example of the data abstraction; the details of a </a:t>
            </a:r>
            <a:r>
              <a:rPr lang="en-US" i="1" dirty="0" smtClean="0">
                <a:solidFill>
                  <a:srgbClr val="FF0000"/>
                </a:solidFill>
              </a:rPr>
              <a:t>MESSAGE </a:t>
            </a:r>
            <a:r>
              <a:rPr lang="en-US" dirty="0" smtClean="0"/>
              <a:t>can be deferred to later stages of the design phase.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1175" y="4114800"/>
            <a:ext cx="56864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3047999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Design Principle #3: </a:t>
            </a:r>
            <a:r>
              <a:rPr lang="en-US" i="1" dirty="0" smtClean="0"/>
              <a:t>Encapsulation</a:t>
            </a:r>
          </a:p>
          <a:p>
            <a:pPr lvl="1"/>
            <a:r>
              <a:rPr lang="en-US" dirty="0" smtClean="0"/>
              <a:t>Principle that deals with providing access to the services of </a:t>
            </a:r>
            <a:r>
              <a:rPr lang="en-US" i="1" dirty="0" smtClean="0"/>
              <a:t>abstracted entities </a:t>
            </a:r>
            <a:r>
              <a:rPr lang="en-US" dirty="0" smtClean="0"/>
              <a:t>by exposing only the information that is essential to carry out such services while hiding details of how the services are carried out.</a:t>
            </a:r>
          </a:p>
          <a:p>
            <a:pPr lvl="1"/>
            <a:r>
              <a:rPr lang="en-US" dirty="0" smtClean="0"/>
              <a:t>When applied to data, encapsulation provides access only to the necessary data of abstracted entities, no more, no less.</a:t>
            </a:r>
          </a:p>
          <a:p>
            <a:pPr lvl="1"/>
            <a:r>
              <a:rPr lang="en-US" dirty="0" smtClean="0"/>
              <a:t>Encapsulation and abstraction go hand in hand.</a:t>
            </a:r>
          </a:p>
          <a:p>
            <a:pPr lvl="2"/>
            <a:r>
              <a:rPr lang="en-US" dirty="0" smtClean="0"/>
              <a:t>When we do abstraction, we hide details…</a:t>
            </a:r>
          </a:p>
          <a:p>
            <a:pPr lvl="2"/>
            <a:r>
              <a:rPr lang="en-US" dirty="0" smtClean="0"/>
              <a:t>When we do encapsulation, we revise our abstractions to enforce that abstracted entities only expose essential information, no more, no less. </a:t>
            </a:r>
          </a:p>
          <a:p>
            <a:pPr lvl="2"/>
            <a:r>
              <a:rPr lang="en-US" dirty="0" smtClean="0"/>
              <a:t>Encapsulation forces us to create good abstractions!</a:t>
            </a:r>
          </a:p>
          <a:p>
            <a:r>
              <a:rPr lang="en-US" dirty="0" smtClean="0"/>
              <a:t>The principles of modularization, abstraction, and encapsulation can be summarized below.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95400" y="6200001"/>
            <a:ext cx="2981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Focus on essential characteristics of entities</a:t>
            </a:r>
            <a:endParaRPr lang="en-US" sz="1200" dirty="0"/>
          </a:p>
        </p:txBody>
      </p:sp>
      <p:cxnSp>
        <p:nvCxnSpPr>
          <p:cNvPr id="11" name="Straight Arrow Connector 10"/>
          <p:cNvCxnSpPr>
            <a:stCxn id="9" idx="0"/>
          </p:cNvCxnSpPr>
          <p:nvPr/>
        </p:nvCxnSpPr>
        <p:spPr>
          <a:xfrm flipV="1">
            <a:off x="2786225" y="5791200"/>
            <a:ext cx="490375" cy="408801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48200" y="6200001"/>
            <a:ext cx="3305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Enforce that we only expose essential information</a:t>
            </a:r>
            <a:endParaRPr lang="en-US" sz="1200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5895975" y="5819775"/>
            <a:ext cx="500225" cy="380999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Design Principle #4: Coupling</a:t>
            </a:r>
          </a:p>
          <a:p>
            <a:pPr lvl="1"/>
            <a:r>
              <a:rPr lang="en-US" dirty="0" smtClean="0"/>
              <a:t>Refers to the manner and degree of interdependence between software modules.</a:t>
            </a:r>
          </a:p>
          <a:p>
            <a:pPr lvl="1"/>
            <a:r>
              <a:rPr lang="en-US" dirty="0" smtClean="0"/>
              <a:t>Measurement of dependency between units.  The higher the coupling, the higher the dependency and vice versa.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Cube 7"/>
          <p:cNvSpPr/>
          <p:nvPr/>
        </p:nvSpPr>
        <p:spPr>
          <a:xfrm>
            <a:off x="2971800" y="4100020"/>
            <a:ext cx="304800" cy="187811"/>
          </a:xfrm>
          <a:prstGeom prst="cub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 flipH="1">
            <a:off x="2914650" y="4115671"/>
            <a:ext cx="381000" cy="20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M1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1828800" y="5665112"/>
            <a:ext cx="2286000" cy="20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Module 1 (M1) with higher coupling</a:t>
            </a:r>
            <a:endParaRPr lang="en-US" sz="1000" dirty="0"/>
          </a:p>
        </p:txBody>
      </p:sp>
      <p:sp>
        <p:nvSpPr>
          <p:cNvPr id="11" name="Cube 10"/>
          <p:cNvSpPr/>
          <p:nvPr/>
        </p:nvSpPr>
        <p:spPr>
          <a:xfrm>
            <a:off x="2362200" y="3787001"/>
            <a:ext cx="304800" cy="187811"/>
          </a:xfrm>
          <a:prstGeom prst="cub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be 11"/>
          <p:cNvSpPr/>
          <p:nvPr/>
        </p:nvSpPr>
        <p:spPr>
          <a:xfrm>
            <a:off x="2895600" y="3411379"/>
            <a:ext cx="304800" cy="187811"/>
          </a:xfrm>
          <a:prstGeom prst="cub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be 12"/>
          <p:cNvSpPr/>
          <p:nvPr/>
        </p:nvSpPr>
        <p:spPr>
          <a:xfrm>
            <a:off x="3657600" y="4037416"/>
            <a:ext cx="304800" cy="187811"/>
          </a:xfrm>
          <a:prstGeom prst="cub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be 13"/>
          <p:cNvSpPr/>
          <p:nvPr/>
        </p:nvSpPr>
        <p:spPr>
          <a:xfrm>
            <a:off x="2209800" y="4350434"/>
            <a:ext cx="304800" cy="187811"/>
          </a:xfrm>
          <a:prstGeom prst="cub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be 14"/>
          <p:cNvSpPr/>
          <p:nvPr/>
        </p:nvSpPr>
        <p:spPr>
          <a:xfrm>
            <a:off x="3581400" y="4663453"/>
            <a:ext cx="304800" cy="187811"/>
          </a:xfrm>
          <a:prstGeom prst="cub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hape 16"/>
          <p:cNvCxnSpPr>
            <a:stCxn id="8" idx="2"/>
            <a:endCxn id="11" idx="3"/>
          </p:cNvCxnSpPr>
          <p:nvPr/>
        </p:nvCxnSpPr>
        <p:spPr>
          <a:xfrm rot="10800000">
            <a:off x="2486026" y="3974813"/>
            <a:ext cx="485775" cy="242589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8" idx="0"/>
            <a:endCxn id="12" idx="3"/>
          </p:cNvCxnSpPr>
          <p:nvPr/>
        </p:nvCxnSpPr>
        <p:spPr>
          <a:xfrm rot="16200000" flipV="1">
            <a:off x="2835685" y="3782930"/>
            <a:ext cx="500830" cy="13335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hape 23"/>
          <p:cNvCxnSpPr>
            <a:stCxn id="8" idx="5"/>
            <a:endCxn id="13" idx="3"/>
          </p:cNvCxnSpPr>
          <p:nvPr/>
        </p:nvCxnSpPr>
        <p:spPr>
          <a:xfrm>
            <a:off x="3276600" y="4170449"/>
            <a:ext cx="504825" cy="54778"/>
          </a:xfrm>
          <a:prstGeom prst="curvedConnector4">
            <a:avLst>
              <a:gd name="adj1" fmla="val 37736"/>
              <a:gd name="adj2" fmla="val 442857"/>
            </a:avLst>
          </a:prstGeom>
          <a:ln w="12700">
            <a:solidFill>
              <a:schemeClr val="tx1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hape 25"/>
          <p:cNvCxnSpPr>
            <a:stCxn id="13" idx="0"/>
            <a:endCxn id="12" idx="5"/>
          </p:cNvCxnSpPr>
          <p:nvPr/>
        </p:nvCxnSpPr>
        <p:spPr>
          <a:xfrm rot="16200000" flipV="1">
            <a:off x="3241685" y="3440525"/>
            <a:ext cx="555608" cy="638175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12" idx="2"/>
            <a:endCxn id="11" idx="0"/>
          </p:cNvCxnSpPr>
          <p:nvPr/>
        </p:nvCxnSpPr>
        <p:spPr>
          <a:xfrm rot="10800000" flipV="1">
            <a:off x="2543176" y="3528760"/>
            <a:ext cx="352425" cy="258240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hape 32"/>
          <p:cNvCxnSpPr>
            <a:stCxn id="8" idx="3"/>
            <a:endCxn id="14" idx="3"/>
          </p:cNvCxnSpPr>
          <p:nvPr/>
        </p:nvCxnSpPr>
        <p:spPr>
          <a:xfrm rot="5400000">
            <a:off x="2589418" y="4032038"/>
            <a:ext cx="250415" cy="762000"/>
          </a:xfrm>
          <a:prstGeom prst="curvedConnector3">
            <a:avLst>
              <a:gd name="adj1" fmla="val 175000"/>
            </a:avLst>
          </a:prstGeom>
          <a:ln w="12700">
            <a:solidFill>
              <a:schemeClr val="tx1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/>
          <p:cNvCxnSpPr>
            <a:stCxn id="8" idx="4"/>
            <a:endCxn id="15" idx="2"/>
          </p:cNvCxnSpPr>
          <p:nvPr/>
        </p:nvCxnSpPr>
        <p:spPr>
          <a:xfrm>
            <a:off x="3219450" y="4217402"/>
            <a:ext cx="361950" cy="563433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/>
          <p:cNvCxnSpPr>
            <a:stCxn id="13" idx="5"/>
            <a:endCxn id="15" idx="5"/>
          </p:cNvCxnSpPr>
          <p:nvPr/>
        </p:nvCxnSpPr>
        <p:spPr>
          <a:xfrm flipH="1">
            <a:off x="3886200" y="4107845"/>
            <a:ext cx="76200" cy="626037"/>
          </a:xfrm>
          <a:prstGeom prst="curvedConnector3">
            <a:avLst>
              <a:gd name="adj1" fmla="val -300000"/>
            </a:avLst>
          </a:prstGeom>
          <a:ln w="12700">
            <a:solidFill>
              <a:schemeClr val="tx1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hape 49"/>
          <p:cNvCxnSpPr>
            <a:stCxn id="15" idx="3"/>
            <a:endCxn id="14" idx="2"/>
          </p:cNvCxnSpPr>
          <p:nvPr/>
        </p:nvCxnSpPr>
        <p:spPr>
          <a:xfrm rot="5400000" flipH="1">
            <a:off x="2765789" y="3911828"/>
            <a:ext cx="383448" cy="1495425"/>
          </a:xfrm>
          <a:prstGeom prst="curvedConnector4">
            <a:avLst>
              <a:gd name="adj1" fmla="val -22449"/>
              <a:gd name="adj2" fmla="val 108281"/>
            </a:avLst>
          </a:prstGeom>
          <a:ln w="12700">
            <a:solidFill>
              <a:schemeClr val="tx1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/>
          <p:cNvCxnSpPr>
            <a:endCxn id="12" idx="0"/>
          </p:cNvCxnSpPr>
          <p:nvPr/>
        </p:nvCxnSpPr>
        <p:spPr>
          <a:xfrm rot="5400000" flipH="1" flipV="1">
            <a:off x="2142358" y="3478821"/>
            <a:ext cx="1001660" cy="866776"/>
          </a:xfrm>
          <a:prstGeom prst="curvedConnector3">
            <a:avLst>
              <a:gd name="adj1" fmla="val 109375"/>
            </a:avLst>
          </a:prstGeom>
          <a:ln w="12700">
            <a:solidFill>
              <a:schemeClr val="tx1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be 56"/>
          <p:cNvSpPr/>
          <p:nvPr/>
        </p:nvSpPr>
        <p:spPr>
          <a:xfrm>
            <a:off x="3886200" y="5226886"/>
            <a:ext cx="304800" cy="187811"/>
          </a:xfrm>
          <a:prstGeom prst="cub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hape 58"/>
          <p:cNvCxnSpPr>
            <a:stCxn id="15" idx="4"/>
            <a:endCxn id="57" idx="0"/>
          </p:cNvCxnSpPr>
          <p:nvPr/>
        </p:nvCxnSpPr>
        <p:spPr>
          <a:xfrm>
            <a:off x="3829050" y="4780835"/>
            <a:ext cx="238125" cy="446051"/>
          </a:xfrm>
          <a:prstGeom prst="curvedConnector2">
            <a:avLst/>
          </a:prstGeom>
          <a:ln w="12700">
            <a:solidFill>
              <a:srgbClr val="FF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be 59"/>
          <p:cNvSpPr/>
          <p:nvPr/>
        </p:nvSpPr>
        <p:spPr>
          <a:xfrm>
            <a:off x="2971800" y="5101679"/>
            <a:ext cx="304800" cy="187811"/>
          </a:xfrm>
          <a:prstGeom prst="cub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hape 61"/>
          <p:cNvCxnSpPr>
            <a:stCxn id="57" idx="3"/>
            <a:endCxn id="60" idx="4"/>
          </p:cNvCxnSpPr>
          <p:nvPr/>
        </p:nvCxnSpPr>
        <p:spPr>
          <a:xfrm rot="5400000" flipH="1">
            <a:off x="3516919" y="4921592"/>
            <a:ext cx="195637" cy="790575"/>
          </a:xfrm>
          <a:prstGeom prst="curvedConnector4">
            <a:avLst>
              <a:gd name="adj1" fmla="val -64000"/>
              <a:gd name="adj2" fmla="val 54217"/>
            </a:avLst>
          </a:prstGeom>
          <a:ln w="12700">
            <a:solidFill>
              <a:srgbClr val="FF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be 64"/>
          <p:cNvSpPr/>
          <p:nvPr/>
        </p:nvSpPr>
        <p:spPr>
          <a:xfrm>
            <a:off x="2209800" y="5289490"/>
            <a:ext cx="304800" cy="187811"/>
          </a:xfrm>
          <a:prstGeom prst="cub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hape 66"/>
          <p:cNvCxnSpPr>
            <a:endCxn id="65" idx="2"/>
          </p:cNvCxnSpPr>
          <p:nvPr/>
        </p:nvCxnSpPr>
        <p:spPr>
          <a:xfrm rot="10800000" flipV="1">
            <a:off x="2209800" y="5164282"/>
            <a:ext cx="733426" cy="242589"/>
          </a:xfrm>
          <a:prstGeom prst="curvedConnector3">
            <a:avLst>
              <a:gd name="adj1" fmla="val 131169"/>
            </a:avLst>
          </a:prstGeom>
          <a:ln w="12700">
            <a:solidFill>
              <a:srgbClr val="FF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hape 71"/>
          <p:cNvCxnSpPr>
            <a:stCxn id="65" idx="3"/>
            <a:endCxn id="60" idx="3"/>
          </p:cNvCxnSpPr>
          <p:nvPr/>
        </p:nvCxnSpPr>
        <p:spPr>
          <a:xfrm rot="5400000" flipH="1" flipV="1">
            <a:off x="2620719" y="5002395"/>
            <a:ext cx="187811" cy="762000"/>
          </a:xfrm>
          <a:prstGeom prst="curvedConnector3">
            <a:avLst>
              <a:gd name="adj1" fmla="val -37500"/>
            </a:avLst>
          </a:prstGeom>
          <a:ln w="12700">
            <a:solidFill>
              <a:srgbClr val="FF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76"/>
          <p:cNvCxnSpPr>
            <a:stCxn id="60" idx="0"/>
            <a:endCxn id="15" idx="3"/>
          </p:cNvCxnSpPr>
          <p:nvPr/>
        </p:nvCxnSpPr>
        <p:spPr>
          <a:xfrm rot="5400000" flipH="1" flipV="1">
            <a:off x="3303793" y="4700246"/>
            <a:ext cx="250415" cy="552450"/>
          </a:xfrm>
          <a:prstGeom prst="curvedConnector3">
            <a:avLst>
              <a:gd name="adj1" fmla="val 9375"/>
            </a:avLst>
          </a:prstGeom>
          <a:ln w="12700">
            <a:solidFill>
              <a:srgbClr val="FF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/>
          <p:cNvGrpSpPr/>
          <p:nvPr/>
        </p:nvGrpSpPr>
        <p:grpSpPr>
          <a:xfrm>
            <a:off x="4876800" y="3473983"/>
            <a:ext cx="2286000" cy="2393417"/>
            <a:chOff x="5715000" y="3352800"/>
            <a:chExt cx="2286000" cy="2913221"/>
          </a:xfrm>
        </p:grpSpPr>
        <p:sp>
          <p:nvSpPr>
            <p:cNvPr id="81" name="Cube 80"/>
            <p:cNvSpPr/>
            <p:nvPr/>
          </p:nvSpPr>
          <p:spPr>
            <a:xfrm>
              <a:off x="6629401" y="41910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/>
            <p:cNvSpPr txBox="1"/>
            <p:nvPr/>
          </p:nvSpPr>
          <p:spPr>
            <a:xfrm flipH="1">
              <a:off x="6572251" y="4210050"/>
              <a:ext cx="381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M1</a:t>
              </a:r>
              <a:endParaRPr lang="en-US" sz="1000" dirty="0"/>
            </a:p>
          </p:txBody>
        </p:sp>
        <p:sp>
          <p:nvSpPr>
            <p:cNvPr id="83" name="Cube 82"/>
            <p:cNvSpPr/>
            <p:nvPr/>
          </p:nvSpPr>
          <p:spPr>
            <a:xfrm>
              <a:off x="6019801" y="38100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Cube 83"/>
            <p:cNvSpPr/>
            <p:nvPr/>
          </p:nvSpPr>
          <p:spPr>
            <a:xfrm>
              <a:off x="6553201" y="33528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Cube 84"/>
            <p:cNvSpPr/>
            <p:nvPr/>
          </p:nvSpPr>
          <p:spPr>
            <a:xfrm>
              <a:off x="7315201" y="41148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ube 85"/>
            <p:cNvSpPr/>
            <p:nvPr/>
          </p:nvSpPr>
          <p:spPr>
            <a:xfrm>
              <a:off x="5867401" y="44958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Cube 86"/>
            <p:cNvSpPr/>
            <p:nvPr/>
          </p:nvSpPr>
          <p:spPr>
            <a:xfrm>
              <a:off x="7239001" y="48768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hape 87"/>
            <p:cNvCxnSpPr>
              <a:stCxn id="81" idx="2"/>
              <a:endCxn id="83" idx="3"/>
            </p:cNvCxnSpPr>
            <p:nvPr/>
          </p:nvCxnSpPr>
          <p:spPr>
            <a:xfrm rot="10800000">
              <a:off x="6143627" y="4038601"/>
              <a:ext cx="485775" cy="295275"/>
            </a:xfrm>
            <a:prstGeom prst="curvedConnector2">
              <a:avLst/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urved Connector 88"/>
            <p:cNvCxnSpPr>
              <a:stCxn id="81" idx="0"/>
              <a:endCxn id="84" idx="3"/>
            </p:cNvCxnSpPr>
            <p:nvPr/>
          </p:nvCxnSpPr>
          <p:spPr>
            <a:xfrm rot="16200000" flipV="1">
              <a:off x="6438901" y="3819525"/>
              <a:ext cx="609600" cy="133350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hape 90"/>
            <p:cNvCxnSpPr>
              <a:stCxn id="85" idx="0"/>
              <a:endCxn id="84" idx="5"/>
            </p:cNvCxnSpPr>
            <p:nvPr/>
          </p:nvCxnSpPr>
          <p:spPr>
            <a:xfrm rot="16200000" flipV="1">
              <a:off x="6838952" y="3457575"/>
              <a:ext cx="676275" cy="638175"/>
            </a:xfrm>
            <a:prstGeom prst="curvedConnector2">
              <a:avLst/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hape 91"/>
            <p:cNvCxnSpPr>
              <a:stCxn id="84" idx="2"/>
              <a:endCxn id="83" idx="0"/>
            </p:cNvCxnSpPr>
            <p:nvPr/>
          </p:nvCxnSpPr>
          <p:spPr>
            <a:xfrm rot="10800000" flipV="1">
              <a:off x="6200777" y="3495674"/>
              <a:ext cx="352425" cy="314325"/>
            </a:xfrm>
            <a:prstGeom prst="curvedConnector2">
              <a:avLst/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hape 32"/>
            <p:cNvCxnSpPr>
              <a:stCxn id="81" idx="3"/>
              <a:endCxn id="86" idx="3"/>
            </p:cNvCxnSpPr>
            <p:nvPr/>
          </p:nvCxnSpPr>
          <p:spPr>
            <a:xfrm rot="5400000">
              <a:off x="6219826" y="4191000"/>
              <a:ext cx="304800" cy="762000"/>
            </a:xfrm>
            <a:prstGeom prst="curvedConnector3">
              <a:avLst>
                <a:gd name="adj1" fmla="val 175000"/>
              </a:avLst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urved Connector 94"/>
            <p:cNvCxnSpPr>
              <a:stCxn id="85" idx="5"/>
              <a:endCxn id="87" idx="5"/>
            </p:cNvCxnSpPr>
            <p:nvPr/>
          </p:nvCxnSpPr>
          <p:spPr>
            <a:xfrm flipH="1">
              <a:off x="7543801" y="4200525"/>
              <a:ext cx="76200" cy="762000"/>
            </a:xfrm>
            <a:prstGeom prst="curvedConnector3">
              <a:avLst>
                <a:gd name="adj1" fmla="val -300000"/>
              </a:avLst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hape 95"/>
            <p:cNvCxnSpPr>
              <a:stCxn id="87" idx="3"/>
              <a:endCxn id="86" idx="2"/>
            </p:cNvCxnSpPr>
            <p:nvPr/>
          </p:nvCxnSpPr>
          <p:spPr>
            <a:xfrm rot="5400000" flipH="1">
              <a:off x="6381751" y="4124326"/>
              <a:ext cx="466725" cy="1495425"/>
            </a:xfrm>
            <a:prstGeom prst="curvedConnector4">
              <a:avLst>
                <a:gd name="adj1" fmla="val -22449"/>
                <a:gd name="adj2" fmla="val 108281"/>
              </a:avLst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urved Connector 96"/>
            <p:cNvCxnSpPr>
              <a:endCxn id="84" idx="0"/>
            </p:cNvCxnSpPr>
            <p:nvPr/>
          </p:nvCxnSpPr>
          <p:spPr>
            <a:xfrm rot="5400000" flipH="1" flipV="1">
              <a:off x="5691188" y="3529013"/>
              <a:ext cx="1219201" cy="866776"/>
            </a:xfrm>
            <a:prstGeom prst="curvedConnector3">
              <a:avLst>
                <a:gd name="adj1" fmla="val 109375"/>
              </a:avLst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Cube 97"/>
            <p:cNvSpPr/>
            <p:nvPr/>
          </p:nvSpPr>
          <p:spPr>
            <a:xfrm>
              <a:off x="7543801" y="55626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hape 98"/>
            <p:cNvCxnSpPr>
              <a:stCxn id="87" idx="4"/>
              <a:endCxn id="98" idx="0"/>
            </p:cNvCxnSpPr>
            <p:nvPr/>
          </p:nvCxnSpPr>
          <p:spPr>
            <a:xfrm>
              <a:off x="7486651" y="5019675"/>
              <a:ext cx="238125" cy="542925"/>
            </a:xfrm>
            <a:prstGeom prst="curvedConnector2">
              <a:avLst/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Cube 99"/>
            <p:cNvSpPr/>
            <p:nvPr/>
          </p:nvSpPr>
          <p:spPr>
            <a:xfrm>
              <a:off x="6629401" y="54102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hape 100"/>
            <p:cNvCxnSpPr>
              <a:stCxn id="98" idx="3"/>
              <a:endCxn id="100" idx="4"/>
            </p:cNvCxnSpPr>
            <p:nvPr/>
          </p:nvCxnSpPr>
          <p:spPr>
            <a:xfrm rot="5400000" flipH="1">
              <a:off x="7153276" y="5276851"/>
              <a:ext cx="238125" cy="790575"/>
            </a:xfrm>
            <a:prstGeom prst="curvedConnector4">
              <a:avLst>
                <a:gd name="adj1" fmla="val -64000"/>
                <a:gd name="adj2" fmla="val 54217"/>
              </a:avLst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Cube 101"/>
            <p:cNvSpPr/>
            <p:nvPr/>
          </p:nvSpPr>
          <p:spPr>
            <a:xfrm>
              <a:off x="5867401" y="5638800"/>
              <a:ext cx="304800" cy="228600"/>
            </a:xfrm>
            <a:prstGeom prst="cube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Shape 66"/>
            <p:cNvCxnSpPr>
              <a:endCxn id="102" idx="2"/>
            </p:cNvCxnSpPr>
            <p:nvPr/>
          </p:nvCxnSpPr>
          <p:spPr>
            <a:xfrm rot="10800000" flipV="1">
              <a:off x="5867401" y="5486399"/>
              <a:ext cx="733426" cy="295275"/>
            </a:xfrm>
            <a:prstGeom prst="curvedConnector3">
              <a:avLst>
                <a:gd name="adj1" fmla="val 131169"/>
              </a:avLst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hape 71"/>
            <p:cNvCxnSpPr>
              <a:stCxn id="102" idx="3"/>
              <a:endCxn id="100" idx="3"/>
            </p:cNvCxnSpPr>
            <p:nvPr/>
          </p:nvCxnSpPr>
          <p:spPr>
            <a:xfrm rot="5400000" flipH="1" flipV="1">
              <a:off x="6257926" y="5372100"/>
              <a:ext cx="228600" cy="762000"/>
            </a:xfrm>
            <a:prstGeom prst="curvedConnector3">
              <a:avLst>
                <a:gd name="adj1" fmla="val -37500"/>
              </a:avLst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/>
            <p:cNvCxnSpPr>
              <a:stCxn id="100" idx="0"/>
              <a:endCxn id="87" idx="3"/>
            </p:cNvCxnSpPr>
            <p:nvPr/>
          </p:nvCxnSpPr>
          <p:spPr>
            <a:xfrm rot="5400000" flipH="1" flipV="1">
              <a:off x="6934201" y="4981575"/>
              <a:ext cx="304800" cy="552450"/>
            </a:xfrm>
            <a:prstGeom prst="curvedConnector3">
              <a:avLst>
                <a:gd name="adj1" fmla="val 9375"/>
              </a:avLst>
            </a:prstGeom>
            <a:ln w="12700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/>
          </p:nvSpPr>
          <p:spPr>
            <a:xfrm>
              <a:off x="5715000" y="6019800"/>
              <a:ext cx="228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Module 1 (M1) with lower coupling</a:t>
              </a:r>
              <a:endParaRPr lang="en-US" sz="1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Important types of coupling include:</a:t>
            </a:r>
          </a:p>
          <a:p>
            <a:pPr lvl="1"/>
            <a:r>
              <a:rPr lang="en-US" dirty="0" smtClean="0"/>
              <a:t>Content coupling</a:t>
            </a:r>
          </a:p>
          <a:p>
            <a:pPr lvl="2"/>
            <a:r>
              <a:rPr lang="en-US" dirty="0" smtClean="0"/>
              <a:t>The most severe type, since it refers to modules that modify and rely on internal information of other modules.</a:t>
            </a:r>
          </a:p>
          <a:p>
            <a:pPr lvl="1"/>
            <a:r>
              <a:rPr lang="en-US" dirty="0" smtClean="0"/>
              <a:t>Common coupling</a:t>
            </a:r>
          </a:p>
          <a:p>
            <a:pPr lvl="2"/>
            <a:r>
              <a:rPr lang="en-US" dirty="0" smtClean="0"/>
              <a:t>Refers to dependencies based on common access areas, e.g., global variables.</a:t>
            </a:r>
          </a:p>
          <a:p>
            <a:pPr lvl="2"/>
            <a:r>
              <a:rPr lang="en-US" dirty="0" smtClean="0"/>
              <a:t>When this occurs, changes to the global area causes changes in all dependent modules.</a:t>
            </a:r>
          </a:p>
          <a:p>
            <a:pPr lvl="2"/>
            <a:r>
              <a:rPr lang="en-US" dirty="0" smtClean="0"/>
              <a:t>Lesser severity than content coupling.</a:t>
            </a:r>
          </a:p>
          <a:p>
            <a:pPr lvl="1"/>
            <a:r>
              <a:rPr lang="en-US" dirty="0" smtClean="0"/>
              <a:t>Data coupling</a:t>
            </a:r>
          </a:p>
          <a:p>
            <a:pPr lvl="2"/>
            <a:r>
              <a:rPr lang="en-US" dirty="0" smtClean="0"/>
              <a:t>Dependency through data passed between modules, e.g., through function parameters.</a:t>
            </a:r>
          </a:p>
          <a:p>
            <a:pPr lvl="2"/>
            <a:r>
              <a:rPr lang="en-US" dirty="0" smtClean="0"/>
              <a:t>Does not depend on other modules’ internals or globally accessible data, therefore, design units are shielded from changes in other places.</a:t>
            </a:r>
          </a:p>
          <a:p>
            <a:r>
              <a:rPr lang="en-US" dirty="0" smtClean="0"/>
              <a:t>In all cases, a high degree of coupling gives rise to negative side effects.</a:t>
            </a:r>
          </a:p>
          <a:p>
            <a:pPr lvl="1"/>
            <a:r>
              <a:rPr lang="en-US" dirty="0" smtClean="0"/>
              <a:t>Quality, in terms of reusability and maintainability, decrease.</a:t>
            </a:r>
          </a:p>
          <a:p>
            <a:pPr lvl="1"/>
            <a:r>
              <a:rPr lang="en-US" dirty="0" smtClean="0"/>
              <a:t>When coupling increase, so does complexity of managing and maintaining design units.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31241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Design Principle #5: </a:t>
            </a:r>
            <a:r>
              <a:rPr lang="en-US" i="1" dirty="0" smtClean="0"/>
              <a:t>Cohesion</a:t>
            </a:r>
          </a:p>
          <a:p>
            <a:pPr lvl="1"/>
            <a:r>
              <a:rPr lang="en-US" dirty="0" smtClean="0"/>
              <a:t>The manner and degree to which the tasks performed by a single software module are related to one another.</a:t>
            </a:r>
          </a:p>
          <a:p>
            <a:pPr lvl="1"/>
            <a:r>
              <a:rPr lang="en-US" dirty="0" smtClean="0"/>
              <a:t>Measures how well design units are put together for achieving a particular tasks.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Cohesion can be classified as:</a:t>
            </a:r>
          </a:p>
          <a:p>
            <a:pPr lvl="1"/>
            <a:r>
              <a:rPr lang="en-US" dirty="0" smtClean="0"/>
              <a:t>Functional cohesion</a:t>
            </a:r>
          </a:p>
          <a:p>
            <a:pPr lvl="1"/>
            <a:r>
              <a:rPr lang="en-US" dirty="0" smtClean="0"/>
              <a:t>Procedural (or sequential) cohesion</a:t>
            </a:r>
          </a:p>
          <a:p>
            <a:pPr lvl="1"/>
            <a:r>
              <a:rPr lang="en-US" dirty="0" smtClean="0"/>
              <a:t>Temporal cohesion</a:t>
            </a:r>
          </a:p>
          <a:p>
            <a:pPr lvl="1"/>
            <a:r>
              <a:rPr lang="en-US" dirty="0" smtClean="0"/>
              <a:t>Communication cohesion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High cohesion good, low cohesion bad…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514600"/>
            <a:ext cx="34290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Principle #6: </a:t>
            </a:r>
            <a:r>
              <a:rPr lang="en-US" i="1" dirty="0" smtClean="0"/>
              <a:t>Separation of Interface and Implementation</a:t>
            </a:r>
          </a:p>
          <a:p>
            <a:pPr lvl="1"/>
            <a:r>
              <a:rPr lang="en-US" dirty="0" smtClean="0"/>
              <a:t>Deals with creating modules in such way that a stable interface is identified and separated from its implementation.</a:t>
            </a:r>
          </a:p>
          <a:p>
            <a:pPr lvl="1"/>
            <a:r>
              <a:rPr lang="en-US" dirty="0" smtClean="0"/>
              <a:t>Not the same thing as encapsulation!</a:t>
            </a:r>
          </a:p>
          <a:p>
            <a:pPr lvl="1"/>
            <a:r>
              <a:rPr lang="en-US" dirty="0" smtClean="0"/>
              <a:t>While encapsulation dictates hiding the details of implementation, this principle dictates their separation, so that different implementations of the same interface can be swapped to provide modified or new behavior.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3962400"/>
            <a:ext cx="2962275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Principle #7: </a:t>
            </a:r>
            <a:r>
              <a:rPr lang="en-US" i="1" dirty="0" smtClean="0"/>
              <a:t>Sufficiency</a:t>
            </a:r>
          </a:p>
          <a:p>
            <a:pPr lvl="1"/>
            <a:r>
              <a:rPr lang="en-US" dirty="0" smtClean="0"/>
              <a:t>Deals with capturing enough characteristics of the abstraction to permit meaningful interaction</a:t>
            </a:r>
          </a:p>
          <a:p>
            <a:pPr lvl="1"/>
            <a:r>
              <a:rPr lang="en-US" dirty="0" smtClean="0"/>
              <a:t>Must provide a full set of operations to allow a client proper interaction with the abstraction.</a:t>
            </a:r>
          </a:p>
          <a:p>
            <a:pPr lvl="1"/>
            <a:r>
              <a:rPr lang="en-US" dirty="0" smtClean="0"/>
              <a:t>Implies minimal interface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Design Principle #8: </a:t>
            </a:r>
            <a:r>
              <a:rPr lang="en-US" i="1" dirty="0" smtClean="0"/>
              <a:t>Completeness</a:t>
            </a:r>
          </a:p>
          <a:p>
            <a:pPr lvl="1"/>
            <a:r>
              <a:rPr lang="en-US" dirty="0" smtClean="0"/>
              <a:t>Deals with interface capturing all the essential characteristics of the abstraction.</a:t>
            </a:r>
          </a:p>
          <a:p>
            <a:pPr lvl="1"/>
            <a:r>
              <a:rPr lang="en-US" dirty="0" smtClean="0"/>
              <a:t>Implies an interface general enough for any prospective client </a:t>
            </a:r>
          </a:p>
          <a:p>
            <a:pPr lvl="1"/>
            <a:r>
              <a:rPr lang="en-US" dirty="0" smtClean="0"/>
              <a:t>Completeness is subjective, and carried too far can have unwanted results. </a:t>
            </a:r>
            <a:endParaRPr lang="en-US" i="1" dirty="0" smtClean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518159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Object-oriented design strategy</a:t>
            </a:r>
          </a:p>
          <a:p>
            <a:pPr lvl="1"/>
            <a:r>
              <a:rPr lang="en-US" dirty="0" smtClean="0"/>
              <a:t>Design strategy in which a system or component is expressed in terms of objects and connections between those objects.</a:t>
            </a:r>
          </a:p>
          <a:p>
            <a:pPr lvl="1"/>
            <a:r>
              <a:rPr lang="en-US" dirty="0" smtClean="0"/>
              <a:t>Focuses on object decomposition.</a:t>
            </a:r>
          </a:p>
          <a:p>
            <a:pPr lvl="2"/>
            <a:r>
              <a:rPr lang="en-US" dirty="0" smtClean="0"/>
              <a:t>Objects have state</a:t>
            </a:r>
          </a:p>
          <a:p>
            <a:pPr lvl="2"/>
            <a:r>
              <a:rPr lang="en-US" dirty="0" smtClean="0"/>
              <a:t>Objects have well-defined behavior</a:t>
            </a:r>
          </a:p>
          <a:p>
            <a:pPr lvl="2"/>
            <a:r>
              <a:rPr lang="en-US" dirty="0" smtClean="0"/>
              <a:t>Objects have unique identity</a:t>
            </a:r>
          </a:p>
          <a:p>
            <a:pPr lvl="1"/>
            <a:r>
              <a:rPr lang="en-US" dirty="0" smtClean="0"/>
              <a:t>Supports inheritance and polymorphism</a:t>
            </a:r>
          </a:p>
          <a:p>
            <a:endParaRPr lang="en-US" dirty="0" smtClean="0"/>
          </a:p>
          <a:p>
            <a:r>
              <a:rPr lang="en-US" dirty="0" smtClean="0"/>
              <a:t>Structured (or Functional) design strategy</a:t>
            </a:r>
          </a:p>
          <a:p>
            <a:pPr lvl="1"/>
            <a:r>
              <a:rPr lang="en-US" dirty="0" smtClean="0"/>
              <a:t>Design strategy in which a system or component is decomposed into single-purpose, independent modules, using an iterative top-down approach.</a:t>
            </a:r>
          </a:p>
          <a:p>
            <a:pPr lvl="1"/>
            <a:r>
              <a:rPr lang="en-US" dirty="0" smtClean="0"/>
              <a:t>Focuses on </a:t>
            </a:r>
          </a:p>
          <a:p>
            <a:pPr lvl="2"/>
            <a:r>
              <a:rPr lang="en-US" dirty="0" smtClean="0"/>
              <a:t>Functions that the system needs to provide,</a:t>
            </a:r>
          </a:p>
          <a:p>
            <a:pPr lvl="2"/>
            <a:r>
              <a:rPr lang="en-US" dirty="0" smtClean="0"/>
              <a:t>the decomposition of these functions, and </a:t>
            </a:r>
          </a:p>
          <a:p>
            <a:pPr lvl="2"/>
            <a:r>
              <a:rPr lang="en-US" dirty="0" smtClean="0"/>
              <a:t>The creation of modules that incorporate  these functions.</a:t>
            </a:r>
          </a:p>
          <a:p>
            <a:pPr lvl="1"/>
            <a:r>
              <a:rPr lang="en-US" dirty="0" smtClean="0"/>
              <a:t>Largely inappropriate for use with object-oriented programming languages.</a:t>
            </a:r>
          </a:p>
          <a:p>
            <a:pPr lvl="2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Practical Software Design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for minimizing complexity</a:t>
            </a:r>
          </a:p>
          <a:p>
            <a:pPr lvl="1"/>
            <a:r>
              <a:rPr lang="en-US" dirty="0" smtClean="0"/>
              <a:t>Design is about minimizing complexity.</a:t>
            </a:r>
          </a:p>
          <a:p>
            <a:pPr lvl="1"/>
            <a:r>
              <a:rPr lang="en-US" dirty="0" smtClean="0"/>
              <a:t>Every decision that is made during design must take into account reducing complexity [1].</a:t>
            </a:r>
          </a:p>
          <a:p>
            <a:pPr lvl="1"/>
            <a:r>
              <a:rPr lang="en-US" dirty="0" smtClean="0"/>
              <a:t>When faced with competing design option, always choose the one that minimizes complexity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Design for change</a:t>
            </a:r>
          </a:p>
          <a:p>
            <a:pPr lvl="1"/>
            <a:r>
              <a:rPr lang="en-US" dirty="0" smtClean="0"/>
              <a:t>Software will change, design with extension in mind.</a:t>
            </a:r>
          </a:p>
          <a:p>
            <a:pPr lvl="1"/>
            <a:r>
              <a:rPr lang="en-US" dirty="0" smtClean="0"/>
              <a:t>A variety of techniques can be employed through the design phase to achieve this.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 the next session, we will explore a popular design language, the Unified Modeling Language, specifically,</a:t>
            </a:r>
          </a:p>
          <a:p>
            <a:pPr lvl="1"/>
            <a:r>
              <a:rPr lang="en-US" dirty="0" smtClean="0"/>
              <a:t>What is UML?</a:t>
            </a:r>
          </a:p>
          <a:p>
            <a:pPr lvl="1"/>
            <a:r>
              <a:rPr lang="en-US" dirty="0" smtClean="0"/>
              <a:t>UML Fundamentals</a:t>
            </a:r>
          </a:p>
          <a:p>
            <a:pPr lvl="1"/>
            <a:r>
              <a:rPr lang="en-US" dirty="0" smtClean="0"/>
              <a:t>Structural Modeling</a:t>
            </a:r>
          </a:p>
          <a:p>
            <a:pPr lvl="1"/>
            <a:r>
              <a:rPr lang="en-US" dirty="0" smtClean="0"/>
              <a:t>Behavioral Modeling</a:t>
            </a:r>
          </a:p>
          <a:p>
            <a:pPr lvl="1"/>
            <a:r>
              <a:rPr lang="en-US" dirty="0" smtClean="0"/>
              <a:t>…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UML will be heavily used to explain design concepts throughout the course.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[1] McConnell, Steve.  Code Complete, 2d ed. Redmond, WA: Microsoft Press, 2004.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8/24/2012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Va-Wise-Clean-B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UVa-Wise-Clean-BW</Template>
  <TotalTime>4547</TotalTime>
  <Words>1714</Words>
  <Application>Microsoft Office PowerPoint</Application>
  <PresentationFormat>On-screen Show (4:3)</PresentationFormat>
  <Paragraphs>249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UVa-Wise-Clean-BW</vt:lpstr>
      <vt:lpstr>Chapter 1: Introduction to  Software Engineering Design </vt:lpstr>
      <vt:lpstr>Session’s Agenda</vt:lpstr>
      <vt:lpstr>Roles of Software Designers</vt:lpstr>
      <vt:lpstr>Software Design Fundamentals</vt:lpstr>
      <vt:lpstr>Software Design Fundamentals</vt:lpstr>
      <vt:lpstr>Software Design Fundamentals - Modularization</vt:lpstr>
      <vt:lpstr>Software Design Fundamentals</vt:lpstr>
      <vt:lpstr>Software Design Fundamentals</vt:lpstr>
      <vt:lpstr>Software Design Fundamentals</vt:lpstr>
      <vt:lpstr>Software Design Fundamentals</vt:lpstr>
      <vt:lpstr>Software Design Fundamentals</vt:lpstr>
      <vt:lpstr>Software Design Fundamentals</vt:lpstr>
      <vt:lpstr>Software Design Fundamentals</vt:lpstr>
      <vt:lpstr>Software Design Strategies</vt:lpstr>
      <vt:lpstr>Practical Software Design Considerations</vt:lpstr>
      <vt:lpstr>What’s next…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and Simulation</dc:title>
  <dc:creator>ceo7k</dc:creator>
  <cp:lastModifiedBy>cotero</cp:lastModifiedBy>
  <cp:revision>419</cp:revision>
  <dcterms:created xsi:type="dcterms:W3CDTF">2006-08-16T00:00:00Z</dcterms:created>
  <dcterms:modified xsi:type="dcterms:W3CDTF">2012-10-02T11:46:37Z</dcterms:modified>
</cp:coreProperties>
</file>
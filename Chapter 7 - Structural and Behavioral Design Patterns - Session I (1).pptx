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7" r:id="rId3"/>
    <p:sldId id="470" r:id="rId4"/>
    <p:sldId id="471" r:id="rId5"/>
    <p:sldId id="472" r:id="rId6"/>
    <p:sldId id="473" r:id="rId7"/>
    <p:sldId id="474" r:id="rId8"/>
    <p:sldId id="476" r:id="rId9"/>
    <p:sldId id="477" r:id="rId10"/>
    <p:sldId id="478" r:id="rId11"/>
    <p:sldId id="475" r:id="rId12"/>
    <p:sldId id="480" r:id="rId13"/>
    <p:sldId id="481" r:id="rId14"/>
    <p:sldId id="483" r:id="rId15"/>
    <p:sldId id="482" r:id="rId16"/>
    <p:sldId id="484" r:id="rId17"/>
    <p:sldId id="485" r:id="rId18"/>
    <p:sldId id="486" r:id="rId19"/>
    <p:sldId id="487" r:id="rId20"/>
    <p:sldId id="488" r:id="rId21"/>
    <p:sldId id="489" r:id="rId22"/>
    <p:sldId id="490" r:id="rId23"/>
    <p:sldId id="491" r:id="rId24"/>
    <p:sldId id="493" r:id="rId25"/>
    <p:sldId id="494" r:id="rId26"/>
    <p:sldId id="496" r:id="rId27"/>
    <p:sldId id="495" r:id="rId28"/>
    <p:sldId id="497" r:id="rId29"/>
    <p:sldId id="498" r:id="rId30"/>
    <p:sldId id="336" r:id="rId31"/>
    <p:sldId id="404" r:id="rId3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17/11/2013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17/11/2013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17/11/2013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17/11/2013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17/11/2013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17/11/2013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17/11/2013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17/11/2013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17/11/2013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17/11/2013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17/11/2013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17/11/2013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17/11/2013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7: Structural and Behavioral </a:t>
            </a:r>
            <a:br>
              <a:rPr lang="en-US" dirty="0" smtClean="0"/>
            </a:br>
            <a:r>
              <a:rPr lang="en-US" dirty="0" smtClean="0"/>
              <a:t>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 Adapter, Composite, Facade</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17/11/2013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smtClean="0"/>
          </a:p>
          <a:p>
            <a:r>
              <a:rPr lang="en-US" dirty="0" smtClean="0"/>
              <a:t>Structural Patterns in Detailed Design</a:t>
            </a:r>
          </a:p>
          <a:p>
            <a:pPr lvl="1"/>
            <a:endParaRPr lang="en-US" dirty="0" smtClean="0"/>
          </a:p>
          <a:p>
            <a:r>
              <a:rPr lang="en-US" dirty="0" smtClean="0"/>
              <a:t>Adapter</a:t>
            </a:r>
          </a:p>
          <a:p>
            <a:pPr lvl="1"/>
            <a:r>
              <a:rPr lang="en-US" dirty="0" smtClean="0"/>
              <a:t>Character adapter example</a:t>
            </a:r>
          </a:p>
          <a:p>
            <a:pPr lvl="1"/>
            <a:endParaRPr lang="en-US" dirty="0" smtClean="0"/>
          </a:p>
          <a:p>
            <a:r>
              <a:rPr lang="en-US" dirty="0" smtClean="0"/>
              <a:t>Composite</a:t>
            </a:r>
          </a:p>
          <a:p>
            <a:pPr lvl="1"/>
            <a:r>
              <a:rPr lang="en-US" dirty="0" smtClean="0"/>
              <a:t>Message generator example</a:t>
            </a:r>
          </a:p>
          <a:p>
            <a:pPr lvl="1"/>
            <a:endParaRPr lang="en-US" dirty="0" smtClean="0"/>
          </a:p>
          <a:p>
            <a:r>
              <a:rPr lang="en-US" dirty="0" smtClean="0"/>
              <a:t>Facade</a:t>
            </a:r>
          </a:p>
          <a:p>
            <a:pPr lvl="1"/>
            <a:r>
              <a:rPr lang="en-US" dirty="0" smtClean="0"/>
              <a:t>Subsystem interface example</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Design Patterns</a:t>
            </a:r>
            <a:endParaRPr lang="en-US" dirty="0"/>
          </a:p>
        </p:txBody>
      </p:sp>
      <p:sp>
        <p:nvSpPr>
          <p:cNvPr id="3" name="Content Placeholder 2"/>
          <p:cNvSpPr>
            <a:spLocks noGrp="1"/>
          </p:cNvSpPr>
          <p:nvPr>
            <p:ph idx="1"/>
          </p:nvPr>
        </p:nvSpPr>
        <p:spPr/>
        <p:txBody>
          <a:bodyPr/>
          <a:lstStyle/>
          <a:p>
            <a:r>
              <a:rPr lang="en-US" dirty="0" smtClean="0"/>
              <a:t>Structural design patterns are patterns that deal with designing larger structures from existing classes or objects at run time.</a:t>
            </a:r>
          </a:p>
          <a:p>
            <a:pPr lvl="1"/>
            <a:r>
              <a:rPr lang="en-US" dirty="0" smtClean="0"/>
              <a:t>They play a key role in the design and evolution of systems by allowing integration of new designs with existing ones, via object composition (i.e., object structural) or inheritance (i.e., class structural).</a:t>
            </a:r>
          </a:p>
          <a:p>
            <a:pPr lvl="1"/>
            <a:endParaRPr lang="en-US" dirty="0" smtClean="0"/>
          </a:p>
          <a:p>
            <a:r>
              <a:rPr lang="en-US" dirty="0" smtClean="0"/>
              <a:t>Popular structural design patterns include:</a:t>
            </a:r>
          </a:p>
          <a:p>
            <a:pPr lvl="1"/>
            <a:r>
              <a:rPr lang="en-US" dirty="0" smtClean="0"/>
              <a:t>Adapter</a:t>
            </a:r>
          </a:p>
          <a:p>
            <a:pPr lvl="1"/>
            <a:r>
              <a:rPr lang="en-US" dirty="0" smtClean="0"/>
              <a:t>Composite</a:t>
            </a:r>
          </a:p>
          <a:p>
            <a:pPr lvl="1"/>
            <a:r>
              <a:rPr lang="en-US" dirty="0" smtClean="0"/>
              <a:t>Facade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a:t>
            </a:r>
            <a:endParaRPr lang="en-US" dirty="0"/>
          </a:p>
        </p:txBody>
      </p:sp>
      <p:sp>
        <p:nvSpPr>
          <p:cNvPr id="3" name="Content Placeholder 2"/>
          <p:cNvSpPr>
            <a:spLocks noGrp="1"/>
          </p:cNvSpPr>
          <p:nvPr>
            <p:ph idx="1"/>
          </p:nvPr>
        </p:nvSpPr>
        <p:spPr>
          <a:xfrm>
            <a:off x="457200" y="1371601"/>
            <a:ext cx="8229600" cy="2362199"/>
          </a:xfrm>
        </p:spPr>
        <p:txBody>
          <a:bodyPr/>
          <a:lstStyle/>
          <a:p>
            <a:r>
              <a:rPr lang="en-US" dirty="0" smtClean="0"/>
              <a:t>The Adapter design pattern is a class/object structural design pattern used to adapt </a:t>
            </a:r>
            <a:r>
              <a:rPr lang="en-US" smtClean="0"/>
              <a:t>an </a:t>
            </a:r>
            <a:r>
              <a:rPr lang="en-US" smtClean="0"/>
              <a:t>existing </a:t>
            </a:r>
            <a:r>
              <a:rPr lang="en-US" dirty="0" smtClean="0"/>
              <a:t>interface that is expected in a software system.</a:t>
            </a:r>
          </a:p>
          <a:p>
            <a:endParaRPr lang="en-US" dirty="0" smtClean="0"/>
          </a:p>
          <a:p>
            <a:r>
              <a:rPr lang="en-US" dirty="0" smtClean="0"/>
              <a:t>According to the </a:t>
            </a:r>
            <a:r>
              <a:rPr lang="en-US" dirty="0" err="1" smtClean="0"/>
              <a:t>GoF</a:t>
            </a:r>
            <a:r>
              <a:rPr lang="en-US" dirty="0" smtClean="0"/>
              <a:t>, the intent of the Adapter is to [1],</a:t>
            </a:r>
          </a:p>
          <a:p>
            <a:pPr lvl="1"/>
            <a:r>
              <a:rPr lang="en-US" dirty="0" smtClean="0"/>
              <a:t>Convert the interface of a class into another interface clients expect.  Adapter lets classes work together that couldn’t otherwise because of incompatible interfaces.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1066800" y="3962400"/>
            <a:ext cx="2914650" cy="1533525"/>
          </a:xfrm>
          <a:prstGeom prst="rect">
            <a:avLst/>
          </a:prstGeom>
          <a:noFill/>
          <a:ln w="9525">
            <a:noFill/>
            <a:miter lim="800000"/>
            <a:headEnd/>
            <a:tailEnd/>
          </a:ln>
        </p:spPr>
      </p:pic>
      <p:sp>
        <p:nvSpPr>
          <p:cNvPr id="9" name="TextBox 8"/>
          <p:cNvSpPr txBox="1"/>
          <p:nvPr/>
        </p:nvSpPr>
        <p:spPr>
          <a:xfrm>
            <a:off x="1066800" y="56388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Class Structural version of Adapter Pattern</a:t>
            </a:r>
            <a:endParaRPr lang="en-US" sz="1200" b="1" dirty="0">
              <a:solidFill>
                <a:srgbClr val="C00000"/>
              </a:solidFill>
              <a:latin typeface="Bradley Hand ITC" pitchFamily="66" charset="0"/>
            </a:endParaRPr>
          </a:p>
        </p:txBody>
      </p:sp>
      <p:sp>
        <p:nvSpPr>
          <p:cNvPr id="10" name="TextBox 9"/>
          <p:cNvSpPr txBox="1"/>
          <p:nvPr/>
        </p:nvSpPr>
        <p:spPr>
          <a:xfrm>
            <a:off x="5715000" y="57150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Object Structural version of Adapter Pattern</a:t>
            </a:r>
            <a:endParaRPr lang="en-US" sz="1200" b="1" dirty="0">
              <a:solidFill>
                <a:srgbClr val="C00000"/>
              </a:solidFill>
              <a:latin typeface="Bradley Hand ITC" pitchFamily="66" charset="0"/>
            </a:endParaRPr>
          </a:p>
        </p:txBody>
      </p:sp>
      <p:grpSp>
        <p:nvGrpSpPr>
          <p:cNvPr id="12" name="Group 11"/>
          <p:cNvGrpSpPr/>
          <p:nvPr/>
        </p:nvGrpSpPr>
        <p:grpSpPr>
          <a:xfrm>
            <a:off x="4981575" y="4038600"/>
            <a:ext cx="3324225" cy="1438275"/>
            <a:chOff x="4829175" y="4191000"/>
            <a:chExt cx="3324225" cy="1438275"/>
          </a:xfrm>
        </p:grpSpPr>
        <p:pic>
          <p:nvPicPr>
            <p:cNvPr id="1027" name="Picture 3"/>
            <p:cNvPicPr>
              <a:picLocks noChangeAspect="1" noChangeArrowheads="1"/>
            </p:cNvPicPr>
            <p:nvPr/>
          </p:nvPicPr>
          <p:blipFill>
            <a:blip r:embed="rId3" cstate="print"/>
            <a:srcRect/>
            <a:stretch>
              <a:fillRect/>
            </a:stretch>
          </p:blipFill>
          <p:spPr bwMode="auto">
            <a:xfrm>
              <a:off x="4829175" y="4229100"/>
              <a:ext cx="3324225" cy="1400175"/>
            </a:xfrm>
            <a:prstGeom prst="rect">
              <a:avLst/>
            </a:prstGeom>
            <a:noFill/>
            <a:ln w="9525">
              <a:noFill/>
              <a:miter lim="800000"/>
              <a:headEnd/>
              <a:tailEnd/>
            </a:ln>
          </p:spPr>
        </p:pic>
        <p:sp>
          <p:nvSpPr>
            <p:cNvPr id="11" name="Rectangle 10"/>
            <p:cNvSpPr/>
            <p:nvPr/>
          </p:nvSpPr>
          <p:spPr>
            <a:xfrm>
              <a:off x="7315200" y="41910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0" y="1295400"/>
            <a:ext cx="4593142" cy="502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grpSp>
        <p:nvGrpSpPr>
          <p:cNvPr id="16" name="Group 15"/>
          <p:cNvGrpSpPr/>
          <p:nvPr/>
        </p:nvGrpSpPr>
        <p:grpSpPr>
          <a:xfrm>
            <a:off x="2438400" y="1676400"/>
            <a:ext cx="3733800" cy="3286125"/>
            <a:chOff x="2438400" y="2362200"/>
            <a:chExt cx="3733800" cy="3286125"/>
          </a:xfrm>
        </p:grpSpPr>
        <p:pic>
          <p:nvPicPr>
            <p:cNvPr id="3074" name="Picture 2"/>
            <p:cNvPicPr>
              <a:picLocks noChangeAspect="1" noChangeArrowheads="1"/>
            </p:cNvPicPr>
            <p:nvPr/>
          </p:nvPicPr>
          <p:blipFill>
            <a:blip r:embed="rId2" cstate="print"/>
            <a:srcRect/>
            <a:stretch>
              <a:fillRect/>
            </a:stretch>
          </p:blipFill>
          <p:spPr bwMode="auto">
            <a:xfrm>
              <a:off x="2438400" y="2362200"/>
              <a:ext cx="3733800" cy="3286125"/>
            </a:xfrm>
            <a:prstGeom prst="rect">
              <a:avLst/>
            </a:prstGeom>
            <a:noFill/>
            <a:ln w="9525">
              <a:noFill/>
              <a:miter lim="800000"/>
              <a:headEnd/>
              <a:tailEnd/>
            </a:ln>
          </p:spPr>
        </p:pic>
        <p:sp>
          <p:nvSpPr>
            <p:cNvPr id="8" name="Rectangle 7"/>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p:cNvGrpSpPr/>
          <p:nvPr/>
        </p:nvGrpSpPr>
        <p:grpSpPr>
          <a:xfrm>
            <a:off x="6477000" y="1676400"/>
            <a:ext cx="2181225" cy="838200"/>
            <a:chOff x="4829175" y="4191000"/>
            <a:chExt cx="3324225" cy="1438275"/>
          </a:xfrm>
        </p:grpSpPr>
        <p:pic>
          <p:nvPicPr>
            <p:cNvPr id="10" name="Picture 3"/>
            <p:cNvPicPr>
              <a:picLocks noChangeAspect="1" noChangeArrowheads="1"/>
            </p:cNvPicPr>
            <p:nvPr/>
          </p:nvPicPr>
          <p:blipFill>
            <a:blip r:embed="rId3" cstate="print"/>
            <a:srcRect/>
            <a:stretch>
              <a:fillRect/>
            </a:stretch>
          </p:blipFill>
          <p:spPr bwMode="auto">
            <a:xfrm>
              <a:off x="4829175" y="4229100"/>
              <a:ext cx="3324225" cy="1400175"/>
            </a:xfrm>
            <a:prstGeom prst="rect">
              <a:avLst/>
            </a:prstGeom>
            <a:noFill/>
            <a:ln w="9525">
              <a:noFill/>
              <a:miter lim="800000"/>
              <a:headEnd/>
              <a:tailEnd/>
            </a:ln>
          </p:spPr>
        </p:pic>
        <p:sp>
          <p:nvSpPr>
            <p:cNvPr id="11" name="Rectangle 10"/>
            <p:cNvSpPr/>
            <p:nvPr/>
          </p:nvSpPr>
          <p:spPr>
            <a:xfrm>
              <a:off x="7315200" y="41910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553200" y="2971800"/>
            <a:ext cx="2133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Here’s the object Structural version of Adapter Pattern</a:t>
            </a:r>
            <a:endParaRPr lang="en-US" sz="1200" b="1" dirty="0">
              <a:solidFill>
                <a:srgbClr val="C00000"/>
              </a:solidFill>
              <a:latin typeface="Bradley Hand ITC" pitchFamily="66" charset="0"/>
            </a:endParaRPr>
          </a:p>
        </p:txBody>
      </p:sp>
      <p:sp>
        <p:nvSpPr>
          <p:cNvPr id="13" name="Freeform 12"/>
          <p:cNvSpPr/>
          <p:nvPr/>
        </p:nvSpPr>
        <p:spPr>
          <a:xfrm>
            <a:off x="8553450" y="2619375"/>
            <a:ext cx="104775" cy="409575"/>
          </a:xfrm>
          <a:custGeom>
            <a:avLst/>
            <a:gdLst>
              <a:gd name="connsiteX0" fmla="*/ 0 w 104775"/>
              <a:gd name="connsiteY0" fmla="*/ 409575 h 409575"/>
              <a:gd name="connsiteX1" fmla="*/ 104775 w 104775"/>
              <a:gd name="connsiteY1" fmla="*/ 200025 h 409575"/>
              <a:gd name="connsiteX2" fmla="*/ 0 w 104775"/>
              <a:gd name="connsiteY2" fmla="*/ 0 h 409575"/>
            </a:gdLst>
            <a:ahLst/>
            <a:cxnLst>
              <a:cxn ang="0">
                <a:pos x="connsiteX0" y="connsiteY0"/>
              </a:cxn>
              <a:cxn ang="0">
                <a:pos x="connsiteX1" y="connsiteY1"/>
              </a:cxn>
              <a:cxn ang="0">
                <a:pos x="connsiteX2" y="connsiteY2"/>
              </a:cxn>
            </a:cxnLst>
            <a:rect l="l" t="t" r="r" b="b"/>
            <a:pathLst>
              <a:path w="104775" h="409575">
                <a:moveTo>
                  <a:pt x="0" y="409575"/>
                </a:moveTo>
                <a:cubicBezTo>
                  <a:pt x="52387" y="338931"/>
                  <a:pt x="104775" y="268287"/>
                  <a:pt x="104775" y="200025"/>
                </a:cubicBezTo>
                <a:cubicBezTo>
                  <a:pt x="104775" y="131763"/>
                  <a:pt x="52387" y="6588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352800" y="5257800"/>
            <a:ext cx="3200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Here’s the object Structural version of Adapter Pattern applied to the gaming problem</a:t>
            </a:r>
            <a:endParaRPr lang="en-US" sz="1200" b="1" dirty="0">
              <a:solidFill>
                <a:srgbClr val="C00000"/>
              </a:solidFill>
              <a:latin typeface="Bradley Hand ITC" pitchFamily="66" charset="0"/>
            </a:endParaRPr>
          </a:p>
        </p:txBody>
      </p:sp>
      <p:sp>
        <p:nvSpPr>
          <p:cNvPr id="15" name="Freeform 14"/>
          <p:cNvSpPr/>
          <p:nvPr/>
        </p:nvSpPr>
        <p:spPr>
          <a:xfrm>
            <a:off x="6191250" y="4829175"/>
            <a:ext cx="104775" cy="409575"/>
          </a:xfrm>
          <a:custGeom>
            <a:avLst/>
            <a:gdLst>
              <a:gd name="connsiteX0" fmla="*/ 0 w 104775"/>
              <a:gd name="connsiteY0" fmla="*/ 409575 h 409575"/>
              <a:gd name="connsiteX1" fmla="*/ 104775 w 104775"/>
              <a:gd name="connsiteY1" fmla="*/ 200025 h 409575"/>
              <a:gd name="connsiteX2" fmla="*/ 0 w 104775"/>
              <a:gd name="connsiteY2" fmla="*/ 0 h 409575"/>
            </a:gdLst>
            <a:ahLst/>
            <a:cxnLst>
              <a:cxn ang="0">
                <a:pos x="connsiteX0" y="connsiteY0"/>
              </a:cxn>
              <a:cxn ang="0">
                <a:pos x="connsiteX1" y="connsiteY1"/>
              </a:cxn>
              <a:cxn ang="0">
                <a:pos x="connsiteX2" y="connsiteY2"/>
              </a:cxn>
            </a:cxnLst>
            <a:rect l="l" t="t" r="r" b="b"/>
            <a:pathLst>
              <a:path w="104775" h="409575">
                <a:moveTo>
                  <a:pt x="0" y="409575"/>
                </a:moveTo>
                <a:cubicBezTo>
                  <a:pt x="52387" y="338931"/>
                  <a:pt x="104775" y="268287"/>
                  <a:pt x="104775" y="200025"/>
                </a:cubicBezTo>
                <a:cubicBezTo>
                  <a:pt x="104775" y="131763"/>
                  <a:pt x="52387" y="6588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381000" y="3544669"/>
            <a:ext cx="2590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idea is to implement the Character interface methods in terms of the BorrowedCharacter methods!</a:t>
            </a:r>
            <a:endParaRPr lang="en-US" sz="1200" b="1" dirty="0">
              <a:solidFill>
                <a:srgbClr val="C00000"/>
              </a:solidFill>
              <a:latin typeface="Bradley Hand ITC" pitchFamily="66" charset="0"/>
            </a:endParaRPr>
          </a:p>
        </p:txBody>
      </p:sp>
      <p:sp>
        <p:nvSpPr>
          <p:cNvPr id="18" name="Freeform 17"/>
          <p:cNvSpPr/>
          <p:nvPr/>
        </p:nvSpPr>
        <p:spPr>
          <a:xfrm>
            <a:off x="2676525" y="3386138"/>
            <a:ext cx="714375" cy="233362"/>
          </a:xfrm>
          <a:custGeom>
            <a:avLst/>
            <a:gdLst>
              <a:gd name="connsiteX0" fmla="*/ 0 w 714375"/>
              <a:gd name="connsiteY0" fmla="*/ 233362 h 233362"/>
              <a:gd name="connsiteX1" fmla="*/ 266700 w 714375"/>
              <a:gd name="connsiteY1" fmla="*/ 14287 h 233362"/>
              <a:gd name="connsiteX2" fmla="*/ 495300 w 714375"/>
              <a:gd name="connsiteY2" fmla="*/ 147637 h 233362"/>
              <a:gd name="connsiteX3" fmla="*/ 714375 w 714375"/>
              <a:gd name="connsiteY3" fmla="*/ 61912 h 233362"/>
            </a:gdLst>
            <a:ahLst/>
            <a:cxnLst>
              <a:cxn ang="0">
                <a:pos x="connsiteX0" y="connsiteY0"/>
              </a:cxn>
              <a:cxn ang="0">
                <a:pos x="connsiteX1" y="connsiteY1"/>
              </a:cxn>
              <a:cxn ang="0">
                <a:pos x="connsiteX2" y="connsiteY2"/>
              </a:cxn>
              <a:cxn ang="0">
                <a:pos x="connsiteX3" y="connsiteY3"/>
              </a:cxn>
            </a:cxnLst>
            <a:rect l="l" t="t" r="r" b="b"/>
            <a:pathLst>
              <a:path w="714375" h="233362">
                <a:moveTo>
                  <a:pt x="0" y="233362"/>
                </a:moveTo>
                <a:cubicBezTo>
                  <a:pt x="92075" y="130968"/>
                  <a:pt x="184150" y="28574"/>
                  <a:pt x="266700" y="14287"/>
                </a:cubicBezTo>
                <a:cubicBezTo>
                  <a:pt x="349250" y="0"/>
                  <a:pt x="420688" y="139700"/>
                  <a:pt x="495300" y="147637"/>
                </a:cubicBezTo>
                <a:cubicBezTo>
                  <a:pt x="569912" y="155574"/>
                  <a:pt x="642143" y="108743"/>
                  <a:pt x="714375" y="6191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rot="3152026">
            <a:off x="2841436" y="4135562"/>
            <a:ext cx="1556130" cy="631483"/>
          </a:xfrm>
          <a:custGeom>
            <a:avLst/>
            <a:gdLst>
              <a:gd name="connsiteX0" fmla="*/ 0 w 1962150"/>
              <a:gd name="connsiteY0" fmla="*/ 381000 h 381000"/>
              <a:gd name="connsiteX1" fmla="*/ 571500 w 1962150"/>
              <a:gd name="connsiteY1" fmla="*/ 142875 h 381000"/>
              <a:gd name="connsiteX2" fmla="*/ 1409700 w 1962150"/>
              <a:gd name="connsiteY2" fmla="*/ 276225 h 381000"/>
              <a:gd name="connsiteX3" fmla="*/ 1962150 w 1962150"/>
              <a:gd name="connsiteY3" fmla="*/ 0 h 381000"/>
            </a:gdLst>
            <a:ahLst/>
            <a:cxnLst>
              <a:cxn ang="0">
                <a:pos x="connsiteX0" y="connsiteY0"/>
              </a:cxn>
              <a:cxn ang="0">
                <a:pos x="connsiteX1" y="connsiteY1"/>
              </a:cxn>
              <a:cxn ang="0">
                <a:pos x="connsiteX2" y="connsiteY2"/>
              </a:cxn>
              <a:cxn ang="0">
                <a:pos x="connsiteX3" y="connsiteY3"/>
              </a:cxn>
            </a:cxnLst>
            <a:rect l="l" t="t" r="r" b="b"/>
            <a:pathLst>
              <a:path w="1962150" h="381000">
                <a:moveTo>
                  <a:pt x="0" y="381000"/>
                </a:moveTo>
                <a:cubicBezTo>
                  <a:pt x="168275" y="270669"/>
                  <a:pt x="336550" y="160338"/>
                  <a:pt x="571500" y="142875"/>
                </a:cubicBezTo>
                <a:cubicBezTo>
                  <a:pt x="806450" y="125413"/>
                  <a:pt x="1177925" y="300038"/>
                  <a:pt x="1409700" y="276225"/>
                </a:cubicBezTo>
                <a:cubicBezTo>
                  <a:pt x="1641475" y="252413"/>
                  <a:pt x="1801812" y="126206"/>
                  <a:pt x="19621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5562600" y="6019800"/>
            <a:ext cx="2590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how this is done…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723900" y="1533525"/>
            <a:ext cx="3162300" cy="2124075"/>
          </a:xfrm>
          <a:prstGeom prst="rect">
            <a:avLst/>
          </a:prstGeom>
          <a:noFill/>
          <a:ln w="9525">
            <a:noFill/>
            <a:miter lim="800000"/>
            <a:headEnd/>
            <a:tailEnd/>
          </a:ln>
        </p:spPr>
      </p:pic>
      <p:pic>
        <p:nvPicPr>
          <p:cNvPr id="4099" name="Picture 3"/>
          <p:cNvPicPr>
            <a:picLocks noChangeAspect="1" noChangeArrowheads="1"/>
          </p:cNvPicPr>
          <p:nvPr/>
        </p:nvPicPr>
        <p:blipFill>
          <a:blip r:embed="rId3" cstate="print"/>
          <a:srcRect/>
          <a:stretch>
            <a:fillRect/>
          </a:stretch>
        </p:blipFill>
        <p:spPr bwMode="auto">
          <a:xfrm>
            <a:off x="5181600" y="1524000"/>
            <a:ext cx="3324225" cy="1400175"/>
          </a:xfrm>
          <a:prstGeom prst="rect">
            <a:avLst/>
          </a:prstGeom>
          <a:noFill/>
          <a:ln w="9525">
            <a:noFill/>
            <a:miter lim="800000"/>
            <a:headEnd/>
            <a:tailEnd/>
          </a:ln>
        </p:spPr>
      </p:pic>
      <p:pic>
        <p:nvPicPr>
          <p:cNvPr id="4100" name="Picture 4"/>
          <p:cNvPicPr>
            <a:picLocks noChangeAspect="1" noChangeArrowheads="1"/>
          </p:cNvPicPr>
          <p:nvPr/>
        </p:nvPicPr>
        <p:blipFill>
          <a:blip r:embed="rId4" cstate="print"/>
          <a:srcRect/>
          <a:stretch>
            <a:fillRect/>
          </a:stretch>
        </p:blipFill>
        <p:spPr bwMode="auto">
          <a:xfrm>
            <a:off x="4419600" y="4267200"/>
            <a:ext cx="4362450" cy="1371600"/>
          </a:xfrm>
          <a:prstGeom prst="rect">
            <a:avLst/>
          </a:prstGeom>
          <a:noFill/>
          <a:ln w="9525">
            <a:noFill/>
            <a:miter lim="800000"/>
            <a:headEnd/>
            <a:tailEnd/>
          </a:ln>
        </p:spPr>
      </p:pic>
      <p:grpSp>
        <p:nvGrpSpPr>
          <p:cNvPr id="10" name="Group 9"/>
          <p:cNvGrpSpPr/>
          <p:nvPr/>
        </p:nvGrpSpPr>
        <p:grpSpPr>
          <a:xfrm>
            <a:off x="990600" y="3962400"/>
            <a:ext cx="2438400" cy="1905000"/>
            <a:chOff x="2438400" y="2362200"/>
            <a:chExt cx="3733800" cy="3286125"/>
          </a:xfrm>
        </p:grpSpPr>
        <p:pic>
          <p:nvPicPr>
            <p:cNvPr id="11" name="Picture 2"/>
            <p:cNvPicPr>
              <a:picLocks noChangeAspect="1" noChangeArrowheads="1"/>
            </p:cNvPicPr>
            <p:nvPr/>
          </p:nvPicPr>
          <p:blipFill>
            <a:blip r:embed="rId5" cstate="print"/>
            <a:srcRect/>
            <a:stretch>
              <a:fillRect/>
            </a:stretch>
          </p:blipFill>
          <p:spPr bwMode="auto">
            <a:xfrm>
              <a:off x="2438400" y="2362200"/>
              <a:ext cx="3733800" cy="3286125"/>
            </a:xfrm>
            <a:prstGeom prst="rect">
              <a:avLst/>
            </a:prstGeom>
            <a:noFill/>
            <a:ln w="9525">
              <a:noFill/>
              <a:miter lim="800000"/>
              <a:headEnd/>
              <a:tailEnd/>
            </a:ln>
          </p:spPr>
        </p:pic>
        <p:sp>
          <p:nvSpPr>
            <p:cNvPr id="12" name="Rectangle 11"/>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p:cNvSpPr txBox="1"/>
          <p:nvPr/>
        </p:nvSpPr>
        <p:spPr>
          <a:xfrm>
            <a:off x="3886200" y="1447800"/>
            <a:ext cx="1066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the incompatible interfaces!</a:t>
            </a:r>
            <a:endParaRPr lang="en-US" sz="1200" b="1" dirty="0">
              <a:solidFill>
                <a:srgbClr val="C00000"/>
              </a:solidFill>
              <a:latin typeface="Bradley Hand ITC" pitchFamily="66" charset="0"/>
            </a:endParaRPr>
          </a:p>
        </p:txBody>
      </p:sp>
      <p:sp>
        <p:nvSpPr>
          <p:cNvPr id="16" name="Freeform 15"/>
          <p:cNvSpPr/>
          <p:nvPr/>
        </p:nvSpPr>
        <p:spPr>
          <a:xfrm>
            <a:off x="4791075" y="1905000"/>
            <a:ext cx="371475" cy="685800"/>
          </a:xfrm>
          <a:custGeom>
            <a:avLst/>
            <a:gdLst>
              <a:gd name="connsiteX0" fmla="*/ 0 w 371475"/>
              <a:gd name="connsiteY0" fmla="*/ 0 h 525462"/>
              <a:gd name="connsiteX1" fmla="*/ 152400 w 371475"/>
              <a:gd name="connsiteY1" fmla="*/ 76200 h 525462"/>
              <a:gd name="connsiteX2" fmla="*/ 152400 w 371475"/>
              <a:gd name="connsiteY2" fmla="*/ 457200 h 525462"/>
              <a:gd name="connsiteX3" fmla="*/ 371475 w 371475"/>
              <a:gd name="connsiteY3" fmla="*/ 485775 h 525462"/>
            </a:gdLst>
            <a:ahLst/>
            <a:cxnLst>
              <a:cxn ang="0">
                <a:pos x="connsiteX0" y="connsiteY0"/>
              </a:cxn>
              <a:cxn ang="0">
                <a:pos x="connsiteX1" y="connsiteY1"/>
              </a:cxn>
              <a:cxn ang="0">
                <a:pos x="connsiteX2" y="connsiteY2"/>
              </a:cxn>
              <a:cxn ang="0">
                <a:pos x="connsiteX3" y="connsiteY3"/>
              </a:cxn>
            </a:cxnLst>
            <a:rect l="l" t="t" r="r" b="b"/>
            <a:pathLst>
              <a:path w="371475" h="525462">
                <a:moveTo>
                  <a:pt x="0" y="0"/>
                </a:moveTo>
                <a:cubicBezTo>
                  <a:pt x="63500" y="0"/>
                  <a:pt x="127000" y="0"/>
                  <a:pt x="152400" y="76200"/>
                </a:cubicBezTo>
                <a:cubicBezTo>
                  <a:pt x="177800" y="152400"/>
                  <a:pt x="115888" y="388938"/>
                  <a:pt x="152400" y="457200"/>
                </a:cubicBezTo>
                <a:cubicBezTo>
                  <a:pt x="188912" y="525462"/>
                  <a:pt x="280193" y="505618"/>
                  <a:pt x="3714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flipH="1">
            <a:off x="3657600" y="1905000"/>
            <a:ext cx="381000" cy="685800"/>
          </a:xfrm>
          <a:custGeom>
            <a:avLst/>
            <a:gdLst>
              <a:gd name="connsiteX0" fmla="*/ 0 w 371475"/>
              <a:gd name="connsiteY0" fmla="*/ 0 h 525462"/>
              <a:gd name="connsiteX1" fmla="*/ 152400 w 371475"/>
              <a:gd name="connsiteY1" fmla="*/ 76200 h 525462"/>
              <a:gd name="connsiteX2" fmla="*/ 152400 w 371475"/>
              <a:gd name="connsiteY2" fmla="*/ 457200 h 525462"/>
              <a:gd name="connsiteX3" fmla="*/ 371475 w 371475"/>
              <a:gd name="connsiteY3" fmla="*/ 485775 h 525462"/>
            </a:gdLst>
            <a:ahLst/>
            <a:cxnLst>
              <a:cxn ang="0">
                <a:pos x="connsiteX0" y="connsiteY0"/>
              </a:cxn>
              <a:cxn ang="0">
                <a:pos x="connsiteX1" y="connsiteY1"/>
              </a:cxn>
              <a:cxn ang="0">
                <a:pos x="connsiteX2" y="connsiteY2"/>
              </a:cxn>
              <a:cxn ang="0">
                <a:pos x="connsiteX3" y="connsiteY3"/>
              </a:cxn>
            </a:cxnLst>
            <a:rect l="l" t="t" r="r" b="b"/>
            <a:pathLst>
              <a:path w="371475" h="525462">
                <a:moveTo>
                  <a:pt x="0" y="0"/>
                </a:moveTo>
                <a:cubicBezTo>
                  <a:pt x="63500" y="0"/>
                  <a:pt x="127000" y="0"/>
                  <a:pt x="152400" y="76200"/>
                </a:cubicBezTo>
                <a:cubicBezTo>
                  <a:pt x="177800" y="152400"/>
                  <a:pt x="115888" y="388938"/>
                  <a:pt x="152400" y="457200"/>
                </a:cubicBezTo>
                <a:cubicBezTo>
                  <a:pt x="188912" y="525462"/>
                  <a:pt x="280193" y="505618"/>
                  <a:pt x="3714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029200" y="32004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Under this current conditions, you cannot use a ConcreteBorrowedCharacter in the gaming system without changing the code!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6019800" y="4267200"/>
            <a:ext cx="2438400" cy="1905000"/>
            <a:chOff x="2438400" y="2362200"/>
            <a:chExt cx="3733800" cy="3286125"/>
          </a:xfrm>
        </p:grpSpPr>
        <p:pic>
          <p:nvPicPr>
            <p:cNvPr id="30" name="Picture 2"/>
            <p:cNvPicPr>
              <a:picLocks noChangeAspect="1" noChangeArrowheads="1"/>
            </p:cNvPicPr>
            <p:nvPr/>
          </p:nvPicPr>
          <p:blipFill>
            <a:blip r:embed="rId2" cstate="print"/>
            <a:srcRect/>
            <a:stretch>
              <a:fillRect/>
            </a:stretch>
          </p:blipFill>
          <p:spPr bwMode="auto">
            <a:xfrm>
              <a:off x="2438400" y="2362200"/>
              <a:ext cx="3733800" cy="3286125"/>
            </a:xfrm>
            <a:prstGeom prst="rect">
              <a:avLst/>
            </a:prstGeom>
            <a:noFill/>
            <a:ln w="9525">
              <a:noFill/>
              <a:miter lim="800000"/>
              <a:headEnd/>
              <a:tailEnd/>
            </a:ln>
          </p:spPr>
        </p:pic>
        <p:sp>
          <p:nvSpPr>
            <p:cNvPr id="31" name="Rectangle 30"/>
            <p:cNvSpPr/>
            <p:nvPr/>
          </p:nvSpPr>
          <p:spPr>
            <a:xfrm>
              <a:off x="5334000" y="23622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pSp>
        <p:nvGrpSpPr>
          <p:cNvPr id="19" name="Group 18"/>
          <p:cNvGrpSpPr/>
          <p:nvPr/>
        </p:nvGrpSpPr>
        <p:grpSpPr>
          <a:xfrm>
            <a:off x="838200" y="1524000"/>
            <a:ext cx="7620000" cy="3858399"/>
            <a:chOff x="838200" y="1752600"/>
            <a:chExt cx="7620000" cy="3858399"/>
          </a:xfrm>
        </p:grpSpPr>
        <p:pic>
          <p:nvPicPr>
            <p:cNvPr id="5122" name="Picture 2"/>
            <p:cNvPicPr>
              <a:picLocks noChangeAspect="1" noChangeArrowheads="1"/>
            </p:cNvPicPr>
            <p:nvPr/>
          </p:nvPicPr>
          <p:blipFill>
            <a:blip r:embed="rId3" cstate="print"/>
            <a:srcRect/>
            <a:stretch>
              <a:fillRect/>
            </a:stretch>
          </p:blipFill>
          <p:spPr bwMode="auto">
            <a:xfrm>
              <a:off x="838200" y="2286000"/>
              <a:ext cx="4686300" cy="2762250"/>
            </a:xfrm>
            <a:prstGeom prst="rect">
              <a:avLst/>
            </a:prstGeom>
            <a:noFill/>
            <a:ln w="9525">
              <a:noFill/>
              <a:miter lim="800000"/>
              <a:headEnd/>
              <a:tailEnd/>
            </a:ln>
          </p:spPr>
        </p:pic>
        <p:pic>
          <p:nvPicPr>
            <p:cNvPr id="8" name="Picture 3"/>
            <p:cNvPicPr>
              <a:picLocks noChangeAspect="1" noChangeArrowheads="1"/>
            </p:cNvPicPr>
            <p:nvPr/>
          </p:nvPicPr>
          <p:blipFill>
            <a:blip r:embed="rId4" cstate="print"/>
            <a:srcRect/>
            <a:stretch>
              <a:fillRect/>
            </a:stretch>
          </p:blipFill>
          <p:spPr bwMode="auto">
            <a:xfrm>
              <a:off x="5105400" y="2514600"/>
              <a:ext cx="3324225" cy="1400175"/>
            </a:xfrm>
            <a:prstGeom prst="rect">
              <a:avLst/>
            </a:prstGeom>
            <a:noFill/>
            <a:ln w="9525">
              <a:noFill/>
              <a:miter lim="800000"/>
              <a:headEnd/>
              <a:tailEnd/>
            </a:ln>
          </p:spPr>
        </p:pic>
        <p:sp>
          <p:nvSpPr>
            <p:cNvPr id="9" name="Rectangle 8"/>
            <p:cNvSpPr/>
            <p:nvPr/>
          </p:nvSpPr>
          <p:spPr>
            <a:xfrm>
              <a:off x="7620000" y="2438400"/>
              <a:ext cx="8382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3314700" y="1920875"/>
              <a:ext cx="3028950" cy="593725"/>
            </a:xfrm>
            <a:custGeom>
              <a:avLst/>
              <a:gdLst>
                <a:gd name="connsiteX0" fmla="*/ 3028950 w 3028950"/>
                <a:gd name="connsiteY0" fmla="*/ 593725 h 593725"/>
                <a:gd name="connsiteX1" fmla="*/ 2047875 w 3028950"/>
                <a:gd name="connsiteY1" fmla="*/ 146050 h 593725"/>
                <a:gd name="connsiteX2" fmla="*/ 1181100 w 3028950"/>
                <a:gd name="connsiteY2" fmla="*/ 174625 h 593725"/>
                <a:gd name="connsiteX3" fmla="*/ 371475 w 3028950"/>
                <a:gd name="connsiteY3" fmla="*/ 31750 h 593725"/>
                <a:gd name="connsiteX4" fmla="*/ 0 w 3028950"/>
                <a:gd name="connsiteY4" fmla="*/ 365125 h 59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8950" h="593725">
                  <a:moveTo>
                    <a:pt x="3028950" y="593725"/>
                  </a:moveTo>
                  <a:cubicBezTo>
                    <a:pt x="2692400" y="404812"/>
                    <a:pt x="2355850" y="215900"/>
                    <a:pt x="2047875" y="146050"/>
                  </a:cubicBezTo>
                  <a:cubicBezTo>
                    <a:pt x="1739900" y="76200"/>
                    <a:pt x="1460500" y="193675"/>
                    <a:pt x="1181100" y="174625"/>
                  </a:cubicBezTo>
                  <a:cubicBezTo>
                    <a:pt x="901700" y="155575"/>
                    <a:pt x="568325" y="0"/>
                    <a:pt x="371475" y="31750"/>
                  </a:cubicBezTo>
                  <a:cubicBezTo>
                    <a:pt x="174625" y="63500"/>
                    <a:pt x="87312" y="214312"/>
                    <a:pt x="0" y="365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reeform 10"/>
            <p:cNvSpPr/>
            <p:nvPr/>
          </p:nvSpPr>
          <p:spPr>
            <a:xfrm>
              <a:off x="2009775" y="2486025"/>
              <a:ext cx="4267200" cy="1042987"/>
            </a:xfrm>
            <a:custGeom>
              <a:avLst/>
              <a:gdLst>
                <a:gd name="connsiteX0" fmla="*/ 4267200 w 4267200"/>
                <a:gd name="connsiteY0" fmla="*/ 933450 h 1042987"/>
                <a:gd name="connsiteX1" fmla="*/ 3305175 w 4267200"/>
                <a:gd name="connsiteY1" fmla="*/ 933450 h 1042987"/>
                <a:gd name="connsiteX2" fmla="*/ 2590800 w 4267200"/>
                <a:gd name="connsiteY2" fmla="*/ 276225 h 1042987"/>
                <a:gd name="connsiteX3" fmla="*/ 523875 w 4267200"/>
                <a:gd name="connsiteY3" fmla="*/ 171450 h 1042987"/>
                <a:gd name="connsiteX4" fmla="*/ 0 w 4267200"/>
                <a:gd name="connsiteY4" fmla="*/ 0 h 1042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7200" h="1042987">
                  <a:moveTo>
                    <a:pt x="4267200" y="933450"/>
                  </a:moveTo>
                  <a:cubicBezTo>
                    <a:pt x="3925887" y="988218"/>
                    <a:pt x="3584575" y="1042987"/>
                    <a:pt x="3305175" y="933450"/>
                  </a:cubicBezTo>
                  <a:cubicBezTo>
                    <a:pt x="3025775" y="823913"/>
                    <a:pt x="3054350" y="403225"/>
                    <a:pt x="2590800" y="276225"/>
                  </a:cubicBezTo>
                  <a:cubicBezTo>
                    <a:pt x="2127250" y="149225"/>
                    <a:pt x="955675" y="217487"/>
                    <a:pt x="523875" y="171450"/>
                  </a:cubicBezTo>
                  <a:cubicBezTo>
                    <a:pt x="92075" y="125413"/>
                    <a:pt x="46037" y="6270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a:off x="2514600" y="3857625"/>
              <a:ext cx="4905375" cy="1576387"/>
            </a:xfrm>
            <a:custGeom>
              <a:avLst/>
              <a:gdLst>
                <a:gd name="connsiteX0" fmla="*/ 4905375 w 4905375"/>
                <a:gd name="connsiteY0" fmla="*/ 0 h 1576387"/>
                <a:gd name="connsiteX1" fmla="*/ 3571875 w 4905375"/>
                <a:gd name="connsiteY1" fmla="*/ 438150 h 1576387"/>
                <a:gd name="connsiteX2" fmla="*/ 2628900 w 4905375"/>
                <a:gd name="connsiteY2" fmla="*/ 1428750 h 1576387"/>
                <a:gd name="connsiteX3" fmla="*/ 1333500 w 4905375"/>
                <a:gd name="connsiteY3" fmla="*/ 1323975 h 1576387"/>
                <a:gd name="connsiteX4" fmla="*/ 476250 w 4905375"/>
                <a:gd name="connsiteY4" fmla="*/ 1352550 h 1576387"/>
                <a:gd name="connsiteX5" fmla="*/ 0 w 4905375"/>
                <a:gd name="connsiteY5" fmla="*/ 1085850 h 1576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5375" h="1576387">
                  <a:moveTo>
                    <a:pt x="4905375" y="0"/>
                  </a:moveTo>
                  <a:cubicBezTo>
                    <a:pt x="4428331" y="100012"/>
                    <a:pt x="3951287" y="200025"/>
                    <a:pt x="3571875" y="438150"/>
                  </a:cubicBezTo>
                  <a:cubicBezTo>
                    <a:pt x="3192463" y="676275"/>
                    <a:pt x="3001962" y="1281113"/>
                    <a:pt x="2628900" y="1428750"/>
                  </a:cubicBezTo>
                  <a:cubicBezTo>
                    <a:pt x="2255838" y="1576387"/>
                    <a:pt x="1692275" y="1336675"/>
                    <a:pt x="1333500" y="1323975"/>
                  </a:cubicBezTo>
                  <a:cubicBezTo>
                    <a:pt x="974725" y="1311275"/>
                    <a:pt x="698500" y="1392237"/>
                    <a:pt x="476250" y="1352550"/>
                  </a:cubicBezTo>
                  <a:cubicBezTo>
                    <a:pt x="254000" y="1312863"/>
                    <a:pt x="127000" y="1199356"/>
                    <a:pt x="0" y="1085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267200" y="1752600"/>
              <a:ext cx="2057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Character is the Target class</a:t>
              </a:r>
              <a:endParaRPr lang="en-US" sz="1200" b="1" dirty="0">
                <a:solidFill>
                  <a:srgbClr val="C00000"/>
                </a:solidFill>
                <a:latin typeface="Bradley Hand ITC" pitchFamily="66" charset="0"/>
              </a:endParaRPr>
            </a:p>
          </p:txBody>
        </p:sp>
        <p:sp>
          <p:nvSpPr>
            <p:cNvPr id="17" name="TextBox 16"/>
            <p:cNvSpPr txBox="1"/>
            <p:nvPr/>
          </p:nvSpPr>
          <p:spPr>
            <a:xfrm>
              <a:off x="3048000" y="2438400"/>
              <a:ext cx="2057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CharacterAdapter</a:t>
              </a:r>
              <a:endParaRPr lang="en-US" sz="1200" b="1" dirty="0">
                <a:solidFill>
                  <a:srgbClr val="C00000"/>
                </a:solidFill>
                <a:latin typeface="Bradley Hand ITC" pitchFamily="66" charset="0"/>
              </a:endParaRPr>
            </a:p>
          </p:txBody>
        </p:sp>
        <p:sp>
          <p:nvSpPr>
            <p:cNvPr id="18" name="TextBox 17"/>
            <p:cNvSpPr txBox="1"/>
            <p:nvPr/>
          </p:nvSpPr>
          <p:spPr>
            <a:xfrm>
              <a:off x="3276600" y="53340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class that we are adapting</a:t>
              </a:r>
              <a:endParaRPr lang="en-US" sz="1200" b="1" dirty="0">
                <a:solidFill>
                  <a:srgbClr val="C00000"/>
                </a:solidFill>
                <a:latin typeface="Bradley Hand ITC" pitchFamily="66" charset="0"/>
              </a:endParaRPr>
            </a:p>
          </p:txBody>
        </p:sp>
      </p:grpSp>
      <p:sp>
        <p:nvSpPr>
          <p:cNvPr id="20" name="TextBox 19"/>
          <p:cNvSpPr txBox="1"/>
          <p:nvPr/>
        </p:nvSpPr>
        <p:spPr>
          <a:xfrm>
            <a:off x="3200400" y="32004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configure the Adapter with its Adaptee</a:t>
            </a:r>
            <a:endParaRPr lang="en-US" sz="1200" b="1" dirty="0">
              <a:solidFill>
                <a:srgbClr val="C00000"/>
              </a:solidFill>
              <a:latin typeface="Bradley Hand ITC" pitchFamily="66" charset="0"/>
            </a:endParaRPr>
          </a:p>
        </p:txBody>
      </p:sp>
      <p:sp>
        <p:nvSpPr>
          <p:cNvPr id="21" name="Freeform 20"/>
          <p:cNvSpPr/>
          <p:nvPr/>
        </p:nvSpPr>
        <p:spPr>
          <a:xfrm>
            <a:off x="3127375" y="2876550"/>
            <a:ext cx="368300" cy="457200"/>
          </a:xfrm>
          <a:custGeom>
            <a:avLst/>
            <a:gdLst>
              <a:gd name="connsiteX0" fmla="*/ 368300 w 368300"/>
              <a:gd name="connsiteY0" fmla="*/ 457200 h 457200"/>
              <a:gd name="connsiteX1" fmla="*/ 34925 w 368300"/>
              <a:gd name="connsiteY1" fmla="*/ 304800 h 457200"/>
              <a:gd name="connsiteX2" fmla="*/ 158750 w 368300"/>
              <a:gd name="connsiteY2" fmla="*/ 114300 h 457200"/>
              <a:gd name="connsiteX3" fmla="*/ 44450 w 368300"/>
              <a:gd name="connsiteY3" fmla="*/ 0 h 457200"/>
            </a:gdLst>
            <a:ahLst/>
            <a:cxnLst>
              <a:cxn ang="0">
                <a:pos x="connsiteX0" y="connsiteY0"/>
              </a:cxn>
              <a:cxn ang="0">
                <a:pos x="connsiteX1" y="connsiteY1"/>
              </a:cxn>
              <a:cxn ang="0">
                <a:pos x="connsiteX2" y="connsiteY2"/>
              </a:cxn>
              <a:cxn ang="0">
                <a:pos x="connsiteX3" y="connsiteY3"/>
              </a:cxn>
            </a:cxnLst>
            <a:rect l="l" t="t" r="r" b="b"/>
            <a:pathLst>
              <a:path w="368300" h="457200">
                <a:moveTo>
                  <a:pt x="368300" y="457200"/>
                </a:moveTo>
                <a:cubicBezTo>
                  <a:pt x="219075" y="409575"/>
                  <a:pt x="69850" y="361950"/>
                  <a:pt x="34925" y="304800"/>
                </a:cubicBezTo>
                <a:cubicBezTo>
                  <a:pt x="0" y="247650"/>
                  <a:pt x="157163" y="165100"/>
                  <a:pt x="158750" y="114300"/>
                </a:cubicBezTo>
                <a:cubicBezTo>
                  <a:pt x="160338" y="63500"/>
                  <a:pt x="102394" y="31750"/>
                  <a:pt x="44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6146" name="Picture 2"/>
          <p:cNvPicPr>
            <a:picLocks noChangeAspect="1" noChangeArrowheads="1"/>
          </p:cNvPicPr>
          <p:nvPr/>
        </p:nvPicPr>
        <p:blipFill>
          <a:blip r:embed="rId2" cstate="print"/>
          <a:srcRect/>
          <a:stretch>
            <a:fillRect/>
          </a:stretch>
        </p:blipFill>
        <p:spPr bwMode="auto">
          <a:xfrm>
            <a:off x="3124200" y="1524000"/>
            <a:ext cx="4933950" cy="4133850"/>
          </a:xfrm>
          <a:prstGeom prst="rect">
            <a:avLst/>
          </a:prstGeom>
          <a:noFill/>
          <a:ln w="9525">
            <a:noFill/>
            <a:miter lim="800000"/>
            <a:headEnd/>
            <a:tailEnd/>
          </a:ln>
        </p:spPr>
      </p:pic>
      <p:sp>
        <p:nvSpPr>
          <p:cNvPr id="8" name="TextBox 7"/>
          <p:cNvSpPr txBox="1"/>
          <p:nvPr/>
        </p:nvSpPr>
        <p:spPr>
          <a:xfrm>
            <a:off x="6324600" y="21336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1. Configure the Adapter with its Adaptee</a:t>
            </a:r>
            <a:endParaRPr lang="en-US" sz="1200" b="1" dirty="0">
              <a:solidFill>
                <a:srgbClr val="C00000"/>
              </a:solidFill>
              <a:latin typeface="Bradley Hand ITC" pitchFamily="66" charset="0"/>
            </a:endParaRPr>
          </a:p>
        </p:txBody>
      </p:sp>
      <p:sp>
        <p:nvSpPr>
          <p:cNvPr id="9" name="Freeform 8"/>
          <p:cNvSpPr/>
          <p:nvPr/>
        </p:nvSpPr>
        <p:spPr>
          <a:xfrm>
            <a:off x="4419600" y="2266950"/>
            <a:ext cx="2038350" cy="227013"/>
          </a:xfrm>
          <a:custGeom>
            <a:avLst/>
            <a:gdLst>
              <a:gd name="connsiteX0" fmla="*/ 2038350 w 2038350"/>
              <a:gd name="connsiteY0" fmla="*/ 0 h 227013"/>
              <a:gd name="connsiteX1" fmla="*/ 1524000 w 2038350"/>
              <a:gd name="connsiteY1" fmla="*/ 38100 h 227013"/>
              <a:gd name="connsiteX2" fmla="*/ 466725 w 2038350"/>
              <a:gd name="connsiteY2" fmla="*/ 219075 h 227013"/>
              <a:gd name="connsiteX3" fmla="*/ 0 w 2038350"/>
              <a:gd name="connsiteY3" fmla="*/ 85725 h 227013"/>
            </a:gdLst>
            <a:ahLst/>
            <a:cxnLst>
              <a:cxn ang="0">
                <a:pos x="connsiteX0" y="connsiteY0"/>
              </a:cxn>
              <a:cxn ang="0">
                <a:pos x="connsiteX1" y="connsiteY1"/>
              </a:cxn>
              <a:cxn ang="0">
                <a:pos x="connsiteX2" y="connsiteY2"/>
              </a:cxn>
              <a:cxn ang="0">
                <a:pos x="connsiteX3" y="connsiteY3"/>
              </a:cxn>
            </a:cxnLst>
            <a:rect l="l" t="t" r="r" b="b"/>
            <a:pathLst>
              <a:path w="2038350" h="227013">
                <a:moveTo>
                  <a:pt x="2038350" y="0"/>
                </a:moveTo>
                <a:cubicBezTo>
                  <a:pt x="1912144" y="794"/>
                  <a:pt x="1785938" y="1588"/>
                  <a:pt x="1524000" y="38100"/>
                </a:cubicBezTo>
                <a:cubicBezTo>
                  <a:pt x="1262063" y="74613"/>
                  <a:pt x="720725" y="211137"/>
                  <a:pt x="466725" y="219075"/>
                </a:cubicBezTo>
                <a:cubicBezTo>
                  <a:pt x="212725" y="227013"/>
                  <a:pt x="106362" y="156369"/>
                  <a:pt x="0" y="85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33400" y="2743200"/>
            <a:ext cx="19812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Step 2. Override each Character method to implement the behavior in terms of the Adaptee, in this case, the BorrowedChracter</a:t>
            </a:r>
            <a:endParaRPr lang="en-US" sz="1200" b="1" dirty="0">
              <a:solidFill>
                <a:srgbClr val="C00000"/>
              </a:solidFill>
              <a:latin typeface="Bradley Hand ITC" pitchFamily="66" charset="0"/>
            </a:endParaRPr>
          </a:p>
        </p:txBody>
      </p:sp>
      <p:sp>
        <p:nvSpPr>
          <p:cNvPr id="11" name="Freeform 10"/>
          <p:cNvSpPr/>
          <p:nvPr/>
        </p:nvSpPr>
        <p:spPr>
          <a:xfrm>
            <a:off x="2419350" y="2924175"/>
            <a:ext cx="809625" cy="404812"/>
          </a:xfrm>
          <a:custGeom>
            <a:avLst/>
            <a:gdLst>
              <a:gd name="connsiteX0" fmla="*/ 0 w 809625"/>
              <a:gd name="connsiteY0" fmla="*/ 0 h 404812"/>
              <a:gd name="connsiteX1" fmla="*/ 333375 w 809625"/>
              <a:gd name="connsiteY1" fmla="*/ 66675 h 404812"/>
              <a:gd name="connsiteX2" fmla="*/ 485775 w 809625"/>
              <a:gd name="connsiteY2" fmla="*/ 352425 h 404812"/>
              <a:gd name="connsiteX3" fmla="*/ 809625 w 809625"/>
              <a:gd name="connsiteY3" fmla="*/ 381000 h 404812"/>
            </a:gdLst>
            <a:ahLst/>
            <a:cxnLst>
              <a:cxn ang="0">
                <a:pos x="connsiteX0" y="connsiteY0"/>
              </a:cxn>
              <a:cxn ang="0">
                <a:pos x="connsiteX1" y="connsiteY1"/>
              </a:cxn>
              <a:cxn ang="0">
                <a:pos x="connsiteX2" y="connsiteY2"/>
              </a:cxn>
              <a:cxn ang="0">
                <a:pos x="connsiteX3" y="connsiteY3"/>
              </a:cxn>
            </a:cxnLst>
            <a:rect l="l" t="t" r="r" b="b"/>
            <a:pathLst>
              <a:path w="809625" h="404812">
                <a:moveTo>
                  <a:pt x="0" y="0"/>
                </a:moveTo>
                <a:cubicBezTo>
                  <a:pt x="126206" y="3969"/>
                  <a:pt x="252413" y="7938"/>
                  <a:pt x="333375" y="66675"/>
                </a:cubicBezTo>
                <a:cubicBezTo>
                  <a:pt x="414338" y="125413"/>
                  <a:pt x="406400" y="300038"/>
                  <a:pt x="485775" y="352425"/>
                </a:cubicBezTo>
                <a:cubicBezTo>
                  <a:pt x="565150" y="404812"/>
                  <a:pt x="687387" y="392906"/>
                  <a:pt x="809625"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2524125" y="3514725"/>
            <a:ext cx="733425" cy="876300"/>
          </a:xfrm>
          <a:custGeom>
            <a:avLst/>
            <a:gdLst>
              <a:gd name="connsiteX0" fmla="*/ 0 w 733425"/>
              <a:gd name="connsiteY0" fmla="*/ 0 h 876300"/>
              <a:gd name="connsiteX1" fmla="*/ 238125 w 733425"/>
              <a:gd name="connsiteY1" fmla="*/ 219075 h 876300"/>
              <a:gd name="connsiteX2" fmla="*/ 381000 w 733425"/>
              <a:gd name="connsiteY2" fmla="*/ 771525 h 876300"/>
              <a:gd name="connsiteX3" fmla="*/ 733425 w 733425"/>
              <a:gd name="connsiteY3" fmla="*/ 847725 h 876300"/>
            </a:gdLst>
            <a:ahLst/>
            <a:cxnLst>
              <a:cxn ang="0">
                <a:pos x="connsiteX0" y="connsiteY0"/>
              </a:cxn>
              <a:cxn ang="0">
                <a:pos x="connsiteX1" y="connsiteY1"/>
              </a:cxn>
              <a:cxn ang="0">
                <a:pos x="connsiteX2" y="connsiteY2"/>
              </a:cxn>
              <a:cxn ang="0">
                <a:pos x="connsiteX3" y="connsiteY3"/>
              </a:cxn>
            </a:cxnLst>
            <a:rect l="l" t="t" r="r" b="b"/>
            <a:pathLst>
              <a:path w="733425" h="876300">
                <a:moveTo>
                  <a:pt x="0" y="0"/>
                </a:moveTo>
                <a:cubicBezTo>
                  <a:pt x="87312" y="45244"/>
                  <a:pt x="174625" y="90488"/>
                  <a:pt x="238125" y="219075"/>
                </a:cubicBezTo>
                <a:cubicBezTo>
                  <a:pt x="301625" y="347663"/>
                  <a:pt x="298450" y="666750"/>
                  <a:pt x="381000" y="771525"/>
                </a:cubicBezTo>
                <a:cubicBezTo>
                  <a:pt x="463550" y="876300"/>
                  <a:pt x="598487" y="862012"/>
                  <a:pt x="733425" y="847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2324100" y="3752850"/>
            <a:ext cx="895350" cy="1730375"/>
          </a:xfrm>
          <a:custGeom>
            <a:avLst/>
            <a:gdLst>
              <a:gd name="connsiteX0" fmla="*/ 0 w 895350"/>
              <a:gd name="connsiteY0" fmla="*/ 0 h 1730375"/>
              <a:gd name="connsiteX1" fmla="*/ 219075 w 895350"/>
              <a:gd name="connsiteY1" fmla="*/ 285750 h 1730375"/>
              <a:gd name="connsiteX2" fmla="*/ 400050 w 895350"/>
              <a:gd name="connsiteY2" fmla="*/ 1495425 h 1730375"/>
              <a:gd name="connsiteX3" fmla="*/ 895350 w 895350"/>
              <a:gd name="connsiteY3" fmla="*/ 1695450 h 1730375"/>
            </a:gdLst>
            <a:ahLst/>
            <a:cxnLst>
              <a:cxn ang="0">
                <a:pos x="connsiteX0" y="connsiteY0"/>
              </a:cxn>
              <a:cxn ang="0">
                <a:pos x="connsiteX1" y="connsiteY1"/>
              </a:cxn>
              <a:cxn ang="0">
                <a:pos x="connsiteX2" y="connsiteY2"/>
              </a:cxn>
              <a:cxn ang="0">
                <a:pos x="connsiteX3" y="connsiteY3"/>
              </a:cxn>
            </a:cxnLst>
            <a:rect l="l" t="t" r="r" b="b"/>
            <a:pathLst>
              <a:path w="895350" h="1730375">
                <a:moveTo>
                  <a:pt x="0" y="0"/>
                </a:moveTo>
                <a:cubicBezTo>
                  <a:pt x="76200" y="18256"/>
                  <a:pt x="152400" y="36513"/>
                  <a:pt x="219075" y="285750"/>
                </a:cubicBezTo>
                <a:cubicBezTo>
                  <a:pt x="285750" y="534988"/>
                  <a:pt x="287337" y="1260475"/>
                  <a:pt x="400050" y="1495425"/>
                </a:cubicBezTo>
                <a:cubicBezTo>
                  <a:pt x="512763" y="1730375"/>
                  <a:pt x="704056" y="1712912"/>
                  <a:pt x="895350" y="1695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2743200" y="5791200"/>
            <a:ext cx="4648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With this design in place, you can now use CharacterAdapter to provide BorrowedCharacter services throughout the game!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16" name="Group 15"/>
          <p:cNvGrpSpPr/>
          <p:nvPr/>
        </p:nvGrpSpPr>
        <p:grpSpPr>
          <a:xfrm>
            <a:off x="762000" y="1219200"/>
            <a:ext cx="7620000" cy="4905375"/>
            <a:chOff x="762000" y="1219200"/>
            <a:chExt cx="7620000" cy="4905375"/>
          </a:xfrm>
        </p:grpSpPr>
        <p:pic>
          <p:nvPicPr>
            <p:cNvPr id="7170" name="Picture 2"/>
            <p:cNvPicPr>
              <a:picLocks noChangeAspect="1" noChangeArrowheads="1"/>
            </p:cNvPicPr>
            <p:nvPr/>
          </p:nvPicPr>
          <p:blipFill>
            <a:blip r:embed="rId2" cstate="print"/>
            <a:srcRect/>
            <a:stretch>
              <a:fillRect/>
            </a:stretch>
          </p:blipFill>
          <p:spPr bwMode="auto">
            <a:xfrm>
              <a:off x="914400" y="1219200"/>
              <a:ext cx="4714875" cy="3057525"/>
            </a:xfrm>
            <a:prstGeom prst="rect">
              <a:avLst/>
            </a:prstGeom>
            <a:noFill/>
            <a:ln w="9525">
              <a:noFill/>
              <a:miter lim="800000"/>
              <a:headEnd/>
              <a:tailEnd/>
            </a:ln>
          </p:spPr>
        </p:pic>
        <p:pic>
          <p:nvPicPr>
            <p:cNvPr id="9" name="Picture 2"/>
            <p:cNvPicPr>
              <a:picLocks noChangeAspect="1" noChangeArrowheads="1"/>
            </p:cNvPicPr>
            <p:nvPr/>
          </p:nvPicPr>
          <p:blipFill>
            <a:blip r:embed="rId3" cstate="print"/>
            <a:srcRect/>
            <a:stretch>
              <a:fillRect/>
            </a:stretch>
          </p:blipFill>
          <p:spPr bwMode="auto">
            <a:xfrm>
              <a:off x="3657600" y="4114800"/>
              <a:ext cx="4495800" cy="2009775"/>
            </a:xfrm>
            <a:prstGeom prst="rect">
              <a:avLst/>
            </a:prstGeom>
            <a:noFill/>
            <a:ln w="9525">
              <a:noFill/>
              <a:miter lim="800000"/>
              <a:headEnd/>
              <a:tailEnd/>
            </a:ln>
          </p:spPr>
        </p:pic>
        <p:sp>
          <p:nvSpPr>
            <p:cNvPr id="10" name="TextBox 9"/>
            <p:cNvSpPr txBox="1"/>
            <p:nvPr/>
          </p:nvSpPr>
          <p:spPr>
            <a:xfrm>
              <a:off x="762000" y="4648200"/>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Assuming the gaming engine has code similar to this</a:t>
              </a:r>
              <a:endParaRPr lang="en-US" sz="1200" b="1" dirty="0">
                <a:solidFill>
                  <a:srgbClr val="C00000"/>
                </a:solidFill>
                <a:latin typeface="Bradley Hand ITC" pitchFamily="66" charset="0"/>
              </a:endParaRPr>
            </a:p>
          </p:txBody>
        </p:sp>
        <p:sp>
          <p:nvSpPr>
            <p:cNvPr id="11" name="Freeform 10"/>
            <p:cNvSpPr/>
            <p:nvPr/>
          </p:nvSpPr>
          <p:spPr>
            <a:xfrm>
              <a:off x="2724150" y="3667125"/>
              <a:ext cx="609600" cy="1304925"/>
            </a:xfrm>
            <a:custGeom>
              <a:avLst/>
              <a:gdLst>
                <a:gd name="connsiteX0" fmla="*/ 0 w 609600"/>
                <a:gd name="connsiteY0" fmla="*/ 1304925 h 1304925"/>
                <a:gd name="connsiteX1" fmla="*/ 581025 w 609600"/>
                <a:gd name="connsiteY1" fmla="*/ 1066800 h 1304925"/>
                <a:gd name="connsiteX2" fmla="*/ 171450 w 609600"/>
                <a:gd name="connsiteY2" fmla="*/ 581025 h 1304925"/>
                <a:gd name="connsiteX3" fmla="*/ 428625 w 609600"/>
                <a:gd name="connsiteY3" fmla="*/ 228600 h 1304925"/>
                <a:gd name="connsiteX4" fmla="*/ 295275 w 609600"/>
                <a:gd name="connsiteY4" fmla="*/ 0 h 1304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 h="1304925">
                  <a:moveTo>
                    <a:pt x="0" y="1304925"/>
                  </a:moveTo>
                  <a:cubicBezTo>
                    <a:pt x="276225" y="1246187"/>
                    <a:pt x="552450" y="1187450"/>
                    <a:pt x="581025" y="1066800"/>
                  </a:cubicBezTo>
                  <a:cubicBezTo>
                    <a:pt x="609600" y="946150"/>
                    <a:pt x="196850" y="720725"/>
                    <a:pt x="171450" y="581025"/>
                  </a:cubicBezTo>
                  <a:cubicBezTo>
                    <a:pt x="146050" y="441325"/>
                    <a:pt x="407988" y="325437"/>
                    <a:pt x="428625" y="228600"/>
                  </a:cubicBezTo>
                  <a:cubicBezTo>
                    <a:pt x="449262" y="131763"/>
                    <a:pt x="372268" y="65881"/>
                    <a:pt x="2952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5562600" y="1371600"/>
              <a:ext cx="1905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GameEngine expects all characters to obey the Character interface </a:t>
              </a:r>
              <a:endParaRPr lang="en-US" sz="1200" b="1" dirty="0">
                <a:solidFill>
                  <a:srgbClr val="C00000"/>
                </a:solidFill>
                <a:latin typeface="Bradley Hand ITC" pitchFamily="66" charset="0"/>
              </a:endParaRPr>
            </a:p>
          </p:txBody>
        </p:sp>
        <p:sp>
          <p:nvSpPr>
            <p:cNvPr id="13" name="Freeform 12"/>
            <p:cNvSpPr/>
            <p:nvPr/>
          </p:nvSpPr>
          <p:spPr>
            <a:xfrm>
              <a:off x="4257675" y="1484312"/>
              <a:ext cx="1432718" cy="420688"/>
            </a:xfrm>
            <a:custGeom>
              <a:avLst/>
              <a:gdLst>
                <a:gd name="connsiteX0" fmla="*/ 1371600 w 1432718"/>
                <a:gd name="connsiteY0" fmla="*/ 11113 h 420688"/>
                <a:gd name="connsiteX1" fmla="*/ 1314450 w 1432718"/>
                <a:gd name="connsiteY1" fmla="*/ 11113 h 420688"/>
                <a:gd name="connsiteX2" fmla="*/ 295275 w 1432718"/>
                <a:gd name="connsiteY2" fmla="*/ 144463 h 420688"/>
                <a:gd name="connsiteX3" fmla="*/ 0 w 1432718"/>
                <a:gd name="connsiteY3" fmla="*/ 420688 h 420688"/>
              </a:gdLst>
              <a:ahLst/>
              <a:cxnLst>
                <a:cxn ang="0">
                  <a:pos x="connsiteX0" y="connsiteY0"/>
                </a:cxn>
                <a:cxn ang="0">
                  <a:pos x="connsiteX1" y="connsiteY1"/>
                </a:cxn>
                <a:cxn ang="0">
                  <a:pos x="connsiteX2" y="connsiteY2"/>
                </a:cxn>
                <a:cxn ang="0">
                  <a:pos x="connsiteX3" y="connsiteY3"/>
                </a:cxn>
              </a:cxnLst>
              <a:rect l="l" t="t" r="r" b="b"/>
              <a:pathLst>
                <a:path w="1432718" h="420688">
                  <a:moveTo>
                    <a:pt x="1371600" y="11113"/>
                  </a:moveTo>
                  <a:cubicBezTo>
                    <a:pt x="1432718" y="0"/>
                    <a:pt x="1314450" y="11113"/>
                    <a:pt x="1314450" y="11113"/>
                  </a:cubicBezTo>
                  <a:cubicBezTo>
                    <a:pt x="1135063" y="33338"/>
                    <a:pt x="514350" y="76201"/>
                    <a:pt x="295275" y="144463"/>
                  </a:cubicBezTo>
                  <a:cubicBezTo>
                    <a:pt x="76200" y="212726"/>
                    <a:pt x="38100" y="316707"/>
                    <a:pt x="0" y="420688"/>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486400" y="3429000"/>
              <a:ext cx="2895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is how you would adapt the borrowed character and use it in the GameEngine</a:t>
              </a:r>
              <a:endParaRPr lang="en-US" sz="1200" b="1" dirty="0">
                <a:solidFill>
                  <a:srgbClr val="C00000"/>
                </a:solidFill>
                <a:latin typeface="Bradley Hand ITC" pitchFamily="66" charset="0"/>
              </a:endParaRPr>
            </a:p>
          </p:txBody>
        </p:sp>
        <p:sp>
          <p:nvSpPr>
            <p:cNvPr id="15" name="Freeform 14"/>
            <p:cNvSpPr/>
            <p:nvPr/>
          </p:nvSpPr>
          <p:spPr>
            <a:xfrm>
              <a:off x="6629400" y="3867150"/>
              <a:ext cx="209550" cy="533400"/>
            </a:xfrm>
            <a:custGeom>
              <a:avLst/>
              <a:gdLst>
                <a:gd name="connsiteX0" fmla="*/ 0 w 209550"/>
                <a:gd name="connsiteY0" fmla="*/ 0 h 533400"/>
                <a:gd name="connsiteX1" fmla="*/ 209550 w 209550"/>
                <a:gd name="connsiteY1" fmla="*/ 247650 h 533400"/>
                <a:gd name="connsiteX2" fmla="*/ 0 w 209550"/>
                <a:gd name="connsiteY2" fmla="*/ 533400 h 533400"/>
              </a:gdLst>
              <a:ahLst/>
              <a:cxnLst>
                <a:cxn ang="0">
                  <a:pos x="connsiteX0" y="connsiteY0"/>
                </a:cxn>
                <a:cxn ang="0">
                  <a:pos x="connsiteX1" y="connsiteY1"/>
                </a:cxn>
                <a:cxn ang="0">
                  <a:pos x="connsiteX2" y="connsiteY2"/>
                </a:cxn>
              </a:cxnLst>
              <a:rect l="l" t="t" r="r" b="b"/>
              <a:pathLst>
                <a:path w="209550" h="533400">
                  <a:moveTo>
                    <a:pt x="0" y="0"/>
                  </a:moveTo>
                  <a:cubicBezTo>
                    <a:pt x="104775" y="79375"/>
                    <a:pt x="209550" y="158750"/>
                    <a:pt x="209550" y="247650"/>
                  </a:cubicBezTo>
                  <a:cubicBezTo>
                    <a:pt x="209550" y="336550"/>
                    <a:pt x="104775" y="434975"/>
                    <a:pt x="0" y="533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Adapter Design Pattern</a:t>
            </a:r>
            <a:endParaRPr lang="en-US" dirty="0"/>
          </a:p>
        </p:txBody>
      </p:sp>
      <p:sp>
        <p:nvSpPr>
          <p:cNvPr id="3" name="Content Placeholder 2"/>
          <p:cNvSpPr>
            <a:spLocks noGrp="1"/>
          </p:cNvSpPr>
          <p:nvPr>
            <p:ph idx="1"/>
          </p:nvPr>
        </p:nvSpPr>
        <p:spPr/>
        <p:txBody>
          <a:bodyPr>
            <a:normAutofit lnSpcReduction="10000"/>
          </a:bodyPr>
          <a:lstStyle/>
          <a:p>
            <a:r>
              <a:rPr lang="en-US" dirty="0" smtClean="0"/>
              <a:t>The step-by-step approach for designing the object structural adapter design pattern is presented as follows:</a:t>
            </a:r>
          </a:p>
          <a:p>
            <a:pPr marL="800100" lvl="1" indent="-342900">
              <a:buFont typeface="+mj-lt"/>
              <a:buAutoNum type="arabicPeriod"/>
            </a:pPr>
            <a:r>
              <a:rPr lang="en-US" dirty="0" smtClean="0"/>
              <a:t>Identify the source and destination interfaces that need adapting in the new system (e.g., Target and Adaptee or Character and SpecialCharacter).</a:t>
            </a:r>
          </a:p>
          <a:p>
            <a:pPr marL="800100" lvl="1" indent="-342900">
              <a:buFont typeface="+mj-lt"/>
              <a:buAutoNum type="arabicPeriod"/>
            </a:pPr>
            <a:r>
              <a:rPr lang="en-US" dirty="0" smtClean="0"/>
              <a:t>Add a new class (e.g., Adapter or AdaptedCharacter) in the design that realizes the Target interface and implements it in terms of the Adaptee’s implementation.  This requires a realization relationship between the Adapter and Target, and an association between the Adapter and the Adaptee.</a:t>
            </a:r>
          </a:p>
          <a:p>
            <a:pPr marL="800100" lvl="1" indent="-342900">
              <a:buFont typeface="+mj-lt"/>
              <a:buAutoNum type="arabicPeriod"/>
            </a:pPr>
            <a:r>
              <a:rPr lang="en-US" dirty="0" smtClean="0"/>
              <a:t>In the new system, whenever objects that share the Target interface are expected, it can now be possible to use the Adapter objects created in step 2.</a:t>
            </a:r>
          </a:p>
          <a:p>
            <a:endParaRPr lang="en-US" dirty="0" smtClean="0"/>
          </a:p>
          <a:p>
            <a:r>
              <a:rPr lang="en-US" dirty="0" smtClean="0"/>
              <a:t>Benefits of the Adapter design pattern include:</a:t>
            </a:r>
          </a:p>
          <a:p>
            <a:pPr lvl="1"/>
            <a:r>
              <a:rPr lang="en-US" dirty="0" smtClean="0"/>
              <a:t>Allows classes with incompatible interfaces to work together,  therefore it increases reusability and ease of code integration.</a:t>
            </a:r>
          </a:p>
          <a:p>
            <a:pPr lvl="1"/>
            <a:r>
              <a:rPr lang="en-US" dirty="0" smtClean="0"/>
              <a:t>Provides a standard way for integrating a plurality of different types to existing software.</a:t>
            </a:r>
          </a:p>
          <a:p>
            <a:pPr marL="800100" lvl="1" indent="-342900">
              <a:buFont typeface="+mj-lt"/>
              <a:buAutoNum type="arabicPeriod"/>
            </a:pP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a:t>
            </a:r>
            <a:endParaRPr lang="en-US" dirty="0"/>
          </a:p>
        </p:txBody>
      </p:sp>
      <p:sp>
        <p:nvSpPr>
          <p:cNvPr id="3" name="Content Placeholder 2"/>
          <p:cNvSpPr>
            <a:spLocks noGrp="1"/>
          </p:cNvSpPr>
          <p:nvPr>
            <p:ph idx="1"/>
          </p:nvPr>
        </p:nvSpPr>
        <p:spPr>
          <a:xfrm>
            <a:off x="457200" y="1371601"/>
            <a:ext cx="8229600" cy="1752599"/>
          </a:xfrm>
        </p:spPr>
        <p:txBody>
          <a:bodyPr>
            <a:normAutofit fontScale="85000" lnSpcReduction="20000"/>
          </a:bodyPr>
          <a:lstStyle/>
          <a:p>
            <a:r>
              <a:rPr lang="en-US" dirty="0" smtClean="0"/>
              <a:t>The Composite design pattern is an object structural pattern that allows designers to compose (large) tree-like designs structures by strategically structuring objects that share a whole-part relationship.</a:t>
            </a:r>
            <a:endParaRPr lang="en-US" dirty="0"/>
          </a:p>
          <a:p>
            <a:endParaRPr lang="en-US" dirty="0" smtClean="0"/>
          </a:p>
          <a:p>
            <a:r>
              <a:rPr lang="en-US" dirty="0" smtClean="0"/>
              <a:t>According to the </a:t>
            </a:r>
            <a:r>
              <a:rPr lang="en-US" dirty="0" err="1" smtClean="0"/>
              <a:t>GoF</a:t>
            </a:r>
            <a:r>
              <a:rPr lang="en-US" dirty="0" smtClean="0"/>
              <a:t>, the intent of the Composite is to [1]</a:t>
            </a:r>
          </a:p>
          <a:p>
            <a:pPr lvl="1"/>
            <a:r>
              <a:rPr lang="en-US" dirty="0" smtClean="0"/>
              <a:t>Compose objects into tree structures to represent whole-part hierarchies.  Composite  lets clients treat individual objects and composites of objects uniformly.</a:t>
            </a:r>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grpSp>
        <p:nvGrpSpPr>
          <p:cNvPr id="9" name="Group 8"/>
          <p:cNvGrpSpPr/>
          <p:nvPr/>
        </p:nvGrpSpPr>
        <p:grpSpPr>
          <a:xfrm>
            <a:off x="2362200" y="3648075"/>
            <a:ext cx="4286250" cy="1914525"/>
            <a:chOff x="2362200" y="3648075"/>
            <a:chExt cx="4286250" cy="1914525"/>
          </a:xfrm>
        </p:grpSpPr>
        <p:pic>
          <p:nvPicPr>
            <p:cNvPr id="9218" name="Picture 2"/>
            <p:cNvPicPr>
              <a:picLocks noChangeAspect="1" noChangeArrowheads="1"/>
            </p:cNvPicPr>
            <p:nvPr/>
          </p:nvPicPr>
          <p:blipFill>
            <a:blip r:embed="rId2" cstate="print"/>
            <a:srcRect/>
            <a:stretch>
              <a:fillRect/>
            </a:stretch>
          </p:blipFill>
          <p:spPr bwMode="auto">
            <a:xfrm>
              <a:off x="2362200" y="3657600"/>
              <a:ext cx="4286250" cy="1905000"/>
            </a:xfrm>
            <a:prstGeom prst="rect">
              <a:avLst/>
            </a:prstGeom>
            <a:noFill/>
            <a:ln w="9525">
              <a:noFill/>
              <a:miter lim="800000"/>
              <a:headEnd/>
              <a:tailEnd/>
            </a:ln>
          </p:spPr>
        </p:pic>
        <p:sp>
          <p:nvSpPr>
            <p:cNvPr id="8" name="Rectangle 7"/>
            <p:cNvSpPr/>
            <p:nvPr/>
          </p:nvSpPr>
          <p:spPr>
            <a:xfrm>
              <a:off x="6096000" y="36480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2209799" y="1219200"/>
            <a:ext cx="4697265" cy="5105400"/>
          </a:xfrm>
          <a:prstGeom prst="rect">
            <a:avLst/>
          </a:prstGeom>
          <a:noFill/>
          <a:ln w="9525">
            <a:noFill/>
            <a:miter lim="800000"/>
            <a:headEnd/>
            <a:tailEnd/>
          </a:ln>
        </p:spPr>
      </p:pic>
      <p:cxnSp>
        <p:nvCxnSpPr>
          <p:cNvPr id="9" name="Straight Connector 8"/>
          <p:cNvCxnSpPr/>
          <p:nvPr/>
        </p:nvCxnSpPr>
        <p:spPr>
          <a:xfrm>
            <a:off x="3810000" y="6248400"/>
            <a:ext cx="5334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5257800" y="5867400"/>
            <a:ext cx="1752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209800" y="6096000"/>
            <a:ext cx="22098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5486400" y="5867400"/>
            <a:ext cx="2438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graphical representation Is presented in the next slide…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19" name="Group 18"/>
          <p:cNvGrpSpPr/>
          <p:nvPr/>
        </p:nvGrpSpPr>
        <p:grpSpPr>
          <a:xfrm>
            <a:off x="228600" y="1524000"/>
            <a:ext cx="8686800" cy="4608731"/>
            <a:chOff x="228600" y="1524000"/>
            <a:chExt cx="8686800" cy="4608731"/>
          </a:xfrm>
        </p:grpSpPr>
        <p:pic>
          <p:nvPicPr>
            <p:cNvPr id="12290" name="Picture 2"/>
            <p:cNvPicPr>
              <a:picLocks noChangeAspect="1" noChangeArrowheads="1"/>
            </p:cNvPicPr>
            <p:nvPr/>
          </p:nvPicPr>
          <p:blipFill>
            <a:blip r:embed="rId2" cstate="print"/>
            <a:srcRect/>
            <a:stretch>
              <a:fillRect/>
            </a:stretch>
          </p:blipFill>
          <p:spPr bwMode="auto">
            <a:xfrm>
              <a:off x="2314575" y="1524000"/>
              <a:ext cx="4314825" cy="3781425"/>
            </a:xfrm>
            <a:prstGeom prst="rect">
              <a:avLst/>
            </a:prstGeom>
            <a:noFill/>
            <a:ln w="9525">
              <a:noFill/>
              <a:miter lim="800000"/>
              <a:headEnd/>
              <a:tailEnd/>
            </a:ln>
          </p:spPr>
        </p:pic>
        <p:sp>
          <p:nvSpPr>
            <p:cNvPr id="8" name="TextBox 7"/>
            <p:cNvSpPr txBox="1"/>
            <p:nvPr/>
          </p:nvSpPr>
          <p:spPr>
            <a:xfrm>
              <a:off x="6477000" y="1524000"/>
              <a:ext cx="2286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is one message.  More specifically, it is a composite message composed of other messages</a:t>
              </a:r>
              <a:endParaRPr lang="en-US" sz="1200" b="1" dirty="0">
                <a:solidFill>
                  <a:srgbClr val="C00000"/>
                </a:solidFill>
                <a:latin typeface="Bradley Hand ITC" pitchFamily="66" charset="0"/>
              </a:endParaRPr>
            </a:p>
          </p:txBody>
        </p:sp>
        <p:sp>
          <p:nvSpPr>
            <p:cNvPr id="9" name="Freeform 8"/>
            <p:cNvSpPr/>
            <p:nvPr/>
          </p:nvSpPr>
          <p:spPr>
            <a:xfrm>
              <a:off x="4876800" y="1882774"/>
              <a:ext cx="1828800" cy="174626"/>
            </a:xfrm>
            <a:custGeom>
              <a:avLst/>
              <a:gdLst>
                <a:gd name="connsiteX0" fmla="*/ 1905000 w 1905000"/>
                <a:gd name="connsiteY0" fmla="*/ 69850 h 146050"/>
                <a:gd name="connsiteX1" fmla="*/ 1219200 w 1905000"/>
                <a:gd name="connsiteY1" fmla="*/ 12700 h 146050"/>
                <a:gd name="connsiteX2" fmla="*/ 0 w 1905000"/>
                <a:gd name="connsiteY2" fmla="*/ 146050 h 146050"/>
              </a:gdLst>
              <a:ahLst/>
              <a:cxnLst>
                <a:cxn ang="0">
                  <a:pos x="connsiteX0" y="connsiteY0"/>
                </a:cxn>
                <a:cxn ang="0">
                  <a:pos x="connsiteX1" y="connsiteY1"/>
                </a:cxn>
                <a:cxn ang="0">
                  <a:pos x="connsiteX2" y="connsiteY2"/>
                </a:cxn>
              </a:cxnLst>
              <a:rect l="l" t="t" r="r" b="b"/>
              <a:pathLst>
                <a:path w="1905000" h="146050">
                  <a:moveTo>
                    <a:pt x="1905000" y="69850"/>
                  </a:moveTo>
                  <a:cubicBezTo>
                    <a:pt x="1720850" y="34925"/>
                    <a:pt x="1536700" y="0"/>
                    <a:pt x="1219200" y="12700"/>
                  </a:cubicBezTo>
                  <a:cubicBezTo>
                    <a:pt x="901700" y="25400"/>
                    <a:pt x="450850" y="85725"/>
                    <a:pt x="0" y="146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705600" y="2590800"/>
              <a:ext cx="2209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is also a message, but, unlike the composite, this primitive message does not contain other messages!</a:t>
              </a:r>
              <a:endParaRPr lang="en-US" sz="1200" b="1" dirty="0">
                <a:solidFill>
                  <a:srgbClr val="C00000"/>
                </a:solidFill>
                <a:latin typeface="Bradley Hand ITC" pitchFamily="66" charset="0"/>
              </a:endParaRPr>
            </a:p>
          </p:txBody>
        </p:sp>
        <p:sp>
          <p:nvSpPr>
            <p:cNvPr id="11" name="Freeform 10"/>
            <p:cNvSpPr/>
            <p:nvPr/>
          </p:nvSpPr>
          <p:spPr>
            <a:xfrm>
              <a:off x="5686425" y="2513013"/>
              <a:ext cx="1209675" cy="192087"/>
            </a:xfrm>
            <a:custGeom>
              <a:avLst/>
              <a:gdLst>
                <a:gd name="connsiteX0" fmla="*/ 1209675 w 1209675"/>
                <a:gd name="connsiteY0" fmla="*/ 192087 h 192087"/>
                <a:gd name="connsiteX1" fmla="*/ 438150 w 1209675"/>
                <a:gd name="connsiteY1" fmla="*/ 20637 h 192087"/>
                <a:gd name="connsiteX2" fmla="*/ 0 w 1209675"/>
                <a:gd name="connsiteY2" fmla="*/ 68262 h 192087"/>
              </a:gdLst>
              <a:ahLst/>
              <a:cxnLst>
                <a:cxn ang="0">
                  <a:pos x="connsiteX0" y="connsiteY0"/>
                </a:cxn>
                <a:cxn ang="0">
                  <a:pos x="connsiteX1" y="connsiteY1"/>
                </a:cxn>
                <a:cxn ang="0">
                  <a:pos x="connsiteX2" y="connsiteY2"/>
                </a:cxn>
              </a:cxnLst>
              <a:rect l="l" t="t" r="r" b="b"/>
              <a:pathLst>
                <a:path w="1209675" h="192087">
                  <a:moveTo>
                    <a:pt x="1209675" y="192087"/>
                  </a:moveTo>
                  <a:cubicBezTo>
                    <a:pt x="924718" y="116680"/>
                    <a:pt x="639762" y="41274"/>
                    <a:pt x="438150" y="20637"/>
                  </a:cubicBezTo>
                  <a:cubicBezTo>
                    <a:pt x="236538" y="0"/>
                    <a:pt x="118269" y="34131"/>
                    <a:pt x="0" y="682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228600" y="1600200"/>
              <a:ext cx="2209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Mission Plan Message dictates what happens in the system.  It is a message composed of other messages.  </a:t>
              </a:r>
              <a:endParaRPr lang="en-US" sz="1200" b="1" dirty="0">
                <a:solidFill>
                  <a:srgbClr val="C00000"/>
                </a:solidFill>
                <a:latin typeface="Bradley Hand ITC" pitchFamily="66" charset="0"/>
              </a:endParaRPr>
            </a:p>
          </p:txBody>
        </p:sp>
        <p:sp>
          <p:nvSpPr>
            <p:cNvPr id="13" name="TextBox 12"/>
            <p:cNvSpPr txBox="1"/>
            <p:nvPr/>
          </p:nvSpPr>
          <p:spPr>
            <a:xfrm>
              <a:off x="304800" y="28956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want to use a GUI to allow operators to create Mission Plan messages</a:t>
              </a:r>
              <a:endParaRPr lang="en-US" sz="1200" b="1" dirty="0">
                <a:solidFill>
                  <a:srgbClr val="C00000"/>
                </a:solidFill>
                <a:latin typeface="Bradley Hand ITC" pitchFamily="66" charset="0"/>
              </a:endParaRPr>
            </a:p>
          </p:txBody>
        </p:sp>
        <p:sp>
          <p:nvSpPr>
            <p:cNvPr id="14" name="TextBox 13"/>
            <p:cNvSpPr txBox="1"/>
            <p:nvPr/>
          </p:nvSpPr>
          <p:spPr>
            <a:xfrm>
              <a:off x="381000" y="3886200"/>
              <a:ext cx="1981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want to use a GUI to allow operators to create Mission Plan messages</a:t>
              </a:r>
              <a:endParaRPr lang="en-US" sz="1200" b="1" dirty="0">
                <a:solidFill>
                  <a:srgbClr val="C00000"/>
                </a:solidFill>
                <a:latin typeface="Bradley Hand ITC" pitchFamily="66" charset="0"/>
              </a:endParaRPr>
            </a:p>
          </p:txBody>
        </p:sp>
        <p:sp>
          <p:nvSpPr>
            <p:cNvPr id="15" name="Freeform 14"/>
            <p:cNvSpPr/>
            <p:nvPr/>
          </p:nvSpPr>
          <p:spPr>
            <a:xfrm>
              <a:off x="1800225" y="4581525"/>
              <a:ext cx="1009650" cy="601663"/>
            </a:xfrm>
            <a:custGeom>
              <a:avLst/>
              <a:gdLst>
                <a:gd name="connsiteX0" fmla="*/ 0 w 1009650"/>
                <a:gd name="connsiteY0" fmla="*/ 0 h 601663"/>
                <a:gd name="connsiteX1" fmla="*/ 342900 w 1009650"/>
                <a:gd name="connsiteY1" fmla="*/ 542925 h 601663"/>
                <a:gd name="connsiteX2" fmla="*/ 1009650 w 1009650"/>
                <a:gd name="connsiteY2" fmla="*/ 352425 h 601663"/>
              </a:gdLst>
              <a:ahLst/>
              <a:cxnLst>
                <a:cxn ang="0">
                  <a:pos x="connsiteX0" y="connsiteY0"/>
                </a:cxn>
                <a:cxn ang="0">
                  <a:pos x="connsiteX1" y="connsiteY1"/>
                </a:cxn>
                <a:cxn ang="0">
                  <a:pos x="connsiteX2" y="connsiteY2"/>
                </a:cxn>
              </a:cxnLst>
              <a:rect l="l" t="t" r="r" b="b"/>
              <a:pathLst>
                <a:path w="1009650" h="601663">
                  <a:moveTo>
                    <a:pt x="0" y="0"/>
                  </a:moveTo>
                  <a:cubicBezTo>
                    <a:pt x="87312" y="242094"/>
                    <a:pt x="174625" y="484188"/>
                    <a:pt x="342900" y="542925"/>
                  </a:cubicBezTo>
                  <a:cubicBezTo>
                    <a:pt x="511175" y="601663"/>
                    <a:pt x="760412" y="477044"/>
                    <a:pt x="1009650" y="3524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6705600" y="3657600"/>
              <a:ext cx="19812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this example, Message 3 is a composite message.  We can include, e.g., Message 5 as part of the Message 3 composite message.</a:t>
              </a:r>
              <a:endParaRPr lang="en-US" sz="1200" b="1" dirty="0">
                <a:solidFill>
                  <a:srgbClr val="C00000"/>
                </a:solidFill>
                <a:latin typeface="Bradley Hand ITC" pitchFamily="66" charset="0"/>
              </a:endParaRPr>
            </a:p>
          </p:txBody>
        </p:sp>
        <p:sp>
          <p:nvSpPr>
            <p:cNvPr id="17" name="Freeform 16"/>
            <p:cNvSpPr/>
            <p:nvPr/>
          </p:nvSpPr>
          <p:spPr>
            <a:xfrm>
              <a:off x="6543675" y="4495800"/>
              <a:ext cx="457200" cy="174625"/>
            </a:xfrm>
            <a:custGeom>
              <a:avLst/>
              <a:gdLst>
                <a:gd name="connsiteX0" fmla="*/ 457200 w 457200"/>
                <a:gd name="connsiteY0" fmla="*/ 0 h 174625"/>
                <a:gd name="connsiteX1" fmla="*/ 266700 w 457200"/>
                <a:gd name="connsiteY1" fmla="*/ 161925 h 174625"/>
                <a:gd name="connsiteX2" fmla="*/ 0 w 457200"/>
                <a:gd name="connsiteY2" fmla="*/ 76200 h 174625"/>
              </a:gdLst>
              <a:ahLst/>
              <a:cxnLst>
                <a:cxn ang="0">
                  <a:pos x="connsiteX0" y="connsiteY0"/>
                </a:cxn>
                <a:cxn ang="0">
                  <a:pos x="connsiteX1" y="connsiteY1"/>
                </a:cxn>
                <a:cxn ang="0">
                  <a:pos x="connsiteX2" y="connsiteY2"/>
                </a:cxn>
              </a:cxnLst>
              <a:rect l="l" t="t" r="r" b="b"/>
              <a:pathLst>
                <a:path w="457200" h="174625">
                  <a:moveTo>
                    <a:pt x="457200" y="0"/>
                  </a:moveTo>
                  <a:cubicBezTo>
                    <a:pt x="400050" y="74612"/>
                    <a:pt x="342900" y="149225"/>
                    <a:pt x="266700" y="161925"/>
                  </a:cubicBezTo>
                  <a:cubicBezTo>
                    <a:pt x="190500" y="174625"/>
                    <a:pt x="95250" y="125412"/>
                    <a:pt x="0" y="76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2133600" y="5486400"/>
              <a:ext cx="4800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Both </a:t>
              </a:r>
              <a:r>
                <a:rPr lang="en-US" sz="1200" b="1" u="sng" dirty="0" smtClean="0">
                  <a:solidFill>
                    <a:srgbClr val="C00000"/>
                  </a:solidFill>
                  <a:latin typeface="Bradley Hand ITC" pitchFamily="66" charset="0"/>
                </a:rPr>
                <a:t>primitive</a:t>
              </a:r>
              <a:r>
                <a:rPr lang="en-US" sz="1200" b="1" dirty="0" smtClean="0">
                  <a:solidFill>
                    <a:srgbClr val="C00000"/>
                  </a:solidFill>
                  <a:latin typeface="Bradley Hand ITC" pitchFamily="66" charset="0"/>
                </a:rPr>
                <a:t> and </a:t>
              </a:r>
              <a:r>
                <a:rPr lang="en-US" sz="1200" b="1" u="sng" dirty="0" smtClean="0">
                  <a:solidFill>
                    <a:srgbClr val="C00000"/>
                  </a:solidFill>
                  <a:latin typeface="Bradley Hand ITC" pitchFamily="66" charset="0"/>
                </a:rPr>
                <a:t>composite</a:t>
              </a:r>
              <a:r>
                <a:rPr lang="en-US" sz="1200" b="1" dirty="0" smtClean="0">
                  <a:solidFill>
                    <a:srgbClr val="C00000"/>
                  </a:solidFill>
                  <a:latin typeface="Bradley Hand ITC" pitchFamily="66" charset="0"/>
                </a:rPr>
                <a:t> messages ARE messages, so we want to treat them the same way to retrieve their IDs, print them, transform them to XML, etc., and transfer them through the system.</a:t>
              </a:r>
              <a:endParaRPr lang="en-US" sz="1200" b="1" dirty="0">
                <a:solidFill>
                  <a:srgbClr val="C00000"/>
                </a:solidFill>
                <a:latin typeface="Bradley Hand ITC" pitchFamily="66"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pSp>
        <p:nvGrpSpPr>
          <p:cNvPr id="18" name="Group 17"/>
          <p:cNvGrpSpPr/>
          <p:nvPr/>
        </p:nvGrpSpPr>
        <p:grpSpPr>
          <a:xfrm>
            <a:off x="609600" y="1676400"/>
            <a:ext cx="8077200" cy="4383822"/>
            <a:chOff x="762000" y="1676400"/>
            <a:chExt cx="8077200" cy="4383822"/>
          </a:xfrm>
        </p:grpSpPr>
        <p:grpSp>
          <p:nvGrpSpPr>
            <p:cNvPr id="9" name="Group 8"/>
            <p:cNvGrpSpPr/>
            <p:nvPr/>
          </p:nvGrpSpPr>
          <p:grpSpPr>
            <a:xfrm>
              <a:off x="2057400" y="1676400"/>
              <a:ext cx="5191125" cy="3276600"/>
              <a:chOff x="1905000" y="2009775"/>
              <a:chExt cx="5191125" cy="3276600"/>
            </a:xfrm>
          </p:grpSpPr>
          <p:pic>
            <p:nvPicPr>
              <p:cNvPr id="10242" name="Picture 2"/>
              <p:cNvPicPr>
                <a:picLocks noChangeAspect="1" noChangeArrowheads="1"/>
              </p:cNvPicPr>
              <p:nvPr/>
            </p:nvPicPr>
            <p:blipFill>
              <a:blip r:embed="rId2" cstate="print"/>
              <a:srcRect/>
              <a:stretch>
                <a:fillRect/>
              </a:stretch>
            </p:blipFill>
            <p:spPr bwMode="auto">
              <a:xfrm>
                <a:off x="1905000" y="2057400"/>
                <a:ext cx="5181600" cy="3228975"/>
              </a:xfrm>
              <a:prstGeom prst="rect">
                <a:avLst/>
              </a:prstGeom>
              <a:noFill/>
              <a:ln w="9525">
                <a:noFill/>
                <a:miter lim="800000"/>
                <a:headEnd/>
                <a:tailEnd/>
              </a:ln>
            </p:spPr>
          </p:pic>
          <p:sp>
            <p:nvSpPr>
              <p:cNvPr id="8" name="Rectangle 7"/>
              <p:cNvSpPr/>
              <p:nvPr/>
            </p:nvSpPr>
            <p:spPr>
              <a:xfrm>
                <a:off x="6548729" y="20097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p:cNvSpPr txBox="1"/>
            <p:nvPr/>
          </p:nvSpPr>
          <p:spPr>
            <a:xfrm>
              <a:off x="838200" y="3733800"/>
              <a:ext cx="1066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Example of primitive messages</a:t>
              </a:r>
              <a:endParaRPr lang="en-US" sz="1200" b="1" dirty="0">
                <a:solidFill>
                  <a:srgbClr val="C00000"/>
                </a:solidFill>
                <a:latin typeface="Bradley Hand ITC" pitchFamily="66" charset="0"/>
              </a:endParaRPr>
            </a:p>
          </p:txBody>
        </p:sp>
        <p:sp>
          <p:nvSpPr>
            <p:cNvPr id="11" name="Left Brace 10"/>
            <p:cNvSpPr/>
            <p:nvPr/>
          </p:nvSpPr>
          <p:spPr>
            <a:xfrm>
              <a:off x="1905000" y="3248025"/>
              <a:ext cx="152400" cy="1676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762000" y="2486025"/>
              <a:ext cx="1676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Primitive message for video collection control</a:t>
              </a:r>
            </a:p>
            <a:p>
              <a:pPr algn="ctr"/>
              <a:r>
                <a:rPr lang="en-US" sz="1200" b="1" dirty="0" smtClean="0">
                  <a:solidFill>
                    <a:srgbClr val="C00000"/>
                  </a:solidFill>
                  <a:latin typeface="Bradley Hand ITC" pitchFamily="66" charset="0"/>
                </a:rPr>
                <a:t>(Leaf )</a:t>
              </a:r>
              <a:endParaRPr lang="en-US" sz="1200" b="1" dirty="0">
                <a:solidFill>
                  <a:srgbClr val="C00000"/>
                </a:solidFill>
                <a:latin typeface="Bradley Hand ITC" pitchFamily="66" charset="0"/>
              </a:endParaRPr>
            </a:p>
          </p:txBody>
        </p:sp>
        <p:sp>
          <p:nvSpPr>
            <p:cNvPr id="13" name="TextBox 12"/>
            <p:cNvSpPr txBox="1"/>
            <p:nvPr/>
          </p:nvSpPr>
          <p:spPr>
            <a:xfrm>
              <a:off x="762000" y="5229225"/>
              <a:ext cx="29718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Primitive message for executing a system test to ensure everything is working OK</a:t>
              </a:r>
            </a:p>
            <a:p>
              <a:pPr algn="ctr"/>
              <a:r>
                <a:rPr lang="en-US" sz="1200" b="1" dirty="0" smtClean="0">
                  <a:solidFill>
                    <a:srgbClr val="C00000"/>
                  </a:solidFill>
                  <a:latin typeface="Bradley Hand ITC" pitchFamily="66" charset="0"/>
                </a:rPr>
                <a:t>(Leaf)</a:t>
              </a:r>
            </a:p>
            <a:p>
              <a:pPr algn="ctr"/>
              <a:endParaRPr lang="en-US" sz="1200" b="1" dirty="0">
                <a:solidFill>
                  <a:srgbClr val="C00000"/>
                </a:solidFill>
                <a:latin typeface="Bradley Hand ITC" pitchFamily="66" charset="0"/>
              </a:endParaRPr>
            </a:p>
          </p:txBody>
        </p:sp>
        <p:sp>
          <p:nvSpPr>
            <p:cNvPr id="14" name="Freeform 13"/>
            <p:cNvSpPr/>
            <p:nvPr/>
          </p:nvSpPr>
          <p:spPr>
            <a:xfrm>
              <a:off x="3200400" y="4914900"/>
              <a:ext cx="261938" cy="295275"/>
            </a:xfrm>
            <a:custGeom>
              <a:avLst/>
              <a:gdLst>
                <a:gd name="connsiteX0" fmla="*/ 0 w 261938"/>
                <a:gd name="connsiteY0" fmla="*/ 295275 h 295275"/>
                <a:gd name="connsiteX1" fmla="*/ 228600 w 261938"/>
                <a:gd name="connsiteY1" fmla="*/ 228600 h 295275"/>
                <a:gd name="connsiteX2" fmla="*/ 200025 w 261938"/>
                <a:gd name="connsiteY2" fmla="*/ 0 h 295275"/>
              </a:gdLst>
              <a:ahLst/>
              <a:cxnLst>
                <a:cxn ang="0">
                  <a:pos x="connsiteX0" y="connsiteY0"/>
                </a:cxn>
                <a:cxn ang="0">
                  <a:pos x="connsiteX1" y="connsiteY1"/>
                </a:cxn>
                <a:cxn ang="0">
                  <a:pos x="connsiteX2" y="connsiteY2"/>
                </a:cxn>
              </a:cxnLst>
              <a:rect l="l" t="t" r="r" b="b"/>
              <a:pathLst>
                <a:path w="261938" h="295275">
                  <a:moveTo>
                    <a:pt x="0" y="295275"/>
                  </a:moveTo>
                  <a:cubicBezTo>
                    <a:pt x="97631" y="286544"/>
                    <a:pt x="195262" y="277813"/>
                    <a:pt x="228600" y="228600"/>
                  </a:cubicBezTo>
                  <a:cubicBezTo>
                    <a:pt x="261938" y="179387"/>
                    <a:pt x="230981" y="89693"/>
                    <a:pt x="2000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Freeform 14"/>
            <p:cNvSpPr/>
            <p:nvPr/>
          </p:nvSpPr>
          <p:spPr>
            <a:xfrm>
              <a:off x="2438400" y="2819400"/>
              <a:ext cx="239713" cy="447675"/>
            </a:xfrm>
            <a:custGeom>
              <a:avLst/>
              <a:gdLst>
                <a:gd name="connsiteX0" fmla="*/ 0 w 239713"/>
                <a:gd name="connsiteY0" fmla="*/ 0 h 447675"/>
                <a:gd name="connsiteX1" fmla="*/ 209550 w 239713"/>
                <a:gd name="connsiteY1" fmla="*/ 171450 h 447675"/>
                <a:gd name="connsiteX2" fmla="*/ 180975 w 239713"/>
                <a:gd name="connsiteY2" fmla="*/ 447675 h 447675"/>
              </a:gdLst>
              <a:ahLst/>
              <a:cxnLst>
                <a:cxn ang="0">
                  <a:pos x="connsiteX0" y="connsiteY0"/>
                </a:cxn>
                <a:cxn ang="0">
                  <a:pos x="connsiteX1" y="connsiteY1"/>
                </a:cxn>
                <a:cxn ang="0">
                  <a:pos x="connsiteX2" y="connsiteY2"/>
                </a:cxn>
              </a:cxnLst>
              <a:rect l="l" t="t" r="r" b="b"/>
              <a:pathLst>
                <a:path w="239713" h="447675">
                  <a:moveTo>
                    <a:pt x="0" y="0"/>
                  </a:moveTo>
                  <a:cubicBezTo>
                    <a:pt x="89694" y="48419"/>
                    <a:pt x="179388" y="96838"/>
                    <a:pt x="209550" y="171450"/>
                  </a:cubicBezTo>
                  <a:cubicBezTo>
                    <a:pt x="239713" y="246063"/>
                    <a:pt x="210344" y="346869"/>
                    <a:pt x="180975" y="4476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6705600" y="2486025"/>
              <a:ext cx="2133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Composite message.  This one is used to create composite messages, e.g., the mission plan message</a:t>
              </a:r>
              <a:endParaRPr lang="en-US" sz="1200" b="1" dirty="0">
                <a:solidFill>
                  <a:srgbClr val="C00000"/>
                </a:solidFill>
                <a:latin typeface="Bradley Hand ITC" pitchFamily="66" charset="0"/>
              </a:endParaRPr>
            </a:p>
          </p:txBody>
        </p:sp>
        <p:sp>
          <p:nvSpPr>
            <p:cNvPr id="17" name="Freeform 16"/>
            <p:cNvSpPr/>
            <p:nvPr/>
          </p:nvSpPr>
          <p:spPr>
            <a:xfrm>
              <a:off x="7267575" y="3314700"/>
              <a:ext cx="549275" cy="723900"/>
            </a:xfrm>
            <a:custGeom>
              <a:avLst/>
              <a:gdLst>
                <a:gd name="connsiteX0" fmla="*/ 323850 w 549275"/>
                <a:gd name="connsiteY0" fmla="*/ 0 h 723900"/>
                <a:gd name="connsiteX1" fmla="*/ 495300 w 549275"/>
                <a:gd name="connsiteY1" fmla="*/ 485775 h 723900"/>
                <a:gd name="connsiteX2" fmla="*/ 0 w 549275"/>
                <a:gd name="connsiteY2" fmla="*/ 723900 h 723900"/>
              </a:gdLst>
              <a:ahLst/>
              <a:cxnLst>
                <a:cxn ang="0">
                  <a:pos x="connsiteX0" y="connsiteY0"/>
                </a:cxn>
                <a:cxn ang="0">
                  <a:pos x="connsiteX1" y="connsiteY1"/>
                </a:cxn>
                <a:cxn ang="0">
                  <a:pos x="connsiteX2" y="connsiteY2"/>
                </a:cxn>
              </a:cxnLst>
              <a:rect l="l" t="t" r="r" b="b"/>
              <a:pathLst>
                <a:path w="549275" h="723900">
                  <a:moveTo>
                    <a:pt x="323850" y="0"/>
                  </a:moveTo>
                  <a:cubicBezTo>
                    <a:pt x="436562" y="182562"/>
                    <a:pt x="549275" y="365125"/>
                    <a:pt x="495300" y="485775"/>
                  </a:cubicBezTo>
                  <a:cubicBezTo>
                    <a:pt x="441325" y="606425"/>
                    <a:pt x="220662" y="665162"/>
                    <a:pt x="0" y="723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9" name="TextBox 18"/>
          <p:cNvSpPr txBox="1"/>
          <p:nvPr/>
        </p:nvSpPr>
        <p:spPr>
          <a:xfrm>
            <a:off x="914400" y="1676400"/>
            <a:ext cx="1143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client</a:t>
            </a:r>
            <a:endParaRPr lang="en-US" sz="1200" b="1" dirty="0">
              <a:solidFill>
                <a:srgbClr val="C00000"/>
              </a:solidFill>
              <a:latin typeface="Bradley Hand ITC" pitchFamily="66" charset="0"/>
            </a:endParaRPr>
          </a:p>
        </p:txBody>
      </p:sp>
      <p:sp>
        <p:nvSpPr>
          <p:cNvPr id="20" name="TextBox 19"/>
          <p:cNvSpPr txBox="1"/>
          <p:nvPr/>
        </p:nvSpPr>
        <p:spPr>
          <a:xfrm>
            <a:off x="6324600" y="1600200"/>
            <a:ext cx="1219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Component</a:t>
            </a:r>
            <a:endParaRPr lang="en-US" sz="1200" b="1" dirty="0">
              <a:solidFill>
                <a:srgbClr val="C00000"/>
              </a:solidFill>
              <a:latin typeface="Bradley Hand ITC" pitchFamily="66" charset="0"/>
            </a:endParaRPr>
          </a:p>
        </p:txBody>
      </p:sp>
      <p:sp>
        <p:nvSpPr>
          <p:cNvPr id="21" name="Freeform 20"/>
          <p:cNvSpPr/>
          <p:nvPr/>
        </p:nvSpPr>
        <p:spPr>
          <a:xfrm>
            <a:off x="5772150" y="1606550"/>
            <a:ext cx="476250" cy="117475"/>
          </a:xfrm>
          <a:custGeom>
            <a:avLst/>
            <a:gdLst>
              <a:gd name="connsiteX0" fmla="*/ 476250 w 476250"/>
              <a:gd name="connsiteY0" fmla="*/ 98425 h 117475"/>
              <a:gd name="connsiteX1" fmla="*/ 161925 w 476250"/>
              <a:gd name="connsiteY1" fmla="*/ 3175 h 117475"/>
              <a:gd name="connsiteX2" fmla="*/ 0 w 476250"/>
              <a:gd name="connsiteY2" fmla="*/ 117475 h 117475"/>
            </a:gdLst>
            <a:ahLst/>
            <a:cxnLst>
              <a:cxn ang="0">
                <a:pos x="connsiteX0" y="connsiteY0"/>
              </a:cxn>
              <a:cxn ang="0">
                <a:pos x="connsiteX1" y="connsiteY1"/>
              </a:cxn>
              <a:cxn ang="0">
                <a:pos x="connsiteX2" y="connsiteY2"/>
              </a:cxn>
            </a:cxnLst>
            <a:rect l="l" t="t" r="r" b="b"/>
            <a:pathLst>
              <a:path w="476250" h="117475">
                <a:moveTo>
                  <a:pt x="476250" y="98425"/>
                </a:moveTo>
                <a:cubicBezTo>
                  <a:pt x="358775" y="49212"/>
                  <a:pt x="241300" y="0"/>
                  <a:pt x="161925" y="3175"/>
                </a:cubicBezTo>
                <a:cubicBezTo>
                  <a:pt x="82550" y="6350"/>
                  <a:pt x="41275" y="61912"/>
                  <a:pt x="0" y="1174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a:off x="1876425" y="1739900"/>
            <a:ext cx="609600" cy="203200"/>
          </a:xfrm>
          <a:custGeom>
            <a:avLst/>
            <a:gdLst>
              <a:gd name="connsiteX0" fmla="*/ 0 w 609600"/>
              <a:gd name="connsiteY0" fmla="*/ 69850 h 203200"/>
              <a:gd name="connsiteX1" fmla="*/ 314325 w 609600"/>
              <a:gd name="connsiteY1" fmla="*/ 22225 h 203200"/>
              <a:gd name="connsiteX2" fmla="*/ 609600 w 609600"/>
              <a:gd name="connsiteY2" fmla="*/ 203200 h 203200"/>
            </a:gdLst>
            <a:ahLst/>
            <a:cxnLst>
              <a:cxn ang="0">
                <a:pos x="connsiteX0" y="connsiteY0"/>
              </a:cxn>
              <a:cxn ang="0">
                <a:pos x="connsiteX1" y="connsiteY1"/>
              </a:cxn>
              <a:cxn ang="0">
                <a:pos x="connsiteX2" y="connsiteY2"/>
              </a:cxn>
            </a:cxnLst>
            <a:rect l="l" t="t" r="r" b="b"/>
            <a:pathLst>
              <a:path w="609600" h="203200">
                <a:moveTo>
                  <a:pt x="0" y="69850"/>
                </a:moveTo>
                <a:cubicBezTo>
                  <a:pt x="106362" y="34925"/>
                  <a:pt x="212725" y="0"/>
                  <a:pt x="314325" y="22225"/>
                </a:cubicBezTo>
                <a:cubicBezTo>
                  <a:pt x="415925" y="44450"/>
                  <a:pt x="512762" y="123825"/>
                  <a:pt x="609600" y="203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3" name="Group 22"/>
          <p:cNvGrpSpPr/>
          <p:nvPr/>
        </p:nvGrpSpPr>
        <p:grpSpPr>
          <a:xfrm>
            <a:off x="5943600" y="5257800"/>
            <a:ext cx="2438400" cy="838200"/>
            <a:chOff x="2362200" y="3648075"/>
            <a:chExt cx="4286250" cy="1914525"/>
          </a:xfrm>
        </p:grpSpPr>
        <p:pic>
          <p:nvPicPr>
            <p:cNvPr id="24" name="Picture 2"/>
            <p:cNvPicPr>
              <a:picLocks noChangeAspect="1" noChangeArrowheads="1"/>
            </p:cNvPicPr>
            <p:nvPr/>
          </p:nvPicPr>
          <p:blipFill>
            <a:blip r:embed="rId3" cstate="print"/>
            <a:srcRect/>
            <a:stretch>
              <a:fillRect/>
            </a:stretch>
          </p:blipFill>
          <p:spPr bwMode="auto">
            <a:xfrm>
              <a:off x="2362200" y="3657600"/>
              <a:ext cx="4286250" cy="1905000"/>
            </a:xfrm>
            <a:prstGeom prst="rect">
              <a:avLst/>
            </a:prstGeom>
            <a:noFill/>
            <a:ln w="9525">
              <a:noFill/>
              <a:miter lim="800000"/>
              <a:headEnd/>
              <a:tailEnd/>
            </a:ln>
          </p:spPr>
        </p:pic>
        <p:sp>
          <p:nvSpPr>
            <p:cNvPr id="25" name="Rectangle 24"/>
            <p:cNvSpPr/>
            <p:nvPr/>
          </p:nvSpPr>
          <p:spPr>
            <a:xfrm>
              <a:off x="6096000" y="3648075"/>
              <a:ext cx="547396" cy="176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13314" name="Picture 2"/>
          <p:cNvPicPr>
            <a:picLocks noChangeAspect="1" noChangeArrowheads="1"/>
          </p:cNvPicPr>
          <p:nvPr/>
        </p:nvPicPr>
        <p:blipFill>
          <a:blip r:embed="rId2" cstate="print"/>
          <a:srcRect/>
          <a:stretch>
            <a:fillRect/>
          </a:stretch>
        </p:blipFill>
        <p:spPr bwMode="auto">
          <a:xfrm>
            <a:off x="2819400" y="1223866"/>
            <a:ext cx="3923836" cy="5253134"/>
          </a:xfrm>
          <a:prstGeom prst="rect">
            <a:avLst/>
          </a:prstGeom>
          <a:noFill/>
          <a:ln w="9525">
            <a:noFill/>
            <a:miter lim="800000"/>
            <a:headEnd/>
            <a:tailEnd/>
          </a:ln>
        </p:spPr>
      </p:pic>
      <p:sp>
        <p:nvSpPr>
          <p:cNvPr id="7" name="Left Brace 6"/>
          <p:cNvSpPr/>
          <p:nvPr/>
        </p:nvSpPr>
        <p:spPr>
          <a:xfrm>
            <a:off x="2819400" y="1752600"/>
            <a:ext cx="152400" cy="3657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914400" y="3276600"/>
            <a:ext cx="1828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apply to both primitive and composite messages</a:t>
            </a:r>
            <a:endParaRPr lang="en-US" sz="1200" b="1" dirty="0">
              <a:solidFill>
                <a:srgbClr val="C00000"/>
              </a:solidFill>
              <a:latin typeface="Bradley Hand ITC" pitchFamily="66" charset="0"/>
            </a:endParaRPr>
          </a:p>
        </p:txBody>
      </p:sp>
      <p:sp>
        <p:nvSpPr>
          <p:cNvPr id="9" name="TextBox 8"/>
          <p:cNvSpPr txBox="1"/>
          <p:nvPr/>
        </p:nvSpPr>
        <p:spPr>
          <a:xfrm>
            <a:off x="838200" y="46482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However, consider these four methods</a:t>
            </a:r>
            <a:endParaRPr lang="en-US" sz="1200" b="1" dirty="0">
              <a:solidFill>
                <a:srgbClr val="C00000"/>
              </a:solidFill>
              <a:latin typeface="Bradley Hand ITC" pitchFamily="66" charset="0"/>
            </a:endParaRPr>
          </a:p>
        </p:txBody>
      </p:sp>
      <p:sp>
        <p:nvSpPr>
          <p:cNvPr id="10" name="Left Brace 9"/>
          <p:cNvSpPr/>
          <p:nvPr/>
        </p:nvSpPr>
        <p:spPr>
          <a:xfrm>
            <a:off x="2667000" y="4038600"/>
            <a:ext cx="152400" cy="1371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943600" y="4038600"/>
            <a:ext cx="25146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What do you think should happen when executing a print, toXml, or Clone on composite messages?</a:t>
            </a:r>
            <a:endParaRPr lang="en-US" sz="1200" b="1" dirty="0">
              <a:solidFill>
                <a:srgbClr val="C00000"/>
              </a:solidFill>
              <a:latin typeface="Bradley Hand ITC" pitchFamily="66" charset="0"/>
            </a:endParaRPr>
          </a:p>
        </p:txBody>
      </p:sp>
      <p:sp>
        <p:nvSpPr>
          <p:cNvPr id="12" name="TextBox 11"/>
          <p:cNvSpPr txBox="1"/>
          <p:nvPr/>
        </p:nvSpPr>
        <p:spPr>
          <a:xfrm>
            <a:off x="5486400" y="5638800"/>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Remember the Prototype design pattern?</a:t>
            </a:r>
            <a:endParaRPr lang="en-US" sz="1200" b="1" dirty="0">
              <a:solidFill>
                <a:srgbClr val="C00000"/>
              </a:solidFill>
              <a:latin typeface="Bradley Hand ITC" pitchFamily="66" charset="0"/>
            </a:endParaRPr>
          </a:p>
        </p:txBody>
      </p:sp>
      <p:sp>
        <p:nvSpPr>
          <p:cNvPr id="13" name="Freeform 12"/>
          <p:cNvSpPr/>
          <p:nvPr/>
        </p:nvSpPr>
        <p:spPr>
          <a:xfrm>
            <a:off x="4524375" y="5514975"/>
            <a:ext cx="1182687" cy="295275"/>
          </a:xfrm>
          <a:custGeom>
            <a:avLst/>
            <a:gdLst>
              <a:gd name="connsiteX0" fmla="*/ 1114425 w 1182687"/>
              <a:gd name="connsiteY0" fmla="*/ 276225 h 295275"/>
              <a:gd name="connsiteX1" fmla="*/ 1057275 w 1182687"/>
              <a:gd name="connsiteY1" fmla="*/ 285750 h 295275"/>
              <a:gd name="connsiteX2" fmla="*/ 361950 w 1182687"/>
              <a:gd name="connsiteY2" fmla="*/ 247650 h 295275"/>
              <a:gd name="connsiteX3" fmla="*/ 0 w 1182687"/>
              <a:gd name="connsiteY3" fmla="*/ 0 h 295275"/>
            </a:gdLst>
            <a:ahLst/>
            <a:cxnLst>
              <a:cxn ang="0">
                <a:pos x="connsiteX0" y="connsiteY0"/>
              </a:cxn>
              <a:cxn ang="0">
                <a:pos x="connsiteX1" y="connsiteY1"/>
              </a:cxn>
              <a:cxn ang="0">
                <a:pos x="connsiteX2" y="connsiteY2"/>
              </a:cxn>
              <a:cxn ang="0">
                <a:pos x="connsiteX3" y="connsiteY3"/>
              </a:cxn>
            </a:cxnLst>
            <a:rect l="l" t="t" r="r" b="b"/>
            <a:pathLst>
              <a:path w="1182687" h="295275">
                <a:moveTo>
                  <a:pt x="1114425" y="276225"/>
                </a:moveTo>
                <a:cubicBezTo>
                  <a:pt x="1148556" y="283368"/>
                  <a:pt x="1182687" y="290512"/>
                  <a:pt x="1057275" y="285750"/>
                </a:cubicBezTo>
                <a:cubicBezTo>
                  <a:pt x="931863" y="280988"/>
                  <a:pt x="538163" y="295275"/>
                  <a:pt x="361950" y="247650"/>
                </a:cubicBezTo>
                <a:cubicBezTo>
                  <a:pt x="185738" y="200025"/>
                  <a:pt x="92869" y="1000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620000" y="48006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Stop and think about this!</a:t>
            </a:r>
            <a:endParaRPr lang="en-US" sz="1200" b="1" dirty="0">
              <a:solidFill>
                <a:srgbClr val="C00000"/>
              </a:solidFill>
              <a:latin typeface="Bradley Hand ITC" pitchFamily="66" charset="0"/>
            </a:endParaRPr>
          </a:p>
        </p:txBody>
      </p:sp>
      <p:sp>
        <p:nvSpPr>
          <p:cNvPr id="15" name="Freeform 14"/>
          <p:cNvSpPr/>
          <p:nvPr/>
        </p:nvSpPr>
        <p:spPr>
          <a:xfrm>
            <a:off x="7315200" y="4705350"/>
            <a:ext cx="409575" cy="342900"/>
          </a:xfrm>
          <a:custGeom>
            <a:avLst/>
            <a:gdLst>
              <a:gd name="connsiteX0" fmla="*/ 0 w 409575"/>
              <a:gd name="connsiteY0" fmla="*/ 0 h 342900"/>
              <a:gd name="connsiteX1" fmla="*/ 95250 w 409575"/>
              <a:gd name="connsiteY1" fmla="*/ 276225 h 342900"/>
              <a:gd name="connsiteX2" fmla="*/ 409575 w 409575"/>
              <a:gd name="connsiteY2" fmla="*/ 342900 h 342900"/>
            </a:gdLst>
            <a:ahLst/>
            <a:cxnLst>
              <a:cxn ang="0">
                <a:pos x="connsiteX0" y="connsiteY0"/>
              </a:cxn>
              <a:cxn ang="0">
                <a:pos x="connsiteX1" y="connsiteY1"/>
              </a:cxn>
              <a:cxn ang="0">
                <a:pos x="connsiteX2" y="connsiteY2"/>
              </a:cxn>
            </a:cxnLst>
            <a:rect l="l" t="t" r="r" b="b"/>
            <a:pathLst>
              <a:path w="409575" h="342900">
                <a:moveTo>
                  <a:pt x="0" y="0"/>
                </a:moveTo>
                <a:cubicBezTo>
                  <a:pt x="13494" y="109537"/>
                  <a:pt x="26988" y="219075"/>
                  <a:pt x="95250" y="276225"/>
                </a:cubicBezTo>
                <a:cubicBezTo>
                  <a:pt x="163512" y="333375"/>
                  <a:pt x="286543" y="338137"/>
                  <a:pt x="409575"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2895600" y="2562225"/>
            <a:ext cx="4829175" cy="2619375"/>
          </a:xfrm>
          <a:prstGeom prst="rect">
            <a:avLst/>
          </a:prstGeom>
          <a:noFill/>
          <a:ln w="9525">
            <a:noFill/>
            <a:miter lim="800000"/>
            <a:headEnd/>
            <a:tailEnd/>
          </a:ln>
        </p:spPr>
      </p:pic>
      <p:sp>
        <p:nvSpPr>
          <p:cNvPr id="7" name="TextBox 6"/>
          <p:cNvSpPr txBox="1"/>
          <p:nvPr/>
        </p:nvSpPr>
        <p:spPr>
          <a:xfrm>
            <a:off x="762000" y="13716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examine  two methods, the add and print for primitive messages…</a:t>
            </a:r>
            <a:endParaRPr lang="en-US" sz="1200" b="1" dirty="0">
              <a:solidFill>
                <a:srgbClr val="C00000"/>
              </a:solidFill>
              <a:latin typeface="Bradley Hand ITC" pitchFamily="66" charset="0"/>
            </a:endParaRPr>
          </a:p>
        </p:txBody>
      </p:sp>
      <p:sp>
        <p:nvSpPr>
          <p:cNvPr id="8" name="TextBox 7"/>
          <p:cNvSpPr txBox="1"/>
          <p:nvPr/>
        </p:nvSpPr>
        <p:spPr>
          <a:xfrm>
            <a:off x="457200" y="2105025"/>
            <a:ext cx="2438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For primitive messages, we don’t have to add any other messages, so we’ll have a default implementation for this</a:t>
            </a:r>
            <a:endParaRPr lang="en-US" sz="1200" b="1" dirty="0">
              <a:solidFill>
                <a:srgbClr val="C00000"/>
              </a:solidFill>
              <a:latin typeface="Bradley Hand ITC" pitchFamily="66" charset="0"/>
            </a:endParaRPr>
          </a:p>
        </p:txBody>
      </p:sp>
      <p:sp>
        <p:nvSpPr>
          <p:cNvPr id="9" name="Freeform 8"/>
          <p:cNvSpPr/>
          <p:nvPr/>
        </p:nvSpPr>
        <p:spPr>
          <a:xfrm>
            <a:off x="2533650" y="2638425"/>
            <a:ext cx="381000" cy="676275"/>
          </a:xfrm>
          <a:custGeom>
            <a:avLst/>
            <a:gdLst>
              <a:gd name="connsiteX0" fmla="*/ 0 w 381000"/>
              <a:gd name="connsiteY0" fmla="*/ 0 h 676275"/>
              <a:gd name="connsiteX1" fmla="*/ 123825 w 381000"/>
              <a:gd name="connsiteY1" fmla="*/ 190500 h 676275"/>
              <a:gd name="connsiteX2" fmla="*/ 123825 w 381000"/>
              <a:gd name="connsiteY2" fmla="*/ 590550 h 676275"/>
              <a:gd name="connsiteX3" fmla="*/ 381000 w 381000"/>
              <a:gd name="connsiteY3" fmla="*/ 676275 h 676275"/>
            </a:gdLst>
            <a:ahLst/>
            <a:cxnLst>
              <a:cxn ang="0">
                <a:pos x="connsiteX0" y="connsiteY0"/>
              </a:cxn>
              <a:cxn ang="0">
                <a:pos x="connsiteX1" y="connsiteY1"/>
              </a:cxn>
              <a:cxn ang="0">
                <a:pos x="connsiteX2" y="connsiteY2"/>
              </a:cxn>
              <a:cxn ang="0">
                <a:pos x="connsiteX3" y="connsiteY3"/>
              </a:cxn>
            </a:cxnLst>
            <a:rect l="l" t="t" r="r" b="b"/>
            <a:pathLst>
              <a:path w="381000" h="676275">
                <a:moveTo>
                  <a:pt x="0" y="0"/>
                </a:moveTo>
                <a:cubicBezTo>
                  <a:pt x="51594" y="46037"/>
                  <a:pt x="103188" y="92075"/>
                  <a:pt x="123825" y="190500"/>
                </a:cubicBezTo>
                <a:cubicBezTo>
                  <a:pt x="144462" y="288925"/>
                  <a:pt x="80963" y="509588"/>
                  <a:pt x="123825" y="590550"/>
                </a:cubicBezTo>
                <a:cubicBezTo>
                  <a:pt x="166687" y="671512"/>
                  <a:pt x="273843" y="673893"/>
                  <a:pt x="381000" y="676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477000" y="1800225"/>
            <a:ext cx="1905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could also have a default implementation that throws an exception!</a:t>
            </a:r>
            <a:endParaRPr lang="en-US" sz="1200" b="1" dirty="0">
              <a:solidFill>
                <a:srgbClr val="C00000"/>
              </a:solidFill>
              <a:latin typeface="Bradley Hand ITC" pitchFamily="66" charset="0"/>
            </a:endParaRPr>
          </a:p>
        </p:txBody>
      </p:sp>
      <p:sp>
        <p:nvSpPr>
          <p:cNvPr id="11" name="Freeform 10"/>
          <p:cNvSpPr/>
          <p:nvPr/>
        </p:nvSpPr>
        <p:spPr>
          <a:xfrm>
            <a:off x="6934200" y="2466975"/>
            <a:ext cx="207962" cy="514350"/>
          </a:xfrm>
          <a:custGeom>
            <a:avLst/>
            <a:gdLst>
              <a:gd name="connsiteX0" fmla="*/ 47625 w 207962"/>
              <a:gd name="connsiteY0" fmla="*/ 0 h 514350"/>
              <a:gd name="connsiteX1" fmla="*/ 200025 w 207962"/>
              <a:gd name="connsiteY1" fmla="*/ 285750 h 514350"/>
              <a:gd name="connsiteX2" fmla="*/ 0 w 207962"/>
              <a:gd name="connsiteY2" fmla="*/ 514350 h 514350"/>
            </a:gdLst>
            <a:ahLst/>
            <a:cxnLst>
              <a:cxn ang="0">
                <a:pos x="connsiteX0" y="connsiteY0"/>
              </a:cxn>
              <a:cxn ang="0">
                <a:pos x="connsiteX1" y="connsiteY1"/>
              </a:cxn>
              <a:cxn ang="0">
                <a:pos x="connsiteX2" y="connsiteY2"/>
              </a:cxn>
            </a:cxnLst>
            <a:rect l="l" t="t" r="r" b="b"/>
            <a:pathLst>
              <a:path w="207962" h="514350">
                <a:moveTo>
                  <a:pt x="47625" y="0"/>
                </a:moveTo>
                <a:cubicBezTo>
                  <a:pt x="127793" y="100012"/>
                  <a:pt x="207962" y="200025"/>
                  <a:pt x="200025" y="285750"/>
                </a:cubicBezTo>
                <a:cubicBezTo>
                  <a:pt x="192088" y="371475"/>
                  <a:pt x="96044" y="442912"/>
                  <a:pt x="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4162425"/>
            <a:ext cx="2438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For primitive messages, printing a message entails printing its content, so we’ll have this as default implementation</a:t>
            </a:r>
            <a:endParaRPr lang="en-US" sz="1200" b="1" dirty="0">
              <a:solidFill>
                <a:srgbClr val="C00000"/>
              </a:solidFill>
              <a:latin typeface="Bradley Hand ITC" pitchFamily="66" charset="0"/>
            </a:endParaRPr>
          </a:p>
        </p:txBody>
      </p:sp>
      <p:sp>
        <p:nvSpPr>
          <p:cNvPr id="13" name="Freeform 12"/>
          <p:cNvSpPr/>
          <p:nvPr/>
        </p:nvSpPr>
        <p:spPr>
          <a:xfrm>
            <a:off x="2533650" y="4857750"/>
            <a:ext cx="381000" cy="112712"/>
          </a:xfrm>
          <a:custGeom>
            <a:avLst/>
            <a:gdLst>
              <a:gd name="connsiteX0" fmla="*/ 0 w 381000"/>
              <a:gd name="connsiteY0" fmla="*/ 0 h 112712"/>
              <a:gd name="connsiteX1" fmla="*/ 104775 w 381000"/>
              <a:gd name="connsiteY1" fmla="*/ 95250 h 112712"/>
              <a:gd name="connsiteX2" fmla="*/ 381000 w 381000"/>
              <a:gd name="connsiteY2" fmla="*/ 104775 h 112712"/>
            </a:gdLst>
            <a:ahLst/>
            <a:cxnLst>
              <a:cxn ang="0">
                <a:pos x="connsiteX0" y="connsiteY0"/>
              </a:cxn>
              <a:cxn ang="0">
                <a:pos x="connsiteX1" y="connsiteY1"/>
              </a:cxn>
              <a:cxn ang="0">
                <a:pos x="connsiteX2" y="connsiteY2"/>
              </a:cxn>
            </a:cxnLst>
            <a:rect l="l" t="t" r="r" b="b"/>
            <a:pathLst>
              <a:path w="381000" h="112712">
                <a:moveTo>
                  <a:pt x="0" y="0"/>
                </a:moveTo>
                <a:cubicBezTo>
                  <a:pt x="20637" y="38894"/>
                  <a:pt x="41275" y="77788"/>
                  <a:pt x="104775" y="95250"/>
                </a:cubicBezTo>
                <a:cubicBezTo>
                  <a:pt x="168275" y="112712"/>
                  <a:pt x="274637" y="108743"/>
                  <a:pt x="381000" y="104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2209800" y="1371600"/>
            <a:ext cx="4686300" cy="5038725"/>
          </a:xfrm>
          <a:prstGeom prst="rect">
            <a:avLst/>
          </a:prstGeom>
          <a:noFill/>
          <a:ln w="9525">
            <a:noFill/>
            <a:miter lim="800000"/>
            <a:headEnd/>
            <a:tailEnd/>
          </a:ln>
        </p:spPr>
      </p:pic>
      <p:sp>
        <p:nvSpPr>
          <p:cNvPr id="7" name="TextBox 6"/>
          <p:cNvSpPr txBox="1"/>
          <p:nvPr/>
        </p:nvSpPr>
        <p:spPr>
          <a:xfrm>
            <a:off x="6858000" y="5257800"/>
            <a:ext cx="16002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Composite contain other messages, so we’ll use a list to hold these other messages</a:t>
            </a:r>
            <a:endParaRPr lang="en-US" sz="1200" b="1" dirty="0">
              <a:solidFill>
                <a:srgbClr val="C00000"/>
              </a:solidFill>
              <a:latin typeface="Bradley Hand ITC" pitchFamily="66" charset="0"/>
            </a:endParaRPr>
          </a:p>
        </p:txBody>
      </p:sp>
      <p:sp>
        <p:nvSpPr>
          <p:cNvPr id="8" name="Freeform 7"/>
          <p:cNvSpPr/>
          <p:nvPr/>
        </p:nvSpPr>
        <p:spPr>
          <a:xfrm>
            <a:off x="5267325" y="5905500"/>
            <a:ext cx="1581150" cy="374650"/>
          </a:xfrm>
          <a:custGeom>
            <a:avLst/>
            <a:gdLst>
              <a:gd name="connsiteX0" fmla="*/ 1581150 w 1581150"/>
              <a:gd name="connsiteY0" fmla="*/ 0 h 374650"/>
              <a:gd name="connsiteX1" fmla="*/ 809625 w 1581150"/>
              <a:gd name="connsiteY1" fmla="*/ 314325 h 374650"/>
              <a:gd name="connsiteX2" fmla="*/ 0 w 1581150"/>
              <a:gd name="connsiteY2" fmla="*/ 361950 h 374650"/>
            </a:gdLst>
            <a:ahLst/>
            <a:cxnLst>
              <a:cxn ang="0">
                <a:pos x="connsiteX0" y="connsiteY0"/>
              </a:cxn>
              <a:cxn ang="0">
                <a:pos x="connsiteX1" y="connsiteY1"/>
              </a:cxn>
              <a:cxn ang="0">
                <a:pos x="connsiteX2" y="connsiteY2"/>
              </a:cxn>
            </a:cxnLst>
            <a:rect l="l" t="t" r="r" b="b"/>
            <a:pathLst>
              <a:path w="1581150" h="374650">
                <a:moveTo>
                  <a:pt x="1581150" y="0"/>
                </a:moveTo>
                <a:cubicBezTo>
                  <a:pt x="1327150" y="127000"/>
                  <a:pt x="1073150" y="254000"/>
                  <a:pt x="809625" y="314325"/>
                </a:cubicBezTo>
                <a:cubicBezTo>
                  <a:pt x="546100" y="374650"/>
                  <a:pt x="273050" y="368300"/>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7010400" y="2590800"/>
            <a:ext cx="1600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Nothing fancy here, simply realizing the Message interface</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grpSp>
        <p:nvGrpSpPr>
          <p:cNvPr id="18" name="Group 17"/>
          <p:cNvGrpSpPr/>
          <p:nvPr/>
        </p:nvGrpSpPr>
        <p:grpSpPr>
          <a:xfrm>
            <a:off x="381000" y="1371600"/>
            <a:ext cx="8305800" cy="4612314"/>
            <a:chOff x="381000" y="1371600"/>
            <a:chExt cx="8305800" cy="4612314"/>
          </a:xfrm>
        </p:grpSpPr>
        <p:pic>
          <p:nvPicPr>
            <p:cNvPr id="16386" name="Picture 2"/>
            <p:cNvPicPr>
              <a:picLocks noChangeAspect="1" noChangeArrowheads="1"/>
            </p:cNvPicPr>
            <p:nvPr/>
          </p:nvPicPr>
          <p:blipFill>
            <a:blip r:embed="rId2" cstate="print"/>
            <a:srcRect/>
            <a:stretch>
              <a:fillRect/>
            </a:stretch>
          </p:blipFill>
          <p:spPr bwMode="auto">
            <a:xfrm>
              <a:off x="2133600" y="1600200"/>
              <a:ext cx="4953000" cy="3810000"/>
            </a:xfrm>
            <a:prstGeom prst="rect">
              <a:avLst/>
            </a:prstGeom>
            <a:noFill/>
            <a:ln w="9525">
              <a:noFill/>
              <a:miter lim="800000"/>
              <a:headEnd/>
              <a:tailEnd/>
            </a:ln>
          </p:spPr>
        </p:pic>
        <p:sp>
          <p:nvSpPr>
            <p:cNvPr id="7" name="Left Brace 6"/>
            <p:cNvSpPr/>
            <p:nvPr/>
          </p:nvSpPr>
          <p:spPr>
            <a:xfrm>
              <a:off x="1905000" y="2667000"/>
              <a:ext cx="152400" cy="2514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3" cstate="print"/>
            <a:srcRect/>
            <a:stretch>
              <a:fillRect/>
            </a:stretch>
          </p:blipFill>
          <p:spPr bwMode="auto">
            <a:xfrm>
              <a:off x="4724400" y="5248485"/>
              <a:ext cx="3276600" cy="735429"/>
            </a:xfrm>
            <a:prstGeom prst="rect">
              <a:avLst/>
            </a:prstGeom>
            <a:noFill/>
            <a:ln w="9525">
              <a:noFill/>
              <a:miter lim="800000"/>
              <a:headEnd/>
              <a:tailEnd/>
            </a:ln>
          </p:spPr>
        </p:pic>
        <p:sp>
          <p:nvSpPr>
            <p:cNvPr id="9" name="TextBox 8"/>
            <p:cNvSpPr txBox="1"/>
            <p:nvPr/>
          </p:nvSpPr>
          <p:spPr>
            <a:xfrm>
              <a:off x="381000" y="4495800"/>
              <a:ext cx="1600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Compare  this with the print for primitive messages! Yikes!</a:t>
              </a:r>
              <a:endParaRPr lang="en-US" sz="1200" b="1" dirty="0">
                <a:solidFill>
                  <a:srgbClr val="C00000"/>
                </a:solidFill>
                <a:latin typeface="Bradley Hand ITC" pitchFamily="66" charset="0"/>
              </a:endParaRPr>
            </a:p>
          </p:txBody>
        </p:sp>
        <p:sp>
          <p:nvSpPr>
            <p:cNvPr id="10" name="Freeform 9"/>
            <p:cNvSpPr/>
            <p:nvPr/>
          </p:nvSpPr>
          <p:spPr>
            <a:xfrm>
              <a:off x="1179513" y="5181600"/>
              <a:ext cx="3440112" cy="723900"/>
            </a:xfrm>
            <a:custGeom>
              <a:avLst/>
              <a:gdLst>
                <a:gd name="connsiteX0" fmla="*/ 230187 w 3440112"/>
                <a:gd name="connsiteY0" fmla="*/ 0 h 2047875"/>
                <a:gd name="connsiteX1" fmla="*/ 534987 w 3440112"/>
                <a:gd name="connsiteY1" fmla="*/ 1724025 h 2047875"/>
                <a:gd name="connsiteX2" fmla="*/ 3440112 w 3440112"/>
                <a:gd name="connsiteY2" fmla="*/ 1943100 h 2047875"/>
              </a:gdLst>
              <a:ahLst/>
              <a:cxnLst>
                <a:cxn ang="0">
                  <a:pos x="connsiteX0" y="connsiteY0"/>
                </a:cxn>
                <a:cxn ang="0">
                  <a:pos x="connsiteX1" y="connsiteY1"/>
                </a:cxn>
                <a:cxn ang="0">
                  <a:pos x="connsiteX2" y="connsiteY2"/>
                </a:cxn>
              </a:cxnLst>
              <a:rect l="l" t="t" r="r" b="b"/>
              <a:pathLst>
                <a:path w="3440112" h="2047875">
                  <a:moveTo>
                    <a:pt x="230187" y="0"/>
                  </a:moveTo>
                  <a:cubicBezTo>
                    <a:pt x="115093" y="700087"/>
                    <a:pt x="0" y="1400175"/>
                    <a:pt x="534987" y="1724025"/>
                  </a:cubicBezTo>
                  <a:cubicBezTo>
                    <a:pt x="1069974" y="2047875"/>
                    <a:pt x="2255043" y="1995487"/>
                    <a:pt x="3440112" y="194310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019800" y="20574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When the print is called on  the composite message, it must call print on all of its contained messages!</a:t>
              </a:r>
              <a:endParaRPr lang="en-US" sz="1200" b="1" dirty="0">
                <a:solidFill>
                  <a:srgbClr val="C00000"/>
                </a:solidFill>
                <a:latin typeface="Bradley Hand ITC" pitchFamily="66" charset="0"/>
              </a:endParaRPr>
            </a:p>
          </p:txBody>
        </p:sp>
        <p:sp>
          <p:nvSpPr>
            <p:cNvPr id="12" name="TextBox 11"/>
            <p:cNvSpPr txBox="1"/>
            <p:nvPr/>
          </p:nvSpPr>
          <p:spPr>
            <a:xfrm>
              <a:off x="6400800" y="3048000"/>
              <a:ext cx="2286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same principle is employed on the toXml and clone methods!</a:t>
              </a:r>
              <a:endParaRPr lang="en-US" sz="1200" b="1" dirty="0">
                <a:solidFill>
                  <a:srgbClr val="C00000"/>
                </a:solidFill>
                <a:latin typeface="Bradley Hand ITC" pitchFamily="66" charset="0"/>
              </a:endParaRPr>
            </a:p>
          </p:txBody>
        </p:sp>
        <p:sp>
          <p:nvSpPr>
            <p:cNvPr id="13" name="Freeform 12"/>
            <p:cNvSpPr/>
            <p:nvPr/>
          </p:nvSpPr>
          <p:spPr>
            <a:xfrm>
              <a:off x="8505825" y="2533650"/>
              <a:ext cx="152400" cy="514350"/>
            </a:xfrm>
            <a:custGeom>
              <a:avLst/>
              <a:gdLst>
                <a:gd name="connsiteX0" fmla="*/ 0 w 152400"/>
                <a:gd name="connsiteY0" fmla="*/ 0 h 514350"/>
                <a:gd name="connsiteX1" fmla="*/ 142875 w 152400"/>
                <a:gd name="connsiteY1" fmla="*/ 219075 h 514350"/>
                <a:gd name="connsiteX2" fmla="*/ 57150 w 152400"/>
                <a:gd name="connsiteY2" fmla="*/ 514350 h 514350"/>
              </a:gdLst>
              <a:ahLst/>
              <a:cxnLst>
                <a:cxn ang="0">
                  <a:pos x="connsiteX0" y="connsiteY0"/>
                </a:cxn>
                <a:cxn ang="0">
                  <a:pos x="connsiteX1" y="connsiteY1"/>
                </a:cxn>
                <a:cxn ang="0">
                  <a:pos x="connsiteX2" y="connsiteY2"/>
                </a:cxn>
              </a:cxnLst>
              <a:rect l="l" t="t" r="r" b="b"/>
              <a:pathLst>
                <a:path w="152400" h="514350">
                  <a:moveTo>
                    <a:pt x="0" y="0"/>
                  </a:moveTo>
                  <a:cubicBezTo>
                    <a:pt x="66675" y="66675"/>
                    <a:pt x="133350" y="133350"/>
                    <a:pt x="142875" y="219075"/>
                  </a:cubicBezTo>
                  <a:cubicBezTo>
                    <a:pt x="152400" y="304800"/>
                    <a:pt x="104775" y="409575"/>
                    <a:pt x="57150" y="514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81000" y="2773740"/>
              <a:ext cx="1600200" cy="1569660"/>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code displays the composite message’s id and name, but also, it needs to iterate through the list of contained messages and calls print on each of them!</a:t>
              </a:r>
              <a:endParaRPr lang="en-US" sz="1200" b="1" dirty="0">
                <a:solidFill>
                  <a:srgbClr val="C00000"/>
                </a:solidFill>
                <a:latin typeface="Bradley Hand ITC" pitchFamily="66" charset="0"/>
              </a:endParaRPr>
            </a:p>
          </p:txBody>
        </p:sp>
        <p:sp>
          <p:nvSpPr>
            <p:cNvPr id="15" name="TextBox 14"/>
            <p:cNvSpPr txBox="1"/>
            <p:nvPr/>
          </p:nvSpPr>
          <p:spPr>
            <a:xfrm>
              <a:off x="457200" y="1371600"/>
              <a:ext cx="1600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code adds a message to the list of contained messages</a:t>
              </a:r>
              <a:endParaRPr lang="en-US" sz="1200" b="1" dirty="0">
                <a:solidFill>
                  <a:srgbClr val="C00000"/>
                </a:solidFill>
                <a:latin typeface="Bradley Hand ITC" pitchFamily="66" charset="0"/>
              </a:endParaRPr>
            </a:p>
          </p:txBody>
        </p:sp>
        <p:sp>
          <p:nvSpPr>
            <p:cNvPr id="16" name="Freeform 15"/>
            <p:cNvSpPr/>
            <p:nvPr/>
          </p:nvSpPr>
          <p:spPr>
            <a:xfrm>
              <a:off x="1295400" y="1981200"/>
              <a:ext cx="819150" cy="295275"/>
            </a:xfrm>
            <a:custGeom>
              <a:avLst/>
              <a:gdLst>
                <a:gd name="connsiteX0" fmla="*/ 0 w 819150"/>
                <a:gd name="connsiteY0" fmla="*/ 0 h 495300"/>
                <a:gd name="connsiteX1" fmla="*/ 304800 w 819150"/>
                <a:gd name="connsiteY1" fmla="*/ 390525 h 495300"/>
                <a:gd name="connsiteX2" fmla="*/ 819150 w 819150"/>
                <a:gd name="connsiteY2" fmla="*/ 495300 h 495300"/>
              </a:gdLst>
              <a:ahLst/>
              <a:cxnLst>
                <a:cxn ang="0">
                  <a:pos x="connsiteX0" y="connsiteY0"/>
                </a:cxn>
                <a:cxn ang="0">
                  <a:pos x="connsiteX1" y="connsiteY1"/>
                </a:cxn>
                <a:cxn ang="0">
                  <a:pos x="connsiteX2" y="connsiteY2"/>
                </a:cxn>
              </a:cxnLst>
              <a:rect l="l" t="t" r="r" b="b"/>
              <a:pathLst>
                <a:path w="819150" h="495300">
                  <a:moveTo>
                    <a:pt x="0" y="0"/>
                  </a:moveTo>
                  <a:cubicBezTo>
                    <a:pt x="84137" y="153987"/>
                    <a:pt x="168275" y="307975"/>
                    <a:pt x="304800" y="390525"/>
                  </a:cubicBezTo>
                  <a:cubicBezTo>
                    <a:pt x="441325" y="473075"/>
                    <a:pt x="630237" y="484187"/>
                    <a:pt x="819150" y="4953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grpSp>
        <p:nvGrpSpPr>
          <p:cNvPr id="15" name="Group 14"/>
          <p:cNvGrpSpPr/>
          <p:nvPr/>
        </p:nvGrpSpPr>
        <p:grpSpPr>
          <a:xfrm>
            <a:off x="609600" y="1524000"/>
            <a:ext cx="7848600" cy="4380131"/>
            <a:chOff x="609600" y="1981200"/>
            <a:chExt cx="7848600" cy="4380131"/>
          </a:xfrm>
        </p:grpSpPr>
        <p:pic>
          <p:nvPicPr>
            <p:cNvPr id="17410" name="Picture 2"/>
            <p:cNvPicPr>
              <a:picLocks noChangeAspect="1" noChangeArrowheads="1"/>
            </p:cNvPicPr>
            <p:nvPr/>
          </p:nvPicPr>
          <p:blipFill>
            <a:blip r:embed="rId2" cstate="print"/>
            <a:srcRect/>
            <a:stretch>
              <a:fillRect/>
            </a:stretch>
          </p:blipFill>
          <p:spPr bwMode="auto">
            <a:xfrm>
              <a:off x="2438400" y="1981200"/>
              <a:ext cx="4410075" cy="942975"/>
            </a:xfrm>
            <a:prstGeom prst="rect">
              <a:avLst/>
            </a:prstGeom>
            <a:noFill/>
            <a:ln w="9525">
              <a:noFill/>
              <a:miter lim="800000"/>
              <a:headEnd/>
              <a:tailEnd/>
            </a:ln>
          </p:spPr>
        </p:pic>
        <p:pic>
          <p:nvPicPr>
            <p:cNvPr id="17411" name="Picture 3"/>
            <p:cNvPicPr>
              <a:picLocks noChangeAspect="1" noChangeArrowheads="1"/>
            </p:cNvPicPr>
            <p:nvPr/>
          </p:nvPicPr>
          <p:blipFill>
            <a:blip r:embed="rId3" cstate="print"/>
            <a:srcRect/>
            <a:stretch>
              <a:fillRect/>
            </a:stretch>
          </p:blipFill>
          <p:spPr bwMode="auto">
            <a:xfrm>
              <a:off x="2438400" y="3048000"/>
              <a:ext cx="4476750" cy="2752725"/>
            </a:xfrm>
            <a:prstGeom prst="rect">
              <a:avLst/>
            </a:prstGeom>
            <a:noFill/>
            <a:ln w="9525">
              <a:noFill/>
              <a:miter lim="800000"/>
              <a:headEnd/>
              <a:tailEnd/>
            </a:ln>
          </p:spPr>
        </p:pic>
        <p:sp>
          <p:nvSpPr>
            <p:cNvPr id="8" name="TextBox 7"/>
            <p:cNvSpPr txBox="1"/>
            <p:nvPr/>
          </p:nvSpPr>
          <p:spPr>
            <a:xfrm>
              <a:off x="6172200" y="4648200"/>
              <a:ext cx="2286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clone on the composite means cloning of all contained messages as well!</a:t>
              </a:r>
              <a:endParaRPr lang="en-US" sz="1200" b="1" dirty="0">
                <a:solidFill>
                  <a:srgbClr val="C00000"/>
                </a:solidFill>
                <a:latin typeface="Bradley Hand ITC" pitchFamily="66" charset="0"/>
              </a:endParaRPr>
            </a:p>
          </p:txBody>
        </p:sp>
        <p:sp>
          <p:nvSpPr>
            <p:cNvPr id="9" name="Freeform 8"/>
            <p:cNvSpPr/>
            <p:nvPr/>
          </p:nvSpPr>
          <p:spPr>
            <a:xfrm>
              <a:off x="5924550" y="5105400"/>
              <a:ext cx="638175" cy="323850"/>
            </a:xfrm>
            <a:custGeom>
              <a:avLst/>
              <a:gdLst>
                <a:gd name="connsiteX0" fmla="*/ 638175 w 638175"/>
                <a:gd name="connsiteY0" fmla="*/ 0 h 323850"/>
                <a:gd name="connsiteX1" fmla="*/ 390525 w 638175"/>
                <a:gd name="connsiteY1" fmla="*/ 219075 h 323850"/>
                <a:gd name="connsiteX2" fmla="*/ 0 w 638175"/>
                <a:gd name="connsiteY2" fmla="*/ 323850 h 323850"/>
              </a:gdLst>
              <a:ahLst/>
              <a:cxnLst>
                <a:cxn ang="0">
                  <a:pos x="connsiteX0" y="connsiteY0"/>
                </a:cxn>
                <a:cxn ang="0">
                  <a:pos x="connsiteX1" y="connsiteY1"/>
                </a:cxn>
                <a:cxn ang="0">
                  <a:pos x="connsiteX2" y="connsiteY2"/>
                </a:cxn>
              </a:cxnLst>
              <a:rect l="l" t="t" r="r" b="b"/>
              <a:pathLst>
                <a:path w="638175" h="323850">
                  <a:moveTo>
                    <a:pt x="638175" y="0"/>
                  </a:moveTo>
                  <a:cubicBezTo>
                    <a:pt x="567531" y="82550"/>
                    <a:pt x="496887" y="165100"/>
                    <a:pt x="390525" y="219075"/>
                  </a:cubicBezTo>
                  <a:cubicBezTo>
                    <a:pt x="284163" y="273050"/>
                    <a:pt x="142081" y="298450"/>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334000" y="57150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Isn’t it nice to have the Prototype design pattern?  This way, we don’t need to know the actual specific object that we’re cloning!</a:t>
              </a:r>
              <a:endParaRPr lang="en-US" sz="1200" b="1" dirty="0">
                <a:solidFill>
                  <a:srgbClr val="C00000"/>
                </a:solidFill>
                <a:latin typeface="Bradley Hand ITC" pitchFamily="66" charset="0"/>
              </a:endParaRPr>
            </a:p>
          </p:txBody>
        </p:sp>
        <p:sp>
          <p:nvSpPr>
            <p:cNvPr id="11" name="Left Brace 10"/>
            <p:cNvSpPr/>
            <p:nvPr/>
          </p:nvSpPr>
          <p:spPr>
            <a:xfrm>
              <a:off x="2209800" y="3124200"/>
              <a:ext cx="152400" cy="2514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09600" y="3644205"/>
              <a:ext cx="1600200" cy="138499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Iterate through the list of contained messages and calls clone on each of them to properly create a copy of the composite message!</a:t>
              </a:r>
              <a:endParaRPr lang="en-US" sz="1200" b="1" dirty="0">
                <a:solidFill>
                  <a:srgbClr val="C00000"/>
                </a:solidFill>
                <a:latin typeface="Bradley Hand ITC" pitchFamily="66" charset="0"/>
              </a:endParaRPr>
            </a:p>
          </p:txBody>
        </p:sp>
        <p:sp>
          <p:nvSpPr>
            <p:cNvPr id="13" name="TextBox 12"/>
            <p:cNvSpPr txBox="1"/>
            <p:nvPr/>
          </p:nvSpPr>
          <p:spPr>
            <a:xfrm>
              <a:off x="6858000" y="25908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Override the copy constructor!</a:t>
              </a:r>
              <a:endParaRPr lang="en-US" sz="1200" b="1" dirty="0">
                <a:solidFill>
                  <a:srgbClr val="C00000"/>
                </a:solidFill>
                <a:latin typeface="Bradley Hand ITC" pitchFamily="66" charset="0"/>
              </a:endParaRPr>
            </a:p>
          </p:txBody>
        </p:sp>
        <p:sp>
          <p:nvSpPr>
            <p:cNvPr id="14" name="Freeform 13"/>
            <p:cNvSpPr/>
            <p:nvPr/>
          </p:nvSpPr>
          <p:spPr>
            <a:xfrm>
              <a:off x="6867525" y="2952750"/>
              <a:ext cx="314325" cy="361950"/>
            </a:xfrm>
            <a:custGeom>
              <a:avLst/>
              <a:gdLst>
                <a:gd name="connsiteX0" fmla="*/ 314325 w 314325"/>
                <a:gd name="connsiteY0" fmla="*/ 0 h 361950"/>
                <a:gd name="connsiteX1" fmla="*/ 257175 w 314325"/>
                <a:gd name="connsiteY1" fmla="*/ 276225 h 361950"/>
                <a:gd name="connsiteX2" fmla="*/ 0 w 314325"/>
                <a:gd name="connsiteY2" fmla="*/ 361950 h 361950"/>
              </a:gdLst>
              <a:ahLst/>
              <a:cxnLst>
                <a:cxn ang="0">
                  <a:pos x="connsiteX0" y="connsiteY0"/>
                </a:cxn>
                <a:cxn ang="0">
                  <a:pos x="connsiteX1" y="connsiteY1"/>
                </a:cxn>
                <a:cxn ang="0">
                  <a:pos x="connsiteX2" y="connsiteY2"/>
                </a:cxn>
              </a:cxnLst>
              <a:rect l="l" t="t" r="r" b="b"/>
              <a:pathLst>
                <a:path w="314325" h="361950">
                  <a:moveTo>
                    <a:pt x="314325" y="0"/>
                  </a:moveTo>
                  <a:cubicBezTo>
                    <a:pt x="311943" y="107950"/>
                    <a:pt x="309562" y="215900"/>
                    <a:pt x="257175" y="276225"/>
                  </a:cubicBezTo>
                  <a:cubicBezTo>
                    <a:pt x="204788" y="336550"/>
                    <a:pt x="102394" y="349250"/>
                    <a:pt x="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2"/>
          </a:xfrm>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18434" name="Picture 2"/>
          <p:cNvPicPr>
            <a:picLocks noChangeAspect="1" noChangeArrowheads="1"/>
          </p:cNvPicPr>
          <p:nvPr/>
        </p:nvPicPr>
        <p:blipFill>
          <a:blip r:embed="rId2" cstate="print"/>
          <a:srcRect/>
          <a:stretch>
            <a:fillRect/>
          </a:stretch>
        </p:blipFill>
        <p:spPr bwMode="auto">
          <a:xfrm>
            <a:off x="2590800" y="762000"/>
            <a:ext cx="4724400" cy="5643700"/>
          </a:xfrm>
          <a:prstGeom prst="rect">
            <a:avLst/>
          </a:prstGeom>
          <a:noFill/>
          <a:ln w="9525">
            <a:noFill/>
            <a:miter lim="800000"/>
            <a:headEnd/>
            <a:tailEnd/>
          </a:ln>
        </p:spPr>
      </p:pic>
      <p:sp>
        <p:nvSpPr>
          <p:cNvPr id="7" name="TextBox 6"/>
          <p:cNvSpPr txBox="1"/>
          <p:nvPr/>
        </p:nvSpPr>
        <p:spPr>
          <a:xfrm>
            <a:off x="533400" y="10668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Create primitive messages</a:t>
            </a:r>
            <a:endParaRPr lang="en-US" sz="1200" b="1" dirty="0">
              <a:solidFill>
                <a:srgbClr val="C00000"/>
              </a:solidFill>
              <a:latin typeface="Bradley Hand ITC" pitchFamily="66" charset="0"/>
            </a:endParaRPr>
          </a:p>
        </p:txBody>
      </p:sp>
      <p:sp>
        <p:nvSpPr>
          <p:cNvPr id="8" name="Freeform 7"/>
          <p:cNvSpPr/>
          <p:nvPr/>
        </p:nvSpPr>
        <p:spPr>
          <a:xfrm>
            <a:off x="1924050" y="1095375"/>
            <a:ext cx="628650" cy="276225"/>
          </a:xfrm>
          <a:custGeom>
            <a:avLst/>
            <a:gdLst>
              <a:gd name="connsiteX0" fmla="*/ 0 w 628650"/>
              <a:gd name="connsiteY0" fmla="*/ 276225 h 276225"/>
              <a:gd name="connsiteX1" fmla="*/ 276225 w 628650"/>
              <a:gd name="connsiteY1" fmla="*/ 66675 h 276225"/>
              <a:gd name="connsiteX2" fmla="*/ 628650 w 628650"/>
              <a:gd name="connsiteY2" fmla="*/ 0 h 276225"/>
            </a:gdLst>
            <a:ahLst/>
            <a:cxnLst>
              <a:cxn ang="0">
                <a:pos x="connsiteX0" y="connsiteY0"/>
              </a:cxn>
              <a:cxn ang="0">
                <a:pos x="connsiteX1" y="connsiteY1"/>
              </a:cxn>
              <a:cxn ang="0">
                <a:pos x="connsiteX2" y="connsiteY2"/>
              </a:cxn>
            </a:cxnLst>
            <a:rect l="l" t="t" r="r" b="b"/>
            <a:pathLst>
              <a:path w="628650" h="276225">
                <a:moveTo>
                  <a:pt x="0" y="276225"/>
                </a:moveTo>
                <a:cubicBezTo>
                  <a:pt x="85725" y="194469"/>
                  <a:pt x="171450" y="112713"/>
                  <a:pt x="276225" y="66675"/>
                </a:cubicBezTo>
                <a:cubicBezTo>
                  <a:pt x="381000" y="20638"/>
                  <a:pt x="504825" y="10319"/>
                  <a:pt x="6286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533400" y="1600200"/>
            <a:ext cx="1600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Add messages to the composite message to initialize the system</a:t>
            </a:r>
            <a:endParaRPr lang="en-US" sz="1200" b="1" dirty="0">
              <a:solidFill>
                <a:srgbClr val="C00000"/>
              </a:solidFill>
              <a:latin typeface="Bradley Hand ITC" pitchFamily="66" charset="0"/>
            </a:endParaRPr>
          </a:p>
        </p:txBody>
      </p:sp>
      <p:sp>
        <p:nvSpPr>
          <p:cNvPr id="10" name="Freeform 9"/>
          <p:cNvSpPr/>
          <p:nvPr/>
        </p:nvSpPr>
        <p:spPr>
          <a:xfrm>
            <a:off x="2105025" y="2085975"/>
            <a:ext cx="409575" cy="171450"/>
          </a:xfrm>
          <a:custGeom>
            <a:avLst/>
            <a:gdLst>
              <a:gd name="connsiteX0" fmla="*/ 0 w 409575"/>
              <a:gd name="connsiteY0" fmla="*/ 0 h 171450"/>
              <a:gd name="connsiteX1" fmla="*/ 114300 w 409575"/>
              <a:gd name="connsiteY1" fmla="*/ 142875 h 171450"/>
              <a:gd name="connsiteX2" fmla="*/ 409575 w 409575"/>
              <a:gd name="connsiteY2" fmla="*/ 171450 h 171450"/>
            </a:gdLst>
            <a:ahLst/>
            <a:cxnLst>
              <a:cxn ang="0">
                <a:pos x="connsiteX0" y="connsiteY0"/>
              </a:cxn>
              <a:cxn ang="0">
                <a:pos x="connsiteX1" y="connsiteY1"/>
              </a:cxn>
              <a:cxn ang="0">
                <a:pos x="connsiteX2" y="connsiteY2"/>
              </a:cxn>
            </a:cxnLst>
            <a:rect l="l" t="t" r="r" b="b"/>
            <a:pathLst>
              <a:path w="409575" h="171450">
                <a:moveTo>
                  <a:pt x="0" y="0"/>
                </a:moveTo>
                <a:cubicBezTo>
                  <a:pt x="23019" y="57150"/>
                  <a:pt x="46038" y="114300"/>
                  <a:pt x="114300" y="142875"/>
                </a:cubicBezTo>
                <a:cubicBezTo>
                  <a:pt x="182562" y="171450"/>
                  <a:pt x="296068" y="171450"/>
                  <a:pt x="409575" y="1714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33400" y="26670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More primitive messages</a:t>
            </a:r>
            <a:endParaRPr lang="en-US" sz="1200" b="1" dirty="0">
              <a:solidFill>
                <a:srgbClr val="C00000"/>
              </a:solidFill>
              <a:latin typeface="Bradley Hand ITC" pitchFamily="66" charset="0"/>
            </a:endParaRPr>
          </a:p>
        </p:txBody>
      </p:sp>
      <p:sp>
        <p:nvSpPr>
          <p:cNvPr id="12" name="Freeform 11"/>
          <p:cNvSpPr/>
          <p:nvPr/>
        </p:nvSpPr>
        <p:spPr>
          <a:xfrm>
            <a:off x="1771650" y="2847975"/>
            <a:ext cx="771525" cy="195262"/>
          </a:xfrm>
          <a:custGeom>
            <a:avLst/>
            <a:gdLst>
              <a:gd name="connsiteX0" fmla="*/ 0 w 771525"/>
              <a:gd name="connsiteY0" fmla="*/ 142875 h 195262"/>
              <a:gd name="connsiteX1" fmla="*/ 428625 w 771525"/>
              <a:gd name="connsiteY1" fmla="*/ 171450 h 195262"/>
              <a:gd name="connsiteX2" fmla="*/ 771525 w 771525"/>
              <a:gd name="connsiteY2" fmla="*/ 0 h 195262"/>
            </a:gdLst>
            <a:ahLst/>
            <a:cxnLst>
              <a:cxn ang="0">
                <a:pos x="connsiteX0" y="connsiteY0"/>
              </a:cxn>
              <a:cxn ang="0">
                <a:pos x="connsiteX1" y="connsiteY1"/>
              </a:cxn>
              <a:cxn ang="0">
                <a:pos x="connsiteX2" y="connsiteY2"/>
              </a:cxn>
            </a:cxnLst>
            <a:rect l="l" t="t" r="r" b="b"/>
            <a:pathLst>
              <a:path w="771525" h="195262">
                <a:moveTo>
                  <a:pt x="0" y="142875"/>
                </a:moveTo>
                <a:cubicBezTo>
                  <a:pt x="150019" y="169068"/>
                  <a:pt x="300038" y="195262"/>
                  <a:pt x="428625" y="171450"/>
                </a:cubicBezTo>
                <a:cubicBezTo>
                  <a:pt x="557212" y="147638"/>
                  <a:pt x="664368" y="73819"/>
                  <a:pt x="7715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381000" y="3200400"/>
            <a:ext cx="1752600" cy="120032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Another composite message.  This one is used for controlling the collection of information by the sensor system.</a:t>
            </a:r>
            <a:endParaRPr lang="en-US" sz="1200" b="1" dirty="0">
              <a:solidFill>
                <a:srgbClr val="C00000"/>
              </a:solidFill>
              <a:latin typeface="Bradley Hand ITC" pitchFamily="66" charset="0"/>
            </a:endParaRPr>
          </a:p>
        </p:txBody>
      </p:sp>
      <p:sp>
        <p:nvSpPr>
          <p:cNvPr id="14" name="Freeform 13"/>
          <p:cNvSpPr/>
          <p:nvPr/>
        </p:nvSpPr>
        <p:spPr>
          <a:xfrm>
            <a:off x="1952625" y="3362325"/>
            <a:ext cx="590550" cy="174625"/>
          </a:xfrm>
          <a:custGeom>
            <a:avLst/>
            <a:gdLst>
              <a:gd name="connsiteX0" fmla="*/ 0 w 590550"/>
              <a:gd name="connsiteY0" fmla="*/ 133350 h 174625"/>
              <a:gd name="connsiteX1" fmla="*/ 314325 w 590550"/>
              <a:gd name="connsiteY1" fmla="*/ 152400 h 174625"/>
              <a:gd name="connsiteX2" fmla="*/ 590550 w 590550"/>
              <a:gd name="connsiteY2" fmla="*/ 0 h 174625"/>
            </a:gdLst>
            <a:ahLst/>
            <a:cxnLst>
              <a:cxn ang="0">
                <a:pos x="connsiteX0" y="connsiteY0"/>
              </a:cxn>
              <a:cxn ang="0">
                <a:pos x="connsiteX1" y="connsiteY1"/>
              </a:cxn>
              <a:cxn ang="0">
                <a:pos x="connsiteX2" y="connsiteY2"/>
              </a:cxn>
            </a:cxnLst>
            <a:rect l="l" t="t" r="r" b="b"/>
            <a:pathLst>
              <a:path w="590550" h="174625">
                <a:moveTo>
                  <a:pt x="0" y="133350"/>
                </a:moveTo>
                <a:cubicBezTo>
                  <a:pt x="107950" y="153987"/>
                  <a:pt x="215900" y="174625"/>
                  <a:pt x="314325" y="152400"/>
                </a:cubicBezTo>
                <a:cubicBezTo>
                  <a:pt x="412750" y="130175"/>
                  <a:pt x="501650" y="65087"/>
                  <a:pt x="5905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705600" y="2971800"/>
            <a:ext cx="2057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Add messages to the composite message for scheduling data collection</a:t>
            </a:r>
            <a:endParaRPr lang="en-US" sz="1200" b="1" dirty="0">
              <a:solidFill>
                <a:srgbClr val="C00000"/>
              </a:solidFill>
              <a:latin typeface="Bradley Hand ITC" pitchFamily="66" charset="0"/>
            </a:endParaRPr>
          </a:p>
        </p:txBody>
      </p:sp>
      <p:sp>
        <p:nvSpPr>
          <p:cNvPr id="16" name="Freeform 15"/>
          <p:cNvSpPr/>
          <p:nvPr/>
        </p:nvSpPr>
        <p:spPr>
          <a:xfrm>
            <a:off x="6219825" y="3629025"/>
            <a:ext cx="666750" cy="295275"/>
          </a:xfrm>
          <a:custGeom>
            <a:avLst/>
            <a:gdLst>
              <a:gd name="connsiteX0" fmla="*/ 666750 w 666750"/>
              <a:gd name="connsiteY0" fmla="*/ 0 h 295275"/>
              <a:gd name="connsiteX1" fmla="*/ 314325 w 666750"/>
              <a:gd name="connsiteY1" fmla="*/ 247650 h 295275"/>
              <a:gd name="connsiteX2" fmla="*/ 0 w 666750"/>
              <a:gd name="connsiteY2" fmla="*/ 285750 h 295275"/>
            </a:gdLst>
            <a:ahLst/>
            <a:cxnLst>
              <a:cxn ang="0">
                <a:pos x="connsiteX0" y="connsiteY0"/>
              </a:cxn>
              <a:cxn ang="0">
                <a:pos x="connsiteX1" y="connsiteY1"/>
              </a:cxn>
              <a:cxn ang="0">
                <a:pos x="connsiteX2" y="connsiteY2"/>
              </a:cxn>
            </a:cxnLst>
            <a:rect l="l" t="t" r="r" b="b"/>
            <a:pathLst>
              <a:path w="666750" h="295275">
                <a:moveTo>
                  <a:pt x="666750" y="0"/>
                </a:moveTo>
                <a:cubicBezTo>
                  <a:pt x="546100" y="100012"/>
                  <a:pt x="425450" y="200025"/>
                  <a:pt x="314325" y="247650"/>
                </a:cubicBezTo>
                <a:cubicBezTo>
                  <a:pt x="203200" y="295275"/>
                  <a:pt x="101600" y="290512"/>
                  <a:pt x="0" y="285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858000" y="3733800"/>
            <a:ext cx="1600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Schedule a shutdown system message</a:t>
            </a:r>
            <a:endParaRPr lang="en-US" sz="1200" b="1" dirty="0">
              <a:solidFill>
                <a:srgbClr val="C00000"/>
              </a:solidFill>
              <a:latin typeface="Bradley Hand ITC" pitchFamily="66" charset="0"/>
            </a:endParaRPr>
          </a:p>
        </p:txBody>
      </p:sp>
      <p:sp>
        <p:nvSpPr>
          <p:cNvPr id="18" name="Freeform 17"/>
          <p:cNvSpPr/>
          <p:nvPr/>
        </p:nvSpPr>
        <p:spPr>
          <a:xfrm>
            <a:off x="4400550" y="4076700"/>
            <a:ext cx="2657475" cy="354012"/>
          </a:xfrm>
          <a:custGeom>
            <a:avLst/>
            <a:gdLst>
              <a:gd name="connsiteX0" fmla="*/ 2657475 w 2657475"/>
              <a:gd name="connsiteY0" fmla="*/ 0 h 354012"/>
              <a:gd name="connsiteX1" fmla="*/ 876300 w 2657475"/>
              <a:gd name="connsiteY1" fmla="*/ 304800 h 354012"/>
              <a:gd name="connsiteX2" fmla="*/ 0 w 2657475"/>
              <a:gd name="connsiteY2" fmla="*/ 295275 h 354012"/>
            </a:gdLst>
            <a:ahLst/>
            <a:cxnLst>
              <a:cxn ang="0">
                <a:pos x="connsiteX0" y="connsiteY0"/>
              </a:cxn>
              <a:cxn ang="0">
                <a:pos x="connsiteX1" y="connsiteY1"/>
              </a:cxn>
              <a:cxn ang="0">
                <a:pos x="connsiteX2" y="connsiteY2"/>
              </a:cxn>
            </a:cxnLst>
            <a:rect l="l" t="t" r="r" b="b"/>
            <a:pathLst>
              <a:path w="2657475" h="354012">
                <a:moveTo>
                  <a:pt x="2657475" y="0"/>
                </a:moveTo>
                <a:cubicBezTo>
                  <a:pt x="1988343" y="127794"/>
                  <a:pt x="1319212" y="255588"/>
                  <a:pt x="876300" y="304800"/>
                </a:cubicBezTo>
                <a:cubicBezTo>
                  <a:pt x="433388" y="354012"/>
                  <a:pt x="216694" y="324643"/>
                  <a:pt x="0" y="295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609600" y="4800600"/>
            <a:ext cx="1752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mission plan message, which contains two composite messages and one primitive message</a:t>
            </a:r>
            <a:endParaRPr lang="en-US" sz="1200" b="1" dirty="0">
              <a:solidFill>
                <a:srgbClr val="C00000"/>
              </a:solidFill>
              <a:latin typeface="Bradley Hand ITC" pitchFamily="66" charset="0"/>
            </a:endParaRPr>
          </a:p>
        </p:txBody>
      </p:sp>
      <p:sp>
        <p:nvSpPr>
          <p:cNvPr id="20" name="Freeform 19"/>
          <p:cNvSpPr/>
          <p:nvPr/>
        </p:nvSpPr>
        <p:spPr>
          <a:xfrm>
            <a:off x="2114550" y="4686300"/>
            <a:ext cx="457200" cy="257175"/>
          </a:xfrm>
          <a:custGeom>
            <a:avLst/>
            <a:gdLst>
              <a:gd name="connsiteX0" fmla="*/ 0 w 457200"/>
              <a:gd name="connsiteY0" fmla="*/ 257175 h 257175"/>
              <a:gd name="connsiteX1" fmla="*/ 180975 w 457200"/>
              <a:gd name="connsiteY1" fmla="*/ 76200 h 257175"/>
              <a:gd name="connsiteX2" fmla="*/ 457200 w 457200"/>
              <a:gd name="connsiteY2" fmla="*/ 0 h 257175"/>
            </a:gdLst>
            <a:ahLst/>
            <a:cxnLst>
              <a:cxn ang="0">
                <a:pos x="connsiteX0" y="connsiteY0"/>
              </a:cxn>
              <a:cxn ang="0">
                <a:pos x="connsiteX1" y="connsiteY1"/>
              </a:cxn>
              <a:cxn ang="0">
                <a:pos x="connsiteX2" y="connsiteY2"/>
              </a:cxn>
            </a:cxnLst>
            <a:rect l="l" t="t" r="r" b="b"/>
            <a:pathLst>
              <a:path w="457200" h="257175">
                <a:moveTo>
                  <a:pt x="0" y="257175"/>
                </a:moveTo>
                <a:cubicBezTo>
                  <a:pt x="52387" y="188119"/>
                  <a:pt x="104775" y="119063"/>
                  <a:pt x="180975" y="76200"/>
                </a:cubicBezTo>
                <a:cubicBezTo>
                  <a:pt x="257175" y="33338"/>
                  <a:pt x="357187" y="16669"/>
                  <a:pt x="4572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6629400" y="5105400"/>
            <a:ext cx="1752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Print to the console the mission plan message</a:t>
            </a:r>
            <a:endParaRPr lang="en-US" sz="1200" b="1" dirty="0">
              <a:solidFill>
                <a:srgbClr val="C00000"/>
              </a:solidFill>
              <a:latin typeface="Bradley Hand ITC" pitchFamily="66" charset="0"/>
            </a:endParaRPr>
          </a:p>
        </p:txBody>
      </p:sp>
      <p:sp>
        <p:nvSpPr>
          <p:cNvPr id="22" name="Freeform 21"/>
          <p:cNvSpPr/>
          <p:nvPr/>
        </p:nvSpPr>
        <p:spPr>
          <a:xfrm>
            <a:off x="4333875" y="5419725"/>
            <a:ext cx="2333625" cy="506412"/>
          </a:xfrm>
          <a:custGeom>
            <a:avLst/>
            <a:gdLst>
              <a:gd name="connsiteX0" fmla="*/ 2333625 w 2333625"/>
              <a:gd name="connsiteY0" fmla="*/ 0 h 506412"/>
              <a:gd name="connsiteX1" fmla="*/ 1657350 w 2333625"/>
              <a:gd name="connsiteY1" fmla="*/ 190500 h 506412"/>
              <a:gd name="connsiteX2" fmla="*/ 1247775 w 2333625"/>
              <a:gd name="connsiteY2" fmla="*/ 457200 h 506412"/>
              <a:gd name="connsiteX3" fmla="*/ 0 w 2333625"/>
              <a:gd name="connsiteY3" fmla="*/ 485775 h 506412"/>
            </a:gdLst>
            <a:ahLst/>
            <a:cxnLst>
              <a:cxn ang="0">
                <a:pos x="connsiteX0" y="connsiteY0"/>
              </a:cxn>
              <a:cxn ang="0">
                <a:pos x="connsiteX1" y="connsiteY1"/>
              </a:cxn>
              <a:cxn ang="0">
                <a:pos x="connsiteX2" y="connsiteY2"/>
              </a:cxn>
              <a:cxn ang="0">
                <a:pos x="connsiteX3" y="connsiteY3"/>
              </a:cxn>
            </a:cxnLst>
            <a:rect l="l" t="t" r="r" b="b"/>
            <a:pathLst>
              <a:path w="2333625" h="506412">
                <a:moveTo>
                  <a:pt x="2333625" y="0"/>
                </a:moveTo>
                <a:cubicBezTo>
                  <a:pt x="2085975" y="57150"/>
                  <a:pt x="1838325" y="114300"/>
                  <a:pt x="1657350" y="190500"/>
                </a:cubicBezTo>
                <a:cubicBezTo>
                  <a:pt x="1476375" y="266700"/>
                  <a:pt x="1524000" y="407988"/>
                  <a:pt x="1247775" y="457200"/>
                </a:cubicBezTo>
                <a:cubicBezTo>
                  <a:pt x="971550" y="506412"/>
                  <a:pt x="485775" y="496093"/>
                  <a:pt x="0"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19459" name="Picture 3"/>
          <p:cNvPicPr>
            <a:picLocks noChangeAspect="1" noChangeArrowheads="1"/>
          </p:cNvPicPr>
          <p:nvPr/>
        </p:nvPicPr>
        <p:blipFill>
          <a:blip r:embed="rId2" cstate="print"/>
          <a:srcRect/>
          <a:stretch>
            <a:fillRect/>
          </a:stretch>
        </p:blipFill>
        <p:spPr bwMode="auto">
          <a:xfrm>
            <a:off x="1752600" y="1524000"/>
            <a:ext cx="5629275" cy="1704975"/>
          </a:xfrm>
          <a:prstGeom prst="rect">
            <a:avLst/>
          </a:prstGeom>
          <a:noFill/>
          <a:ln w="9525">
            <a:noFill/>
            <a:miter lim="800000"/>
            <a:headEnd/>
            <a:tailEnd/>
          </a:ln>
        </p:spPr>
      </p:pic>
      <p:pic>
        <p:nvPicPr>
          <p:cNvPr id="19460" name="Picture 4"/>
          <p:cNvPicPr>
            <a:picLocks noChangeAspect="1" noChangeArrowheads="1"/>
          </p:cNvPicPr>
          <p:nvPr/>
        </p:nvPicPr>
        <p:blipFill>
          <a:blip r:embed="rId3" cstate="print"/>
          <a:srcRect/>
          <a:stretch>
            <a:fillRect/>
          </a:stretch>
        </p:blipFill>
        <p:spPr bwMode="auto">
          <a:xfrm>
            <a:off x="1371600" y="3733800"/>
            <a:ext cx="6448425" cy="2228850"/>
          </a:xfrm>
          <a:prstGeom prst="rect">
            <a:avLst/>
          </a:prstGeom>
          <a:noFill/>
          <a:ln w="9525">
            <a:noFill/>
            <a:miter lim="800000"/>
            <a:headEnd/>
            <a:tailEnd/>
          </a:ln>
        </p:spPr>
      </p:pic>
      <p:sp>
        <p:nvSpPr>
          <p:cNvPr id="8" name="TextBox 7"/>
          <p:cNvSpPr txBox="1"/>
          <p:nvPr/>
        </p:nvSpPr>
        <p:spPr>
          <a:xfrm>
            <a:off x="5943600" y="2971800"/>
            <a:ext cx="1752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output</a:t>
            </a:r>
            <a:endParaRPr lang="en-US" sz="1200" b="1" dirty="0">
              <a:solidFill>
                <a:srgbClr val="C00000"/>
              </a:solidFill>
              <a:latin typeface="Bradley Hand ITC" pitchFamily="66" charset="0"/>
            </a:endParaRPr>
          </a:p>
        </p:txBody>
      </p:sp>
      <p:sp>
        <p:nvSpPr>
          <p:cNvPr id="9" name="Freeform 8"/>
          <p:cNvSpPr/>
          <p:nvPr/>
        </p:nvSpPr>
        <p:spPr>
          <a:xfrm>
            <a:off x="6724650" y="3219450"/>
            <a:ext cx="365125" cy="457200"/>
          </a:xfrm>
          <a:custGeom>
            <a:avLst/>
            <a:gdLst>
              <a:gd name="connsiteX0" fmla="*/ 247650 w 365125"/>
              <a:gd name="connsiteY0" fmla="*/ 0 h 457200"/>
              <a:gd name="connsiteX1" fmla="*/ 323850 w 365125"/>
              <a:gd name="connsiteY1" fmla="*/ 247650 h 457200"/>
              <a:gd name="connsiteX2" fmla="*/ 0 w 365125"/>
              <a:gd name="connsiteY2" fmla="*/ 457200 h 457200"/>
            </a:gdLst>
            <a:ahLst/>
            <a:cxnLst>
              <a:cxn ang="0">
                <a:pos x="connsiteX0" y="connsiteY0"/>
              </a:cxn>
              <a:cxn ang="0">
                <a:pos x="connsiteX1" y="connsiteY1"/>
              </a:cxn>
              <a:cxn ang="0">
                <a:pos x="connsiteX2" y="connsiteY2"/>
              </a:cxn>
            </a:cxnLst>
            <a:rect l="l" t="t" r="r" b="b"/>
            <a:pathLst>
              <a:path w="365125" h="457200">
                <a:moveTo>
                  <a:pt x="247650" y="0"/>
                </a:moveTo>
                <a:cubicBezTo>
                  <a:pt x="306387" y="85725"/>
                  <a:pt x="365125" y="171450"/>
                  <a:pt x="323850" y="247650"/>
                </a:cubicBezTo>
                <a:cubicBezTo>
                  <a:pt x="282575" y="323850"/>
                  <a:pt x="141287" y="390525"/>
                  <a:pt x="0" y="4572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Composite Design Pattern</a:t>
            </a:r>
            <a:endParaRPr lang="en-US" dirty="0"/>
          </a:p>
        </p:txBody>
      </p:sp>
      <p:sp>
        <p:nvSpPr>
          <p:cNvPr id="3" name="Content Placeholder 2"/>
          <p:cNvSpPr>
            <a:spLocks noGrp="1"/>
          </p:cNvSpPr>
          <p:nvPr>
            <p:ph idx="1"/>
          </p:nvPr>
        </p:nvSpPr>
        <p:spPr>
          <a:xfrm>
            <a:off x="457200" y="1371601"/>
            <a:ext cx="8229600" cy="5181599"/>
          </a:xfrm>
        </p:spPr>
        <p:txBody>
          <a:bodyPr>
            <a:normAutofit fontScale="77500" lnSpcReduction="20000"/>
          </a:bodyPr>
          <a:lstStyle/>
          <a:p>
            <a:r>
              <a:rPr lang="en-US" dirty="0" smtClean="0"/>
              <a:t>The steps required to apply the composite design pattern include:</a:t>
            </a:r>
          </a:p>
          <a:p>
            <a:pPr marL="800100" lvl="1" indent="-342900">
              <a:buFont typeface="+mj-lt"/>
              <a:buAutoNum type="arabicPeriod"/>
            </a:pPr>
            <a:r>
              <a:rPr lang="en-US" dirty="0" smtClean="0"/>
              <a:t>Identify, understand, and plan the tree-like structure required for the system.</a:t>
            </a:r>
          </a:p>
          <a:p>
            <a:pPr marL="800100" lvl="1" indent="-342900">
              <a:buFont typeface="+mj-lt"/>
              <a:buAutoNum type="arabicPeriod"/>
            </a:pPr>
            <a:r>
              <a:rPr lang="en-US" dirty="0" smtClean="0"/>
              <a:t>With the knowledge from step 1, identify and design the Component base class (see diagram), which includes </a:t>
            </a:r>
            <a:r>
              <a:rPr lang="en-US" dirty="0" err="1" smtClean="0"/>
              <a:t>overridable</a:t>
            </a:r>
            <a:r>
              <a:rPr lang="en-US" dirty="0" smtClean="0"/>
              <a:t> methods common to both Leaf and Composite objects, as well as methods specific for Composite objects, which provide capability for adding and removing objects to the hierarchy.  </a:t>
            </a:r>
          </a:p>
          <a:p>
            <a:pPr marL="800100" lvl="1" indent="-342900">
              <a:buFont typeface="+mj-lt"/>
              <a:buAutoNum type="arabicPeriod"/>
            </a:pPr>
            <a:r>
              <a:rPr lang="en-US" dirty="0" smtClean="0"/>
              <a:t>For the methods specified in step 2 for adding/removing objects to the hierarchy, implement default behavior that if not overridden, will result in exception or error message indicating an unsupported operation.</a:t>
            </a:r>
          </a:p>
          <a:p>
            <a:pPr marL="800100" lvl="1" indent="-342900">
              <a:buFont typeface="+mj-lt"/>
              <a:buAutoNum type="arabicPeriod"/>
            </a:pPr>
            <a:r>
              <a:rPr lang="en-US" dirty="0" smtClean="0"/>
              <a:t>Identify and design the Composite class, which overrides methods for adding and removing objects to the hierarchy.  The Composite class requires an internal data structure to store Leaf nodes added to the hierarchy.  In addition, the Composite class is required to override all other methods identified in step 2 to implement functionality in terms of the composite object and all of its contained Leaf objects.</a:t>
            </a:r>
          </a:p>
          <a:p>
            <a:pPr marL="800100" lvl="1" indent="-342900">
              <a:buFont typeface="+mj-lt"/>
              <a:buAutoNum type="arabicPeriod"/>
            </a:pPr>
            <a:r>
              <a:rPr lang="en-US" dirty="0" smtClean="0"/>
              <a:t>Identify and design the Leaf classes, which overrides methods specified in step 2 to implement behavior in terms of the Leaf object.  Leaf objects do not override the add and remove methods identified in step 2.</a:t>
            </a:r>
          </a:p>
          <a:p>
            <a:pPr marL="800100" lvl="1" indent="-342900">
              <a:buFont typeface="+mj-lt"/>
              <a:buAutoNum type="arabicPeriod"/>
            </a:pPr>
            <a:r>
              <a:rPr lang="en-US" dirty="0" smtClean="0"/>
              <a:t>Identify and design the client that uses both composite and leaf objects.</a:t>
            </a:r>
          </a:p>
          <a:p>
            <a:pPr lvl="1"/>
            <a:endParaRPr lang="en-US" dirty="0" smtClean="0"/>
          </a:p>
          <a:p>
            <a:pPr lvl="0"/>
            <a:r>
              <a:rPr lang="en-US" dirty="0" smtClean="0"/>
              <a:t>Benefits of the Composite design pattern:</a:t>
            </a:r>
          </a:p>
          <a:p>
            <a:pPr lvl="1"/>
            <a:r>
              <a:rPr lang="en-US" dirty="0" smtClean="0"/>
              <a:t>Provides a design structure that supports both composite and primitive objects.</a:t>
            </a:r>
          </a:p>
          <a:p>
            <a:pPr lvl="1"/>
            <a:r>
              <a:rPr lang="en-US" dirty="0" smtClean="0"/>
              <a:t>Minimizes complexity on clients by shielding them from knowing the operational differences between primitive and composite objects.  Clients that expect a primitive object will also work with a composite object, since operations are called uniformly on both primitive and composite objects.</a:t>
            </a:r>
          </a:p>
          <a:p>
            <a:pPr lvl="1"/>
            <a:r>
              <a:rPr lang="en-US" dirty="0" smtClean="0"/>
              <a:t>Easy to create and add new components objects to applications.</a:t>
            </a:r>
          </a:p>
          <a:p>
            <a:pPr lvl="1"/>
            <a:endParaRPr lang="en-US" dirty="0" smtClean="0"/>
          </a:p>
          <a:p>
            <a:pPr lvl="1"/>
            <a:endParaRPr lang="en-US" dirty="0" smtClean="0"/>
          </a:p>
          <a:p>
            <a:pPr lvl="0"/>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Facade Design Pattern</a:t>
            </a:r>
            <a:endParaRPr lang="en-US" dirty="0"/>
          </a:p>
        </p:txBody>
      </p:sp>
      <p:sp>
        <p:nvSpPr>
          <p:cNvPr id="3" name="Content Placeholder 2"/>
          <p:cNvSpPr>
            <a:spLocks noGrp="1"/>
          </p:cNvSpPr>
          <p:nvPr>
            <p:ph idx="1"/>
          </p:nvPr>
        </p:nvSpPr>
        <p:spPr>
          <a:xfrm>
            <a:off x="457200" y="1371601"/>
            <a:ext cx="8229600" cy="2209799"/>
          </a:xfrm>
        </p:spPr>
        <p:txBody>
          <a:bodyPr/>
          <a:lstStyle/>
          <a:p>
            <a:r>
              <a:rPr lang="en-US" dirty="0" smtClean="0"/>
              <a:t>The Facade design pattern is an object structural pattern that provides a simplified interface to complex subsystems.</a:t>
            </a:r>
          </a:p>
          <a:p>
            <a:endParaRPr lang="en-US" dirty="0" smtClean="0"/>
          </a:p>
          <a:p>
            <a:r>
              <a:rPr lang="en-US" dirty="0" smtClean="0"/>
              <a:t>According to the </a:t>
            </a:r>
            <a:r>
              <a:rPr lang="en-US" dirty="0" err="1" smtClean="0"/>
              <a:t>GoF</a:t>
            </a:r>
            <a:r>
              <a:rPr lang="en-US" dirty="0" smtClean="0"/>
              <a:t>, the intent of the Facade is to [1]</a:t>
            </a:r>
          </a:p>
          <a:p>
            <a:pPr lvl="1"/>
            <a:r>
              <a:rPr lang="en-US" dirty="0" smtClean="0"/>
              <a:t>Provide a unified interface to a set of interfaces in a subsystem.  Facade defines a higher-level interface that makes the subsystem easier to use.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20482" name="Picture 2"/>
          <p:cNvPicPr>
            <a:picLocks noChangeAspect="1" noChangeArrowheads="1"/>
          </p:cNvPicPr>
          <p:nvPr/>
        </p:nvPicPr>
        <p:blipFill>
          <a:blip r:embed="rId2" cstate="print"/>
          <a:srcRect/>
          <a:stretch>
            <a:fillRect/>
          </a:stretch>
        </p:blipFill>
        <p:spPr bwMode="auto">
          <a:xfrm>
            <a:off x="2667000" y="4114800"/>
            <a:ext cx="3657600" cy="12954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Facade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grpSp>
        <p:nvGrpSpPr>
          <p:cNvPr id="14" name="Group 13"/>
          <p:cNvGrpSpPr/>
          <p:nvPr/>
        </p:nvGrpSpPr>
        <p:grpSpPr>
          <a:xfrm>
            <a:off x="1524000" y="1143000"/>
            <a:ext cx="6096000" cy="4991100"/>
            <a:chOff x="1524000" y="1295400"/>
            <a:chExt cx="6096000" cy="4991100"/>
          </a:xfrm>
        </p:grpSpPr>
        <p:pic>
          <p:nvPicPr>
            <p:cNvPr id="3074" name="Picture 2"/>
            <p:cNvPicPr>
              <a:picLocks noChangeAspect="1" noChangeArrowheads="1"/>
            </p:cNvPicPr>
            <p:nvPr/>
          </p:nvPicPr>
          <p:blipFill>
            <a:blip r:embed="rId2" cstate="print"/>
            <a:srcRect/>
            <a:stretch>
              <a:fillRect/>
            </a:stretch>
          </p:blipFill>
          <p:spPr bwMode="auto">
            <a:xfrm>
              <a:off x="1600200" y="1295400"/>
              <a:ext cx="6019800" cy="2114550"/>
            </a:xfrm>
            <a:prstGeom prst="rect">
              <a:avLst/>
            </a:prstGeom>
            <a:noFill/>
            <a:ln w="9525">
              <a:noFill/>
              <a:miter lim="800000"/>
              <a:headEnd/>
              <a:tailEnd/>
            </a:ln>
          </p:spPr>
        </p:pic>
        <p:sp>
          <p:nvSpPr>
            <p:cNvPr id="10" name="Rectangle 9"/>
            <p:cNvSpPr/>
            <p:nvPr/>
          </p:nvSpPr>
          <p:spPr>
            <a:xfrm>
              <a:off x="1524000" y="3048000"/>
              <a:ext cx="5867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91400" y="2743200"/>
              <a:ext cx="2286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2"/>
            <p:cNvPicPr>
              <a:picLocks noChangeAspect="1" noChangeArrowheads="1"/>
            </p:cNvPicPr>
            <p:nvPr/>
          </p:nvPicPr>
          <p:blipFill>
            <a:blip r:embed="rId3" cstate="print"/>
            <a:srcRect/>
            <a:stretch>
              <a:fillRect/>
            </a:stretch>
          </p:blipFill>
          <p:spPr bwMode="auto">
            <a:xfrm>
              <a:off x="2590800" y="3124200"/>
              <a:ext cx="4019550" cy="316230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Facade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grpSp>
        <p:nvGrpSpPr>
          <p:cNvPr id="12" name="Group 11"/>
          <p:cNvGrpSpPr/>
          <p:nvPr/>
        </p:nvGrpSpPr>
        <p:grpSpPr>
          <a:xfrm>
            <a:off x="2667000" y="4035623"/>
            <a:ext cx="1143000" cy="484346"/>
            <a:chOff x="3352800" y="5316379"/>
            <a:chExt cx="1143000" cy="484346"/>
          </a:xfrm>
        </p:grpSpPr>
        <p:grpSp>
          <p:nvGrpSpPr>
            <p:cNvPr id="13" name="Group 18"/>
            <p:cNvGrpSpPr/>
            <p:nvPr/>
          </p:nvGrpSpPr>
          <p:grpSpPr>
            <a:xfrm>
              <a:off x="3352800" y="5343525"/>
              <a:ext cx="1143000" cy="457200"/>
              <a:chOff x="3352800" y="5343525"/>
              <a:chExt cx="914400" cy="457200"/>
            </a:xfrm>
          </p:grpSpPr>
          <p:sp>
            <p:nvSpPr>
              <p:cNvPr id="15" name="Rectangle 1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3352800" y="5316379"/>
              <a:ext cx="1143000" cy="246221"/>
            </a:xfrm>
            <a:prstGeom prst="rect">
              <a:avLst/>
            </a:prstGeom>
            <a:noFill/>
          </p:spPr>
          <p:txBody>
            <a:bodyPr wrap="square" rtlCol="0">
              <a:spAutoFit/>
            </a:bodyPr>
            <a:lstStyle/>
            <a:p>
              <a:pPr algn="ctr"/>
              <a:r>
                <a:rPr lang="en-US" sz="1000" dirty="0" smtClean="0"/>
                <a:t>SystemManager</a:t>
              </a:r>
              <a:endParaRPr lang="en-US" sz="1000" dirty="0"/>
            </a:p>
          </p:txBody>
        </p:sp>
      </p:grpSp>
      <p:grpSp>
        <p:nvGrpSpPr>
          <p:cNvPr id="18" name="Group 17"/>
          <p:cNvGrpSpPr/>
          <p:nvPr/>
        </p:nvGrpSpPr>
        <p:grpSpPr>
          <a:xfrm>
            <a:off x="1371600" y="4035623"/>
            <a:ext cx="1143000" cy="484346"/>
            <a:chOff x="3352800" y="5316379"/>
            <a:chExt cx="1143000" cy="484346"/>
          </a:xfrm>
        </p:grpSpPr>
        <p:grpSp>
          <p:nvGrpSpPr>
            <p:cNvPr id="19" name="Group 18"/>
            <p:cNvGrpSpPr/>
            <p:nvPr/>
          </p:nvGrpSpPr>
          <p:grpSpPr>
            <a:xfrm>
              <a:off x="3352800" y="5343525"/>
              <a:ext cx="1143000" cy="457200"/>
              <a:chOff x="3352800" y="5343525"/>
              <a:chExt cx="914400" cy="457200"/>
            </a:xfrm>
          </p:grpSpPr>
          <p:sp>
            <p:nvSpPr>
              <p:cNvPr id="21" name="Rectangle 20"/>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3352800" y="5316379"/>
              <a:ext cx="1143000" cy="246221"/>
            </a:xfrm>
            <a:prstGeom prst="rect">
              <a:avLst/>
            </a:prstGeom>
            <a:noFill/>
          </p:spPr>
          <p:txBody>
            <a:bodyPr wrap="square" rtlCol="0">
              <a:spAutoFit/>
            </a:bodyPr>
            <a:lstStyle/>
            <a:p>
              <a:pPr algn="ctr"/>
              <a:r>
                <a:rPr lang="en-US" sz="1000" dirty="0" smtClean="0"/>
                <a:t>SerialComm</a:t>
              </a:r>
              <a:endParaRPr lang="en-US" sz="1000" dirty="0"/>
            </a:p>
          </p:txBody>
        </p:sp>
      </p:grpSp>
      <p:grpSp>
        <p:nvGrpSpPr>
          <p:cNvPr id="24" name="Group 23"/>
          <p:cNvGrpSpPr/>
          <p:nvPr/>
        </p:nvGrpSpPr>
        <p:grpSpPr>
          <a:xfrm>
            <a:off x="3962400" y="4035623"/>
            <a:ext cx="1143000" cy="484346"/>
            <a:chOff x="3352800" y="5316379"/>
            <a:chExt cx="1143000" cy="484346"/>
          </a:xfrm>
        </p:grpSpPr>
        <p:grpSp>
          <p:nvGrpSpPr>
            <p:cNvPr id="25" name="Group 18"/>
            <p:cNvGrpSpPr/>
            <p:nvPr/>
          </p:nvGrpSpPr>
          <p:grpSpPr>
            <a:xfrm>
              <a:off x="3352800" y="5343525"/>
              <a:ext cx="1143000" cy="457200"/>
              <a:chOff x="3352800" y="5343525"/>
              <a:chExt cx="914400" cy="457200"/>
            </a:xfrm>
          </p:grpSpPr>
          <p:sp>
            <p:nvSpPr>
              <p:cNvPr id="27" name="Rectangle 26"/>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3352800" y="5316379"/>
              <a:ext cx="1143000" cy="246221"/>
            </a:xfrm>
            <a:prstGeom prst="rect">
              <a:avLst/>
            </a:prstGeom>
            <a:noFill/>
          </p:spPr>
          <p:txBody>
            <a:bodyPr wrap="square" rtlCol="0">
              <a:spAutoFit/>
            </a:bodyPr>
            <a:lstStyle/>
            <a:p>
              <a:pPr algn="ctr"/>
              <a:r>
                <a:rPr lang="en-US" sz="1000" dirty="0" smtClean="0"/>
                <a:t>FileSystem</a:t>
              </a:r>
              <a:endParaRPr lang="en-US" sz="1000" dirty="0"/>
            </a:p>
          </p:txBody>
        </p:sp>
      </p:grpSp>
      <p:grpSp>
        <p:nvGrpSpPr>
          <p:cNvPr id="30" name="Group 29"/>
          <p:cNvGrpSpPr/>
          <p:nvPr/>
        </p:nvGrpSpPr>
        <p:grpSpPr>
          <a:xfrm>
            <a:off x="5257800" y="4035623"/>
            <a:ext cx="1143000" cy="484346"/>
            <a:chOff x="3352800" y="5316379"/>
            <a:chExt cx="1143000" cy="484346"/>
          </a:xfrm>
        </p:grpSpPr>
        <p:grpSp>
          <p:nvGrpSpPr>
            <p:cNvPr id="31" name="Group 18"/>
            <p:cNvGrpSpPr/>
            <p:nvPr/>
          </p:nvGrpSpPr>
          <p:grpSpPr>
            <a:xfrm>
              <a:off x="3352800" y="5343525"/>
              <a:ext cx="1143000" cy="457200"/>
              <a:chOff x="3352800" y="5343525"/>
              <a:chExt cx="914400" cy="457200"/>
            </a:xfrm>
          </p:grpSpPr>
          <p:sp>
            <p:nvSpPr>
              <p:cNvPr id="33" name="Rectangle 32"/>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3352800" y="5316379"/>
              <a:ext cx="1143000" cy="246221"/>
            </a:xfrm>
            <a:prstGeom prst="rect">
              <a:avLst/>
            </a:prstGeom>
            <a:noFill/>
          </p:spPr>
          <p:txBody>
            <a:bodyPr wrap="square" rtlCol="0">
              <a:spAutoFit/>
            </a:bodyPr>
            <a:lstStyle/>
            <a:p>
              <a:pPr algn="ctr"/>
              <a:r>
                <a:rPr lang="en-US" sz="1000" dirty="0" smtClean="0"/>
                <a:t>DataAnalyzer</a:t>
              </a:r>
              <a:endParaRPr lang="en-US" sz="1000" dirty="0"/>
            </a:p>
          </p:txBody>
        </p:sp>
      </p:grpSp>
      <p:grpSp>
        <p:nvGrpSpPr>
          <p:cNvPr id="36" name="Group 35"/>
          <p:cNvGrpSpPr/>
          <p:nvPr/>
        </p:nvGrpSpPr>
        <p:grpSpPr>
          <a:xfrm>
            <a:off x="6553200" y="4035623"/>
            <a:ext cx="1143000" cy="484346"/>
            <a:chOff x="3352800" y="5316379"/>
            <a:chExt cx="1143000" cy="484346"/>
          </a:xfrm>
        </p:grpSpPr>
        <p:grpSp>
          <p:nvGrpSpPr>
            <p:cNvPr id="37" name="Group 18"/>
            <p:cNvGrpSpPr/>
            <p:nvPr/>
          </p:nvGrpSpPr>
          <p:grpSpPr>
            <a:xfrm>
              <a:off x="3352800" y="5343525"/>
              <a:ext cx="1143000" cy="457200"/>
              <a:chOff x="3352800" y="5343525"/>
              <a:chExt cx="914400" cy="457200"/>
            </a:xfrm>
          </p:grpSpPr>
          <p:sp>
            <p:nvSpPr>
              <p:cNvPr id="39" name="Rectangle 38"/>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TextBox 37"/>
            <p:cNvSpPr txBox="1"/>
            <p:nvPr/>
          </p:nvSpPr>
          <p:spPr>
            <a:xfrm>
              <a:off x="3352800" y="5316379"/>
              <a:ext cx="1143000" cy="246221"/>
            </a:xfrm>
            <a:prstGeom prst="rect">
              <a:avLst/>
            </a:prstGeom>
            <a:noFill/>
          </p:spPr>
          <p:txBody>
            <a:bodyPr wrap="square" rtlCol="0">
              <a:spAutoFit/>
            </a:bodyPr>
            <a:lstStyle/>
            <a:p>
              <a:pPr algn="ctr"/>
              <a:r>
                <a:rPr lang="en-US" sz="1000" dirty="0" smtClean="0"/>
                <a:t>WirelessComm</a:t>
              </a:r>
              <a:endParaRPr lang="en-US" sz="1000" dirty="0"/>
            </a:p>
          </p:txBody>
        </p:sp>
      </p:grpSp>
      <p:grpSp>
        <p:nvGrpSpPr>
          <p:cNvPr id="42" name="Group 41"/>
          <p:cNvGrpSpPr/>
          <p:nvPr/>
        </p:nvGrpSpPr>
        <p:grpSpPr>
          <a:xfrm>
            <a:off x="2057400" y="2206823"/>
            <a:ext cx="1143000" cy="484346"/>
            <a:chOff x="3352800" y="5316379"/>
            <a:chExt cx="1143000" cy="484346"/>
          </a:xfrm>
        </p:grpSpPr>
        <p:grpSp>
          <p:nvGrpSpPr>
            <p:cNvPr id="43" name="Group 18"/>
            <p:cNvGrpSpPr/>
            <p:nvPr/>
          </p:nvGrpSpPr>
          <p:grpSpPr>
            <a:xfrm>
              <a:off x="3352800" y="5343525"/>
              <a:ext cx="1143000" cy="457200"/>
              <a:chOff x="3352800" y="5343525"/>
              <a:chExt cx="914400" cy="457200"/>
            </a:xfrm>
          </p:grpSpPr>
          <p:sp>
            <p:nvSpPr>
              <p:cNvPr id="45" name="Rectangle 4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TextBox 43"/>
            <p:cNvSpPr txBox="1"/>
            <p:nvPr/>
          </p:nvSpPr>
          <p:spPr>
            <a:xfrm>
              <a:off x="3352800" y="5316379"/>
              <a:ext cx="1143000" cy="246221"/>
            </a:xfrm>
            <a:prstGeom prst="rect">
              <a:avLst/>
            </a:prstGeom>
            <a:noFill/>
          </p:spPr>
          <p:txBody>
            <a:bodyPr wrap="square" rtlCol="0">
              <a:spAutoFit/>
            </a:bodyPr>
            <a:lstStyle/>
            <a:p>
              <a:pPr algn="ctr"/>
              <a:r>
                <a:rPr lang="en-US" sz="1000" dirty="0" smtClean="0"/>
                <a:t>Client1</a:t>
              </a:r>
              <a:endParaRPr lang="en-US" sz="1000" dirty="0"/>
            </a:p>
          </p:txBody>
        </p:sp>
      </p:grpSp>
      <p:grpSp>
        <p:nvGrpSpPr>
          <p:cNvPr id="48" name="Group 47"/>
          <p:cNvGrpSpPr/>
          <p:nvPr/>
        </p:nvGrpSpPr>
        <p:grpSpPr>
          <a:xfrm>
            <a:off x="3352800" y="2206823"/>
            <a:ext cx="1143000" cy="484346"/>
            <a:chOff x="3352800" y="5316379"/>
            <a:chExt cx="1143000" cy="484346"/>
          </a:xfrm>
        </p:grpSpPr>
        <p:grpSp>
          <p:nvGrpSpPr>
            <p:cNvPr id="49" name="Group 18"/>
            <p:cNvGrpSpPr/>
            <p:nvPr/>
          </p:nvGrpSpPr>
          <p:grpSpPr>
            <a:xfrm>
              <a:off x="3352800" y="5343525"/>
              <a:ext cx="1143000" cy="457200"/>
              <a:chOff x="3352800" y="5343525"/>
              <a:chExt cx="914400" cy="457200"/>
            </a:xfrm>
          </p:grpSpPr>
          <p:sp>
            <p:nvSpPr>
              <p:cNvPr id="51" name="Rectangle 50"/>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3352800" y="5316379"/>
              <a:ext cx="1143000" cy="246221"/>
            </a:xfrm>
            <a:prstGeom prst="rect">
              <a:avLst/>
            </a:prstGeom>
            <a:noFill/>
          </p:spPr>
          <p:txBody>
            <a:bodyPr wrap="square" rtlCol="0">
              <a:spAutoFit/>
            </a:bodyPr>
            <a:lstStyle/>
            <a:p>
              <a:pPr algn="ctr"/>
              <a:r>
                <a:rPr lang="en-US" sz="1000" dirty="0" smtClean="0"/>
                <a:t>Client2</a:t>
              </a:r>
              <a:endParaRPr lang="en-US" sz="1000" dirty="0"/>
            </a:p>
          </p:txBody>
        </p:sp>
      </p:grpSp>
      <p:grpSp>
        <p:nvGrpSpPr>
          <p:cNvPr id="54" name="Group 53"/>
          <p:cNvGrpSpPr/>
          <p:nvPr/>
        </p:nvGrpSpPr>
        <p:grpSpPr>
          <a:xfrm>
            <a:off x="4648200" y="2206823"/>
            <a:ext cx="1143000" cy="484346"/>
            <a:chOff x="3352800" y="5316379"/>
            <a:chExt cx="1143000" cy="484346"/>
          </a:xfrm>
        </p:grpSpPr>
        <p:grpSp>
          <p:nvGrpSpPr>
            <p:cNvPr id="55" name="Group 18"/>
            <p:cNvGrpSpPr/>
            <p:nvPr/>
          </p:nvGrpSpPr>
          <p:grpSpPr>
            <a:xfrm>
              <a:off x="3352800" y="5343525"/>
              <a:ext cx="1143000" cy="457200"/>
              <a:chOff x="3352800" y="5343525"/>
              <a:chExt cx="914400" cy="457200"/>
            </a:xfrm>
          </p:grpSpPr>
          <p:sp>
            <p:nvSpPr>
              <p:cNvPr id="57" name="Rectangle 56"/>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 name="TextBox 55"/>
            <p:cNvSpPr txBox="1"/>
            <p:nvPr/>
          </p:nvSpPr>
          <p:spPr>
            <a:xfrm>
              <a:off x="3352800" y="5316379"/>
              <a:ext cx="1143000" cy="246221"/>
            </a:xfrm>
            <a:prstGeom prst="rect">
              <a:avLst/>
            </a:prstGeom>
            <a:noFill/>
          </p:spPr>
          <p:txBody>
            <a:bodyPr wrap="square" rtlCol="0">
              <a:spAutoFit/>
            </a:bodyPr>
            <a:lstStyle/>
            <a:p>
              <a:pPr algn="ctr"/>
              <a:r>
                <a:rPr lang="en-US" sz="1000" dirty="0" smtClean="0"/>
                <a:t>Client3</a:t>
              </a:r>
              <a:endParaRPr lang="en-US" sz="1000" dirty="0"/>
            </a:p>
          </p:txBody>
        </p:sp>
      </p:grpSp>
      <p:grpSp>
        <p:nvGrpSpPr>
          <p:cNvPr id="60" name="Group 59"/>
          <p:cNvGrpSpPr/>
          <p:nvPr/>
        </p:nvGrpSpPr>
        <p:grpSpPr>
          <a:xfrm>
            <a:off x="5943600" y="2206823"/>
            <a:ext cx="1143000" cy="484346"/>
            <a:chOff x="3352800" y="5316379"/>
            <a:chExt cx="1143000" cy="484346"/>
          </a:xfrm>
        </p:grpSpPr>
        <p:grpSp>
          <p:nvGrpSpPr>
            <p:cNvPr id="61" name="Group 18"/>
            <p:cNvGrpSpPr/>
            <p:nvPr/>
          </p:nvGrpSpPr>
          <p:grpSpPr>
            <a:xfrm>
              <a:off x="3352800" y="5343525"/>
              <a:ext cx="1143000" cy="457200"/>
              <a:chOff x="3352800" y="5343525"/>
              <a:chExt cx="914400" cy="457200"/>
            </a:xfrm>
          </p:grpSpPr>
          <p:sp>
            <p:nvSpPr>
              <p:cNvPr id="63" name="Rectangle 62"/>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TextBox 61"/>
            <p:cNvSpPr txBox="1"/>
            <p:nvPr/>
          </p:nvSpPr>
          <p:spPr>
            <a:xfrm>
              <a:off x="3352800" y="5316379"/>
              <a:ext cx="1143000" cy="246221"/>
            </a:xfrm>
            <a:prstGeom prst="rect">
              <a:avLst/>
            </a:prstGeom>
            <a:noFill/>
          </p:spPr>
          <p:txBody>
            <a:bodyPr wrap="square" rtlCol="0">
              <a:spAutoFit/>
            </a:bodyPr>
            <a:lstStyle/>
            <a:p>
              <a:pPr algn="ctr"/>
              <a:r>
                <a:rPr lang="en-US" sz="1000" dirty="0" smtClean="0"/>
                <a:t>Client4</a:t>
              </a:r>
              <a:endParaRPr lang="en-US" sz="1000" dirty="0"/>
            </a:p>
          </p:txBody>
        </p:sp>
      </p:grpSp>
      <p:sp>
        <p:nvSpPr>
          <p:cNvPr id="66" name="Rectangle 65"/>
          <p:cNvSpPr/>
          <p:nvPr/>
        </p:nvSpPr>
        <p:spPr>
          <a:xfrm>
            <a:off x="1600200" y="1749623"/>
            <a:ext cx="59436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p:cNvSpPr/>
          <p:nvPr/>
        </p:nvSpPr>
        <p:spPr>
          <a:xfrm>
            <a:off x="1143000" y="3807023"/>
            <a:ext cx="67818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a:off x="1143000" y="4645223"/>
            <a:ext cx="6781800" cy="307777"/>
          </a:xfrm>
          <a:prstGeom prst="rect">
            <a:avLst/>
          </a:prstGeom>
          <a:noFill/>
        </p:spPr>
        <p:txBody>
          <a:bodyPr wrap="square" rtlCol="0">
            <a:spAutoFit/>
          </a:bodyPr>
          <a:lstStyle/>
          <a:p>
            <a:pPr algn="ctr"/>
            <a:r>
              <a:rPr lang="en-US" sz="1400" dirty="0" smtClean="0"/>
              <a:t>Sensor Subsystem</a:t>
            </a:r>
            <a:endParaRPr lang="en-US" sz="1400" dirty="0"/>
          </a:p>
        </p:txBody>
      </p:sp>
      <p:sp>
        <p:nvSpPr>
          <p:cNvPr id="69" name="TextBox 68"/>
          <p:cNvSpPr txBox="1"/>
          <p:nvPr/>
        </p:nvSpPr>
        <p:spPr>
          <a:xfrm>
            <a:off x="1600200" y="1749623"/>
            <a:ext cx="5943600" cy="307777"/>
          </a:xfrm>
          <a:prstGeom prst="rect">
            <a:avLst/>
          </a:prstGeom>
          <a:noFill/>
        </p:spPr>
        <p:txBody>
          <a:bodyPr wrap="square" rtlCol="0">
            <a:spAutoFit/>
          </a:bodyPr>
          <a:lstStyle/>
          <a:p>
            <a:pPr algn="ctr"/>
            <a:r>
              <a:rPr lang="en-US" sz="1400" dirty="0" smtClean="0"/>
              <a:t>User Interface Subsystem</a:t>
            </a:r>
            <a:endParaRPr lang="en-US" sz="1400" dirty="0"/>
          </a:p>
        </p:txBody>
      </p:sp>
      <p:cxnSp>
        <p:nvCxnSpPr>
          <p:cNvPr id="71" name="Straight Arrow Connector 70"/>
          <p:cNvCxnSpPr>
            <a:stCxn id="45" idx="2"/>
            <a:endCxn id="20" idx="0"/>
          </p:cNvCxnSpPr>
          <p:nvPr/>
        </p:nvCxnSpPr>
        <p:spPr>
          <a:xfrm flipH="1">
            <a:off x="19431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45" idx="2"/>
            <a:endCxn id="14" idx="0"/>
          </p:cNvCxnSpPr>
          <p:nvPr/>
        </p:nvCxnSpPr>
        <p:spPr>
          <a:xfrm>
            <a:off x="26289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stCxn id="45" idx="2"/>
            <a:endCxn id="26" idx="0"/>
          </p:cNvCxnSpPr>
          <p:nvPr/>
        </p:nvCxnSpPr>
        <p:spPr>
          <a:xfrm>
            <a:off x="26289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45" idx="2"/>
            <a:endCxn id="32" idx="0"/>
          </p:cNvCxnSpPr>
          <p:nvPr/>
        </p:nvCxnSpPr>
        <p:spPr>
          <a:xfrm>
            <a:off x="2628900" y="2691169"/>
            <a:ext cx="32004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45" idx="2"/>
            <a:endCxn id="38" idx="0"/>
          </p:cNvCxnSpPr>
          <p:nvPr/>
        </p:nvCxnSpPr>
        <p:spPr>
          <a:xfrm>
            <a:off x="2628900" y="2691169"/>
            <a:ext cx="449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51" idx="2"/>
            <a:endCxn id="20" idx="0"/>
          </p:cNvCxnSpPr>
          <p:nvPr/>
        </p:nvCxnSpPr>
        <p:spPr>
          <a:xfrm flipH="1">
            <a:off x="1943100" y="2691169"/>
            <a:ext cx="19812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51" idx="2"/>
            <a:endCxn id="14" idx="0"/>
          </p:cNvCxnSpPr>
          <p:nvPr/>
        </p:nvCxnSpPr>
        <p:spPr>
          <a:xfrm flipH="1">
            <a:off x="32385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51" idx="2"/>
            <a:endCxn id="26" idx="0"/>
          </p:cNvCxnSpPr>
          <p:nvPr/>
        </p:nvCxnSpPr>
        <p:spPr>
          <a:xfrm>
            <a:off x="39243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51" idx="2"/>
            <a:endCxn id="32" idx="0"/>
          </p:cNvCxnSpPr>
          <p:nvPr/>
        </p:nvCxnSpPr>
        <p:spPr>
          <a:xfrm>
            <a:off x="39243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51" idx="2"/>
            <a:endCxn id="38" idx="0"/>
          </p:cNvCxnSpPr>
          <p:nvPr/>
        </p:nvCxnSpPr>
        <p:spPr>
          <a:xfrm>
            <a:off x="3924300" y="2691169"/>
            <a:ext cx="32004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p:cNvCxnSpPr>
            <a:stCxn id="57" idx="2"/>
            <a:endCxn id="20" idx="0"/>
          </p:cNvCxnSpPr>
          <p:nvPr/>
        </p:nvCxnSpPr>
        <p:spPr>
          <a:xfrm flipH="1">
            <a:off x="1943100" y="2691169"/>
            <a:ext cx="3276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57" idx="2"/>
            <a:endCxn id="14" idx="0"/>
          </p:cNvCxnSpPr>
          <p:nvPr/>
        </p:nvCxnSpPr>
        <p:spPr>
          <a:xfrm flipH="1">
            <a:off x="3238500" y="2691169"/>
            <a:ext cx="19812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57" idx="2"/>
            <a:endCxn id="26" idx="0"/>
          </p:cNvCxnSpPr>
          <p:nvPr/>
        </p:nvCxnSpPr>
        <p:spPr>
          <a:xfrm flipH="1">
            <a:off x="45339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63" idx="2"/>
            <a:endCxn id="32" idx="0"/>
          </p:cNvCxnSpPr>
          <p:nvPr/>
        </p:nvCxnSpPr>
        <p:spPr>
          <a:xfrm flipH="1">
            <a:off x="5829300" y="2691169"/>
            <a:ext cx="6858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a:stCxn id="63" idx="2"/>
            <a:endCxn id="38" idx="0"/>
          </p:cNvCxnSpPr>
          <p:nvPr/>
        </p:nvCxnSpPr>
        <p:spPr>
          <a:xfrm>
            <a:off x="65151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a:stCxn id="63" idx="2"/>
          </p:cNvCxnSpPr>
          <p:nvPr/>
        </p:nvCxnSpPr>
        <p:spPr>
          <a:xfrm flipH="1">
            <a:off x="4648200" y="2691169"/>
            <a:ext cx="18669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p:cNvCxnSpPr>
            <a:stCxn id="57" idx="2"/>
            <a:endCxn id="38" idx="0"/>
          </p:cNvCxnSpPr>
          <p:nvPr/>
        </p:nvCxnSpPr>
        <p:spPr>
          <a:xfrm>
            <a:off x="5219700" y="2691169"/>
            <a:ext cx="1905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57" idx="2"/>
            <a:endCxn id="32" idx="0"/>
          </p:cNvCxnSpPr>
          <p:nvPr/>
        </p:nvCxnSpPr>
        <p:spPr>
          <a:xfrm>
            <a:off x="5219700" y="2691169"/>
            <a:ext cx="6096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63" idx="2"/>
            <a:endCxn id="20" idx="0"/>
          </p:cNvCxnSpPr>
          <p:nvPr/>
        </p:nvCxnSpPr>
        <p:spPr>
          <a:xfrm flipH="1">
            <a:off x="1943100" y="2691169"/>
            <a:ext cx="4572000" cy="1344454"/>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Facade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pic>
        <p:nvPicPr>
          <p:cNvPr id="21506" name="Picture 2"/>
          <p:cNvPicPr>
            <a:picLocks noChangeAspect="1" noChangeArrowheads="1"/>
          </p:cNvPicPr>
          <p:nvPr/>
        </p:nvPicPr>
        <p:blipFill>
          <a:blip r:embed="rId2" cstate="print"/>
          <a:srcRect/>
          <a:stretch>
            <a:fillRect/>
          </a:stretch>
        </p:blipFill>
        <p:spPr bwMode="auto">
          <a:xfrm>
            <a:off x="2438400" y="3505200"/>
            <a:ext cx="4610100" cy="2181225"/>
          </a:xfrm>
          <a:prstGeom prst="rect">
            <a:avLst/>
          </a:prstGeom>
          <a:noFill/>
          <a:ln w="9525">
            <a:noFill/>
            <a:miter lim="800000"/>
            <a:headEnd/>
            <a:tailEnd/>
          </a:ln>
        </p:spPr>
      </p:pic>
      <p:grpSp>
        <p:nvGrpSpPr>
          <p:cNvPr id="51" name="Group 41"/>
          <p:cNvGrpSpPr/>
          <p:nvPr/>
        </p:nvGrpSpPr>
        <p:grpSpPr>
          <a:xfrm>
            <a:off x="2133600" y="1905000"/>
            <a:ext cx="1143000" cy="484346"/>
            <a:chOff x="3352800" y="5316379"/>
            <a:chExt cx="1143000" cy="484346"/>
          </a:xfrm>
        </p:grpSpPr>
        <p:grpSp>
          <p:nvGrpSpPr>
            <p:cNvPr id="93" name="Group 18"/>
            <p:cNvGrpSpPr/>
            <p:nvPr/>
          </p:nvGrpSpPr>
          <p:grpSpPr>
            <a:xfrm>
              <a:off x="3352800" y="5343525"/>
              <a:ext cx="1143000" cy="457200"/>
              <a:chOff x="3352800" y="5343525"/>
              <a:chExt cx="914400" cy="457200"/>
            </a:xfrm>
          </p:grpSpPr>
          <p:sp>
            <p:nvSpPr>
              <p:cNvPr id="95" name="Rectangle 4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6" name="Straight Connector 9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4" name="TextBox 93"/>
            <p:cNvSpPr txBox="1"/>
            <p:nvPr/>
          </p:nvSpPr>
          <p:spPr>
            <a:xfrm>
              <a:off x="3352800" y="5316379"/>
              <a:ext cx="1143000" cy="246221"/>
            </a:xfrm>
            <a:prstGeom prst="rect">
              <a:avLst/>
            </a:prstGeom>
            <a:noFill/>
          </p:spPr>
          <p:txBody>
            <a:bodyPr wrap="square" rtlCol="0">
              <a:spAutoFit/>
            </a:bodyPr>
            <a:lstStyle/>
            <a:p>
              <a:pPr algn="ctr"/>
              <a:r>
                <a:rPr lang="en-US" sz="1000" dirty="0" smtClean="0"/>
                <a:t>Client1</a:t>
              </a:r>
              <a:endParaRPr lang="en-US" sz="1000" dirty="0"/>
            </a:p>
          </p:txBody>
        </p:sp>
      </p:grpSp>
      <p:grpSp>
        <p:nvGrpSpPr>
          <p:cNvPr id="52" name="Group 47"/>
          <p:cNvGrpSpPr/>
          <p:nvPr/>
        </p:nvGrpSpPr>
        <p:grpSpPr>
          <a:xfrm>
            <a:off x="3429000" y="1905000"/>
            <a:ext cx="1143000" cy="484346"/>
            <a:chOff x="3352800" y="5316379"/>
            <a:chExt cx="1143000" cy="484346"/>
          </a:xfrm>
        </p:grpSpPr>
        <p:grpSp>
          <p:nvGrpSpPr>
            <p:cNvPr id="88" name="Group 18"/>
            <p:cNvGrpSpPr/>
            <p:nvPr/>
          </p:nvGrpSpPr>
          <p:grpSpPr>
            <a:xfrm>
              <a:off x="3352800" y="5343525"/>
              <a:ext cx="1143000" cy="457200"/>
              <a:chOff x="3352800" y="5343525"/>
              <a:chExt cx="914400" cy="457200"/>
            </a:xfrm>
          </p:grpSpPr>
          <p:sp>
            <p:nvSpPr>
              <p:cNvPr id="90" name="Rectangle 89"/>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9" name="TextBox 88"/>
            <p:cNvSpPr txBox="1"/>
            <p:nvPr/>
          </p:nvSpPr>
          <p:spPr>
            <a:xfrm>
              <a:off x="3352800" y="5316379"/>
              <a:ext cx="1143000" cy="246221"/>
            </a:xfrm>
            <a:prstGeom prst="rect">
              <a:avLst/>
            </a:prstGeom>
            <a:noFill/>
          </p:spPr>
          <p:txBody>
            <a:bodyPr wrap="square" rtlCol="0">
              <a:spAutoFit/>
            </a:bodyPr>
            <a:lstStyle/>
            <a:p>
              <a:pPr algn="ctr"/>
              <a:r>
                <a:rPr lang="en-US" sz="1000" dirty="0" smtClean="0"/>
                <a:t>Client2</a:t>
              </a:r>
              <a:endParaRPr lang="en-US" sz="1000" dirty="0"/>
            </a:p>
          </p:txBody>
        </p:sp>
      </p:grpSp>
      <p:grpSp>
        <p:nvGrpSpPr>
          <p:cNvPr id="53" name="Group 53"/>
          <p:cNvGrpSpPr/>
          <p:nvPr/>
        </p:nvGrpSpPr>
        <p:grpSpPr>
          <a:xfrm>
            <a:off x="4724400" y="1905000"/>
            <a:ext cx="1143000" cy="484346"/>
            <a:chOff x="3352800" y="5316379"/>
            <a:chExt cx="1143000" cy="484346"/>
          </a:xfrm>
        </p:grpSpPr>
        <p:grpSp>
          <p:nvGrpSpPr>
            <p:cNvPr id="83" name="Group 18"/>
            <p:cNvGrpSpPr/>
            <p:nvPr/>
          </p:nvGrpSpPr>
          <p:grpSpPr>
            <a:xfrm>
              <a:off x="3352800" y="5343525"/>
              <a:ext cx="1143000" cy="457200"/>
              <a:chOff x="3352800" y="5343525"/>
              <a:chExt cx="914400" cy="457200"/>
            </a:xfrm>
          </p:grpSpPr>
          <p:sp>
            <p:nvSpPr>
              <p:cNvPr id="85" name="Rectangle 84"/>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4" name="TextBox 83"/>
            <p:cNvSpPr txBox="1"/>
            <p:nvPr/>
          </p:nvSpPr>
          <p:spPr>
            <a:xfrm>
              <a:off x="3352800" y="5316379"/>
              <a:ext cx="1143000" cy="246221"/>
            </a:xfrm>
            <a:prstGeom prst="rect">
              <a:avLst/>
            </a:prstGeom>
            <a:noFill/>
          </p:spPr>
          <p:txBody>
            <a:bodyPr wrap="square" rtlCol="0">
              <a:spAutoFit/>
            </a:bodyPr>
            <a:lstStyle/>
            <a:p>
              <a:pPr algn="ctr"/>
              <a:r>
                <a:rPr lang="en-US" sz="1000" dirty="0" smtClean="0"/>
                <a:t>Client3</a:t>
              </a:r>
              <a:endParaRPr lang="en-US" sz="1000" dirty="0"/>
            </a:p>
          </p:txBody>
        </p:sp>
      </p:grpSp>
      <p:grpSp>
        <p:nvGrpSpPr>
          <p:cNvPr id="54" name="Group 59"/>
          <p:cNvGrpSpPr/>
          <p:nvPr/>
        </p:nvGrpSpPr>
        <p:grpSpPr>
          <a:xfrm>
            <a:off x="6019800" y="1905000"/>
            <a:ext cx="1143000" cy="484346"/>
            <a:chOff x="3352800" y="5316379"/>
            <a:chExt cx="1143000" cy="484346"/>
          </a:xfrm>
        </p:grpSpPr>
        <p:grpSp>
          <p:nvGrpSpPr>
            <p:cNvPr id="78" name="Group 18"/>
            <p:cNvGrpSpPr/>
            <p:nvPr/>
          </p:nvGrpSpPr>
          <p:grpSpPr>
            <a:xfrm>
              <a:off x="3352800" y="5343525"/>
              <a:ext cx="1143000" cy="457200"/>
              <a:chOff x="3352800" y="5343525"/>
              <a:chExt cx="914400" cy="457200"/>
            </a:xfrm>
          </p:grpSpPr>
          <p:sp>
            <p:nvSpPr>
              <p:cNvPr id="80" name="Rectangle 79"/>
              <p:cNvSpPr/>
              <p:nvPr/>
            </p:nvSpPr>
            <p:spPr>
              <a:xfrm>
                <a:off x="3352800" y="5343525"/>
                <a:ext cx="9144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p:cNvCxnSpPr/>
              <p:nvPr/>
            </p:nvCxnSpPr>
            <p:spPr>
              <a:xfrm>
                <a:off x="3352800" y="555307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3352800" y="5648325"/>
                <a:ext cx="9144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9" name="TextBox 78"/>
            <p:cNvSpPr txBox="1"/>
            <p:nvPr/>
          </p:nvSpPr>
          <p:spPr>
            <a:xfrm>
              <a:off x="3352800" y="5316379"/>
              <a:ext cx="1143000" cy="246221"/>
            </a:xfrm>
            <a:prstGeom prst="rect">
              <a:avLst/>
            </a:prstGeom>
            <a:noFill/>
          </p:spPr>
          <p:txBody>
            <a:bodyPr wrap="square" rtlCol="0">
              <a:spAutoFit/>
            </a:bodyPr>
            <a:lstStyle/>
            <a:p>
              <a:pPr algn="ctr"/>
              <a:r>
                <a:rPr lang="en-US" sz="1000" dirty="0" smtClean="0"/>
                <a:t>Client4</a:t>
              </a:r>
              <a:endParaRPr lang="en-US" sz="1000" dirty="0"/>
            </a:p>
          </p:txBody>
        </p:sp>
      </p:grpSp>
      <p:sp>
        <p:nvSpPr>
          <p:cNvPr id="55" name="Rectangle 54"/>
          <p:cNvSpPr/>
          <p:nvPr/>
        </p:nvSpPr>
        <p:spPr>
          <a:xfrm>
            <a:off x="1676400" y="1447800"/>
            <a:ext cx="5943600" cy="11430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p:cNvSpPr txBox="1"/>
          <p:nvPr/>
        </p:nvSpPr>
        <p:spPr>
          <a:xfrm>
            <a:off x="1676400" y="1447800"/>
            <a:ext cx="5943600" cy="307777"/>
          </a:xfrm>
          <a:prstGeom prst="rect">
            <a:avLst/>
          </a:prstGeom>
          <a:noFill/>
        </p:spPr>
        <p:txBody>
          <a:bodyPr wrap="square" rtlCol="0">
            <a:spAutoFit/>
          </a:bodyPr>
          <a:lstStyle/>
          <a:p>
            <a:pPr algn="ctr"/>
            <a:r>
              <a:rPr lang="en-US" sz="1400" dirty="0" smtClean="0"/>
              <a:t>User Interface Subsystem</a:t>
            </a:r>
            <a:endParaRPr lang="en-US" sz="1400" dirty="0"/>
          </a:p>
        </p:txBody>
      </p:sp>
      <p:sp>
        <p:nvSpPr>
          <p:cNvPr id="123" name="Rectangle 122"/>
          <p:cNvSpPr/>
          <p:nvPr/>
        </p:nvSpPr>
        <p:spPr>
          <a:xfrm>
            <a:off x="2247900" y="3733800"/>
            <a:ext cx="1371600" cy="76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hape 127"/>
          <p:cNvCxnSpPr>
            <a:stCxn id="95" idx="2"/>
            <a:endCxn id="123" idx="3"/>
          </p:cNvCxnSpPr>
          <p:nvPr/>
        </p:nvCxnSpPr>
        <p:spPr>
          <a:xfrm rot="16200000" flipH="1">
            <a:off x="2299573" y="2794873"/>
            <a:ext cx="1725454" cy="914400"/>
          </a:xfrm>
          <a:prstGeom prst="bentConnector4">
            <a:avLst>
              <a:gd name="adj1" fmla="val 38959"/>
              <a:gd name="adj2" fmla="val 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Elbow Connector 130"/>
          <p:cNvCxnSpPr/>
          <p:nvPr/>
        </p:nvCxnSpPr>
        <p:spPr>
          <a:xfrm rot="16200000" flipH="1">
            <a:off x="3599736" y="2791539"/>
            <a:ext cx="1087279" cy="361950"/>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4" name="Elbow Connector 133"/>
          <p:cNvCxnSpPr>
            <a:stCxn id="85" idx="2"/>
            <a:endCxn id="21506" idx="0"/>
          </p:cNvCxnSpPr>
          <p:nvPr/>
        </p:nvCxnSpPr>
        <p:spPr>
          <a:xfrm rot="5400000">
            <a:off x="4461748" y="2671048"/>
            <a:ext cx="1115854" cy="552450"/>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6" name="Rectangle 145"/>
          <p:cNvSpPr/>
          <p:nvPr/>
        </p:nvSpPr>
        <p:spPr>
          <a:xfrm>
            <a:off x="5791200" y="3505200"/>
            <a:ext cx="15240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8" name="Shape 147"/>
          <p:cNvCxnSpPr>
            <a:stCxn id="80" idx="2"/>
            <a:endCxn id="146" idx="1"/>
          </p:cNvCxnSpPr>
          <p:nvPr/>
        </p:nvCxnSpPr>
        <p:spPr>
          <a:xfrm rot="5400000">
            <a:off x="5385673" y="2794873"/>
            <a:ext cx="1611154" cy="800100"/>
          </a:xfrm>
          <a:prstGeom prst="bentConnector4">
            <a:avLst>
              <a:gd name="adj1" fmla="val 34629"/>
              <a:gd name="adj2" fmla="val 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0" name="TextBox 149"/>
          <p:cNvSpPr txBox="1"/>
          <p:nvPr/>
        </p:nvSpPr>
        <p:spPr>
          <a:xfrm>
            <a:off x="6629400" y="4267200"/>
            <a:ext cx="1219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Facade</a:t>
            </a:r>
            <a:endParaRPr lang="en-US" sz="1200" b="1" dirty="0">
              <a:solidFill>
                <a:srgbClr val="C00000"/>
              </a:solidFill>
              <a:latin typeface="Bradley Hand ITC" pitchFamily="66" charset="0"/>
            </a:endParaRPr>
          </a:p>
        </p:txBody>
      </p:sp>
      <p:sp>
        <p:nvSpPr>
          <p:cNvPr id="151" name="Freeform 150"/>
          <p:cNvSpPr/>
          <p:nvPr/>
        </p:nvSpPr>
        <p:spPr>
          <a:xfrm>
            <a:off x="5848350" y="4495800"/>
            <a:ext cx="1114425" cy="125412"/>
          </a:xfrm>
          <a:custGeom>
            <a:avLst/>
            <a:gdLst>
              <a:gd name="connsiteX0" fmla="*/ 1114425 w 1114425"/>
              <a:gd name="connsiteY0" fmla="*/ 9525 h 125412"/>
              <a:gd name="connsiteX1" fmla="*/ 485775 w 1114425"/>
              <a:gd name="connsiteY1" fmla="*/ 123825 h 125412"/>
              <a:gd name="connsiteX2" fmla="*/ 0 w 1114425"/>
              <a:gd name="connsiteY2" fmla="*/ 0 h 125412"/>
            </a:gdLst>
            <a:ahLst/>
            <a:cxnLst>
              <a:cxn ang="0">
                <a:pos x="connsiteX0" y="connsiteY0"/>
              </a:cxn>
              <a:cxn ang="0">
                <a:pos x="connsiteX1" y="connsiteY1"/>
              </a:cxn>
              <a:cxn ang="0">
                <a:pos x="connsiteX2" y="connsiteY2"/>
              </a:cxn>
            </a:cxnLst>
            <a:rect l="l" t="t" r="r" b="b"/>
            <a:pathLst>
              <a:path w="1114425" h="125412">
                <a:moveTo>
                  <a:pt x="1114425" y="9525"/>
                </a:moveTo>
                <a:cubicBezTo>
                  <a:pt x="892968" y="67468"/>
                  <a:pt x="671512" y="125412"/>
                  <a:pt x="485775" y="123825"/>
                </a:cubicBezTo>
                <a:cubicBezTo>
                  <a:pt x="300038" y="122238"/>
                  <a:pt x="150019" y="6111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92162"/>
          </a:xfrm>
        </p:spPr>
        <p:txBody>
          <a:bodyPr/>
          <a:lstStyle/>
          <a:p>
            <a:r>
              <a:rPr lang="en-US" dirty="0" smtClean="0"/>
              <a:t>Facade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pic>
        <p:nvPicPr>
          <p:cNvPr id="23554" name="Picture 2"/>
          <p:cNvPicPr>
            <a:picLocks noChangeAspect="1" noChangeArrowheads="1"/>
          </p:cNvPicPr>
          <p:nvPr/>
        </p:nvPicPr>
        <p:blipFill>
          <a:blip r:embed="rId2" cstate="print"/>
          <a:srcRect/>
          <a:stretch>
            <a:fillRect/>
          </a:stretch>
        </p:blipFill>
        <p:spPr bwMode="auto">
          <a:xfrm>
            <a:off x="2743200" y="1143000"/>
            <a:ext cx="5219700" cy="5219700"/>
          </a:xfrm>
          <a:prstGeom prst="rect">
            <a:avLst/>
          </a:prstGeom>
          <a:noFill/>
          <a:ln w="9525">
            <a:noFill/>
            <a:miter lim="800000"/>
            <a:headEnd/>
            <a:tailEnd/>
          </a:ln>
        </p:spPr>
      </p:pic>
      <p:sp>
        <p:nvSpPr>
          <p:cNvPr id="7" name="TextBox 6"/>
          <p:cNvSpPr txBox="1"/>
          <p:nvPr/>
        </p:nvSpPr>
        <p:spPr>
          <a:xfrm>
            <a:off x="457200" y="3200400"/>
            <a:ext cx="2133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Façade hides all of these details and dependencies from clients, therefore simplifying the client side.</a:t>
            </a:r>
            <a:endParaRPr lang="en-US" sz="1200" b="1" dirty="0">
              <a:solidFill>
                <a:srgbClr val="C00000"/>
              </a:solidFill>
              <a:latin typeface="Bradley Hand ITC" pitchFamily="66" charset="0"/>
            </a:endParaRPr>
          </a:p>
        </p:txBody>
      </p:sp>
      <p:sp>
        <p:nvSpPr>
          <p:cNvPr id="9" name="Left Brace 8"/>
          <p:cNvSpPr/>
          <p:nvPr/>
        </p:nvSpPr>
        <p:spPr>
          <a:xfrm>
            <a:off x="2590800" y="1447800"/>
            <a:ext cx="304800" cy="4648200"/>
          </a:xfrm>
          <a:prstGeom prst="leftBrace">
            <a:avLst/>
          </a:prstGeom>
          <a:solidFill>
            <a:schemeClr val="bg1"/>
          </a:solidFill>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Facade Design Pattern</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10000"/>
          </a:bodyPr>
          <a:lstStyle/>
          <a:p>
            <a:r>
              <a:rPr lang="en-US" dirty="0" smtClean="0"/>
              <a:t>The step-by-step procedure for applying the Facade design pattern include:</a:t>
            </a:r>
          </a:p>
          <a:p>
            <a:pPr marL="800100" lvl="1" indent="-342900">
              <a:buFont typeface="+mj-lt"/>
              <a:buAutoNum type="arabicPeriod"/>
            </a:pPr>
            <a:r>
              <a:rPr lang="en-US" dirty="0" smtClean="0"/>
              <a:t>Identify all components involved in carrying out a subsystem operation</a:t>
            </a:r>
          </a:p>
          <a:p>
            <a:pPr marL="800100" lvl="1" indent="-342900">
              <a:buFont typeface="+mj-lt"/>
              <a:buAutoNum type="arabicPeriod"/>
            </a:pPr>
            <a:r>
              <a:rPr lang="en-US" dirty="0" smtClean="0"/>
              <a:t>Create an ordered list of the operations required to execute the subsystem operation.</a:t>
            </a:r>
          </a:p>
          <a:p>
            <a:pPr marL="800100" lvl="1" indent="-342900">
              <a:buFont typeface="+mj-lt"/>
              <a:buAutoNum type="arabicPeriod"/>
            </a:pPr>
            <a:r>
              <a:rPr lang="en-US" dirty="0" smtClean="0"/>
              <a:t>Design a Facade class that includes an interface method to carry out the subsystem operation.  The Facade class has dependencies to all other subsystem components required to carry out the subsystem operation.</a:t>
            </a:r>
          </a:p>
          <a:p>
            <a:pPr marL="800100" lvl="1" indent="-342900">
              <a:buFont typeface="+mj-lt"/>
              <a:buAutoNum type="arabicPeriod"/>
            </a:pPr>
            <a:r>
              <a:rPr lang="en-US" dirty="0" smtClean="0"/>
              <a:t>Implement the Facade interface method by calling operations on one or more subsystem components, in the order identified in step 2.</a:t>
            </a:r>
          </a:p>
          <a:p>
            <a:pPr marL="800100" lvl="1" indent="-342900">
              <a:buFont typeface="+mj-lt"/>
              <a:buAutoNum type="arabicPeriod"/>
            </a:pPr>
            <a:r>
              <a:rPr lang="en-US" dirty="0" smtClean="0"/>
              <a:t>Allow one ore more clients to access the objects of the Facade type so that they can gain access to the subsystem operation.  This creates a many-to-one relationship between external subsystems and the Facade interface, instead of many-to-many relationships.</a:t>
            </a:r>
          </a:p>
          <a:p>
            <a:endParaRPr lang="en-US" dirty="0" smtClean="0"/>
          </a:p>
          <a:p>
            <a:r>
              <a:rPr lang="en-US" dirty="0" smtClean="0"/>
              <a:t>Benefits of the Facade design pattern include:</a:t>
            </a:r>
          </a:p>
          <a:p>
            <a:pPr lvl="1"/>
            <a:r>
              <a:rPr lang="en-US" dirty="0" smtClean="0"/>
              <a:t>Shields clients from knowing the internals of complex subsystem, therefore minimizing complexity in clients.</a:t>
            </a:r>
          </a:p>
          <a:p>
            <a:pPr lvl="1"/>
            <a:r>
              <a:rPr lang="en-US" dirty="0" smtClean="0"/>
              <a:t>Since the internals of the subsystem are prone to change, the facade provides a stable interface that hides changes to internal subsystems; therefore, client code is more stable.</a:t>
            </a:r>
          </a:p>
          <a:p>
            <a:pPr lvl="1"/>
            <a:r>
              <a:rPr lang="en-US" dirty="0" smtClean="0"/>
              <a:t>Promotes weak coupling on clients; with facade, clients depend only on one interface instead of multiple interfaces.</a:t>
            </a:r>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structural design patterns, including:</a:t>
            </a:r>
          </a:p>
          <a:p>
            <a:pPr lvl="1"/>
            <a:r>
              <a:rPr lang="en-US" dirty="0" smtClean="0"/>
              <a:t>Adapter</a:t>
            </a:r>
          </a:p>
          <a:p>
            <a:pPr lvl="1"/>
            <a:r>
              <a:rPr lang="en-US" dirty="0" smtClean="0"/>
              <a:t>Composite</a:t>
            </a:r>
          </a:p>
          <a:p>
            <a:pPr lvl="1"/>
            <a:r>
              <a:rPr lang="en-US" dirty="0" smtClean="0"/>
              <a:t>Facade</a:t>
            </a:r>
          </a:p>
          <a:p>
            <a:pPr lvl="1">
              <a:buNone/>
            </a:pPr>
            <a:endParaRPr lang="en-US" dirty="0" smtClean="0"/>
          </a:p>
          <a:p>
            <a:r>
              <a:rPr lang="en-US" dirty="0" smtClean="0"/>
              <a:t>The next session continues the discussion on patterns by presenting a different category of design patterns capable of encapsulating behavior.  These behavioral patterns include:</a:t>
            </a:r>
          </a:p>
          <a:p>
            <a:pPr lvl="1"/>
            <a:r>
              <a:rPr lang="en-US" dirty="0" err="1" smtClean="0"/>
              <a:t>Iterator</a:t>
            </a:r>
            <a:endParaRPr lang="en-US" dirty="0" smtClean="0"/>
          </a:p>
          <a:p>
            <a:pPr lvl="1"/>
            <a:r>
              <a:rPr lang="en-US" dirty="0" smtClean="0"/>
              <a:t>Observer</a:t>
            </a:r>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17/11/2013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12767</TotalTime>
  <Words>2234</Words>
  <Application>Microsoft Office PowerPoint</Application>
  <PresentationFormat>On-screen Show (4:3)</PresentationFormat>
  <Paragraphs>284</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UVa-Wise-Clean-BW</vt:lpstr>
      <vt:lpstr>Chapter 7: Structural and Behavioral  Design Patterns</vt:lpstr>
      <vt:lpstr>Session’s Agenda</vt:lpstr>
      <vt:lpstr>Structural Design Patterns</vt:lpstr>
      <vt:lpstr>Adapter Design Pattern</vt:lpstr>
      <vt:lpstr>Adapter Design Pattern Example</vt:lpstr>
      <vt:lpstr>Adapter Design Pattern Example</vt:lpstr>
      <vt:lpstr>Adapter Design Pattern Example</vt:lpstr>
      <vt:lpstr>Adapter Design Pattern Example</vt:lpstr>
      <vt:lpstr>Adapter Design Pattern Example</vt:lpstr>
      <vt:lpstr>Adapter Design Pattern Example</vt:lpstr>
      <vt:lpstr>Adapter Design Pattern</vt:lpstr>
      <vt:lpstr>Composite Design Pattern</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 Example</vt:lpstr>
      <vt:lpstr>Composite Design Pattern</vt:lpstr>
      <vt:lpstr>Facade Design Pattern</vt:lpstr>
      <vt:lpstr>Facade Design Pattern Example</vt:lpstr>
      <vt:lpstr>Facade Design Pattern Example</vt:lpstr>
      <vt:lpstr>Facade Design Pattern Example</vt:lpstr>
      <vt:lpstr>Facade Design Pattern Example</vt:lpstr>
      <vt:lpstr>Facade Design Pattern</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1059</cp:revision>
  <dcterms:created xsi:type="dcterms:W3CDTF">2006-08-16T00:00:00Z</dcterms:created>
  <dcterms:modified xsi:type="dcterms:W3CDTF">2013-11-17T03:46:45Z</dcterms:modified>
</cp:coreProperties>
</file>
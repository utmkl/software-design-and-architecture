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handoutMasterIdLst>
    <p:handoutMasterId r:id="rId29"/>
  </p:handoutMasterIdLst>
  <p:sldIdLst>
    <p:sldId id="256" r:id="rId2"/>
    <p:sldId id="341" r:id="rId3"/>
    <p:sldId id="353" r:id="rId4"/>
    <p:sldId id="386" r:id="rId5"/>
    <p:sldId id="397" r:id="rId6"/>
    <p:sldId id="395" r:id="rId7"/>
    <p:sldId id="401" r:id="rId8"/>
    <p:sldId id="398" r:id="rId9"/>
    <p:sldId id="399" r:id="rId10"/>
    <p:sldId id="400" r:id="rId11"/>
    <p:sldId id="402" r:id="rId12"/>
    <p:sldId id="396" r:id="rId13"/>
    <p:sldId id="406" r:id="rId14"/>
    <p:sldId id="407" r:id="rId15"/>
    <p:sldId id="403" r:id="rId16"/>
    <p:sldId id="404" r:id="rId17"/>
    <p:sldId id="405" r:id="rId18"/>
    <p:sldId id="411" r:id="rId19"/>
    <p:sldId id="412" r:id="rId20"/>
    <p:sldId id="393" r:id="rId21"/>
    <p:sldId id="413" r:id="rId22"/>
    <p:sldId id="409" r:id="rId23"/>
    <p:sldId id="410" r:id="rId24"/>
    <p:sldId id="414" r:id="rId25"/>
    <p:sldId id="352" r:id="rId26"/>
    <p:sldId id="385" r:id="rId27"/>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2017" autoAdjust="0"/>
    <p:restoredTop sz="96835" autoAdjust="0"/>
  </p:normalViewPr>
  <p:slideViewPr>
    <p:cSldViewPr>
      <p:cViewPr>
        <p:scale>
          <a:sx n="100" d="100"/>
          <a:sy n="100" d="100"/>
        </p:scale>
        <p:origin x="-18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8145" cy="464205"/>
          </a:xfrm>
          <a:prstGeom prst="rect">
            <a:avLst/>
          </a:prstGeom>
        </p:spPr>
        <p:txBody>
          <a:bodyPr vert="horz" lIns="88139" tIns="44070" rIns="88139" bIns="44070" rtlCol="0"/>
          <a:lstStyle>
            <a:lvl1pPr algn="l">
              <a:defRPr sz="1200"/>
            </a:lvl1pPr>
          </a:lstStyle>
          <a:p>
            <a:endParaRPr lang="en-US"/>
          </a:p>
        </p:txBody>
      </p:sp>
      <p:sp>
        <p:nvSpPr>
          <p:cNvPr id="3" name="Date Placeholder 2"/>
          <p:cNvSpPr>
            <a:spLocks noGrp="1"/>
          </p:cNvSpPr>
          <p:nvPr>
            <p:ph type="dt" sz="quarter" idx="1"/>
          </p:nvPr>
        </p:nvSpPr>
        <p:spPr>
          <a:xfrm>
            <a:off x="3970734" y="1"/>
            <a:ext cx="3038145" cy="464205"/>
          </a:xfrm>
          <a:prstGeom prst="rect">
            <a:avLst/>
          </a:prstGeom>
        </p:spPr>
        <p:txBody>
          <a:bodyPr vert="horz" lIns="88139" tIns="44070" rIns="88139" bIns="44070" rtlCol="0"/>
          <a:lstStyle>
            <a:lvl1pPr algn="r">
              <a:defRPr sz="1200"/>
            </a:lvl1pPr>
          </a:lstStyle>
          <a:p>
            <a:fld id="{26E96256-41CF-4671-AFBD-B3C5DBE5BCD7}" type="datetimeFigureOut">
              <a:rPr lang="en-US" smtClean="0"/>
              <a:pPr/>
              <a:t>5/13/2013</a:t>
            </a:fld>
            <a:endParaRPr lang="en-US"/>
          </a:p>
        </p:txBody>
      </p:sp>
      <p:sp>
        <p:nvSpPr>
          <p:cNvPr id="4" name="Footer Placeholder 3"/>
          <p:cNvSpPr>
            <a:spLocks noGrp="1"/>
          </p:cNvSpPr>
          <p:nvPr>
            <p:ph type="ftr" sz="quarter" idx="2"/>
          </p:nvPr>
        </p:nvSpPr>
        <p:spPr>
          <a:xfrm>
            <a:off x="0" y="8830659"/>
            <a:ext cx="3038145" cy="464205"/>
          </a:xfrm>
          <a:prstGeom prst="rect">
            <a:avLst/>
          </a:prstGeom>
        </p:spPr>
        <p:txBody>
          <a:bodyPr vert="horz" lIns="88139" tIns="44070" rIns="88139" bIns="44070" rtlCol="0" anchor="b"/>
          <a:lstStyle>
            <a:lvl1pPr algn="l">
              <a:defRPr sz="1200"/>
            </a:lvl1pPr>
          </a:lstStyle>
          <a:p>
            <a:endParaRPr lang="en-US"/>
          </a:p>
        </p:txBody>
      </p:sp>
      <p:sp>
        <p:nvSpPr>
          <p:cNvPr id="5" name="Slide Number Placeholder 4"/>
          <p:cNvSpPr>
            <a:spLocks noGrp="1"/>
          </p:cNvSpPr>
          <p:nvPr>
            <p:ph type="sldNum" sz="quarter" idx="3"/>
          </p:nvPr>
        </p:nvSpPr>
        <p:spPr>
          <a:xfrm>
            <a:off x="3970734" y="8830659"/>
            <a:ext cx="3038145" cy="464205"/>
          </a:xfrm>
          <a:prstGeom prst="rect">
            <a:avLst/>
          </a:prstGeom>
        </p:spPr>
        <p:txBody>
          <a:bodyPr vert="horz" lIns="88139" tIns="44070" rIns="88139" bIns="44070" rtlCol="0" anchor="b"/>
          <a:lstStyle>
            <a:lvl1pPr algn="r">
              <a:defRPr sz="1200"/>
            </a:lvl1pPr>
          </a:lstStyle>
          <a:p>
            <a:fld id="{7B0AF5A9-246F-454B-A86E-D7AAB8A76C8C}" type="slidenum">
              <a:rPr lang="en-US" smtClean="0"/>
              <a:pPr/>
              <a:t>‹#›</a:t>
            </a:fld>
            <a:endParaRPr lang="en-US"/>
          </a:p>
        </p:txBody>
      </p:sp>
    </p:spTree>
    <p:extLst>
      <p:ext uri="{BB962C8B-B14F-4D97-AF65-F5344CB8AC3E}">
        <p14:creationId xmlns="" xmlns:p14="http://schemas.microsoft.com/office/powerpoint/2010/main" val="39219871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2" tIns="46586" rIns="93172" bIns="46586" rtlCol="0"/>
          <a:lstStyle>
            <a:lvl1pPr algn="l">
              <a:defRPr sz="13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2" tIns="46586" rIns="93172" bIns="46586" rtlCol="0"/>
          <a:lstStyle>
            <a:lvl1pPr algn="r">
              <a:defRPr sz="1300"/>
            </a:lvl1pPr>
          </a:lstStyle>
          <a:p>
            <a:fld id="{49B3061A-7F4E-4E3A-A627-E1FC384385A9}" type="datetimeFigureOut">
              <a:rPr lang="en-US" smtClean="0"/>
              <a:pPr/>
              <a:t>5/13/2013</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72" tIns="46586" rIns="93172" bIns="46586"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2" tIns="46586" rIns="93172" bIns="46586"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2" tIns="46586" rIns="93172" bIns="46586" rtlCol="0" anchor="b"/>
          <a:lstStyle>
            <a:lvl1pPr algn="l">
              <a:defRPr sz="13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2" tIns="46586" rIns="93172" bIns="46586" rtlCol="0" anchor="b"/>
          <a:lstStyle>
            <a:lvl1pPr algn="r">
              <a:defRPr sz="1300"/>
            </a:lvl1pPr>
          </a:lstStyle>
          <a:p>
            <a:fld id="{C58D7772-57C4-43FE-B30D-FBB40B6BD3DC}" type="slidenum">
              <a:rPr lang="en-US" smtClean="0"/>
              <a:pPr/>
              <a:t>‹#›</a:t>
            </a:fld>
            <a:endParaRPr lang="en-US"/>
          </a:p>
        </p:txBody>
      </p:sp>
    </p:spTree>
    <p:extLst>
      <p:ext uri="{BB962C8B-B14F-4D97-AF65-F5344CB8AC3E}">
        <p14:creationId xmlns="" xmlns:p14="http://schemas.microsoft.com/office/powerpoint/2010/main" val="2067202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As already stated, personality dimensions are defined by groups of traits and can provide an understanding of leadership in individuals.  A different approach to studying personality dimensions is to investigate common individual traits that effective leaders possess, without grouping traits into personality dimensions. </a:t>
            </a:r>
            <a:endParaRPr lang="en-US" dirty="0"/>
          </a:p>
        </p:txBody>
      </p:sp>
      <p:sp>
        <p:nvSpPr>
          <p:cNvPr id="4" name="Slide Number Placeholder 3"/>
          <p:cNvSpPr>
            <a:spLocks noGrp="1"/>
          </p:cNvSpPr>
          <p:nvPr>
            <p:ph type="sldNum" sz="quarter" idx="10"/>
          </p:nvPr>
        </p:nvSpPr>
        <p:spPr/>
        <p:txBody>
          <a:bodyPr/>
          <a:lstStyle/>
          <a:p>
            <a:fld id="{C58D7772-57C4-43FE-B30D-FBB40B6BD3DC}" type="slidenum">
              <a:rPr lang="en-US" smtClean="0"/>
              <a:pPr/>
              <a:t>8</a:t>
            </a:fld>
            <a:endParaRPr lang="en-US"/>
          </a:p>
        </p:txBody>
      </p:sp>
    </p:spTree>
    <p:extLst>
      <p:ext uri="{BB962C8B-B14F-4D97-AF65-F5344CB8AC3E}">
        <p14:creationId xmlns="" xmlns:p14="http://schemas.microsoft.com/office/powerpoint/2010/main" val="10469933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smtClean="0"/>
              <a:t>Focus on a higher purpose while going through the decision process that involves moral behavior.  </a:t>
            </a:r>
          </a:p>
          <a:p>
            <a:pPr lvl="1"/>
            <a:r>
              <a:rPr lang="en-US" dirty="0" smtClean="0"/>
              <a:t>For example, assume that the design lead of a major top secret software project is approached by a foreign citizen with a proposition to sell the software design and other important documents to an enemy country.  If focused on the safety of the people (i.e., the higher purpose), then ethical values will provide the answer of not accepting the offer and reporting the foreign person to the authorities.</a:t>
            </a:r>
          </a:p>
          <a:p>
            <a:pPr lvl="1"/>
            <a:endParaRPr lang="en-US" dirty="0" smtClean="0"/>
          </a:p>
          <a:p>
            <a:pPr lvl="0"/>
            <a:endParaRPr lang="en-US" dirty="0" smtClean="0"/>
          </a:p>
        </p:txBody>
      </p:sp>
      <p:sp>
        <p:nvSpPr>
          <p:cNvPr id="4" name="Slide Number Placeholder 3"/>
          <p:cNvSpPr>
            <a:spLocks noGrp="1"/>
          </p:cNvSpPr>
          <p:nvPr>
            <p:ph type="sldNum" sz="quarter" idx="10"/>
          </p:nvPr>
        </p:nvSpPr>
        <p:spPr/>
        <p:txBody>
          <a:bodyPr/>
          <a:lstStyle/>
          <a:p>
            <a:fld id="{C58D7772-57C4-43FE-B30D-FBB40B6BD3DC}" type="slidenum">
              <a:rPr lang="en-US" smtClean="0"/>
              <a:pPr/>
              <a:t>9</a:t>
            </a:fld>
            <a:endParaRPr lang="en-US"/>
          </a:p>
        </p:txBody>
      </p:sp>
    </p:spTree>
    <p:extLst>
      <p:ext uri="{BB962C8B-B14F-4D97-AF65-F5344CB8AC3E}">
        <p14:creationId xmlns="" xmlns:p14="http://schemas.microsoft.com/office/powerpoint/2010/main" val="25824928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Leading is about influencing others. </a:t>
            </a:r>
          </a:p>
          <a:p>
            <a:endParaRPr lang="en-US" dirty="0" smtClean="0"/>
          </a:p>
          <a:p>
            <a:r>
              <a:rPr lang="en-US" dirty="0" smtClean="0"/>
              <a:t>REWARD POWER: Employees will be influenced to complete their corresponding assignments because of their manager’s reward power to provide good performance evaluations. </a:t>
            </a:r>
          </a:p>
          <a:p>
            <a:r>
              <a:rPr lang="en-US" dirty="0" smtClean="0"/>
              <a:t>COERCIVE POWER: Employees can be influenced to complete their corresponding assignments because of their manager’s coercive power to provide bad performance evaluations and withhold salary increases</a:t>
            </a:r>
            <a:endParaRPr lang="en-US" dirty="0"/>
          </a:p>
        </p:txBody>
      </p:sp>
      <p:sp>
        <p:nvSpPr>
          <p:cNvPr id="4" name="Slide Number Placeholder 3"/>
          <p:cNvSpPr>
            <a:spLocks noGrp="1"/>
          </p:cNvSpPr>
          <p:nvPr>
            <p:ph type="sldNum" sz="quarter" idx="10"/>
          </p:nvPr>
        </p:nvSpPr>
        <p:spPr/>
        <p:txBody>
          <a:bodyPr/>
          <a:lstStyle/>
          <a:p>
            <a:fld id="{C58D7772-57C4-43FE-B30D-FBB40B6BD3DC}" type="slidenum">
              <a:rPr lang="en-US" smtClean="0"/>
              <a:pPr/>
              <a:t>10</a:t>
            </a:fld>
            <a:endParaRPr lang="en-US"/>
          </a:p>
        </p:txBody>
      </p:sp>
    </p:spTree>
    <p:extLst>
      <p:ext uri="{BB962C8B-B14F-4D97-AF65-F5344CB8AC3E}">
        <p14:creationId xmlns="" xmlns:p14="http://schemas.microsoft.com/office/powerpoint/2010/main" val="2894755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Leading is about influencing others. </a:t>
            </a:r>
            <a:endParaRPr lang="en-US"/>
          </a:p>
        </p:txBody>
      </p:sp>
      <p:sp>
        <p:nvSpPr>
          <p:cNvPr id="4" name="Slide Number Placeholder 3"/>
          <p:cNvSpPr>
            <a:spLocks noGrp="1"/>
          </p:cNvSpPr>
          <p:nvPr>
            <p:ph type="sldNum" sz="quarter" idx="10"/>
          </p:nvPr>
        </p:nvSpPr>
        <p:spPr/>
        <p:txBody>
          <a:bodyPr/>
          <a:lstStyle/>
          <a:p>
            <a:fld id="{C58D7772-57C4-43FE-B30D-FBB40B6BD3DC}" type="slidenum">
              <a:rPr lang="en-US" smtClean="0"/>
              <a:pPr/>
              <a:t>11</a:t>
            </a:fld>
            <a:endParaRPr lang="en-US"/>
          </a:p>
        </p:txBody>
      </p:sp>
    </p:spTree>
    <p:extLst>
      <p:ext uri="{BB962C8B-B14F-4D97-AF65-F5344CB8AC3E}">
        <p14:creationId xmlns="" xmlns:p14="http://schemas.microsoft.com/office/powerpoint/2010/main" val="28947556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Making an outline also helps to establish an appropriate flow for the message, which is necessary for a clear understanding of it. </a:t>
            </a:r>
          </a:p>
          <a:p>
            <a:endParaRPr lang="en-US" dirty="0"/>
          </a:p>
        </p:txBody>
      </p:sp>
      <p:sp>
        <p:nvSpPr>
          <p:cNvPr id="4" name="Slide Number Placeholder 3"/>
          <p:cNvSpPr>
            <a:spLocks noGrp="1"/>
          </p:cNvSpPr>
          <p:nvPr>
            <p:ph type="sldNum" sz="quarter" idx="10"/>
          </p:nvPr>
        </p:nvSpPr>
        <p:spPr/>
        <p:txBody>
          <a:bodyPr/>
          <a:lstStyle/>
          <a:p>
            <a:fld id="{C58D7772-57C4-43FE-B30D-FBB40B6BD3DC}" type="slidenum">
              <a:rPr lang="en-US" smtClean="0"/>
              <a:pPr/>
              <a:t>14</a:t>
            </a:fld>
            <a:endParaRPr lang="en-US"/>
          </a:p>
        </p:txBody>
      </p:sp>
    </p:spTree>
    <p:extLst>
      <p:ext uri="{BB962C8B-B14F-4D97-AF65-F5344CB8AC3E}">
        <p14:creationId xmlns="" xmlns:p14="http://schemas.microsoft.com/office/powerpoint/2010/main" val="33662351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5/13/2013</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smtClean="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smtClean="0">
                <a:solidFill>
                  <a:srgbClr val="C00000"/>
                </a:solidFill>
                <a:latin typeface="Times New Roman" pitchFamily="18" charset="0"/>
                <a:cs typeface="Times New Roman" pitchFamily="18" charset="0"/>
              </a:rPr>
              <a:t>Software Engineering Design: Theory and Practice</a:t>
            </a:r>
            <a:r>
              <a:rPr lang="en-US" i="1" dirty="0" smtClean="0">
                <a:solidFill>
                  <a:srgbClr val="C00000"/>
                </a:solidFill>
                <a:latin typeface="Times New Roman" pitchFamily="18" charset="0"/>
                <a:cs typeface="Times New Roman" pitchFamily="18" charset="0"/>
              </a:rPr>
              <a:t> </a:t>
            </a:r>
            <a:endParaRPr lang="en-US" i="1" dirty="0">
              <a:solidFill>
                <a:srgbClr val="C00000"/>
              </a:solidFill>
              <a:latin typeface="Times New Roman" pitchFamily="18" charset="0"/>
              <a:cs typeface="Times New Roman" pitchFamily="18" charset="0"/>
            </a:endParaRPr>
          </a:p>
          <a:p>
            <a:r>
              <a:rPr lang="en-US" sz="1600" b="0" dirty="0">
                <a:latin typeface="Times New Roman" pitchFamily="18" charset="0"/>
                <a:cs typeface="Times New Roman" pitchFamily="18" charset="0"/>
              </a:rPr>
              <a:t>by </a:t>
            </a:r>
            <a:r>
              <a:rPr lang="en-US" sz="1600" b="0" dirty="0" smtClean="0">
                <a:latin typeface="Times New Roman" pitchFamily="18" charset="0"/>
                <a:cs typeface="Times New Roman" pitchFamily="18" charset="0"/>
              </a:rPr>
              <a:t>Carlos</a:t>
            </a:r>
            <a:r>
              <a:rPr lang="en-US" sz="1600" b="0" baseline="0" dirty="0" smtClean="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a:t>
            </a:r>
            <a:r>
              <a:rPr lang="en-US" sz="1200" b="1" dirty="0" smtClean="0">
                <a:latin typeface="Times New Roman" pitchFamily="18" charset="0"/>
                <a:cs typeface="Times New Roman" pitchFamily="18" charset="0"/>
              </a:rPr>
              <a:t>2012</a:t>
            </a:r>
            <a:r>
              <a:rPr lang="en-US" sz="1800" dirty="0" smtClean="0">
                <a:latin typeface="Times New Roman" pitchFamily="18" charset="0"/>
                <a:cs typeface="Times New Roman" pitchFamily="18" charset="0"/>
              </a:rPr>
              <a:t> </a:t>
            </a:r>
            <a:r>
              <a:rPr lang="en-US" sz="1200" b="1" dirty="0">
                <a:latin typeface="Times New Roman" pitchFamily="18" charset="0"/>
                <a:cs typeface="Times New Roman" pitchFamily="18" charset="0"/>
              </a:rPr>
              <a:t>by </a:t>
            </a:r>
            <a:r>
              <a:rPr lang="en-US" sz="1200" b="1" dirty="0" smtClean="0">
                <a:latin typeface="Times New Roman" pitchFamily="18" charset="0"/>
                <a:cs typeface="Times New Roman" pitchFamily="18" charset="0"/>
              </a:rPr>
              <a:t>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a:t>
            </a:r>
            <a:r>
              <a:rPr lang="en-US" sz="1200" dirty="0" smtClean="0">
                <a:latin typeface="Times New Roman" pitchFamily="18" charset="0"/>
                <a:cs typeface="Times New Roman" pitchFamily="18" charset="0"/>
              </a:rPr>
              <a:t>only for </a:t>
            </a:r>
            <a:r>
              <a:rPr lang="en-US" sz="1200" dirty="0">
                <a:latin typeface="Times New Roman" pitchFamily="18" charset="0"/>
                <a:cs typeface="Times New Roman" pitchFamily="18" charset="0"/>
              </a:rPr>
              <a:t>student use </a:t>
            </a:r>
            <a:r>
              <a:rPr lang="en-US" sz="1200" dirty="0" smtClean="0">
                <a:latin typeface="Times New Roman" pitchFamily="18" charset="0"/>
                <a:cs typeface="Times New Roman" pitchFamily="18" charset="0"/>
              </a:rPr>
              <a:t>when </a:t>
            </a:r>
            <a:r>
              <a:rPr lang="en-US" sz="1200" dirty="0">
                <a:latin typeface="Times New Roman" pitchFamily="18" charset="0"/>
                <a:cs typeface="Times New Roman" pitchFamily="18" charset="0"/>
              </a:rPr>
              <a:t>used in conjunction with </a:t>
            </a:r>
            <a:r>
              <a:rPr lang="en-US" sz="1200" i="1" dirty="0">
                <a:latin typeface="Times New Roman" pitchFamily="18" charset="0"/>
                <a:cs typeface="Times New Roman" pitchFamily="18" charset="0"/>
              </a:rPr>
              <a:t>Software </a:t>
            </a:r>
            <a:r>
              <a:rPr lang="en-US" sz="1200" i="1" dirty="0" smtClean="0">
                <a:latin typeface="Times New Roman" pitchFamily="18" charset="0"/>
                <a:cs typeface="Times New Roman" pitchFamily="18" charset="0"/>
              </a:rPr>
              <a:t>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a:t>
            </a:r>
            <a:r>
              <a:rPr lang="en-US" sz="1200" dirty="0" smtClean="0">
                <a:latin typeface="Times New Roman" pitchFamily="18" charset="0"/>
                <a:cs typeface="Times New Roman" pitchFamily="18" charset="0"/>
              </a:rPr>
              <a:t>must appear </a:t>
            </a:r>
            <a:r>
              <a:rPr lang="en-US" sz="1200" dirty="0">
                <a:latin typeface="Times New Roman" pitchFamily="18" charset="0"/>
                <a:cs typeface="Times New Roman" pitchFamily="18" charset="0"/>
              </a:rPr>
              <a:t>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5/13/2013</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5/13/2013</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5/13/2013</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5/13/2013</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5/13/2013</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5/13/2013</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5/13/2013</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5/13/2013</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5/13/2013</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5/13/2013</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5/13/2013</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smtClean="0"/>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Chapter 10: Management, Leadership, &amp; Ethics</a:t>
            </a:r>
            <a:endParaRPr lang="en-US" dirty="0"/>
          </a:p>
        </p:txBody>
      </p:sp>
      <p:sp>
        <p:nvSpPr>
          <p:cNvPr id="3" name="Subtitle 2"/>
          <p:cNvSpPr>
            <a:spLocks noGrp="1"/>
          </p:cNvSpPr>
          <p:nvPr>
            <p:ph type="subTitle" idx="1"/>
          </p:nvPr>
        </p:nvSpPr>
        <p:spPr>
          <a:xfrm>
            <a:off x="0" y="1752598"/>
            <a:ext cx="9144000" cy="609602"/>
          </a:xfrm>
        </p:spPr>
        <p:txBody>
          <a:bodyPr>
            <a:normAutofit/>
          </a:bodyPr>
          <a:lstStyle/>
          <a:p>
            <a:r>
              <a:rPr lang="en-US" dirty="0" smtClean="0"/>
              <a:t>Session III: Leadership and Ethics</a:t>
            </a:r>
            <a:endParaRPr lang="en-US" dirty="0"/>
          </a:p>
        </p:txBody>
      </p:sp>
      <p:sp>
        <p:nvSpPr>
          <p:cNvPr id="4" name="Date Placeholder 3"/>
          <p:cNvSpPr>
            <a:spLocks noGrp="1"/>
          </p:cNvSpPr>
          <p:nvPr>
            <p:ph type="dt" sz="half" idx="10"/>
          </p:nvPr>
        </p:nvSpPr>
        <p:spPr/>
        <p:txBody>
          <a:bodyPr/>
          <a:lstStyle/>
          <a:p>
            <a:fld id="{EFE05638-2204-47C5-8D02-0990D6B01040}" type="datetime1">
              <a:rPr lang="en-US" smtClean="0"/>
              <a:pPr/>
              <a:t>5/13/2013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
        <p:nvSpPr>
          <p:cNvPr id="7" name="TextBox 6"/>
          <p:cNvSpPr txBox="1"/>
          <p:nvPr/>
        </p:nvSpPr>
        <p:spPr>
          <a:xfrm>
            <a:off x="1066800" y="1414790"/>
            <a:ext cx="7086600" cy="261610"/>
          </a:xfrm>
          <a:prstGeom prst="rect">
            <a:avLst/>
          </a:prstGeom>
          <a:noFill/>
        </p:spPr>
        <p:txBody>
          <a:bodyPr wrap="square" rtlCol="0">
            <a:spAutoFit/>
          </a:bodyPr>
          <a:lstStyle/>
          <a:p>
            <a:pPr algn="ctr"/>
            <a:r>
              <a:rPr lang="en-US" sz="1100" dirty="0" smtClean="0">
                <a:latin typeface="Times New Roman" pitchFamily="18" charset="0"/>
                <a:cs typeface="Times New Roman" pitchFamily="18" charset="0"/>
              </a:rPr>
              <a:t>-- Dr. L. Daniel Otero, Florida Institute of Technology --</a:t>
            </a:r>
            <a:endParaRPr lang="en-US" sz="11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 Agenda</a:t>
            </a:r>
            <a:endParaRPr lang="en-US" dirty="0"/>
          </a:p>
        </p:txBody>
      </p:sp>
      <p:sp>
        <p:nvSpPr>
          <p:cNvPr id="3" name="Content Placeholder 2"/>
          <p:cNvSpPr>
            <a:spLocks noGrp="1"/>
          </p:cNvSpPr>
          <p:nvPr>
            <p:ph idx="1"/>
          </p:nvPr>
        </p:nvSpPr>
        <p:spPr>
          <a:xfrm>
            <a:off x="457200" y="1371601"/>
            <a:ext cx="8229600" cy="4876799"/>
          </a:xfrm>
        </p:spPr>
        <p:txBody>
          <a:bodyPr>
            <a:normAutofit fontScale="92500" lnSpcReduction="20000"/>
          </a:bodyPr>
          <a:lstStyle/>
          <a:p>
            <a:r>
              <a:rPr lang="en-US" dirty="0" smtClean="0"/>
              <a:t>Leading the Design Effort</a:t>
            </a:r>
          </a:p>
          <a:p>
            <a:pPr lvl="1"/>
            <a:r>
              <a:rPr lang="en-US" dirty="0" smtClean="0"/>
              <a:t>Personality Traits and Leadership</a:t>
            </a:r>
          </a:p>
          <a:p>
            <a:pPr lvl="1"/>
            <a:r>
              <a:rPr lang="en-US" dirty="0" smtClean="0"/>
              <a:t>Personality Dimension</a:t>
            </a:r>
          </a:p>
          <a:p>
            <a:pPr lvl="1"/>
            <a:r>
              <a:rPr lang="en-US" dirty="0" smtClean="0"/>
              <a:t>Traits of Effective Leaders</a:t>
            </a:r>
          </a:p>
          <a:p>
            <a:pPr lvl="1"/>
            <a:r>
              <a:rPr lang="en-US" dirty="0" smtClean="0"/>
              <a:t>Ethical Leadership</a:t>
            </a:r>
          </a:p>
          <a:p>
            <a:pPr lvl="1"/>
            <a:r>
              <a:rPr lang="en-US" dirty="0" smtClean="0"/>
              <a:t>Power</a:t>
            </a:r>
          </a:p>
          <a:p>
            <a:pPr lvl="1"/>
            <a:endParaRPr lang="en-US" dirty="0"/>
          </a:p>
          <a:p>
            <a:r>
              <a:rPr lang="en-US" dirty="0" smtClean="0"/>
              <a:t>Key Leadership Skills</a:t>
            </a:r>
          </a:p>
          <a:p>
            <a:pPr lvl="1"/>
            <a:r>
              <a:rPr lang="en-US" dirty="0" smtClean="0"/>
              <a:t>Communication</a:t>
            </a:r>
          </a:p>
          <a:p>
            <a:pPr lvl="1"/>
            <a:r>
              <a:rPr lang="en-US" dirty="0" smtClean="0"/>
              <a:t>Networking</a:t>
            </a:r>
          </a:p>
          <a:p>
            <a:pPr lvl="1"/>
            <a:r>
              <a:rPr lang="en-US" dirty="0" smtClean="0"/>
              <a:t>Motivation</a:t>
            </a:r>
          </a:p>
          <a:p>
            <a:pPr lvl="1"/>
            <a:r>
              <a:rPr lang="en-US" dirty="0" smtClean="0"/>
              <a:t>Negotiation</a:t>
            </a:r>
          </a:p>
          <a:p>
            <a:pPr lvl="1"/>
            <a:endParaRPr lang="en-US" dirty="0" smtClean="0"/>
          </a:p>
          <a:p>
            <a:r>
              <a:rPr lang="en-US" dirty="0" smtClean="0"/>
              <a:t>Ethics in Software Design</a:t>
            </a:r>
          </a:p>
          <a:p>
            <a:pPr lvl="1"/>
            <a:r>
              <a:rPr lang="en-US" dirty="0" smtClean="0"/>
              <a:t>Public and Product Principles</a:t>
            </a:r>
          </a:p>
          <a:p>
            <a:pPr lvl="1"/>
            <a:r>
              <a:rPr lang="en-US" dirty="0" smtClean="0"/>
              <a:t>Judgment Principle</a:t>
            </a:r>
          </a:p>
          <a:p>
            <a:pPr lvl="1"/>
            <a:r>
              <a:rPr lang="en-US" dirty="0" smtClean="0"/>
              <a:t>Management Principle</a:t>
            </a:r>
          </a:p>
          <a:p>
            <a:pPr marL="0" indent="0">
              <a:buNone/>
            </a:pPr>
            <a:endParaRPr lang="en-US" dirty="0" smtClean="0"/>
          </a:p>
          <a:p>
            <a:pPr lvl="1">
              <a:buNone/>
            </a:pPr>
            <a:endParaRPr lang="en-US" dirty="0" smtClean="0"/>
          </a:p>
          <a:p>
            <a:pPr>
              <a:buNone/>
            </a:pPr>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fld id="{3F2E7354-941D-4A10-A419-5D3E5FF7573C}" type="datetime1">
              <a:rPr lang="en-US" smtClean="0"/>
              <a:pPr/>
              <a:t>5/13/2013</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 xmlns:p14="http://schemas.microsoft.com/office/powerpoint/2010/main" val="16144751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Leading the Design </a:t>
            </a:r>
            <a:r>
              <a:rPr lang="en-US" dirty="0" smtClean="0"/>
              <a:t>Effort</a:t>
            </a:r>
            <a:endParaRPr lang="en-US" dirty="0"/>
          </a:p>
        </p:txBody>
      </p:sp>
      <p:sp>
        <p:nvSpPr>
          <p:cNvPr id="3" name="Content Placeholder 2"/>
          <p:cNvSpPr>
            <a:spLocks noGrp="1"/>
          </p:cNvSpPr>
          <p:nvPr>
            <p:ph idx="1"/>
          </p:nvPr>
        </p:nvSpPr>
        <p:spPr/>
        <p:txBody>
          <a:bodyPr>
            <a:normAutofit/>
          </a:bodyPr>
          <a:lstStyle/>
          <a:p>
            <a:r>
              <a:rPr lang="en-US" dirty="0" smtClean="0"/>
              <a:t>Leadership </a:t>
            </a:r>
            <a:r>
              <a:rPr lang="en-US" dirty="0"/>
              <a:t>plays a key role in the success or failure of complex projects.  </a:t>
            </a:r>
            <a:endParaRPr lang="en-US" dirty="0" smtClean="0"/>
          </a:p>
          <a:p>
            <a:pPr lvl="1"/>
            <a:r>
              <a:rPr lang="en-US" dirty="0" smtClean="0"/>
              <a:t>Therefore, </a:t>
            </a:r>
            <a:r>
              <a:rPr lang="en-US" dirty="0"/>
              <a:t>it is necessary to cover important concepts related to leadership in the design effort.  </a:t>
            </a:r>
            <a:endParaRPr lang="en-US" dirty="0" smtClean="0"/>
          </a:p>
          <a:p>
            <a:pPr lvl="1"/>
            <a:endParaRPr lang="en-US" dirty="0"/>
          </a:p>
          <a:p>
            <a:r>
              <a:rPr lang="en-US" dirty="0" smtClean="0"/>
              <a:t>The </a:t>
            </a:r>
            <a:r>
              <a:rPr lang="en-US" dirty="0"/>
              <a:t>field of leadership is one that has been researched by academicians and practitioners for many years.  </a:t>
            </a:r>
            <a:endParaRPr lang="en-US" dirty="0" smtClean="0"/>
          </a:p>
          <a:p>
            <a:pPr lvl="1"/>
            <a:r>
              <a:rPr lang="en-US" dirty="0" smtClean="0"/>
              <a:t>There </a:t>
            </a:r>
            <a:r>
              <a:rPr lang="en-US" dirty="0"/>
              <a:t>is an extensive body of knowledge and literature related to this field.  </a:t>
            </a:r>
            <a:endParaRPr lang="en-US" dirty="0" smtClean="0"/>
          </a:p>
          <a:p>
            <a:endParaRPr lang="en-US" dirty="0"/>
          </a:p>
          <a:p>
            <a:r>
              <a:rPr lang="en-US" dirty="0" smtClean="0"/>
              <a:t>This session highlights key </a:t>
            </a:r>
            <a:r>
              <a:rPr lang="en-US" dirty="0"/>
              <a:t>leadership concepts that are relevant to our study of software designs.  </a:t>
            </a:r>
            <a:endParaRPr lang="en-US" dirty="0" smtClean="0"/>
          </a:p>
          <a:p>
            <a:pPr lvl="1"/>
            <a:r>
              <a:rPr lang="en-US" dirty="0" smtClean="0"/>
              <a:t>A </a:t>
            </a:r>
            <a:r>
              <a:rPr lang="en-US" dirty="0"/>
              <a:t>significant part of the material covered in this section was gathered from </a:t>
            </a:r>
            <a:r>
              <a:rPr lang="en-US" dirty="0" smtClean="0"/>
              <a:t>[1]; therefore</a:t>
            </a:r>
            <a:r>
              <a:rPr lang="en-US" dirty="0"/>
              <a:t>, the author refers the readers to this work for more detailed explanations of leadership concepts.</a:t>
            </a:r>
            <a:endParaRPr lang="en-US" dirty="0" smtClean="0"/>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Leading the Design Effort</a:t>
            </a:r>
            <a:r>
              <a:rPr lang="en-US" dirty="0" smtClean="0"/>
              <a:t/>
            </a:r>
            <a:br>
              <a:rPr lang="en-US" dirty="0" smtClean="0"/>
            </a:br>
            <a:r>
              <a:rPr lang="en-US" dirty="0" smtClean="0"/>
              <a:t>- </a:t>
            </a:r>
            <a:r>
              <a:rPr lang="en-US" dirty="0"/>
              <a:t>Personality Traits and Leadership </a:t>
            </a:r>
            <a:r>
              <a:rPr lang="en-US" dirty="0" smtClean="0"/>
              <a:t>-</a:t>
            </a:r>
            <a:endParaRPr lang="en-US" dirty="0"/>
          </a:p>
        </p:txBody>
      </p:sp>
      <p:sp>
        <p:nvSpPr>
          <p:cNvPr id="3" name="Content Placeholder 2"/>
          <p:cNvSpPr>
            <a:spLocks noGrp="1"/>
          </p:cNvSpPr>
          <p:nvPr>
            <p:ph idx="1"/>
          </p:nvPr>
        </p:nvSpPr>
        <p:spPr/>
        <p:txBody>
          <a:bodyPr>
            <a:normAutofit/>
          </a:bodyPr>
          <a:lstStyle/>
          <a:p>
            <a:r>
              <a:rPr lang="en-US" i="1" dirty="0">
                <a:solidFill>
                  <a:srgbClr val="FF0000"/>
                </a:solidFill>
              </a:rPr>
              <a:t>Traits</a:t>
            </a:r>
            <a:r>
              <a:rPr lang="en-US" dirty="0">
                <a:solidFill>
                  <a:srgbClr val="FF0000"/>
                </a:solidFill>
              </a:rPr>
              <a:t> </a:t>
            </a:r>
            <a:r>
              <a:rPr lang="en-US" dirty="0"/>
              <a:t>are personal characteristics that help to describe a person</a:t>
            </a:r>
            <a:r>
              <a:rPr lang="en-US" dirty="0" smtClean="0"/>
              <a:t>.  For example:  </a:t>
            </a:r>
          </a:p>
          <a:p>
            <a:pPr lvl="1"/>
            <a:r>
              <a:rPr lang="en-US" dirty="0" smtClean="0"/>
              <a:t>Highly </a:t>
            </a:r>
            <a:r>
              <a:rPr lang="en-US" dirty="0"/>
              <a:t>sociable </a:t>
            </a:r>
            <a:r>
              <a:rPr lang="en-US" dirty="0" smtClean="0"/>
              <a:t>trait</a:t>
            </a:r>
            <a:r>
              <a:rPr lang="en-US" dirty="0"/>
              <a:t>:</a:t>
            </a:r>
            <a:r>
              <a:rPr lang="en-US" dirty="0" smtClean="0"/>
              <a:t> This trait is present in someone </a:t>
            </a:r>
            <a:r>
              <a:rPr lang="en-US" dirty="0"/>
              <a:t>that has the ability to communicate well with others and start friendly conversations with unknown </a:t>
            </a:r>
            <a:r>
              <a:rPr lang="en-US" dirty="0" smtClean="0"/>
              <a:t>people</a:t>
            </a:r>
          </a:p>
          <a:p>
            <a:pPr lvl="1"/>
            <a:r>
              <a:rPr lang="en-US" dirty="0" smtClean="0"/>
              <a:t>Achievement trait: </a:t>
            </a:r>
            <a:r>
              <a:rPr lang="en-US" dirty="0"/>
              <a:t>This trait is present in someone </a:t>
            </a:r>
            <a:r>
              <a:rPr lang="en-US" dirty="0" smtClean="0"/>
              <a:t>that </a:t>
            </a:r>
            <a:r>
              <a:rPr lang="en-US" dirty="0"/>
              <a:t>works hard and tends to go the extra mile to complete assigned tasks </a:t>
            </a:r>
            <a:endParaRPr lang="en-US" dirty="0" smtClean="0"/>
          </a:p>
          <a:p>
            <a:endParaRPr lang="en-US" dirty="0" smtClean="0"/>
          </a:p>
          <a:p>
            <a:r>
              <a:rPr lang="en-US" dirty="0" smtClean="0"/>
              <a:t>The </a:t>
            </a:r>
            <a:r>
              <a:rPr lang="en-US" dirty="0"/>
              <a:t>combination of traits that a person has defines that person’s </a:t>
            </a:r>
            <a:r>
              <a:rPr lang="en-US" i="1" dirty="0" smtClean="0">
                <a:solidFill>
                  <a:srgbClr val="FF0000"/>
                </a:solidFill>
              </a:rPr>
              <a:t>personality</a:t>
            </a:r>
            <a:endParaRPr lang="en-US" dirty="0"/>
          </a:p>
          <a:p>
            <a:pPr lvl="1"/>
            <a:r>
              <a:rPr lang="en-US" dirty="0" smtClean="0"/>
              <a:t>Personality </a:t>
            </a:r>
            <a:r>
              <a:rPr lang="en-US" dirty="0"/>
              <a:t>significantly </a:t>
            </a:r>
            <a:r>
              <a:rPr lang="en-US" dirty="0" smtClean="0"/>
              <a:t>affects </a:t>
            </a:r>
            <a:r>
              <a:rPr lang="en-US" dirty="0"/>
              <a:t>our decisions.  </a:t>
            </a:r>
            <a:endParaRPr lang="en-US" dirty="0" smtClean="0"/>
          </a:p>
          <a:p>
            <a:pPr lvl="2"/>
            <a:r>
              <a:rPr lang="en-US" dirty="0" smtClean="0"/>
              <a:t>For </a:t>
            </a:r>
            <a:r>
              <a:rPr lang="en-US" dirty="0"/>
              <a:t>example, a highly sociable person with an achievement trait is expected to make decisions such as volunteering to make presentations to clients.  </a:t>
            </a:r>
            <a:endParaRPr lang="en-US" dirty="0" smtClean="0"/>
          </a:p>
          <a:p>
            <a:pPr lvl="1"/>
            <a:r>
              <a:rPr lang="en-US" dirty="0" smtClean="0"/>
              <a:t>Given </a:t>
            </a:r>
            <a:r>
              <a:rPr lang="en-US" dirty="0"/>
              <a:t>that a good decision-making ability is a major part of being an effective leader, it is important to understand the relationship between traits, personality, decision-making, and leadership.</a:t>
            </a:r>
            <a:endParaRPr lang="en-US" dirty="0" smtClean="0"/>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 xmlns:p14="http://schemas.microsoft.com/office/powerpoint/2010/main" val="84427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Leading the Design Effort</a:t>
            </a:r>
            <a:r>
              <a:rPr lang="en-US" dirty="0" smtClean="0"/>
              <a:t/>
            </a:r>
            <a:br>
              <a:rPr lang="en-US" dirty="0" smtClean="0"/>
            </a:br>
            <a:r>
              <a:rPr lang="en-US" dirty="0" smtClean="0"/>
              <a:t>- </a:t>
            </a:r>
            <a:r>
              <a:rPr lang="en-US" dirty="0"/>
              <a:t>Personality </a:t>
            </a:r>
            <a:r>
              <a:rPr lang="en-US" dirty="0" smtClean="0"/>
              <a:t>Dimensions -</a:t>
            </a:r>
            <a:endParaRPr lang="en-US" dirty="0"/>
          </a:p>
        </p:txBody>
      </p:sp>
      <p:sp>
        <p:nvSpPr>
          <p:cNvPr id="3" name="Content Placeholder 2"/>
          <p:cNvSpPr>
            <a:spLocks noGrp="1"/>
          </p:cNvSpPr>
          <p:nvPr>
            <p:ph idx="1"/>
          </p:nvPr>
        </p:nvSpPr>
        <p:spPr/>
        <p:txBody>
          <a:bodyPr>
            <a:normAutofit/>
          </a:bodyPr>
          <a:lstStyle/>
          <a:p>
            <a:r>
              <a:rPr lang="en-US" dirty="0"/>
              <a:t>Researchers have identified five personality dimensions to categorize groups of traits.  </a:t>
            </a:r>
            <a:endParaRPr lang="en-US" dirty="0" smtClean="0"/>
          </a:p>
          <a:p>
            <a:pPr lvl="1"/>
            <a:r>
              <a:rPr lang="en-US" dirty="0" smtClean="0"/>
              <a:t>The objective </a:t>
            </a:r>
            <a:r>
              <a:rPr lang="en-US" dirty="0"/>
              <a:t>is to be able to classify someone’s personality into one of these dimensions.  </a:t>
            </a:r>
            <a:endParaRPr lang="en-US" dirty="0" smtClean="0"/>
          </a:p>
          <a:p>
            <a:pPr lvl="1"/>
            <a:endParaRPr lang="en-US" dirty="0" smtClean="0"/>
          </a:p>
          <a:p>
            <a:pPr lvl="1"/>
            <a:r>
              <a:rPr lang="en-US" dirty="0" smtClean="0"/>
              <a:t>The </a:t>
            </a:r>
            <a:r>
              <a:rPr lang="en-US" dirty="0"/>
              <a:t>five dimensions are: </a:t>
            </a:r>
            <a:endParaRPr lang="en-US" dirty="0" smtClean="0"/>
          </a:p>
          <a:p>
            <a:pPr lvl="2"/>
            <a:r>
              <a:rPr lang="en-US" i="1" dirty="0" smtClean="0"/>
              <a:t>agreeableness</a:t>
            </a:r>
            <a:r>
              <a:rPr lang="en-US" dirty="0"/>
              <a:t>, </a:t>
            </a:r>
            <a:endParaRPr lang="en-US" dirty="0" smtClean="0"/>
          </a:p>
          <a:p>
            <a:pPr lvl="2"/>
            <a:r>
              <a:rPr lang="en-US" i="1" dirty="0" smtClean="0"/>
              <a:t>surgency</a:t>
            </a:r>
            <a:r>
              <a:rPr lang="en-US" dirty="0"/>
              <a:t>, </a:t>
            </a:r>
            <a:endParaRPr lang="en-US" dirty="0" smtClean="0"/>
          </a:p>
          <a:p>
            <a:pPr lvl="2"/>
            <a:r>
              <a:rPr lang="en-US" i="1" dirty="0" smtClean="0"/>
              <a:t>adjustment</a:t>
            </a:r>
            <a:r>
              <a:rPr lang="en-US" dirty="0"/>
              <a:t>, </a:t>
            </a:r>
            <a:endParaRPr lang="en-US" dirty="0" smtClean="0"/>
          </a:p>
          <a:p>
            <a:pPr lvl="2"/>
            <a:r>
              <a:rPr lang="en-US" i="1" dirty="0" smtClean="0"/>
              <a:t>conscientiousness</a:t>
            </a:r>
            <a:r>
              <a:rPr lang="en-US" dirty="0"/>
              <a:t>, and </a:t>
            </a:r>
            <a:endParaRPr lang="en-US" dirty="0" smtClean="0"/>
          </a:p>
          <a:p>
            <a:pPr lvl="2"/>
            <a:r>
              <a:rPr lang="en-US" i="1" dirty="0" smtClean="0"/>
              <a:t>openness </a:t>
            </a:r>
            <a:r>
              <a:rPr lang="en-US" i="1" dirty="0"/>
              <a:t>to experience</a:t>
            </a:r>
            <a:r>
              <a:rPr lang="en-US" dirty="0"/>
              <a:t>.  </a:t>
            </a:r>
            <a:endParaRPr lang="en-US" dirty="0" smtClean="0"/>
          </a:p>
          <a:p>
            <a:pPr marL="914400" lvl="2" indent="0">
              <a:buNone/>
            </a:pPr>
            <a:r>
              <a:rPr lang="en-US" dirty="0" smtClean="0"/>
              <a:t>NOTE: Although </a:t>
            </a:r>
            <a:r>
              <a:rPr lang="en-US" dirty="0"/>
              <a:t>called by different names by various researchers, we will refer to </a:t>
            </a:r>
            <a:r>
              <a:rPr lang="en-US" dirty="0" smtClean="0"/>
              <a:t>[1] and </a:t>
            </a:r>
            <a:r>
              <a:rPr lang="en-US" dirty="0"/>
              <a:t>call them the </a:t>
            </a:r>
            <a:r>
              <a:rPr lang="en-US" i="1" dirty="0">
                <a:solidFill>
                  <a:srgbClr val="FF0000"/>
                </a:solidFill>
              </a:rPr>
              <a:t>Big Five Model of Personality</a:t>
            </a:r>
            <a:r>
              <a:rPr lang="en-US" dirty="0"/>
              <a:t>. </a:t>
            </a:r>
            <a:endParaRPr lang="en-US" dirty="0" smtClean="0"/>
          </a:p>
          <a:p>
            <a:pPr lvl="1"/>
            <a:endParaRPr lang="en-US" dirty="0" smtClean="0"/>
          </a:p>
          <a:p>
            <a:pPr lvl="1"/>
            <a:r>
              <a:rPr lang="en-US" dirty="0" smtClean="0"/>
              <a:t>Let’s describe each of the five personality dimensions…</a:t>
            </a:r>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 xmlns:p14="http://schemas.microsoft.com/office/powerpoint/2010/main" val="4230846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Leading the Design Effort</a:t>
            </a:r>
            <a:br>
              <a:rPr lang="en-US" dirty="0"/>
            </a:br>
            <a:r>
              <a:rPr lang="en-US" dirty="0"/>
              <a:t>- Personality Dimensions -</a:t>
            </a:r>
          </a:p>
        </p:txBody>
      </p:sp>
      <p:sp>
        <p:nvSpPr>
          <p:cNvPr id="3" name="Content Placeholder 2"/>
          <p:cNvSpPr>
            <a:spLocks noGrp="1"/>
          </p:cNvSpPr>
          <p:nvPr>
            <p:ph idx="1"/>
          </p:nvPr>
        </p:nvSpPr>
        <p:spPr/>
        <p:txBody>
          <a:bodyPr>
            <a:normAutofit fontScale="85000" lnSpcReduction="20000"/>
          </a:bodyPr>
          <a:lstStyle/>
          <a:p>
            <a:r>
              <a:rPr lang="en-US" dirty="0"/>
              <a:t>The </a:t>
            </a:r>
            <a:r>
              <a:rPr lang="en-US" i="1" dirty="0">
                <a:solidFill>
                  <a:srgbClr val="FF0000"/>
                </a:solidFill>
              </a:rPr>
              <a:t>agreeableness dimension </a:t>
            </a:r>
            <a:r>
              <a:rPr lang="en-US" dirty="0"/>
              <a:t>contains traits that are related to getting along with people. </a:t>
            </a:r>
            <a:endParaRPr lang="en-US" dirty="0" smtClean="0"/>
          </a:p>
          <a:p>
            <a:pPr lvl="1"/>
            <a:r>
              <a:rPr lang="en-US" dirty="0" smtClean="0"/>
              <a:t>Individuals </a:t>
            </a:r>
            <a:r>
              <a:rPr lang="en-US" dirty="0"/>
              <a:t>that are strong in agreeableness are friendly, sociable, and compassionate.  </a:t>
            </a:r>
            <a:endParaRPr lang="en-US" dirty="0" smtClean="0"/>
          </a:p>
          <a:p>
            <a:endParaRPr lang="en-US" dirty="0"/>
          </a:p>
          <a:p>
            <a:r>
              <a:rPr lang="en-US" dirty="0" smtClean="0"/>
              <a:t>The </a:t>
            </a:r>
            <a:r>
              <a:rPr lang="en-US" i="1" dirty="0">
                <a:solidFill>
                  <a:srgbClr val="FF0000"/>
                </a:solidFill>
              </a:rPr>
              <a:t>surgency </a:t>
            </a:r>
            <a:r>
              <a:rPr lang="en-US" i="1" dirty="0" smtClean="0">
                <a:solidFill>
                  <a:srgbClr val="FF0000"/>
                </a:solidFill>
              </a:rPr>
              <a:t>dimension</a:t>
            </a:r>
            <a:r>
              <a:rPr lang="en-US" dirty="0"/>
              <a:t> </a:t>
            </a:r>
            <a:r>
              <a:rPr lang="en-US" dirty="0" smtClean="0"/>
              <a:t>corresponds </a:t>
            </a:r>
            <a:r>
              <a:rPr lang="en-US" dirty="0"/>
              <a:t>to personalities that </a:t>
            </a:r>
            <a:r>
              <a:rPr lang="en-US" dirty="0" smtClean="0"/>
              <a:t>are dominant </a:t>
            </a:r>
            <a:r>
              <a:rPr lang="en-US" dirty="0"/>
              <a:t>(i.e., want to be in control), </a:t>
            </a:r>
            <a:r>
              <a:rPr lang="en-US" dirty="0" smtClean="0"/>
              <a:t>enjoy </a:t>
            </a:r>
            <a:r>
              <a:rPr lang="en-US" dirty="0"/>
              <a:t>competition, and </a:t>
            </a:r>
            <a:r>
              <a:rPr lang="en-US" dirty="0" smtClean="0"/>
              <a:t>are </a:t>
            </a:r>
            <a:r>
              <a:rPr lang="en-US" dirty="0"/>
              <a:t>willing to confront others, among other things.  </a:t>
            </a:r>
            <a:endParaRPr lang="en-US" dirty="0" smtClean="0"/>
          </a:p>
          <a:p>
            <a:pPr lvl="1"/>
            <a:r>
              <a:rPr lang="en-US" dirty="0" smtClean="0"/>
              <a:t>Individuals </a:t>
            </a:r>
            <a:r>
              <a:rPr lang="en-US" dirty="0"/>
              <a:t>who are weak in surgency are typically followers.  </a:t>
            </a:r>
            <a:endParaRPr lang="en-US" dirty="0" smtClean="0"/>
          </a:p>
          <a:p>
            <a:endParaRPr lang="en-US" dirty="0"/>
          </a:p>
          <a:p>
            <a:r>
              <a:rPr lang="en-US" dirty="0" smtClean="0"/>
              <a:t>The </a:t>
            </a:r>
            <a:r>
              <a:rPr lang="en-US" i="1" dirty="0">
                <a:solidFill>
                  <a:srgbClr val="FF0000"/>
                </a:solidFill>
              </a:rPr>
              <a:t>adjustment dimension </a:t>
            </a:r>
            <a:r>
              <a:rPr lang="en-US" dirty="0"/>
              <a:t>is related to emotional stability.  </a:t>
            </a:r>
            <a:endParaRPr lang="en-US" dirty="0" smtClean="0"/>
          </a:p>
          <a:p>
            <a:pPr lvl="1"/>
            <a:r>
              <a:rPr lang="en-US" dirty="0" smtClean="0"/>
              <a:t>Individuals </a:t>
            </a:r>
            <a:r>
              <a:rPr lang="en-US" dirty="0"/>
              <a:t>who are strong in this dimension are considered stable people who are in control of themselves, positive minded, and react well under pressure.  </a:t>
            </a:r>
            <a:endParaRPr lang="en-US" dirty="0" smtClean="0"/>
          </a:p>
          <a:p>
            <a:pPr lvl="1"/>
            <a:r>
              <a:rPr lang="en-US" dirty="0" smtClean="0"/>
              <a:t>Those </a:t>
            </a:r>
            <a:r>
              <a:rPr lang="en-US" dirty="0"/>
              <a:t>that are weak in adjustment are considered unstable, and typically are characterized by being negative and perform poorly under pressure. </a:t>
            </a:r>
            <a:endParaRPr lang="en-US" dirty="0" smtClean="0"/>
          </a:p>
          <a:p>
            <a:endParaRPr lang="en-US" dirty="0"/>
          </a:p>
          <a:p>
            <a:r>
              <a:rPr lang="en-US" dirty="0" smtClean="0"/>
              <a:t>The </a:t>
            </a:r>
            <a:r>
              <a:rPr lang="en-US" i="1" dirty="0">
                <a:solidFill>
                  <a:srgbClr val="FF0000"/>
                </a:solidFill>
              </a:rPr>
              <a:t>conscientiousness dimension </a:t>
            </a:r>
            <a:r>
              <a:rPr lang="en-US" dirty="0"/>
              <a:t>contains traits related to achievement.  </a:t>
            </a:r>
            <a:endParaRPr lang="en-US" dirty="0" smtClean="0"/>
          </a:p>
          <a:p>
            <a:pPr lvl="1"/>
            <a:r>
              <a:rPr lang="en-US" dirty="0" smtClean="0"/>
              <a:t>Individuals </a:t>
            </a:r>
            <a:r>
              <a:rPr lang="en-US" dirty="0"/>
              <a:t>that are strong in this dimension are those that are willing to work extra hours and make sacrifices to reach the assigned objectives.  </a:t>
            </a:r>
            <a:endParaRPr lang="en-US" dirty="0" smtClean="0"/>
          </a:p>
          <a:p>
            <a:pPr lvl="1"/>
            <a:endParaRPr lang="en-US" dirty="0"/>
          </a:p>
          <a:p>
            <a:r>
              <a:rPr lang="en-US" dirty="0" smtClean="0"/>
              <a:t>The </a:t>
            </a:r>
            <a:r>
              <a:rPr lang="en-US" i="1" dirty="0">
                <a:solidFill>
                  <a:srgbClr val="FF0000"/>
                </a:solidFill>
              </a:rPr>
              <a:t>openness to experience dimension</a:t>
            </a:r>
            <a:r>
              <a:rPr lang="en-US" dirty="0"/>
              <a:t> is related to individuals that are flexible to change, open minded, and attempt enjoy trying new things.  </a:t>
            </a:r>
            <a:endParaRPr lang="en-US" dirty="0" smtClean="0"/>
          </a:p>
          <a:p>
            <a:pPr marL="0" indent="0">
              <a:buNone/>
            </a:pP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 xmlns:p14="http://schemas.microsoft.com/office/powerpoint/2010/main" val="1894760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Leading the Design Effort</a:t>
            </a:r>
            <a:br>
              <a:rPr lang="en-US" dirty="0"/>
            </a:br>
            <a:r>
              <a:rPr lang="en-US" dirty="0"/>
              <a:t>- Personality Dimensions -</a:t>
            </a:r>
          </a:p>
        </p:txBody>
      </p:sp>
      <p:sp>
        <p:nvSpPr>
          <p:cNvPr id="3" name="Content Placeholder 2"/>
          <p:cNvSpPr>
            <a:spLocks noGrp="1"/>
          </p:cNvSpPr>
          <p:nvPr>
            <p:ph idx="1"/>
          </p:nvPr>
        </p:nvSpPr>
        <p:spPr/>
        <p:txBody>
          <a:bodyPr>
            <a:normAutofit/>
          </a:bodyPr>
          <a:lstStyle/>
          <a:p>
            <a:r>
              <a:rPr lang="en-US" dirty="0" smtClean="0"/>
              <a:t>Understanding </a:t>
            </a:r>
            <a:r>
              <a:rPr lang="en-US" dirty="0"/>
              <a:t>these dimensions is important because researchers have found varying degrees of correlations between leadership and each of the five personality dimensions.   </a:t>
            </a:r>
            <a:endParaRPr lang="en-US" dirty="0" smtClean="0"/>
          </a:p>
          <a:p>
            <a:pPr lvl="1"/>
            <a:endParaRPr lang="en-US" dirty="0" smtClean="0"/>
          </a:p>
          <a:p>
            <a:pPr lvl="1"/>
            <a:r>
              <a:rPr lang="en-US" dirty="0" smtClean="0"/>
              <a:t>For </a:t>
            </a:r>
            <a:r>
              <a:rPr lang="en-US" dirty="0"/>
              <a:t>example, </a:t>
            </a:r>
            <a:r>
              <a:rPr lang="en-US" dirty="0" smtClean="0"/>
              <a:t>[2] analyzed </a:t>
            </a:r>
            <a:r>
              <a:rPr lang="en-US" dirty="0"/>
              <a:t>over 70 prior studies to determine correlations between the five personality dimensions and leadership.  </a:t>
            </a:r>
            <a:endParaRPr lang="en-US" dirty="0" smtClean="0"/>
          </a:p>
          <a:p>
            <a:pPr lvl="1"/>
            <a:endParaRPr lang="en-US" dirty="0" smtClean="0"/>
          </a:p>
          <a:p>
            <a:pPr lvl="1"/>
            <a:r>
              <a:rPr lang="en-US" dirty="0" smtClean="0"/>
              <a:t>Results showed </a:t>
            </a:r>
            <a:r>
              <a:rPr lang="en-US" dirty="0"/>
              <a:t>that the surgency dimension was the highest with a 0.31 correlation.  </a:t>
            </a:r>
            <a:endParaRPr lang="en-US" dirty="0" smtClean="0"/>
          </a:p>
          <a:p>
            <a:pPr lvl="2"/>
            <a:r>
              <a:rPr lang="en-US" dirty="0" smtClean="0"/>
              <a:t>This </a:t>
            </a:r>
            <a:r>
              <a:rPr lang="en-US" dirty="0"/>
              <a:t>means that traits corresponding to surgency can be used, to some extent, to describe leadership.  </a:t>
            </a:r>
            <a:endParaRPr lang="en-US" dirty="0" smtClean="0"/>
          </a:p>
          <a:p>
            <a:pPr lvl="2"/>
            <a:r>
              <a:rPr lang="en-US" dirty="0" smtClean="0"/>
              <a:t>The </a:t>
            </a:r>
            <a:r>
              <a:rPr lang="en-US" dirty="0"/>
              <a:t>second highest was conscientiousness with a 0.28 correlation, followed by openness to experience with 0.24, and agreeableness with 0.08.</a:t>
            </a:r>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 xmlns:p14="http://schemas.microsoft.com/office/powerpoint/2010/main" val="1268307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Leading the Design Effort</a:t>
            </a:r>
            <a:br>
              <a:rPr lang="en-US" dirty="0"/>
            </a:br>
            <a:r>
              <a:rPr lang="en-US" dirty="0"/>
              <a:t>- </a:t>
            </a:r>
            <a:r>
              <a:rPr lang="en-US" dirty="0" smtClean="0"/>
              <a:t>Traits of Effective Leaders </a:t>
            </a:r>
            <a:r>
              <a:rPr lang="en-US" dirty="0"/>
              <a:t>-</a:t>
            </a:r>
          </a:p>
        </p:txBody>
      </p:sp>
      <p:sp>
        <p:nvSpPr>
          <p:cNvPr id="3" name="Content Placeholder 2"/>
          <p:cNvSpPr>
            <a:spLocks noGrp="1"/>
          </p:cNvSpPr>
          <p:nvPr>
            <p:ph idx="1"/>
          </p:nvPr>
        </p:nvSpPr>
        <p:spPr/>
        <p:txBody>
          <a:bodyPr/>
          <a:lstStyle/>
          <a:p>
            <a:r>
              <a:rPr lang="en-US" dirty="0" smtClean="0"/>
              <a:t>An approach </a:t>
            </a:r>
            <a:r>
              <a:rPr lang="en-US" dirty="0"/>
              <a:t>to studying personality dimensions is to investigate common individual traits that effective leaders possess, without grouping traits into personality dimensions.  </a:t>
            </a:r>
            <a:endParaRPr lang="en-US" dirty="0" smtClean="0"/>
          </a:p>
          <a:p>
            <a:r>
              <a:rPr lang="en-US" dirty="0" smtClean="0"/>
              <a:t>Some </a:t>
            </a:r>
            <a:r>
              <a:rPr lang="en-US" dirty="0"/>
              <a:t>of the most important traits </a:t>
            </a:r>
            <a:r>
              <a:rPr lang="en-US" dirty="0" smtClean="0"/>
              <a:t>are: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pic>
        <p:nvPicPr>
          <p:cNvPr id="16386" name="Picture 2"/>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600200" y="2819400"/>
            <a:ext cx="5943600" cy="3276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4464057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Leading the Design Effort</a:t>
            </a:r>
            <a:br>
              <a:rPr lang="en-US" dirty="0"/>
            </a:br>
            <a:r>
              <a:rPr lang="en-US" dirty="0"/>
              <a:t>- </a:t>
            </a:r>
            <a:r>
              <a:rPr lang="en-US" dirty="0" smtClean="0"/>
              <a:t>Ethical Leadership </a:t>
            </a:r>
            <a:r>
              <a:rPr lang="en-US" dirty="0"/>
              <a:t>-</a:t>
            </a:r>
          </a:p>
        </p:txBody>
      </p:sp>
      <p:sp>
        <p:nvSpPr>
          <p:cNvPr id="3" name="Content Placeholder 2"/>
          <p:cNvSpPr>
            <a:spLocks noGrp="1"/>
          </p:cNvSpPr>
          <p:nvPr>
            <p:ph idx="1"/>
          </p:nvPr>
        </p:nvSpPr>
        <p:spPr/>
        <p:txBody>
          <a:bodyPr>
            <a:normAutofit lnSpcReduction="10000"/>
          </a:bodyPr>
          <a:lstStyle/>
          <a:p>
            <a:r>
              <a:rPr lang="en-US" dirty="0"/>
              <a:t>Ethics can be defined as a set of moral principles that facilitates the process to distinguish between right and wrong behavior.  </a:t>
            </a:r>
            <a:endParaRPr lang="en-US" dirty="0" smtClean="0"/>
          </a:p>
          <a:p>
            <a:endParaRPr lang="en-US" dirty="0"/>
          </a:p>
          <a:p>
            <a:r>
              <a:rPr lang="en-US" dirty="0" smtClean="0"/>
              <a:t>Ethical </a:t>
            </a:r>
            <a:r>
              <a:rPr lang="en-US" dirty="0"/>
              <a:t>behavior positively correlates with leadership </a:t>
            </a:r>
            <a:r>
              <a:rPr lang="en-US" dirty="0" smtClean="0"/>
              <a:t>effectiveness [3].  </a:t>
            </a:r>
          </a:p>
          <a:p>
            <a:pPr lvl="1"/>
            <a:r>
              <a:rPr lang="en-US" dirty="0" smtClean="0"/>
              <a:t>It </a:t>
            </a:r>
            <a:r>
              <a:rPr lang="en-US" dirty="0"/>
              <a:t>is well known that one of the best ways to </a:t>
            </a:r>
            <a:r>
              <a:rPr lang="en-US" i="1" dirty="0"/>
              <a:t>lead is by example</a:t>
            </a:r>
            <a:r>
              <a:rPr lang="en-US" dirty="0"/>
              <a:t>.  </a:t>
            </a:r>
            <a:endParaRPr lang="en-US" dirty="0" smtClean="0"/>
          </a:p>
          <a:p>
            <a:pPr lvl="1"/>
            <a:r>
              <a:rPr lang="en-US" dirty="0" smtClean="0"/>
              <a:t>An </a:t>
            </a:r>
            <a:r>
              <a:rPr lang="en-US" dirty="0"/>
              <a:t>ethical leader sets the tone for employees to conduct themselves </a:t>
            </a:r>
            <a:r>
              <a:rPr lang="en-US" dirty="0" smtClean="0"/>
              <a:t>ethically.  </a:t>
            </a:r>
          </a:p>
          <a:p>
            <a:pPr lvl="1"/>
            <a:r>
              <a:rPr lang="en-US" dirty="0" smtClean="0"/>
              <a:t>Being </a:t>
            </a:r>
            <a:r>
              <a:rPr lang="en-US" dirty="0"/>
              <a:t>an ethical leader can be very challenging </a:t>
            </a:r>
            <a:r>
              <a:rPr lang="en-US" dirty="0" smtClean="0"/>
              <a:t>due to the </a:t>
            </a:r>
            <a:r>
              <a:rPr lang="en-US" dirty="0"/>
              <a:t>risk of rejection or loss associated with ethical decisions.  </a:t>
            </a:r>
            <a:endParaRPr lang="en-US" dirty="0" smtClean="0"/>
          </a:p>
          <a:p>
            <a:pPr lvl="2"/>
            <a:r>
              <a:rPr lang="en-US" dirty="0" smtClean="0"/>
              <a:t>To </a:t>
            </a:r>
            <a:r>
              <a:rPr lang="en-US" dirty="0"/>
              <a:t>overcome this </a:t>
            </a:r>
            <a:r>
              <a:rPr lang="en-US" dirty="0" smtClean="0"/>
              <a:t>challenge:</a:t>
            </a:r>
          </a:p>
          <a:p>
            <a:pPr lvl="3"/>
            <a:r>
              <a:rPr lang="en-US" dirty="0" smtClean="0"/>
              <a:t>Focus </a:t>
            </a:r>
            <a:r>
              <a:rPr lang="en-US" dirty="0"/>
              <a:t>on a higher purpose while going through the decision process that involves moral behavior.  </a:t>
            </a:r>
            <a:r>
              <a:rPr lang="en-US" dirty="0" smtClean="0"/>
              <a:t>  </a:t>
            </a:r>
          </a:p>
          <a:p>
            <a:pPr lvl="3"/>
            <a:r>
              <a:rPr lang="en-US" dirty="0" smtClean="0"/>
              <a:t>Find </a:t>
            </a:r>
            <a:r>
              <a:rPr lang="en-US" dirty="0"/>
              <a:t>support from other ethical people (e.g., friends, family, or co-workers).  </a:t>
            </a:r>
            <a:endParaRPr lang="en-US" dirty="0" smtClean="0"/>
          </a:p>
          <a:p>
            <a:pPr lvl="1"/>
            <a:endParaRPr lang="en-US" dirty="0" smtClean="0"/>
          </a:p>
          <a:p>
            <a:pPr lvl="1"/>
            <a:r>
              <a:rPr lang="en-US" dirty="0" smtClean="0"/>
              <a:t>Most </a:t>
            </a:r>
            <a:r>
              <a:rPr lang="en-US" dirty="0"/>
              <a:t>companies have their own internal documents that describe </a:t>
            </a:r>
            <a:r>
              <a:rPr lang="en-US" dirty="0" smtClean="0"/>
              <a:t>expected </a:t>
            </a:r>
            <a:r>
              <a:rPr lang="en-US" dirty="0"/>
              <a:t>ethical behavior from employees.  </a:t>
            </a:r>
            <a:endParaRPr lang="en-US" dirty="0" smtClean="0"/>
          </a:p>
          <a:p>
            <a:pPr lvl="2"/>
            <a:r>
              <a:rPr lang="en-US" dirty="0" smtClean="0"/>
              <a:t>It </a:t>
            </a:r>
            <a:r>
              <a:rPr lang="en-US" dirty="0"/>
              <a:t>is very important for leaders to conform to these guidelines, and discuss them with employees.</a:t>
            </a:r>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pic>
        <p:nvPicPr>
          <p:cNvPr id="17410" name="Picture 2" descr="C:\Users\lotero\AppData\Local\Microsoft\Windows\Temporary Internet Files\Content.IE5\7KTSI7KO\MP900341775[1].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09600" y="4191000"/>
            <a:ext cx="1081043" cy="771144"/>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589811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Leading the Design Effort</a:t>
            </a:r>
            <a:br>
              <a:rPr lang="en-US" dirty="0"/>
            </a:br>
            <a:r>
              <a:rPr lang="en-US" dirty="0"/>
              <a:t>- </a:t>
            </a:r>
            <a:r>
              <a:rPr lang="en-US" dirty="0" smtClean="0"/>
              <a:t>Power </a:t>
            </a:r>
            <a:r>
              <a:rPr lang="en-US" dirty="0"/>
              <a:t>-</a:t>
            </a:r>
          </a:p>
        </p:txBody>
      </p:sp>
      <p:sp>
        <p:nvSpPr>
          <p:cNvPr id="3" name="Content Placeholder 2"/>
          <p:cNvSpPr>
            <a:spLocks noGrp="1"/>
          </p:cNvSpPr>
          <p:nvPr>
            <p:ph idx="1"/>
          </p:nvPr>
        </p:nvSpPr>
        <p:spPr/>
        <p:txBody>
          <a:bodyPr>
            <a:normAutofit fontScale="92500" lnSpcReduction="10000"/>
          </a:bodyPr>
          <a:lstStyle/>
          <a:p>
            <a:r>
              <a:rPr lang="en-US" dirty="0" smtClean="0"/>
              <a:t>The </a:t>
            </a:r>
            <a:r>
              <a:rPr lang="en-US" dirty="0"/>
              <a:t>potential influence that leaders have over others is called </a:t>
            </a:r>
            <a:r>
              <a:rPr lang="en-US" i="1" dirty="0">
                <a:solidFill>
                  <a:srgbClr val="FF0000"/>
                </a:solidFill>
              </a:rPr>
              <a:t>power</a:t>
            </a:r>
            <a:r>
              <a:rPr lang="en-US" dirty="0"/>
              <a:t>.  </a:t>
            </a:r>
            <a:endParaRPr lang="en-US" dirty="0" smtClean="0"/>
          </a:p>
          <a:p>
            <a:endParaRPr lang="en-US" dirty="0"/>
          </a:p>
          <a:p>
            <a:r>
              <a:rPr lang="en-US" dirty="0" smtClean="0"/>
              <a:t>“Potential</a:t>
            </a:r>
            <a:r>
              <a:rPr lang="en-US" dirty="0"/>
              <a:t>” means that it is actually the perception of power, and not the power itself, that influences followers.  </a:t>
            </a:r>
            <a:endParaRPr lang="en-US" dirty="0" smtClean="0"/>
          </a:p>
          <a:p>
            <a:endParaRPr lang="en-US" dirty="0"/>
          </a:p>
          <a:p>
            <a:r>
              <a:rPr lang="en-US" dirty="0" smtClean="0"/>
              <a:t>The </a:t>
            </a:r>
            <a:r>
              <a:rPr lang="en-US" dirty="0"/>
              <a:t>two main sources of power are </a:t>
            </a:r>
            <a:r>
              <a:rPr lang="en-US" i="1" dirty="0">
                <a:solidFill>
                  <a:srgbClr val="FF0000"/>
                </a:solidFill>
              </a:rPr>
              <a:t>position power </a:t>
            </a:r>
            <a:r>
              <a:rPr lang="en-US" dirty="0"/>
              <a:t>and </a:t>
            </a:r>
            <a:r>
              <a:rPr lang="en-US" i="1" dirty="0">
                <a:solidFill>
                  <a:srgbClr val="FF0000"/>
                </a:solidFill>
              </a:rPr>
              <a:t>personal power</a:t>
            </a:r>
            <a:r>
              <a:rPr lang="en-US" dirty="0"/>
              <a:t>.  </a:t>
            </a:r>
            <a:endParaRPr lang="en-US" dirty="0" smtClean="0"/>
          </a:p>
          <a:p>
            <a:pPr lvl="1"/>
            <a:r>
              <a:rPr lang="en-US" dirty="0" smtClean="0"/>
              <a:t>Position </a:t>
            </a:r>
            <a:r>
              <a:rPr lang="en-US" dirty="0"/>
              <a:t>power is related to hierarchical position </a:t>
            </a:r>
            <a:r>
              <a:rPr lang="en-US" dirty="0" smtClean="0"/>
              <a:t>levels</a:t>
            </a:r>
            <a:r>
              <a:rPr lang="en-US" dirty="0"/>
              <a:t> </a:t>
            </a:r>
            <a:r>
              <a:rPr lang="en-US" dirty="0" smtClean="0"/>
              <a:t>(higher levels = </a:t>
            </a:r>
            <a:r>
              <a:rPr lang="en-US" dirty="0"/>
              <a:t>higher </a:t>
            </a:r>
            <a:r>
              <a:rPr lang="en-US" dirty="0" smtClean="0"/>
              <a:t>power)  </a:t>
            </a:r>
          </a:p>
          <a:p>
            <a:pPr lvl="2"/>
            <a:r>
              <a:rPr lang="en-US" dirty="0" smtClean="0"/>
              <a:t>Example: The </a:t>
            </a:r>
            <a:r>
              <a:rPr lang="en-US" dirty="0"/>
              <a:t>president of a software company has more potential power than any other employee in the company because of position power.  </a:t>
            </a:r>
            <a:endParaRPr lang="en-US" dirty="0" smtClean="0"/>
          </a:p>
          <a:p>
            <a:pPr lvl="1"/>
            <a:endParaRPr lang="en-US" dirty="0" smtClean="0"/>
          </a:p>
          <a:p>
            <a:pPr lvl="1"/>
            <a:r>
              <a:rPr lang="en-US" dirty="0" smtClean="0"/>
              <a:t>Position </a:t>
            </a:r>
            <a:r>
              <a:rPr lang="en-US" dirty="0"/>
              <a:t>power </a:t>
            </a:r>
            <a:r>
              <a:rPr lang="en-US" dirty="0" smtClean="0"/>
              <a:t>allows </a:t>
            </a:r>
            <a:r>
              <a:rPr lang="en-US" dirty="0"/>
              <a:t>managers to influence employees in order to reach planned objectives.  </a:t>
            </a:r>
            <a:endParaRPr lang="en-US" dirty="0" smtClean="0"/>
          </a:p>
          <a:p>
            <a:pPr lvl="2"/>
            <a:r>
              <a:rPr lang="en-US" i="1" dirty="0" smtClean="0"/>
              <a:t>Reward Power </a:t>
            </a:r>
            <a:r>
              <a:rPr lang="en-US" dirty="0" smtClean="0"/>
              <a:t>is a type of position </a:t>
            </a:r>
            <a:r>
              <a:rPr lang="en-US" dirty="0"/>
              <a:t>power.  </a:t>
            </a:r>
            <a:endParaRPr lang="en-US" dirty="0" smtClean="0"/>
          </a:p>
          <a:p>
            <a:pPr lvl="3"/>
            <a:r>
              <a:rPr lang="en-US" dirty="0" smtClean="0"/>
              <a:t>Managers can </a:t>
            </a:r>
            <a:r>
              <a:rPr lang="en-US" dirty="0"/>
              <a:t>influence employees with something of value to </a:t>
            </a:r>
            <a:r>
              <a:rPr lang="en-US" dirty="0" smtClean="0"/>
              <a:t>them (e.g., performance evaluations). </a:t>
            </a:r>
          </a:p>
          <a:p>
            <a:pPr lvl="2"/>
            <a:r>
              <a:rPr lang="en-US" i="1" dirty="0" smtClean="0"/>
              <a:t>Coercive </a:t>
            </a:r>
            <a:r>
              <a:rPr lang="en-US" i="1" dirty="0"/>
              <a:t>power </a:t>
            </a:r>
            <a:r>
              <a:rPr lang="en-US" dirty="0" smtClean="0"/>
              <a:t>is another </a:t>
            </a:r>
            <a:r>
              <a:rPr lang="en-US" dirty="0"/>
              <a:t>type of position </a:t>
            </a:r>
            <a:r>
              <a:rPr lang="en-US" dirty="0" smtClean="0"/>
              <a:t>power</a:t>
            </a:r>
          </a:p>
          <a:p>
            <a:pPr lvl="3"/>
            <a:r>
              <a:rPr lang="en-US" dirty="0" smtClean="0"/>
              <a:t>Managers can </a:t>
            </a:r>
            <a:r>
              <a:rPr lang="en-US" dirty="0"/>
              <a:t>influence others by the idea of punishment and withholding of rewards</a:t>
            </a:r>
            <a:r>
              <a:rPr lang="en-US" dirty="0" smtClean="0"/>
              <a:t>.  </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pic>
        <p:nvPicPr>
          <p:cNvPr id="18434" name="Picture 2" descr="C:\Users\lotero\AppData\Local\Microsoft\Windows\Temporary Internet Files\Content.IE5\7KTSI7KO\MC900140395[1].wmf"/>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304800" y="5029200"/>
            <a:ext cx="1123798" cy="940461"/>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0307054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Leading the Design Effort</a:t>
            </a:r>
            <a:br>
              <a:rPr lang="en-US" dirty="0"/>
            </a:br>
            <a:r>
              <a:rPr lang="en-US" dirty="0"/>
              <a:t>- </a:t>
            </a:r>
            <a:r>
              <a:rPr lang="en-US" dirty="0" smtClean="0"/>
              <a:t>Power </a:t>
            </a:r>
            <a:r>
              <a:rPr lang="en-US" dirty="0"/>
              <a:t>-</a:t>
            </a:r>
          </a:p>
        </p:txBody>
      </p:sp>
      <p:sp>
        <p:nvSpPr>
          <p:cNvPr id="3" name="Content Placeholder 2"/>
          <p:cNvSpPr>
            <a:spLocks noGrp="1"/>
          </p:cNvSpPr>
          <p:nvPr>
            <p:ph idx="1"/>
          </p:nvPr>
        </p:nvSpPr>
        <p:spPr/>
        <p:txBody>
          <a:bodyPr>
            <a:normAutofit/>
          </a:bodyPr>
          <a:lstStyle/>
          <a:p>
            <a:pPr lvl="1"/>
            <a:r>
              <a:rPr lang="en-US" i="1" dirty="0" smtClean="0"/>
              <a:t>Personal </a:t>
            </a:r>
            <a:r>
              <a:rPr lang="en-US" i="1" dirty="0"/>
              <a:t>power </a:t>
            </a:r>
            <a:r>
              <a:rPr lang="en-US" dirty="0"/>
              <a:t>relates to the potential influence that a person’s behavior has to influence others.  </a:t>
            </a:r>
            <a:endParaRPr lang="en-US" dirty="0" smtClean="0"/>
          </a:p>
          <a:p>
            <a:pPr lvl="2"/>
            <a:r>
              <a:rPr lang="en-US" dirty="0" smtClean="0"/>
              <a:t>Being </a:t>
            </a:r>
            <a:r>
              <a:rPr lang="en-US" dirty="0"/>
              <a:t>positive, assertive, and hard worker are some of the characteristics that increase personal power.  </a:t>
            </a:r>
            <a:endParaRPr lang="en-US" dirty="0" smtClean="0"/>
          </a:p>
          <a:p>
            <a:pPr lvl="1"/>
            <a:endParaRPr lang="en-US" dirty="0" smtClean="0"/>
          </a:p>
          <a:p>
            <a:pPr lvl="1"/>
            <a:r>
              <a:rPr lang="en-US" dirty="0" smtClean="0"/>
              <a:t>There </a:t>
            </a:r>
            <a:r>
              <a:rPr lang="en-US" dirty="0"/>
              <a:t>are </a:t>
            </a:r>
            <a:r>
              <a:rPr lang="en-US" dirty="0" smtClean="0"/>
              <a:t>various </a:t>
            </a:r>
            <a:r>
              <a:rPr lang="en-US" dirty="0"/>
              <a:t>types of personal power.  </a:t>
            </a:r>
            <a:endParaRPr lang="en-US" dirty="0" smtClean="0"/>
          </a:p>
          <a:p>
            <a:pPr lvl="2"/>
            <a:r>
              <a:rPr lang="en-US" dirty="0" smtClean="0"/>
              <a:t>The </a:t>
            </a:r>
            <a:r>
              <a:rPr lang="en-US" i="1" dirty="0"/>
              <a:t>expert </a:t>
            </a:r>
            <a:r>
              <a:rPr lang="en-US" i="1" dirty="0" smtClean="0"/>
              <a:t>power</a:t>
            </a:r>
            <a:r>
              <a:rPr lang="en-US" dirty="0" smtClean="0"/>
              <a:t> is </a:t>
            </a:r>
            <a:r>
              <a:rPr lang="en-US" dirty="0"/>
              <a:t>based </a:t>
            </a:r>
            <a:r>
              <a:rPr lang="en-US" dirty="0" smtClean="0"/>
              <a:t>influencing </a:t>
            </a:r>
            <a:r>
              <a:rPr lang="en-US" dirty="0"/>
              <a:t>others </a:t>
            </a:r>
            <a:r>
              <a:rPr lang="en-US" dirty="0" smtClean="0"/>
              <a:t>on </a:t>
            </a:r>
            <a:r>
              <a:rPr lang="en-US" dirty="0"/>
              <a:t>a leader’s skill and knowledge.  </a:t>
            </a:r>
            <a:endParaRPr lang="en-US" dirty="0" smtClean="0"/>
          </a:p>
          <a:p>
            <a:pPr lvl="3"/>
            <a:r>
              <a:rPr lang="en-US" dirty="0" smtClean="0"/>
              <a:t>For </a:t>
            </a:r>
            <a:r>
              <a:rPr lang="en-US" dirty="0"/>
              <a:t>example, being an expert in developing architectural designs will influence others to follow the expert.  </a:t>
            </a:r>
            <a:endParaRPr lang="en-US" dirty="0" smtClean="0"/>
          </a:p>
          <a:p>
            <a:pPr lvl="3"/>
            <a:r>
              <a:rPr lang="en-US" dirty="0" smtClean="0"/>
              <a:t>The </a:t>
            </a:r>
            <a:r>
              <a:rPr lang="en-US" dirty="0"/>
              <a:t>expert power of an individual gets stronger as people with similar expertise levels become fewer.  </a:t>
            </a:r>
            <a:endParaRPr lang="en-US" dirty="0" smtClean="0"/>
          </a:p>
          <a:p>
            <a:pPr lvl="2"/>
            <a:endParaRPr lang="en-US" dirty="0" smtClean="0"/>
          </a:p>
          <a:p>
            <a:pPr lvl="2"/>
            <a:r>
              <a:rPr lang="en-US" dirty="0" smtClean="0"/>
              <a:t>The </a:t>
            </a:r>
            <a:r>
              <a:rPr lang="en-US" i="1" dirty="0" smtClean="0"/>
              <a:t>connection </a:t>
            </a:r>
            <a:r>
              <a:rPr lang="en-US" i="1" dirty="0"/>
              <a:t>power</a:t>
            </a:r>
            <a:r>
              <a:rPr lang="en-US" dirty="0"/>
              <a:t> refers to the ability of a person to influence others because of the person’s relationships with influential people.</a:t>
            </a:r>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pic>
        <p:nvPicPr>
          <p:cNvPr id="19458" name="Picture 2" descr="C:\Users\lotero\AppData\Local\Microsoft\Windows\Temporary Internet Files\Content.IE5\4PMGEOSD\MC900300954[1].wmf"/>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381000" y="3720692"/>
            <a:ext cx="1165973" cy="1040587"/>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659087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Leadership Skills</a:t>
            </a:r>
            <a:r>
              <a:rPr lang="en-US" dirty="0"/>
              <a:t/>
            </a:r>
            <a:br>
              <a:rPr lang="en-US" dirty="0"/>
            </a:br>
            <a:r>
              <a:rPr lang="en-US" dirty="0"/>
              <a:t>- </a:t>
            </a:r>
            <a:r>
              <a:rPr lang="en-US" dirty="0" smtClean="0"/>
              <a:t>Communication </a:t>
            </a:r>
            <a:r>
              <a:rPr lang="en-US" dirty="0"/>
              <a:t>-</a:t>
            </a:r>
          </a:p>
        </p:txBody>
      </p:sp>
      <p:sp>
        <p:nvSpPr>
          <p:cNvPr id="3" name="Content Placeholder 2"/>
          <p:cNvSpPr>
            <a:spLocks noGrp="1"/>
          </p:cNvSpPr>
          <p:nvPr>
            <p:ph idx="1"/>
          </p:nvPr>
        </p:nvSpPr>
        <p:spPr/>
        <p:txBody>
          <a:bodyPr/>
          <a:lstStyle/>
          <a:p>
            <a:r>
              <a:rPr lang="en-US" dirty="0"/>
              <a:t>Good communication skills are essential for effective leadership</a:t>
            </a:r>
            <a:r>
              <a:rPr lang="en-US" dirty="0" smtClean="0"/>
              <a:t>.</a:t>
            </a:r>
          </a:p>
          <a:p>
            <a:pPr lvl="1"/>
            <a:r>
              <a:rPr lang="en-US" dirty="0" smtClean="0"/>
              <a:t>A </a:t>
            </a:r>
            <a:r>
              <a:rPr lang="en-US" dirty="0"/>
              <a:t>high </a:t>
            </a:r>
            <a:r>
              <a:rPr lang="en-US" dirty="0" smtClean="0"/>
              <a:t>% of </a:t>
            </a:r>
            <a:r>
              <a:rPr lang="en-US" dirty="0"/>
              <a:t>a managers’ time is spent in communications.  </a:t>
            </a:r>
            <a:endParaRPr lang="en-US" dirty="0" smtClean="0"/>
          </a:p>
          <a:p>
            <a:pPr lvl="1"/>
            <a:endParaRPr lang="en-US" dirty="0" smtClean="0"/>
          </a:p>
          <a:p>
            <a:r>
              <a:rPr lang="en-US" dirty="0" smtClean="0"/>
              <a:t>Leaders </a:t>
            </a:r>
            <a:r>
              <a:rPr lang="en-US" dirty="0"/>
              <a:t>can influence and establish productive relationships with others through communication.  </a:t>
            </a:r>
            <a:endParaRPr lang="en-US" dirty="0" smtClean="0"/>
          </a:p>
          <a:p>
            <a:endParaRPr lang="en-US" dirty="0"/>
          </a:p>
          <a:p>
            <a:r>
              <a:rPr lang="en-US" dirty="0" smtClean="0"/>
              <a:t>Truly </a:t>
            </a:r>
            <a:r>
              <a:rPr lang="en-US" dirty="0"/>
              <a:t>effective communication occurs when the information passed is equally and fully understood by all parties.  </a:t>
            </a:r>
            <a:endParaRPr lang="en-US" dirty="0" smtClean="0"/>
          </a:p>
          <a:p>
            <a:pPr lvl="1"/>
            <a:r>
              <a:rPr lang="en-US" dirty="0" smtClean="0"/>
              <a:t>Advise:</a:t>
            </a:r>
          </a:p>
          <a:p>
            <a:pPr lvl="2"/>
            <a:r>
              <a:rPr lang="en-US" dirty="0" smtClean="0"/>
              <a:t>Plan </a:t>
            </a:r>
            <a:r>
              <a:rPr lang="en-US" dirty="0"/>
              <a:t>in advance the message that needs to be conveyed.  </a:t>
            </a:r>
            <a:endParaRPr lang="en-US" dirty="0" smtClean="0"/>
          </a:p>
          <a:p>
            <a:pPr lvl="2"/>
            <a:r>
              <a:rPr lang="en-US" dirty="0"/>
              <a:t>T</a:t>
            </a:r>
            <a:r>
              <a:rPr lang="en-US" dirty="0" smtClean="0"/>
              <a:t>he </a:t>
            </a:r>
            <a:r>
              <a:rPr lang="en-US" dirty="0"/>
              <a:t>goal of the message needs to be clearly understood.  </a:t>
            </a:r>
            <a:endParaRPr lang="en-US" dirty="0" smtClean="0"/>
          </a:p>
          <a:p>
            <a:pPr lvl="2"/>
            <a:r>
              <a:rPr lang="en-US" dirty="0" smtClean="0"/>
              <a:t>Think </a:t>
            </a:r>
            <a:r>
              <a:rPr lang="en-US" dirty="0"/>
              <a:t>about the best timing to convey the message, how will the message be delivered (e.g., oral, written), and where (e.g., company’s auditorium, employee’s office, etc.)</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pic>
        <p:nvPicPr>
          <p:cNvPr id="20482" name="Picture 2" descr="C:\Users\lotero\AppData\Local\Microsoft\Windows\Temporary Internet Files\Content.IE5\U5Y39UI7\MC900285418[1].wmf"/>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81000" y="4648200"/>
            <a:ext cx="991105" cy="115305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436461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Key Leadership Skills</a:t>
            </a:r>
            <a:br>
              <a:rPr lang="en-US" dirty="0"/>
            </a:br>
            <a:r>
              <a:rPr lang="en-US" dirty="0"/>
              <a:t>- Communication -</a:t>
            </a:r>
          </a:p>
        </p:txBody>
      </p:sp>
      <p:sp>
        <p:nvSpPr>
          <p:cNvPr id="3" name="Content Placeholder 2"/>
          <p:cNvSpPr>
            <a:spLocks noGrp="1"/>
          </p:cNvSpPr>
          <p:nvPr>
            <p:ph idx="1"/>
          </p:nvPr>
        </p:nvSpPr>
        <p:spPr/>
        <p:txBody>
          <a:bodyPr>
            <a:normAutofit fontScale="92500"/>
          </a:bodyPr>
          <a:lstStyle/>
          <a:p>
            <a:r>
              <a:rPr lang="en-US" dirty="0" smtClean="0"/>
              <a:t>Effective</a:t>
            </a:r>
            <a:r>
              <a:rPr lang="en-US" i="1" dirty="0" smtClean="0"/>
              <a:t> </a:t>
            </a:r>
            <a:r>
              <a:rPr lang="en-US" i="1" dirty="0" smtClean="0">
                <a:solidFill>
                  <a:srgbClr val="FF0000"/>
                </a:solidFill>
              </a:rPr>
              <a:t>oral communication </a:t>
            </a:r>
            <a:r>
              <a:rPr lang="en-US" dirty="0" smtClean="0"/>
              <a:t>can </a:t>
            </a:r>
            <a:r>
              <a:rPr lang="en-US" dirty="0"/>
              <a:t>be </a:t>
            </a:r>
            <a:r>
              <a:rPr lang="en-US" dirty="0" smtClean="0"/>
              <a:t>challenging (and </a:t>
            </a:r>
            <a:r>
              <a:rPr lang="en-US" dirty="0"/>
              <a:t>often takes much </a:t>
            </a:r>
            <a:r>
              <a:rPr lang="en-US" dirty="0" smtClean="0"/>
              <a:t>practice).  </a:t>
            </a:r>
          </a:p>
          <a:p>
            <a:pPr lvl="1"/>
            <a:r>
              <a:rPr lang="en-US" dirty="0" smtClean="0"/>
              <a:t>Have </a:t>
            </a:r>
            <a:r>
              <a:rPr lang="en-US" dirty="0"/>
              <a:t>a process in place so that focus can be placed in the individual elements of the process.  </a:t>
            </a:r>
            <a:endParaRPr lang="en-US" dirty="0" smtClean="0"/>
          </a:p>
          <a:p>
            <a:pPr lvl="1"/>
            <a:endParaRPr lang="en-US" dirty="0" smtClean="0"/>
          </a:p>
          <a:p>
            <a:pPr lvl="1"/>
            <a:r>
              <a:rPr lang="en-US" dirty="0" smtClean="0"/>
              <a:t>Five-step </a:t>
            </a:r>
            <a:r>
              <a:rPr lang="en-US" dirty="0"/>
              <a:t>process for effectively sending oral </a:t>
            </a:r>
            <a:r>
              <a:rPr lang="en-US" dirty="0" smtClean="0"/>
              <a:t>messages [1]:</a:t>
            </a:r>
          </a:p>
          <a:p>
            <a:pPr lvl="2"/>
            <a:r>
              <a:rPr lang="en-US" dirty="0" smtClean="0"/>
              <a:t>(1) Develop </a:t>
            </a:r>
            <a:r>
              <a:rPr lang="en-US" dirty="0"/>
              <a:t>a rapport.  </a:t>
            </a:r>
            <a:endParaRPr lang="en-US" dirty="0" smtClean="0"/>
          </a:p>
          <a:p>
            <a:pPr lvl="3"/>
            <a:r>
              <a:rPr lang="en-US" dirty="0" smtClean="0"/>
              <a:t>Try </a:t>
            </a:r>
            <a:r>
              <a:rPr lang="en-US" dirty="0"/>
              <a:t>establishing a good relationship with the receiving </a:t>
            </a:r>
            <a:r>
              <a:rPr lang="en-US" dirty="0" smtClean="0"/>
              <a:t>party; begin </a:t>
            </a:r>
            <a:r>
              <a:rPr lang="en-US" dirty="0"/>
              <a:t>small conversations related to the message.  </a:t>
            </a:r>
            <a:endParaRPr lang="en-US" dirty="0" smtClean="0"/>
          </a:p>
          <a:p>
            <a:pPr lvl="2"/>
            <a:r>
              <a:rPr lang="en-US" dirty="0" smtClean="0"/>
              <a:t>(2) Clearly </a:t>
            </a:r>
            <a:r>
              <a:rPr lang="en-US" dirty="0"/>
              <a:t>state the objective of the message.  </a:t>
            </a:r>
            <a:endParaRPr lang="en-US" dirty="0" smtClean="0"/>
          </a:p>
          <a:p>
            <a:pPr lvl="2"/>
            <a:r>
              <a:rPr lang="en-US" dirty="0" smtClean="0"/>
              <a:t>(3) Actually </a:t>
            </a:r>
            <a:r>
              <a:rPr lang="en-US" dirty="0"/>
              <a:t>transmit the </a:t>
            </a:r>
            <a:r>
              <a:rPr lang="en-US" dirty="0" smtClean="0"/>
              <a:t>message effectively.  </a:t>
            </a:r>
          </a:p>
          <a:p>
            <a:pPr lvl="2"/>
            <a:r>
              <a:rPr lang="en-US" dirty="0" smtClean="0"/>
              <a:t>(4) Perceive </a:t>
            </a:r>
            <a:r>
              <a:rPr lang="en-US" dirty="0"/>
              <a:t>the receivers’ understanding of the message.  </a:t>
            </a:r>
            <a:endParaRPr lang="en-US" dirty="0" smtClean="0"/>
          </a:p>
          <a:p>
            <a:pPr lvl="3"/>
            <a:r>
              <a:rPr lang="en-US" dirty="0" smtClean="0"/>
              <a:t>It </a:t>
            </a:r>
            <a:r>
              <a:rPr lang="en-US" dirty="0"/>
              <a:t>is important that the message was well understood; otherwise its objectives were not achieved.  </a:t>
            </a:r>
            <a:endParaRPr lang="en-US" dirty="0" smtClean="0"/>
          </a:p>
          <a:p>
            <a:pPr lvl="3"/>
            <a:r>
              <a:rPr lang="en-US" dirty="0" smtClean="0"/>
              <a:t>This </a:t>
            </a:r>
            <a:r>
              <a:rPr lang="en-US" dirty="0"/>
              <a:t>can be accomplished by asking direct questions, or reading the receiver’s expressions.  </a:t>
            </a:r>
            <a:endParaRPr lang="en-US" dirty="0" smtClean="0"/>
          </a:p>
          <a:p>
            <a:pPr lvl="2"/>
            <a:r>
              <a:rPr lang="en-US" dirty="0" smtClean="0"/>
              <a:t>(5) Get </a:t>
            </a:r>
            <a:r>
              <a:rPr lang="en-US" dirty="0"/>
              <a:t>a commitment from the receiver.  </a:t>
            </a:r>
            <a:endParaRPr lang="en-US" dirty="0" smtClean="0"/>
          </a:p>
          <a:p>
            <a:pPr lvl="3"/>
            <a:r>
              <a:rPr lang="en-US" dirty="0" smtClean="0"/>
              <a:t>Only if the </a:t>
            </a:r>
            <a:r>
              <a:rPr lang="en-US" dirty="0"/>
              <a:t>goal is to influence the receiver to accomplish a task (e.g., design </a:t>
            </a:r>
            <a:r>
              <a:rPr lang="en-US" dirty="0" smtClean="0"/>
              <a:t>document)</a:t>
            </a:r>
          </a:p>
          <a:p>
            <a:pPr lvl="3"/>
            <a:r>
              <a:rPr lang="en-US" dirty="0" smtClean="0"/>
              <a:t>The </a:t>
            </a:r>
            <a:r>
              <a:rPr lang="en-US" dirty="0"/>
              <a:t>leader must be convinced that the receiver is capable of completing the task by its deadline. </a:t>
            </a:r>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 xmlns:p14="http://schemas.microsoft.com/office/powerpoint/2010/main" val="634769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Key Leadership Skills</a:t>
            </a:r>
            <a:br>
              <a:rPr lang="en-US" dirty="0"/>
            </a:br>
            <a:r>
              <a:rPr lang="en-US" dirty="0"/>
              <a:t>- Communication -</a:t>
            </a:r>
          </a:p>
        </p:txBody>
      </p:sp>
      <p:sp>
        <p:nvSpPr>
          <p:cNvPr id="3" name="Content Placeholder 2"/>
          <p:cNvSpPr>
            <a:spLocks noGrp="1"/>
          </p:cNvSpPr>
          <p:nvPr>
            <p:ph idx="1"/>
          </p:nvPr>
        </p:nvSpPr>
        <p:spPr/>
        <p:txBody>
          <a:bodyPr>
            <a:normAutofit fontScale="92500" lnSpcReduction="20000"/>
          </a:bodyPr>
          <a:lstStyle/>
          <a:p>
            <a:r>
              <a:rPr lang="en-US" dirty="0"/>
              <a:t>Another type of communication is </a:t>
            </a:r>
            <a:r>
              <a:rPr lang="en-US" i="1" dirty="0">
                <a:solidFill>
                  <a:srgbClr val="FF0000"/>
                </a:solidFill>
              </a:rPr>
              <a:t>written communication</a:t>
            </a:r>
            <a:r>
              <a:rPr lang="en-US" dirty="0"/>
              <a:t>.  </a:t>
            </a:r>
            <a:endParaRPr lang="en-US" dirty="0" smtClean="0"/>
          </a:p>
          <a:p>
            <a:pPr lvl="1"/>
            <a:r>
              <a:rPr lang="en-US" dirty="0" smtClean="0"/>
              <a:t>This </a:t>
            </a:r>
            <a:r>
              <a:rPr lang="en-US" dirty="0"/>
              <a:t>type of communication is now more important than ever, and it is mainly attributed to the e-mail technology</a:t>
            </a:r>
            <a:r>
              <a:rPr lang="en-US" dirty="0" smtClean="0"/>
              <a:t>.    </a:t>
            </a:r>
            <a:endParaRPr lang="en-US" dirty="0"/>
          </a:p>
          <a:p>
            <a:endParaRPr lang="en-US" dirty="0"/>
          </a:p>
          <a:p>
            <a:r>
              <a:rPr lang="en-US" dirty="0"/>
              <a:t>The key elements for effective written communication are content and structure.  </a:t>
            </a:r>
            <a:endParaRPr lang="en-US" dirty="0" smtClean="0"/>
          </a:p>
          <a:p>
            <a:pPr lvl="1"/>
            <a:r>
              <a:rPr lang="en-US" dirty="0" smtClean="0"/>
              <a:t>The </a:t>
            </a:r>
            <a:r>
              <a:rPr lang="en-US" dirty="0"/>
              <a:t>message must be structured in such a way that the information it intends to transmit (i.e., content) is clearly described, and the flow of information is smooth and easy to follow.  </a:t>
            </a:r>
            <a:endParaRPr lang="en-US" dirty="0" smtClean="0"/>
          </a:p>
          <a:p>
            <a:endParaRPr lang="en-US" dirty="0"/>
          </a:p>
          <a:p>
            <a:r>
              <a:rPr lang="en-US" dirty="0" smtClean="0"/>
              <a:t>It </a:t>
            </a:r>
            <a:r>
              <a:rPr lang="en-US" dirty="0"/>
              <a:t>is critical for the communicator to clearly understand the intended objective of the message before writing it.  </a:t>
            </a:r>
            <a:r>
              <a:rPr lang="en-US" dirty="0" smtClean="0"/>
              <a:t>Some advise:</a:t>
            </a:r>
          </a:p>
          <a:p>
            <a:pPr lvl="1"/>
            <a:r>
              <a:rPr lang="en-US" dirty="0" smtClean="0"/>
              <a:t>Make </a:t>
            </a:r>
            <a:r>
              <a:rPr lang="en-US" dirty="0"/>
              <a:t>an outline with the main points that need to be transmitted. </a:t>
            </a:r>
            <a:endParaRPr lang="en-US" dirty="0" smtClean="0"/>
          </a:p>
          <a:p>
            <a:pPr lvl="1"/>
            <a:r>
              <a:rPr lang="en-US" dirty="0" smtClean="0"/>
              <a:t>Avoid </a:t>
            </a:r>
            <a:r>
              <a:rPr lang="en-US" dirty="0"/>
              <a:t>including unnecessary information.  Messages must be kept short, simple and to the point.  </a:t>
            </a:r>
          </a:p>
          <a:p>
            <a:endParaRPr lang="en-US" dirty="0"/>
          </a:p>
          <a:p>
            <a:r>
              <a:rPr lang="en-US" dirty="0" smtClean="0"/>
              <a:t>Writing </a:t>
            </a:r>
            <a:r>
              <a:rPr lang="en-US" dirty="0"/>
              <a:t>is a </a:t>
            </a:r>
            <a:r>
              <a:rPr lang="en-US" dirty="0" smtClean="0"/>
              <a:t>skill!  It </a:t>
            </a:r>
            <a:r>
              <a:rPr lang="en-US" dirty="0"/>
              <a:t>takes effort </a:t>
            </a:r>
            <a:r>
              <a:rPr lang="en-US" dirty="0" smtClean="0"/>
              <a:t>and </a:t>
            </a:r>
            <a:r>
              <a:rPr lang="en-US" dirty="0"/>
              <a:t>practice to become good at it.  </a:t>
            </a:r>
            <a:endParaRPr lang="en-US" dirty="0" smtClean="0"/>
          </a:p>
          <a:p>
            <a:pPr lvl="1"/>
            <a:r>
              <a:rPr lang="en-US" dirty="0" smtClean="0"/>
              <a:t>Have </a:t>
            </a:r>
            <a:r>
              <a:rPr lang="en-US" dirty="0"/>
              <a:t>others review your work so that you can learn from their feedback.  </a:t>
            </a:r>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pic>
        <p:nvPicPr>
          <p:cNvPr id="21506" name="Picture 2" descr="C:\Users\lotero\AppData\Local\Microsoft\Windows\Temporary Internet Files\Content.IE5\U5Y39UI7\MP900341542[1].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620000" y="5105400"/>
            <a:ext cx="1068224" cy="7620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509426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Leadership Skills</a:t>
            </a:r>
            <a:r>
              <a:rPr lang="en-US" dirty="0"/>
              <a:t/>
            </a:r>
            <a:br>
              <a:rPr lang="en-US" dirty="0"/>
            </a:br>
            <a:r>
              <a:rPr lang="en-US" dirty="0"/>
              <a:t>- </a:t>
            </a:r>
            <a:r>
              <a:rPr lang="en-US" dirty="0" smtClean="0"/>
              <a:t>Networking </a:t>
            </a:r>
            <a:r>
              <a:rPr lang="en-US" dirty="0"/>
              <a:t>-</a:t>
            </a:r>
          </a:p>
        </p:txBody>
      </p:sp>
      <p:sp>
        <p:nvSpPr>
          <p:cNvPr id="3" name="Content Placeholder 2"/>
          <p:cNvSpPr>
            <a:spLocks noGrp="1"/>
          </p:cNvSpPr>
          <p:nvPr>
            <p:ph idx="1"/>
          </p:nvPr>
        </p:nvSpPr>
        <p:spPr/>
        <p:txBody>
          <a:bodyPr/>
          <a:lstStyle/>
          <a:p>
            <a:r>
              <a:rPr lang="en-US" dirty="0"/>
              <a:t>Networking can be defined as a skill that focuses on building relationships with others through effective communications.  </a:t>
            </a:r>
            <a:endParaRPr lang="en-US" dirty="0" smtClean="0"/>
          </a:p>
          <a:p>
            <a:endParaRPr lang="en-US" dirty="0"/>
          </a:p>
          <a:p>
            <a:r>
              <a:rPr lang="en-US" dirty="0" smtClean="0"/>
              <a:t>Communications </a:t>
            </a:r>
            <a:r>
              <a:rPr lang="en-US" dirty="0"/>
              <a:t>and networking skills are closely related to each other.  </a:t>
            </a:r>
            <a:endParaRPr lang="en-US" dirty="0" smtClean="0"/>
          </a:p>
          <a:p>
            <a:endParaRPr lang="en-US" dirty="0"/>
          </a:p>
          <a:p>
            <a:r>
              <a:rPr lang="en-US" dirty="0" smtClean="0"/>
              <a:t>Networking </a:t>
            </a:r>
            <a:r>
              <a:rPr lang="en-US" dirty="0"/>
              <a:t>is particularly important for leadership because it facilitates the process of meeting objectives.  </a:t>
            </a:r>
            <a:endParaRPr lang="en-US" dirty="0" smtClean="0"/>
          </a:p>
          <a:p>
            <a:endParaRPr lang="en-US" dirty="0"/>
          </a:p>
          <a:p>
            <a:r>
              <a:rPr lang="en-US" dirty="0" smtClean="0"/>
              <a:t>As </a:t>
            </a:r>
            <a:r>
              <a:rPr lang="en-US" dirty="0"/>
              <a:t>with any skill, networking can be improved with practice.</a:t>
            </a:r>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pic>
        <p:nvPicPr>
          <p:cNvPr id="22530" name="Picture 2" descr="C:\Users\lotero\AppData\Local\Microsoft\Windows\Temporary Internet Files\Content.IE5\7KTSI7KO\MP900439345[1].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810000" y="4800600"/>
            <a:ext cx="1445445" cy="1380744"/>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691753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Leadership Skills</a:t>
            </a:r>
            <a:r>
              <a:rPr lang="en-US" dirty="0"/>
              <a:t/>
            </a:r>
            <a:br>
              <a:rPr lang="en-US" dirty="0"/>
            </a:br>
            <a:r>
              <a:rPr lang="en-US" dirty="0"/>
              <a:t>- </a:t>
            </a:r>
            <a:r>
              <a:rPr lang="en-US" dirty="0" smtClean="0"/>
              <a:t>Motivation </a:t>
            </a:r>
            <a:r>
              <a:rPr lang="en-US" dirty="0"/>
              <a:t>-</a:t>
            </a:r>
          </a:p>
        </p:txBody>
      </p:sp>
      <p:sp>
        <p:nvSpPr>
          <p:cNvPr id="3" name="Content Placeholder 2"/>
          <p:cNvSpPr>
            <a:spLocks noGrp="1"/>
          </p:cNvSpPr>
          <p:nvPr>
            <p:ph idx="1"/>
          </p:nvPr>
        </p:nvSpPr>
        <p:spPr/>
        <p:txBody>
          <a:bodyPr>
            <a:normAutofit/>
          </a:bodyPr>
          <a:lstStyle/>
          <a:p>
            <a:r>
              <a:rPr lang="en-US" dirty="0" smtClean="0"/>
              <a:t>There </a:t>
            </a:r>
            <a:r>
              <a:rPr lang="en-US" dirty="0"/>
              <a:t>exists a positive correlation between employees’ motivation levels and their productivity.  </a:t>
            </a:r>
            <a:endParaRPr lang="en-US" dirty="0" smtClean="0"/>
          </a:p>
          <a:p>
            <a:pPr lvl="1"/>
            <a:r>
              <a:rPr lang="en-US" dirty="0" smtClean="0"/>
              <a:t>A leader must motivate </a:t>
            </a:r>
            <a:r>
              <a:rPr lang="en-US" dirty="0"/>
              <a:t>others to work hard to achieve particular project </a:t>
            </a:r>
            <a:r>
              <a:rPr lang="en-US" dirty="0" smtClean="0"/>
              <a:t>goals.</a:t>
            </a:r>
            <a:endParaRPr lang="en-US" dirty="0"/>
          </a:p>
          <a:p>
            <a:endParaRPr lang="en-US" dirty="0" smtClean="0"/>
          </a:p>
          <a:p>
            <a:r>
              <a:rPr lang="en-US" dirty="0" smtClean="0"/>
              <a:t>The </a:t>
            </a:r>
            <a:r>
              <a:rPr lang="en-US" i="1" dirty="0"/>
              <a:t>hierarchy of needs theory </a:t>
            </a:r>
            <a:r>
              <a:rPr lang="en-US" dirty="0" smtClean="0"/>
              <a:t> is a motivational theory that describes </a:t>
            </a:r>
            <a:r>
              <a:rPr lang="en-US" dirty="0"/>
              <a:t>five types of needs through which employees are motivated</a:t>
            </a:r>
            <a:r>
              <a:rPr lang="en-US" dirty="0" smtClean="0"/>
              <a:t>.</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pic>
        <p:nvPicPr>
          <p:cNvPr id="23554"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362200" y="3429000"/>
            <a:ext cx="4648200" cy="30874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6917532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Leadership Skills</a:t>
            </a:r>
            <a:r>
              <a:rPr lang="en-US" dirty="0"/>
              <a:t/>
            </a:r>
            <a:br>
              <a:rPr lang="en-US" dirty="0"/>
            </a:br>
            <a:r>
              <a:rPr lang="en-US" dirty="0"/>
              <a:t>- </a:t>
            </a:r>
            <a:r>
              <a:rPr lang="en-US" dirty="0" smtClean="0"/>
              <a:t>Negotiation -</a:t>
            </a:r>
            <a:endParaRPr lang="en-US" dirty="0"/>
          </a:p>
        </p:txBody>
      </p:sp>
      <p:sp>
        <p:nvSpPr>
          <p:cNvPr id="3" name="Content Placeholder 2"/>
          <p:cNvSpPr>
            <a:spLocks noGrp="1"/>
          </p:cNvSpPr>
          <p:nvPr>
            <p:ph idx="1"/>
          </p:nvPr>
        </p:nvSpPr>
        <p:spPr/>
        <p:txBody>
          <a:bodyPr>
            <a:normAutofit fontScale="92500" lnSpcReduction="20000"/>
          </a:bodyPr>
          <a:lstStyle/>
          <a:p>
            <a:r>
              <a:rPr lang="en-US" dirty="0"/>
              <a:t>Negotiation skills are </a:t>
            </a:r>
            <a:r>
              <a:rPr lang="en-US" dirty="0" smtClean="0"/>
              <a:t>important </a:t>
            </a:r>
            <a:r>
              <a:rPr lang="en-US" dirty="0"/>
              <a:t>part of any management job.  </a:t>
            </a:r>
            <a:endParaRPr lang="en-US" dirty="0" smtClean="0"/>
          </a:p>
          <a:p>
            <a:endParaRPr lang="en-US" dirty="0"/>
          </a:p>
          <a:p>
            <a:r>
              <a:rPr lang="en-US" dirty="0" smtClean="0"/>
              <a:t>Research </a:t>
            </a:r>
            <a:r>
              <a:rPr lang="en-US" dirty="0"/>
              <a:t>studies </a:t>
            </a:r>
            <a:r>
              <a:rPr lang="en-US" dirty="0" smtClean="0"/>
              <a:t>have resulted in various sets of guidelines </a:t>
            </a:r>
            <a:r>
              <a:rPr lang="en-US" dirty="0"/>
              <a:t>that can help to improve a person’s negotiation skills.  </a:t>
            </a:r>
            <a:endParaRPr lang="en-US" dirty="0" smtClean="0"/>
          </a:p>
          <a:p>
            <a:pPr lvl="1"/>
            <a:r>
              <a:rPr lang="en-US" dirty="0" smtClean="0"/>
              <a:t>One </a:t>
            </a:r>
            <a:r>
              <a:rPr lang="en-US" dirty="0"/>
              <a:t>such set of </a:t>
            </a:r>
            <a:r>
              <a:rPr lang="en-US" dirty="0" smtClean="0"/>
              <a:t>guidelines is </a:t>
            </a:r>
            <a:r>
              <a:rPr lang="en-US" dirty="0"/>
              <a:t>called </a:t>
            </a:r>
            <a:r>
              <a:rPr lang="en-US" i="1" dirty="0">
                <a:solidFill>
                  <a:srgbClr val="FF0000"/>
                </a:solidFill>
              </a:rPr>
              <a:t>principled </a:t>
            </a:r>
            <a:r>
              <a:rPr lang="en-US" i="1" dirty="0" smtClean="0">
                <a:solidFill>
                  <a:srgbClr val="FF0000"/>
                </a:solidFill>
              </a:rPr>
              <a:t>negotiation</a:t>
            </a:r>
            <a:endParaRPr lang="en-US" dirty="0" smtClean="0">
              <a:solidFill>
                <a:srgbClr val="FF0000"/>
              </a:solidFill>
            </a:endParaRPr>
          </a:p>
          <a:p>
            <a:endParaRPr lang="en-US" dirty="0" smtClean="0"/>
          </a:p>
          <a:p>
            <a:r>
              <a:rPr lang="en-US" i="1" dirty="0" smtClean="0"/>
              <a:t>Principled </a:t>
            </a:r>
            <a:r>
              <a:rPr lang="en-US" i="1" dirty="0"/>
              <a:t>negotiation</a:t>
            </a:r>
            <a:r>
              <a:rPr lang="en-US" dirty="0"/>
              <a:t> is composed of four guidelines.  </a:t>
            </a:r>
            <a:endParaRPr lang="en-US" dirty="0" smtClean="0"/>
          </a:p>
          <a:p>
            <a:pPr lvl="1"/>
            <a:r>
              <a:rPr lang="en-US" dirty="0" smtClean="0"/>
              <a:t>(1) </a:t>
            </a:r>
            <a:r>
              <a:rPr lang="en-US" i="1" dirty="0" smtClean="0"/>
              <a:t>Separate </a:t>
            </a:r>
            <a:r>
              <a:rPr lang="en-US" i="1" dirty="0"/>
              <a:t>the people from the problem</a:t>
            </a:r>
            <a:r>
              <a:rPr lang="en-US" dirty="0"/>
              <a:t>.  </a:t>
            </a:r>
            <a:endParaRPr lang="en-US" dirty="0" smtClean="0"/>
          </a:p>
          <a:p>
            <a:pPr lvl="2"/>
            <a:r>
              <a:rPr lang="en-US" dirty="0" smtClean="0"/>
              <a:t>This </a:t>
            </a:r>
            <a:r>
              <a:rPr lang="en-US" dirty="0"/>
              <a:t>principle helps to keep the focus on the problem at hand rather than on interpersonal issues.  </a:t>
            </a:r>
            <a:endParaRPr lang="en-US" dirty="0" smtClean="0"/>
          </a:p>
          <a:p>
            <a:pPr lvl="1"/>
            <a:r>
              <a:rPr lang="en-US" dirty="0" smtClean="0"/>
              <a:t>(2) </a:t>
            </a:r>
            <a:r>
              <a:rPr lang="en-US" i="1" dirty="0" smtClean="0"/>
              <a:t>Focus </a:t>
            </a:r>
            <a:r>
              <a:rPr lang="en-US" i="1" dirty="0"/>
              <a:t>on interests rather than positions</a:t>
            </a:r>
            <a:r>
              <a:rPr lang="en-US" dirty="0"/>
              <a:t>.  </a:t>
            </a:r>
            <a:endParaRPr lang="en-US" dirty="0" smtClean="0"/>
          </a:p>
          <a:p>
            <a:pPr lvl="2"/>
            <a:r>
              <a:rPr lang="en-US" dirty="0" smtClean="0"/>
              <a:t>This </a:t>
            </a:r>
            <a:r>
              <a:rPr lang="en-US" dirty="0"/>
              <a:t>principle helps to keep the focus of the negotiation on the interests of people rather than their positions.  </a:t>
            </a:r>
            <a:endParaRPr lang="en-US" dirty="0" smtClean="0"/>
          </a:p>
          <a:p>
            <a:pPr lvl="1"/>
            <a:r>
              <a:rPr lang="en-US" dirty="0" smtClean="0"/>
              <a:t>(3) </a:t>
            </a:r>
            <a:r>
              <a:rPr lang="en-US" i="1" dirty="0" smtClean="0"/>
              <a:t>Generate </a:t>
            </a:r>
            <a:r>
              <a:rPr lang="en-US" i="1" dirty="0"/>
              <a:t>options before trying to reach an agreement</a:t>
            </a:r>
            <a:r>
              <a:rPr lang="en-US" dirty="0"/>
              <a:t>.  </a:t>
            </a:r>
            <a:endParaRPr lang="en-US" dirty="0" smtClean="0"/>
          </a:p>
          <a:p>
            <a:pPr lvl="2"/>
            <a:r>
              <a:rPr lang="en-US" dirty="0" smtClean="0"/>
              <a:t>This </a:t>
            </a:r>
            <a:r>
              <a:rPr lang="en-US" dirty="0"/>
              <a:t>principle promotes creativity and reminds the negotiating parties to brainstorm to find various potential solutions that can be brought to the negotiation.  </a:t>
            </a:r>
            <a:endParaRPr lang="en-US" dirty="0" smtClean="0"/>
          </a:p>
          <a:p>
            <a:pPr lvl="1"/>
            <a:r>
              <a:rPr lang="en-US" dirty="0" smtClean="0"/>
              <a:t>(4) </a:t>
            </a:r>
            <a:r>
              <a:rPr lang="en-US" i="1" dirty="0" smtClean="0"/>
              <a:t>Insist </a:t>
            </a:r>
            <a:r>
              <a:rPr lang="en-US" i="1" dirty="0"/>
              <a:t>on using objective criteria</a:t>
            </a:r>
            <a:r>
              <a:rPr lang="en-US" dirty="0"/>
              <a:t>.  </a:t>
            </a:r>
            <a:endParaRPr lang="en-US" dirty="0" smtClean="0"/>
          </a:p>
          <a:p>
            <a:pPr lvl="2"/>
            <a:r>
              <a:rPr lang="en-US" dirty="0" smtClean="0"/>
              <a:t>This </a:t>
            </a:r>
            <a:r>
              <a:rPr lang="en-US" dirty="0"/>
              <a:t>principle promotes decision-making based on reasonable standards rather than on subjective ones.</a:t>
            </a:r>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 xmlns:p14="http://schemas.microsoft.com/office/powerpoint/2010/main" val="6917532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Ethics in Software Design</a:t>
            </a:r>
            <a:endParaRPr lang="en-US" dirty="0"/>
          </a:p>
        </p:txBody>
      </p:sp>
      <p:sp>
        <p:nvSpPr>
          <p:cNvPr id="3" name="Content Placeholder 2"/>
          <p:cNvSpPr>
            <a:spLocks noGrp="1"/>
          </p:cNvSpPr>
          <p:nvPr>
            <p:ph idx="1"/>
          </p:nvPr>
        </p:nvSpPr>
        <p:spPr/>
        <p:txBody>
          <a:bodyPr>
            <a:normAutofit/>
          </a:bodyPr>
          <a:lstStyle/>
          <a:p>
            <a:r>
              <a:rPr lang="en-US" dirty="0" smtClean="0"/>
              <a:t>Engineers </a:t>
            </a:r>
            <a:r>
              <a:rPr lang="en-US" dirty="0"/>
              <a:t>must abide to the highest possible standards when developing software systems </a:t>
            </a:r>
            <a:endParaRPr lang="en-US" dirty="0" smtClean="0"/>
          </a:p>
          <a:p>
            <a:pPr lvl="1"/>
            <a:r>
              <a:rPr lang="en-US" dirty="0" smtClean="0"/>
              <a:t>Helps to </a:t>
            </a:r>
            <a:r>
              <a:rPr lang="en-US" dirty="0"/>
              <a:t>make the software engineering profession beneficial and highly respected.  </a:t>
            </a:r>
            <a:endParaRPr lang="en-US" dirty="0" smtClean="0"/>
          </a:p>
          <a:p>
            <a:pPr lvl="1"/>
            <a:r>
              <a:rPr lang="en-US" dirty="0" smtClean="0"/>
              <a:t>Engineers </a:t>
            </a:r>
            <a:r>
              <a:rPr lang="en-US" dirty="0"/>
              <a:t>have the responsibility to public welfare, including health and safety.  </a:t>
            </a:r>
            <a:endParaRPr lang="en-US" dirty="0" smtClean="0"/>
          </a:p>
          <a:p>
            <a:endParaRPr lang="en-US" dirty="0" smtClean="0"/>
          </a:p>
          <a:p>
            <a:r>
              <a:rPr lang="en-US" dirty="0" smtClean="0"/>
              <a:t>Various </a:t>
            </a:r>
            <a:r>
              <a:rPr lang="en-US" i="1" dirty="0" smtClean="0">
                <a:solidFill>
                  <a:srgbClr val="FF0000"/>
                </a:solidFill>
              </a:rPr>
              <a:t>principles of ethics </a:t>
            </a:r>
            <a:r>
              <a:rPr lang="en-US" dirty="0" smtClean="0"/>
              <a:t>collectively </a:t>
            </a:r>
            <a:r>
              <a:rPr lang="en-US" dirty="0"/>
              <a:t>ensure that professionals in the software engineering field adhere to high-levels of ethical conduct.  </a:t>
            </a:r>
            <a:endParaRPr lang="en-US" dirty="0" smtClean="0"/>
          </a:p>
          <a:p>
            <a:endParaRPr lang="en-US" dirty="0" smtClean="0"/>
          </a:p>
          <a:p>
            <a:r>
              <a:rPr lang="en-US" dirty="0" smtClean="0"/>
              <a:t>The </a:t>
            </a:r>
            <a:r>
              <a:rPr lang="en-US" dirty="0"/>
              <a:t>IEEE-CS/ACM organizations developed a </a:t>
            </a:r>
            <a:r>
              <a:rPr lang="en-US" i="1" dirty="0"/>
              <a:t>Software Engineering Code of Ethics (SECE) </a:t>
            </a:r>
            <a:r>
              <a:rPr lang="en-US" dirty="0" smtClean="0"/>
              <a:t>[4] as </a:t>
            </a:r>
            <a:r>
              <a:rPr lang="en-US" dirty="0"/>
              <a:t>the standard set of ethical guidelines that engineers must adhere to</a:t>
            </a:r>
            <a:r>
              <a:rPr lang="en-US" dirty="0" smtClean="0"/>
              <a:t>.</a:t>
            </a:r>
            <a:endParaRPr lang="en-US" dirty="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 xmlns:p14="http://schemas.microsoft.com/office/powerpoint/2010/main" val="530026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Ethics in Software Design</a:t>
            </a:r>
          </a:p>
        </p:txBody>
      </p:sp>
      <p:sp>
        <p:nvSpPr>
          <p:cNvPr id="3" name="Content Placeholder 2"/>
          <p:cNvSpPr>
            <a:spLocks noGrp="1"/>
          </p:cNvSpPr>
          <p:nvPr>
            <p:ph idx="1"/>
          </p:nvPr>
        </p:nvSpPr>
        <p:spPr/>
        <p:txBody>
          <a:bodyPr/>
          <a:lstStyle/>
          <a:p>
            <a:r>
              <a:rPr lang="en-US" dirty="0" smtClean="0"/>
              <a:t>Principles of Ethics in Software Engineering [4]</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pic>
        <p:nvPicPr>
          <p:cNvPr id="24578"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609725" y="2133600"/>
            <a:ext cx="5943600" cy="34385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4779924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Ethics in Software Design</a:t>
            </a:r>
            <a:r>
              <a:rPr lang="en-US" dirty="0"/>
              <a:t/>
            </a:r>
            <a:br>
              <a:rPr lang="en-US" dirty="0"/>
            </a:br>
            <a:r>
              <a:rPr lang="en-US" dirty="0"/>
              <a:t>- Public and Product Principles</a:t>
            </a:r>
            <a:r>
              <a:rPr lang="en-US" dirty="0" smtClean="0"/>
              <a:t> </a:t>
            </a:r>
            <a:r>
              <a:rPr lang="en-US" dirty="0"/>
              <a:t>-</a:t>
            </a:r>
          </a:p>
        </p:txBody>
      </p:sp>
      <p:sp>
        <p:nvSpPr>
          <p:cNvPr id="3" name="Content Placeholder 2"/>
          <p:cNvSpPr>
            <a:spLocks noGrp="1"/>
          </p:cNvSpPr>
          <p:nvPr>
            <p:ph idx="1"/>
          </p:nvPr>
        </p:nvSpPr>
        <p:spPr/>
        <p:txBody>
          <a:bodyPr/>
          <a:lstStyle/>
          <a:p>
            <a:r>
              <a:rPr lang="en-US" dirty="0" smtClean="0"/>
              <a:t>The </a:t>
            </a:r>
            <a:r>
              <a:rPr lang="en-US" i="1" dirty="0" smtClean="0">
                <a:solidFill>
                  <a:srgbClr val="FF0000"/>
                </a:solidFill>
              </a:rPr>
              <a:t>public principle </a:t>
            </a:r>
            <a:r>
              <a:rPr lang="en-US" dirty="0" smtClean="0"/>
              <a:t>state that software </a:t>
            </a:r>
            <a:r>
              <a:rPr lang="en-US" dirty="0"/>
              <a:t>engineering professionals</a:t>
            </a:r>
            <a:r>
              <a:rPr lang="en-US" dirty="0" smtClean="0"/>
              <a:t> must:</a:t>
            </a:r>
          </a:p>
          <a:p>
            <a:pPr lvl="1"/>
            <a:r>
              <a:rPr lang="en-US" dirty="0"/>
              <a:t>T</a:t>
            </a:r>
            <a:r>
              <a:rPr lang="en-US" dirty="0" smtClean="0"/>
              <a:t>ake </a:t>
            </a:r>
            <a:r>
              <a:rPr lang="en-US" dirty="0"/>
              <a:t>responsibility for their own work </a:t>
            </a:r>
            <a:endParaRPr lang="en-US" dirty="0" smtClean="0"/>
          </a:p>
          <a:p>
            <a:pPr lvl="1"/>
            <a:r>
              <a:rPr lang="en-US" dirty="0" smtClean="0"/>
              <a:t>Ensure </a:t>
            </a:r>
            <a:r>
              <a:rPr lang="en-US" dirty="0"/>
              <a:t>that their work positively affects the public </a:t>
            </a:r>
            <a:r>
              <a:rPr lang="en-US" dirty="0" smtClean="0"/>
              <a:t>good</a:t>
            </a:r>
          </a:p>
          <a:p>
            <a:pPr lvl="1"/>
            <a:r>
              <a:rPr lang="en-US" dirty="0" smtClean="0"/>
              <a:t>Strive </a:t>
            </a:r>
            <a:r>
              <a:rPr lang="en-US" dirty="0"/>
              <a:t>for high quality within acceptable cost and schedule thresholds</a:t>
            </a:r>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pic>
        <p:nvPicPr>
          <p:cNvPr id="25602"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524000" y="2819400"/>
            <a:ext cx="6124575" cy="3619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89476026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Ethics in Software Design</a:t>
            </a:r>
            <a:br>
              <a:rPr lang="en-US" dirty="0"/>
            </a:br>
            <a:r>
              <a:rPr lang="en-US" dirty="0"/>
              <a:t>- Public and Product Principles -</a:t>
            </a:r>
          </a:p>
        </p:txBody>
      </p:sp>
      <p:sp>
        <p:nvSpPr>
          <p:cNvPr id="3" name="Content Placeholder 2"/>
          <p:cNvSpPr>
            <a:spLocks noGrp="1"/>
          </p:cNvSpPr>
          <p:nvPr>
            <p:ph idx="1"/>
          </p:nvPr>
        </p:nvSpPr>
        <p:spPr/>
        <p:txBody>
          <a:bodyPr/>
          <a:lstStyle/>
          <a:p>
            <a:r>
              <a:rPr lang="en-US" dirty="0" smtClean="0"/>
              <a:t>Guidelines related to the </a:t>
            </a:r>
            <a:r>
              <a:rPr lang="en-US" i="1" dirty="0" smtClean="0">
                <a:solidFill>
                  <a:srgbClr val="FF0000"/>
                </a:solidFill>
              </a:rPr>
              <a:t>product principle</a:t>
            </a:r>
            <a:endParaRPr lang="en-US" dirty="0">
              <a:solidFill>
                <a:srgbClr val="FF0000"/>
              </a:solidFill>
            </a:endParaRPr>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pic>
        <p:nvPicPr>
          <p:cNvPr id="26626"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190750" y="1831285"/>
            <a:ext cx="4667250" cy="466000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15381263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Ethics in Software Design</a:t>
            </a:r>
            <a:r>
              <a:rPr lang="en-US" dirty="0"/>
              <a:t/>
            </a:r>
            <a:br>
              <a:rPr lang="en-US" dirty="0"/>
            </a:br>
            <a:r>
              <a:rPr lang="en-US" dirty="0"/>
              <a:t>- Judgment Principle</a:t>
            </a:r>
            <a:r>
              <a:rPr lang="en-US" dirty="0" smtClean="0"/>
              <a:t> </a:t>
            </a:r>
            <a:r>
              <a:rPr lang="en-US" dirty="0"/>
              <a:t>-</a:t>
            </a:r>
          </a:p>
        </p:txBody>
      </p:sp>
      <p:sp>
        <p:nvSpPr>
          <p:cNvPr id="3" name="Content Placeholder 2"/>
          <p:cNvSpPr>
            <a:spLocks noGrp="1"/>
          </p:cNvSpPr>
          <p:nvPr>
            <p:ph idx="1"/>
          </p:nvPr>
        </p:nvSpPr>
        <p:spPr/>
        <p:txBody>
          <a:bodyPr/>
          <a:lstStyle/>
          <a:p>
            <a:r>
              <a:rPr lang="en-US" dirty="0" smtClean="0"/>
              <a:t>The </a:t>
            </a:r>
            <a:r>
              <a:rPr lang="en-US" i="1" dirty="0" smtClean="0">
                <a:solidFill>
                  <a:srgbClr val="FF0000"/>
                </a:solidFill>
              </a:rPr>
              <a:t>judgment principle</a:t>
            </a:r>
            <a:r>
              <a:rPr lang="en-US" i="1" dirty="0" smtClean="0"/>
              <a:t> </a:t>
            </a:r>
            <a:r>
              <a:rPr lang="en-US" dirty="0" smtClean="0"/>
              <a:t>deals with maintaining </a:t>
            </a:r>
            <a:r>
              <a:rPr lang="en-US" dirty="0"/>
              <a:t>integrity in professional </a:t>
            </a:r>
            <a:r>
              <a:rPr lang="en-US" dirty="0" smtClean="0"/>
              <a:t>judgment.</a:t>
            </a:r>
          </a:p>
          <a:p>
            <a:pPr lvl="1"/>
            <a:r>
              <a:rPr lang="en-US" dirty="0" smtClean="0"/>
              <a:t>Integrity </a:t>
            </a:r>
            <a:r>
              <a:rPr lang="en-US" dirty="0"/>
              <a:t>and moral values of a person plays a major role when making judgment calls</a:t>
            </a:r>
            <a:r>
              <a:rPr lang="en-US" dirty="0" smtClean="0"/>
              <a:t>.</a:t>
            </a:r>
          </a:p>
          <a:p>
            <a:endParaRPr lang="en-US" dirty="0" smtClean="0"/>
          </a:p>
          <a:p>
            <a:r>
              <a:rPr lang="en-US" dirty="0" smtClean="0"/>
              <a:t>Guidelines related to this principle are: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pic>
        <p:nvPicPr>
          <p:cNvPr id="27650"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500188" y="3524250"/>
            <a:ext cx="6143625" cy="27241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4184738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Ethics in Software Design</a:t>
            </a:r>
            <a:r>
              <a:rPr lang="en-US" dirty="0"/>
              <a:t/>
            </a:r>
            <a:br>
              <a:rPr lang="en-US" dirty="0"/>
            </a:br>
            <a:r>
              <a:rPr lang="en-US" dirty="0"/>
              <a:t>- Management Principle</a:t>
            </a:r>
            <a:r>
              <a:rPr lang="en-US" dirty="0" smtClean="0"/>
              <a:t> </a:t>
            </a:r>
            <a:r>
              <a:rPr lang="en-US" dirty="0"/>
              <a:t>-</a:t>
            </a:r>
          </a:p>
        </p:txBody>
      </p:sp>
      <p:sp>
        <p:nvSpPr>
          <p:cNvPr id="3" name="Content Placeholder 2"/>
          <p:cNvSpPr>
            <a:spLocks noGrp="1"/>
          </p:cNvSpPr>
          <p:nvPr>
            <p:ph idx="1"/>
          </p:nvPr>
        </p:nvSpPr>
        <p:spPr/>
        <p:txBody>
          <a:bodyPr/>
          <a:lstStyle/>
          <a:p>
            <a:r>
              <a:rPr lang="en-US" dirty="0"/>
              <a:t>Guidelines related to the </a:t>
            </a:r>
            <a:r>
              <a:rPr lang="en-US" i="1" dirty="0" smtClean="0">
                <a:solidFill>
                  <a:srgbClr val="FF0000"/>
                </a:solidFill>
              </a:rPr>
              <a:t>management </a:t>
            </a:r>
            <a:r>
              <a:rPr lang="en-US" i="1" dirty="0">
                <a:solidFill>
                  <a:srgbClr val="FF0000"/>
                </a:solidFill>
              </a:rPr>
              <a:t>principle</a:t>
            </a:r>
            <a:endParaRPr lang="en-US" dirty="0">
              <a:solidFill>
                <a:srgbClr val="FF0000"/>
              </a:solidFill>
            </a:endParaRPr>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pic>
        <p:nvPicPr>
          <p:cNvPr id="28674"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798248" y="1781175"/>
            <a:ext cx="5516952" cy="46958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41847383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a:xfrm>
            <a:off x="457200" y="1371601"/>
            <a:ext cx="8229600" cy="4876799"/>
          </a:xfrm>
        </p:spPr>
        <p:txBody>
          <a:bodyPr>
            <a:normAutofit fontScale="92500" lnSpcReduction="10000"/>
          </a:bodyPr>
          <a:lstStyle/>
          <a:p>
            <a:r>
              <a:rPr lang="en-US" dirty="0"/>
              <a:t>In this session, we </a:t>
            </a:r>
            <a:r>
              <a:rPr lang="en-US" dirty="0" smtClean="0"/>
              <a:t>presented:</a:t>
            </a:r>
          </a:p>
          <a:p>
            <a:pPr lvl="1"/>
            <a:r>
              <a:rPr lang="en-US" dirty="0" smtClean="0"/>
              <a:t>Key concepts to leading the design effort</a:t>
            </a:r>
          </a:p>
          <a:p>
            <a:pPr lvl="2"/>
            <a:r>
              <a:rPr lang="en-US" dirty="0" smtClean="0"/>
              <a:t>Personality Traits and Leadership</a:t>
            </a:r>
          </a:p>
          <a:p>
            <a:pPr lvl="2"/>
            <a:r>
              <a:rPr lang="en-US" dirty="0" smtClean="0"/>
              <a:t>Personality Dimension</a:t>
            </a:r>
          </a:p>
          <a:p>
            <a:pPr lvl="2"/>
            <a:r>
              <a:rPr lang="en-US" dirty="0" smtClean="0"/>
              <a:t>Traits of Effective Leaders</a:t>
            </a:r>
          </a:p>
          <a:p>
            <a:pPr lvl="2"/>
            <a:r>
              <a:rPr lang="en-US" dirty="0" smtClean="0"/>
              <a:t>Ethical Leadership</a:t>
            </a:r>
          </a:p>
          <a:p>
            <a:pPr lvl="2"/>
            <a:r>
              <a:rPr lang="en-US" dirty="0" smtClean="0"/>
              <a:t>Power</a:t>
            </a:r>
          </a:p>
          <a:p>
            <a:pPr lvl="1"/>
            <a:r>
              <a:rPr lang="en-US" dirty="0" smtClean="0"/>
              <a:t>Key leadership skills</a:t>
            </a:r>
          </a:p>
          <a:p>
            <a:pPr lvl="2"/>
            <a:r>
              <a:rPr lang="en-US" dirty="0" smtClean="0"/>
              <a:t>Communication</a:t>
            </a:r>
          </a:p>
          <a:p>
            <a:pPr lvl="2"/>
            <a:r>
              <a:rPr lang="en-US" dirty="0" smtClean="0"/>
              <a:t>Networking</a:t>
            </a:r>
          </a:p>
          <a:p>
            <a:pPr lvl="2"/>
            <a:r>
              <a:rPr lang="en-US" dirty="0" smtClean="0"/>
              <a:t>Motivation</a:t>
            </a:r>
          </a:p>
          <a:p>
            <a:pPr lvl="2"/>
            <a:r>
              <a:rPr lang="en-US" dirty="0" smtClean="0"/>
              <a:t>Negotiation</a:t>
            </a:r>
          </a:p>
          <a:p>
            <a:pPr lvl="1"/>
            <a:endParaRPr lang="en-US" dirty="0" smtClean="0"/>
          </a:p>
          <a:p>
            <a:pPr lvl="1"/>
            <a:r>
              <a:rPr lang="en-US" dirty="0" smtClean="0"/>
              <a:t>Key principles of ethics in software design</a:t>
            </a:r>
          </a:p>
          <a:p>
            <a:pPr lvl="2"/>
            <a:r>
              <a:rPr lang="en-US" dirty="0" smtClean="0"/>
              <a:t>Public and Product Principles</a:t>
            </a:r>
          </a:p>
          <a:p>
            <a:pPr lvl="2"/>
            <a:r>
              <a:rPr lang="en-US" dirty="0" smtClean="0"/>
              <a:t>Judgment Principle</a:t>
            </a:r>
          </a:p>
          <a:p>
            <a:pPr lvl="2"/>
            <a:r>
              <a:rPr lang="en-US" dirty="0" smtClean="0"/>
              <a:t>Management Principle</a:t>
            </a:r>
          </a:p>
          <a:p>
            <a:pPr marL="0" indent="0">
              <a:buNone/>
            </a:pPr>
            <a:endParaRPr lang="en-US" dirty="0" smtClean="0"/>
          </a:p>
          <a:p>
            <a:pPr lvl="1">
              <a:buNone/>
            </a:pPr>
            <a:endParaRPr lang="en-US" dirty="0" smtClean="0"/>
          </a:p>
          <a:p>
            <a:pPr>
              <a:buNone/>
            </a:pPr>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fld id="{3F2E7354-941D-4A10-A419-5D3E5FF7573C}" type="datetime1">
              <a:rPr lang="en-US" smtClean="0"/>
              <a:pPr/>
              <a:t>5/13/2013</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 xmlns:p14="http://schemas.microsoft.com/office/powerpoint/2010/main" val="52107949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pic>
        <p:nvPicPr>
          <p:cNvPr id="2051" name="Picture 3" descr="C:\Users\lotero\AppData\Local\Microsoft\Windows\Temporary Internet Files\Content.IE5\CFJTCN01\MC900441428[1].pn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124200" y="2133600"/>
            <a:ext cx="2666771" cy="2666771"/>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80249689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pPr marL="0" indent="0">
              <a:buNone/>
            </a:pPr>
            <a:r>
              <a:rPr lang="en-US" dirty="0" smtClean="0"/>
              <a:t>[1] </a:t>
            </a:r>
            <a:r>
              <a:rPr lang="en-US" dirty="0" err="1"/>
              <a:t>Lussier</a:t>
            </a:r>
            <a:r>
              <a:rPr lang="en-US" dirty="0"/>
              <a:t>, Robert, and Christopher </a:t>
            </a:r>
            <a:r>
              <a:rPr lang="en-US" dirty="0" err="1"/>
              <a:t>Achua</a:t>
            </a:r>
            <a:r>
              <a:rPr lang="en-US" dirty="0"/>
              <a:t>. </a:t>
            </a:r>
            <a:r>
              <a:rPr lang="en-US" i="1" dirty="0"/>
              <a:t>Leadership: Theory, Application, &amp; Skill Development.</a:t>
            </a:r>
            <a:r>
              <a:rPr lang="en-US" dirty="0"/>
              <a:t> 4th. </a:t>
            </a:r>
            <a:r>
              <a:rPr lang="en-US" dirty="0" err="1"/>
              <a:t>Cengage</a:t>
            </a:r>
            <a:r>
              <a:rPr lang="en-US" dirty="0"/>
              <a:t> Learning, 2010</a:t>
            </a:r>
            <a:r>
              <a:rPr lang="en-US" dirty="0" smtClean="0"/>
              <a:t>.</a:t>
            </a:r>
          </a:p>
          <a:p>
            <a:pPr marL="0" indent="0">
              <a:buNone/>
            </a:pPr>
            <a:r>
              <a:rPr lang="en-US" dirty="0" smtClean="0"/>
              <a:t>[2] </a:t>
            </a:r>
            <a:r>
              <a:rPr lang="en-US" dirty="0"/>
              <a:t>Judge, T. A., R. </a:t>
            </a:r>
            <a:r>
              <a:rPr lang="en-US" dirty="0" err="1"/>
              <a:t>Ilies</a:t>
            </a:r>
            <a:r>
              <a:rPr lang="en-US" dirty="0"/>
              <a:t>, J. E. Bono, and M. W. Gerhardt. "Personality and Leadership: A Qualitative and Quantitative Review." </a:t>
            </a:r>
            <a:r>
              <a:rPr lang="en-US" i="1" dirty="0"/>
              <a:t>Journal of Applied Psychology</a:t>
            </a:r>
            <a:r>
              <a:rPr lang="en-US" dirty="0"/>
              <a:t> 87, no. 4 (2007): 765-768</a:t>
            </a:r>
            <a:r>
              <a:rPr lang="en-US" dirty="0" smtClean="0"/>
              <a:t>.</a:t>
            </a:r>
          </a:p>
          <a:p>
            <a:pPr marL="0" indent="0">
              <a:buNone/>
            </a:pPr>
            <a:r>
              <a:rPr lang="en-US" dirty="0" smtClean="0"/>
              <a:t>[3] </a:t>
            </a:r>
            <a:r>
              <a:rPr lang="en-US" dirty="0" err="1"/>
              <a:t>Veiga</a:t>
            </a:r>
            <a:r>
              <a:rPr lang="en-US" dirty="0"/>
              <a:t>, J. F. "Special Topic Ethical Behavior in Management, Bringing Ethics into the Mainstream: An Introduction to the Special Topic." </a:t>
            </a:r>
            <a:r>
              <a:rPr lang="en-US" i="1" dirty="0"/>
              <a:t>Academy of Management Executive</a:t>
            </a:r>
            <a:r>
              <a:rPr lang="en-US" dirty="0"/>
              <a:t> 18, no. 2 (2004): </a:t>
            </a:r>
            <a:r>
              <a:rPr lang="en-US" dirty="0" smtClean="0"/>
              <a:t>37-38.</a:t>
            </a:r>
          </a:p>
          <a:p>
            <a:pPr marL="0" indent="0">
              <a:buNone/>
            </a:pPr>
            <a:r>
              <a:rPr lang="en-US" dirty="0" smtClean="0"/>
              <a:t>[4] </a:t>
            </a:r>
            <a:r>
              <a:rPr lang="en-US" dirty="0"/>
              <a:t>IEEE Computer Society. "Software Engineering Code of Ethics and Professional Practice." 2010. http://www.computer.org/portal/web/certification/resources/code_of_ethics.</a:t>
            </a:r>
          </a:p>
          <a:p>
            <a:pPr marL="0" indent="0">
              <a:buNone/>
            </a:pP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5/13/2013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 xmlns:p14="http://schemas.microsoft.com/office/powerpoint/2010/main" val="3145361421"/>
      </p:ext>
    </p:extLst>
  </p:cSld>
  <p:clrMapOvr>
    <a:masterClrMapping/>
  </p:clrMapOvr>
  <p:timing>
    <p:tnLst>
      <p:par>
        <p:cTn id="1" dur="indefinite" restart="never" nodeType="tmRoot"/>
      </p:par>
    </p:tnLst>
  </p:timing>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11052</TotalTime>
  <Words>2768</Words>
  <Application>Microsoft Office PowerPoint</Application>
  <PresentationFormat>On-screen Show (4:3)</PresentationFormat>
  <Paragraphs>332</Paragraphs>
  <Slides>26</Slides>
  <Notes>5</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UVa-Wise-Clean-BW</vt:lpstr>
      <vt:lpstr>Chapter 10: Management, Leadership, &amp; Ethics</vt:lpstr>
      <vt:lpstr>Session’s Agenda</vt:lpstr>
      <vt:lpstr>Leading the Design Effort</vt:lpstr>
      <vt:lpstr>Leading the Design Effort - Personality Traits and Leadership -</vt:lpstr>
      <vt:lpstr>Leading the Design Effort - Personality Dimensions -</vt:lpstr>
      <vt:lpstr>Leading the Design Effort - Personality Dimensions -</vt:lpstr>
      <vt:lpstr>Leading the Design Effort - Personality Dimensions -</vt:lpstr>
      <vt:lpstr>Leading the Design Effort - Traits of Effective Leaders -</vt:lpstr>
      <vt:lpstr>Leading the Design Effort - Ethical Leadership -</vt:lpstr>
      <vt:lpstr>Leading the Design Effort - Power -</vt:lpstr>
      <vt:lpstr>Leading the Design Effort - Power -</vt:lpstr>
      <vt:lpstr>Key Leadership Skills - Communication -</vt:lpstr>
      <vt:lpstr>Key Leadership Skills - Communication -</vt:lpstr>
      <vt:lpstr>Key Leadership Skills - Communication -</vt:lpstr>
      <vt:lpstr>Key Leadership Skills - Networking -</vt:lpstr>
      <vt:lpstr>Key Leadership Skills - Motivation -</vt:lpstr>
      <vt:lpstr>Key Leadership Skills - Negotiation -</vt:lpstr>
      <vt:lpstr>Ethics in Software Design</vt:lpstr>
      <vt:lpstr>Ethics in Software Design</vt:lpstr>
      <vt:lpstr>Ethics in Software Design - Public and Product Principles -</vt:lpstr>
      <vt:lpstr>Ethics in Software Design - Public and Product Principles -</vt:lpstr>
      <vt:lpstr>Ethics in Software Design - Judgment Principle -</vt:lpstr>
      <vt:lpstr>Ethics in Software Design - Management Principle -</vt:lpstr>
      <vt:lpstr>Summary</vt:lpstr>
      <vt:lpstr>Questions?</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Design: Theory and Practice</dc:title>
  <dc:creator>Carlos E. Otero, Ph.D.</dc:creator>
  <dc:description>This slides may be reproduced only for student use when used in conjunction with Software Engineering Design: Theory and Practice. Any other reproduction or use is prohibited without express written permission of the author.</dc:description>
  <cp:lastModifiedBy>Wan Mohd Nasir Wan Kadir</cp:lastModifiedBy>
  <cp:revision>788</cp:revision>
  <cp:lastPrinted>2012-11-06T14:54:20Z</cp:lastPrinted>
  <dcterms:created xsi:type="dcterms:W3CDTF">2006-08-16T00:00:00Z</dcterms:created>
  <dcterms:modified xsi:type="dcterms:W3CDTF">2013-05-13T08:35:29Z</dcterms:modified>
</cp:coreProperties>
</file>
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341" r:id="rId3"/>
    <p:sldId id="344" r:id="rId4"/>
    <p:sldId id="345" r:id="rId5"/>
    <p:sldId id="346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itchFamily="34" charset="0"/>
        <a:ea typeface="ＭＳ Ｐゴシック" pitchFamily="96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84034" autoAdjust="0"/>
  </p:normalViewPr>
  <p:slideViewPr>
    <p:cSldViewPr>
      <p:cViewPr varScale="1">
        <p:scale>
          <a:sx n="59" d="100"/>
          <a:sy n="59" d="100"/>
        </p:scale>
        <p:origin x="9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25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3C4AF2B-1E9E-4DE9-8806-D35BE1EE9420}" type="datetimeFigureOut">
              <a:rPr lang="en-US"/>
              <a:pPr>
                <a:defRPr/>
              </a:pPr>
              <a:t>4/17/2016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F90EC85-BB91-46A1-B285-698C3E938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06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D959BF03-396A-4ADC-A893-A83AA8BF5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222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96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9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9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9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96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CE0409-7230-4EA2-95B0-C316A6CB7A66}" type="slidenum">
              <a:rPr lang="en-US" smtClean="0">
                <a:latin typeface="Arial" pitchFamily="34" charset="0"/>
              </a:rPr>
              <a:pPr/>
              <a:t>1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629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ED775-8ED6-4E3B-96C0-5A4343E8BD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AA0410-3B51-45C4-91D7-B57A32066A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536AD-6068-4943-9A2A-C7BE0634F1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EB1AB-306D-43E8-8143-F9737CA364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AAF3E-95FE-40BF-A209-AB1FB2438C5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C8214-D649-4829-92B4-FBE945888D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D4F61-625F-4603-BE59-543C000889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C05D5-609E-4274-BA32-FE61A9CE6C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F9496-C5B4-4404-A71E-E56BCE92166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FC2D4-1D93-4EC7-9048-6B2292D98B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A83B6-3208-4C10-8A29-989B9D6CBD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78B775B-9228-45D3-BD94-06A50C42A8D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  <a:ea typeface="ＭＳ Ｐゴシック" pitchFamily="-11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  <a:ea typeface="ＭＳ Ｐゴシック" pitchFamily="-11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  <a:ea typeface="ＭＳ Ｐゴシック" pitchFamily="-11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factorymethod-avocados-CodeSkeleton.c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8"/>
          <p:cNvSpPr txBox="1">
            <a:spLocks noChangeArrowheads="1"/>
          </p:cNvSpPr>
          <p:nvPr/>
        </p:nvSpPr>
        <p:spPr bwMode="auto">
          <a:xfrm>
            <a:off x="0" y="6491288"/>
            <a:ext cx="9144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INSPIRING CREATIVE AND </a:t>
            </a:r>
            <a:r>
              <a:rPr lang="en-US" sz="1600">
                <a:solidFill>
                  <a:schemeClr val="bg1"/>
                </a:solidFill>
              </a:rPr>
              <a:t>INNOVATIVE</a:t>
            </a:r>
            <a:r>
              <a:rPr lang="en-US" sz="1800">
                <a:solidFill>
                  <a:schemeClr val="bg1"/>
                </a:solidFill>
              </a:rPr>
              <a:t> MINDS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2209800"/>
            <a:ext cx="798512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5400" b="1" kern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Lab 3a </a:t>
            </a:r>
            <a:r>
              <a:rPr lang="en-US" sz="54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– </a:t>
            </a:r>
            <a:r>
              <a:rPr lang="en-US" sz="5400" b="1" i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Factory Method</a:t>
            </a:r>
          </a:p>
          <a:p>
            <a:pPr algn="ctr">
              <a:defRPr/>
            </a:pPr>
            <a:r>
              <a:rPr lang="en-US" sz="54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Creational Design Pattern</a:t>
            </a:r>
            <a:endParaRPr lang="en-US" sz="54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85800" y="3886200"/>
            <a:ext cx="7543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kern="0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6934200" cy="685800"/>
          </a:xfrm>
        </p:spPr>
        <p:txBody>
          <a:bodyPr/>
          <a:lstStyle/>
          <a:p>
            <a:r>
              <a:rPr lang="en-GB" dirty="0"/>
              <a:t>FACTORY </a:t>
            </a:r>
            <a:r>
              <a:rPr lang="en-GB" dirty="0" smtClean="0"/>
              <a:t>METHOD (</a:t>
            </a:r>
            <a:r>
              <a:rPr lang="en-GB" sz="2000" dirty="0" smtClean="0"/>
              <a:t>Class </a:t>
            </a:r>
            <a:r>
              <a:rPr lang="en-GB" sz="2000" dirty="0"/>
              <a:t>Creational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r>
              <a:rPr lang="en-US" sz="2800" dirty="0"/>
              <a:t>Intent:</a:t>
            </a:r>
          </a:p>
          <a:p>
            <a:pPr lvl="1"/>
            <a:r>
              <a:rPr lang="en-US" sz="2400" dirty="0"/>
              <a:t>Define an interface for creating an object, but let subclasses decide which class to instantiate.</a:t>
            </a:r>
          </a:p>
          <a:p>
            <a:pPr lvl="1"/>
            <a:r>
              <a:rPr lang="en-US" sz="2400" dirty="0"/>
              <a:t>Factory Method lets a class defer instantiation to subclasses.</a:t>
            </a:r>
          </a:p>
          <a:p>
            <a:r>
              <a:rPr lang="en-US" sz="2800" dirty="0"/>
              <a:t>Motivation:</a:t>
            </a:r>
          </a:p>
          <a:p>
            <a:pPr lvl="1"/>
            <a:r>
              <a:rPr lang="en-US" sz="2400" dirty="0"/>
              <a:t>Framework use abstract classes to define and maintain relationships between objects</a:t>
            </a:r>
          </a:p>
          <a:p>
            <a:pPr lvl="1"/>
            <a:r>
              <a:rPr lang="en-US" sz="2400" dirty="0"/>
              <a:t>Framework has to create objects as well - must instantiate classes but only knows about abstract classes - which it cannot instantiate</a:t>
            </a:r>
          </a:p>
          <a:p>
            <a:pPr lvl="1"/>
            <a:r>
              <a:rPr lang="en-US" sz="2400" dirty="0"/>
              <a:t>Factory method encapsulates knowledge of which subclass to create - moves this knowledge out of the framework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981200"/>
            <a:ext cx="7398042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Participants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IProduct</a:t>
            </a:r>
            <a:endParaRPr lang="en-US" dirty="0" smtClean="0"/>
          </a:p>
          <a:p>
            <a:pPr lvl="1"/>
            <a:r>
              <a:rPr lang="en-US" dirty="0" smtClean="0"/>
              <a:t>The interface for products</a:t>
            </a:r>
          </a:p>
          <a:p>
            <a:r>
              <a:rPr lang="en-US" dirty="0" err="1" smtClean="0"/>
              <a:t>ProductA</a:t>
            </a:r>
            <a:r>
              <a:rPr lang="en-US" dirty="0" smtClean="0"/>
              <a:t> </a:t>
            </a:r>
            <a:r>
              <a:rPr lang="en-US" i="1" dirty="0" smtClean="0"/>
              <a:t>and </a:t>
            </a:r>
            <a:r>
              <a:rPr lang="en-US" i="1" dirty="0" err="1" smtClean="0"/>
              <a:t>ProductB</a:t>
            </a:r>
            <a:endParaRPr lang="en-US" i="1" dirty="0" smtClean="0"/>
          </a:p>
          <a:p>
            <a:pPr lvl="1"/>
            <a:r>
              <a:rPr lang="en-US" dirty="0" smtClean="0"/>
              <a:t>Classes that implement </a:t>
            </a:r>
            <a:r>
              <a:rPr lang="en-US" dirty="0" err="1" smtClean="0"/>
              <a:t>IProduct</a:t>
            </a:r>
            <a:endParaRPr lang="en-US" dirty="0" smtClean="0"/>
          </a:p>
          <a:p>
            <a:r>
              <a:rPr lang="en-US" dirty="0" smtClean="0"/>
              <a:t>Creator</a:t>
            </a:r>
          </a:p>
          <a:p>
            <a:pPr lvl="1"/>
            <a:r>
              <a:rPr lang="en-US" dirty="0" smtClean="0"/>
              <a:t>Provides the </a:t>
            </a:r>
            <a:r>
              <a:rPr lang="en-US" dirty="0" err="1" smtClean="0"/>
              <a:t>FactoryMethod</a:t>
            </a:r>
            <a:endParaRPr lang="en-US" dirty="0" smtClean="0"/>
          </a:p>
          <a:p>
            <a:r>
              <a:rPr lang="en-US" dirty="0" err="1" smtClean="0"/>
              <a:t>FactoryMethod</a:t>
            </a:r>
            <a:endParaRPr lang="en-US" dirty="0" smtClean="0"/>
          </a:p>
          <a:p>
            <a:pPr lvl="1"/>
            <a:r>
              <a:rPr lang="en-US" dirty="0" smtClean="0"/>
              <a:t>Decides which class to instantiate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mtClean="0"/>
              <a:t>Lab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4525963"/>
          </a:xfrm>
        </p:spPr>
        <p:txBody>
          <a:bodyPr/>
          <a:lstStyle/>
          <a:p>
            <a:r>
              <a:rPr lang="en-US" sz="2800" dirty="0" smtClean="0"/>
              <a:t>Implementation and Example: Avocado Sourcing</a:t>
            </a:r>
          </a:p>
          <a:p>
            <a:pPr lvl="1">
              <a:spcBef>
                <a:spcPts val="0"/>
              </a:spcBef>
            </a:pPr>
            <a:r>
              <a:rPr lang="en-US" sz="2400" smtClean="0"/>
              <a:t>Write a </a:t>
            </a:r>
            <a:r>
              <a:rPr lang="en-US" sz="2400" dirty="0" smtClean="0"/>
              <a:t>simple </a:t>
            </a:r>
            <a:r>
              <a:rPr lang="en-US" sz="2400" smtClean="0"/>
              <a:t>program </a:t>
            </a:r>
            <a:r>
              <a:rPr lang="en-US" sz="2400" smtClean="0"/>
              <a:t>to apply Factory Method in the </a:t>
            </a:r>
            <a:r>
              <a:rPr lang="en-US" sz="2400" smtClean="0"/>
              <a:t>avocado </a:t>
            </a:r>
            <a:r>
              <a:rPr lang="en-US" sz="2400" smtClean="0"/>
              <a:t>sourcing </a:t>
            </a:r>
            <a:endParaRPr lang="en-US" sz="2400" dirty="0" smtClean="0"/>
          </a:p>
          <a:p>
            <a:pPr lvl="1">
              <a:spcBef>
                <a:spcPts val="0"/>
              </a:spcBef>
            </a:pPr>
            <a:r>
              <a:rPr lang="en-US" sz="2400" dirty="0" smtClean="0"/>
              <a:t>Each of the avocado-producing countries has a class, and they all implement </a:t>
            </a:r>
            <a:r>
              <a:rPr lang="en-US" sz="2400" dirty="0" err="1" smtClean="0"/>
              <a:t>IProduct</a:t>
            </a:r>
            <a:r>
              <a:rPr lang="en-US" sz="2400" dirty="0" smtClean="0"/>
              <a:t> so that they can ship avocados to the buyer.</a:t>
            </a:r>
          </a:p>
          <a:p>
            <a:pPr lvl="1">
              <a:spcBef>
                <a:spcPts val="0"/>
              </a:spcBef>
            </a:pPr>
            <a:r>
              <a:rPr lang="en-US" sz="2400" dirty="0" smtClean="0"/>
              <a:t>Depending on the month</a:t>
            </a:r>
            <a:r>
              <a:rPr lang="en-US" sz="2400" smtClean="0"/>
              <a:t>, </a:t>
            </a:r>
            <a:r>
              <a:rPr lang="en-US" sz="2400" smtClean="0"/>
              <a:t>write the </a:t>
            </a:r>
            <a:r>
              <a:rPr lang="en-US" sz="2400" err="1" smtClean="0"/>
              <a:t>FactoryMethod</a:t>
            </a:r>
            <a:r>
              <a:rPr lang="en-US" sz="2400" smtClean="0"/>
              <a:t> </a:t>
            </a:r>
            <a:r>
              <a:rPr lang="en-US" sz="2400" smtClean="0"/>
              <a:t>that</a:t>
            </a:r>
            <a:r>
              <a:rPr lang="en-US" sz="2400" smtClean="0"/>
              <a:t> </a:t>
            </a:r>
            <a:r>
              <a:rPr lang="en-US" sz="2400" dirty="0" smtClean="0"/>
              <a:t>will choose to supply either </a:t>
            </a:r>
            <a:r>
              <a:rPr lang="en-US" sz="2400" dirty="0" err="1" smtClean="0"/>
              <a:t>ProductA</a:t>
            </a:r>
            <a:r>
              <a:rPr lang="en-US" sz="2400" dirty="0" smtClean="0"/>
              <a:t> (avocados from South Africa) or </a:t>
            </a:r>
            <a:r>
              <a:rPr lang="en-US" sz="2400" dirty="0" err="1" smtClean="0"/>
              <a:t>ProductB</a:t>
            </a:r>
            <a:r>
              <a:rPr lang="en-US" sz="2400" dirty="0" smtClean="0"/>
              <a:t> (avocados from Spain). </a:t>
            </a:r>
          </a:p>
          <a:p>
            <a:pPr lvl="1">
              <a:spcBef>
                <a:spcPts val="0"/>
              </a:spcBef>
            </a:pPr>
            <a:r>
              <a:rPr lang="en-US" sz="2400" dirty="0" smtClean="0"/>
              <a:t>There is also a third option, a </a:t>
            </a:r>
            <a:r>
              <a:rPr lang="en-US" sz="2400" dirty="0" err="1" smtClean="0"/>
              <a:t>DefaultProduct</a:t>
            </a:r>
            <a:r>
              <a:rPr lang="en-US" sz="2400" dirty="0" smtClean="0"/>
              <a:t>, which is selected when avocados are not available (in this case, in month 3</a:t>
            </a:r>
            <a:r>
              <a:rPr lang="en-US" sz="2400" smtClean="0"/>
              <a:t>). </a:t>
            </a:r>
            <a:endParaRPr lang="en-US" sz="2400" smtClean="0"/>
          </a:p>
          <a:p>
            <a:pPr lvl="1">
              <a:spcBef>
                <a:spcPts val="0"/>
              </a:spcBef>
            </a:pPr>
            <a:r>
              <a:rPr lang="en-US" sz="2400" smtClean="0"/>
              <a:t>Code skeleton is available </a:t>
            </a:r>
            <a:r>
              <a:rPr lang="en-US" sz="2400" smtClean="0">
                <a:hlinkClick r:id="rId2" action="ppaction://hlinkfile"/>
              </a:rPr>
              <a:t>here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k12a-TestManagement-Part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Wk12a-TestManagement-PartI</Template>
  <TotalTime>921</TotalTime>
  <Words>229</Words>
  <Application>Microsoft Office PowerPoint</Application>
  <PresentationFormat>On-screen Show (4:3)</PresentationFormat>
  <Paragraphs>29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ＭＳ Ｐゴシック</vt:lpstr>
      <vt:lpstr>Arial</vt:lpstr>
      <vt:lpstr>Calibri</vt:lpstr>
      <vt:lpstr>Wk12a-TestManagement-PartI</vt:lpstr>
      <vt:lpstr>PowerPoint Presentation</vt:lpstr>
      <vt:lpstr>FACTORY METHOD (Class Creational)</vt:lpstr>
      <vt:lpstr>Structure</vt:lpstr>
      <vt:lpstr>Participants</vt:lpstr>
      <vt:lpstr>Lab Exercise</vt:lpstr>
    </vt:vector>
  </TitlesOfParts>
  <Company>Office 2004 Test Drive User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Office 2004 Test Drive User</dc:creator>
  <cp:lastModifiedBy>Wan Mohd Nasir Wan Kadir</cp:lastModifiedBy>
  <cp:revision>109</cp:revision>
  <dcterms:created xsi:type="dcterms:W3CDTF">2009-02-22T09:02:28Z</dcterms:created>
  <dcterms:modified xsi:type="dcterms:W3CDTF">2016-04-17T03:37:26Z</dcterms:modified>
</cp:coreProperties>
</file>
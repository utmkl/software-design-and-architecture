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509" r:id="rId4"/>
    <p:sldId id="532" r:id="rId5"/>
    <p:sldId id="533" r:id="rId6"/>
    <p:sldId id="510" r:id="rId7"/>
    <p:sldId id="534" r:id="rId8"/>
    <p:sldId id="511" r:id="rId9"/>
    <p:sldId id="512" r:id="rId10"/>
    <p:sldId id="513" r:id="rId11"/>
    <p:sldId id="515" r:id="rId12"/>
    <p:sldId id="516" r:id="rId13"/>
    <p:sldId id="517" r:id="rId14"/>
    <p:sldId id="518" r:id="rId15"/>
    <p:sldId id="519" r:id="rId16"/>
    <p:sldId id="520" r:id="rId17"/>
    <p:sldId id="521" r:id="rId18"/>
    <p:sldId id="535" r:id="rId19"/>
    <p:sldId id="522" r:id="rId20"/>
    <p:sldId id="523" r:id="rId21"/>
    <p:sldId id="536" r:id="rId22"/>
    <p:sldId id="524" r:id="rId23"/>
    <p:sldId id="526" r:id="rId24"/>
    <p:sldId id="528" r:id="rId25"/>
    <p:sldId id="529" r:id="rId26"/>
    <p:sldId id="530" r:id="rId27"/>
    <p:sldId id="531" r:id="rId28"/>
    <p:sldId id="336" r:id="rId29"/>
    <p:sldId id="404" r:id="rId3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80" y="4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4/30/2017</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2328813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4/30/2017</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4/30/2017</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4/30/2017</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4/30/2017</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4/30/2017</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4/30/2017</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4/30/2017</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4/30/2017</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4/30/2017</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4/30/2017</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4/30/2017</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4/30/2017</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8: Principles of Construction Design</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 Overview of Construction Design</a:t>
            </a:r>
          </a:p>
          <a:p>
            <a:r>
              <a:rPr lang="en-US" dirty="0" smtClean="0"/>
              <a:t>Flow-, State-, and Table-Based Designs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4/30/2017</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smtClean="0"/>
          </a:p>
          <a:p>
            <a:r>
              <a:rPr lang="en-US" dirty="0" smtClean="0"/>
              <a:t>Overview of Construction Design</a:t>
            </a:r>
          </a:p>
          <a:p>
            <a:pPr lvl="1"/>
            <a:r>
              <a:rPr lang="en-US" dirty="0" smtClean="0"/>
              <a:t>Algorithmic Viewpoint</a:t>
            </a:r>
          </a:p>
          <a:p>
            <a:pPr lvl="1"/>
            <a:r>
              <a:rPr lang="en-US" dirty="0" smtClean="0"/>
              <a:t>Stylistic Viewpoint</a:t>
            </a:r>
          </a:p>
          <a:p>
            <a:pPr lvl="1"/>
            <a:endParaRPr lang="en-US" dirty="0" smtClean="0"/>
          </a:p>
          <a:p>
            <a:r>
              <a:rPr lang="en-US" dirty="0" smtClean="0"/>
              <a:t>Algorithmic Viewpoint</a:t>
            </a:r>
          </a:p>
          <a:p>
            <a:pPr lvl="1"/>
            <a:r>
              <a:rPr lang="en-US" dirty="0" smtClean="0"/>
              <a:t>Flow-based</a:t>
            </a:r>
          </a:p>
          <a:p>
            <a:pPr lvl="2"/>
            <a:r>
              <a:rPr lang="en-US" dirty="0" smtClean="0"/>
              <a:t>UML Activity Diagrams</a:t>
            </a:r>
          </a:p>
          <a:p>
            <a:pPr lvl="1"/>
            <a:r>
              <a:rPr lang="en-US" dirty="0" smtClean="0"/>
              <a:t>State-based</a:t>
            </a:r>
          </a:p>
          <a:p>
            <a:pPr lvl="2"/>
            <a:r>
              <a:rPr lang="en-US" dirty="0" smtClean="0"/>
              <a:t>UML State Diagrams</a:t>
            </a:r>
          </a:p>
          <a:p>
            <a:pPr lvl="1"/>
            <a:r>
              <a:rPr lang="en-US" dirty="0" smtClean="0"/>
              <a:t>Table-based</a:t>
            </a:r>
          </a:p>
          <a:p>
            <a:pPr lvl="2"/>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4/30/2017</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Construction Design?</a:t>
            </a:r>
            <a:endParaRPr lang="en-US" dirty="0"/>
          </a:p>
        </p:txBody>
      </p:sp>
      <p:sp>
        <p:nvSpPr>
          <p:cNvPr id="3" name="Content Placeholder 2"/>
          <p:cNvSpPr>
            <a:spLocks noGrp="1"/>
          </p:cNvSpPr>
          <p:nvPr>
            <p:ph idx="1"/>
          </p:nvPr>
        </p:nvSpPr>
        <p:spPr>
          <a:xfrm>
            <a:off x="457200" y="1371601"/>
            <a:ext cx="8229600" cy="4648199"/>
          </a:xfrm>
        </p:spPr>
        <p:txBody>
          <a:bodyPr>
            <a:normAutofit lnSpcReduction="10000"/>
          </a:bodyPr>
          <a:lstStyle/>
          <a:p>
            <a:r>
              <a:rPr lang="en-US" dirty="0" smtClean="0"/>
              <a:t>Transition from the software design phase to the construction phase should occur with minimal effort.</a:t>
            </a:r>
          </a:p>
          <a:p>
            <a:pPr>
              <a:buNone/>
            </a:pPr>
            <a:endParaRPr lang="en-US" dirty="0" smtClean="0"/>
          </a:p>
          <a:p>
            <a:r>
              <a:rPr lang="en-US" dirty="0" smtClean="0"/>
              <a:t>In some cases, component designs provide enough detail to allow their transformation from design artifact to code easily.</a:t>
            </a:r>
          </a:p>
          <a:p>
            <a:pPr>
              <a:buNone/>
            </a:pPr>
            <a:endParaRPr lang="en-US" dirty="0" smtClean="0"/>
          </a:p>
          <a:p>
            <a:r>
              <a:rPr lang="en-US" dirty="0" smtClean="0"/>
              <a:t>In other cases, a more fine-grained level of design detail is required.</a:t>
            </a:r>
          </a:p>
          <a:p>
            <a:endParaRPr lang="en-US" dirty="0" smtClean="0"/>
          </a:p>
          <a:p>
            <a:r>
              <a:rPr lang="en-US" dirty="0" smtClean="0"/>
              <a:t>Construction design is the lowest level of detailed design that addresses the modeling and specification of function implementations.</a:t>
            </a:r>
          </a:p>
          <a:p>
            <a:pPr lvl="1"/>
            <a:r>
              <a:rPr lang="en-US" dirty="0" smtClean="0"/>
              <a:t>This is necessary to evaluate the quality of the system at the construction level, e.g., modifiability, testability, performance, complexity, etc. </a:t>
            </a:r>
          </a:p>
          <a:p>
            <a:pPr lvl="1"/>
            <a:r>
              <a:rPr lang="en-US" dirty="0" smtClean="0"/>
              <a:t>Construction design deals mostly with the analysis and design of algorithms.  The IEEE refers to this form of design as designing using a “The Algorithmic Viewpoint” [1]</a:t>
            </a:r>
            <a:endParaRPr lang="en-US" b="1" dirty="0" smtClean="0"/>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Construction Design?</a:t>
            </a:r>
            <a:endParaRPr lang="en-US" dirty="0"/>
          </a:p>
        </p:txBody>
      </p:sp>
      <p:sp>
        <p:nvSpPr>
          <p:cNvPr id="3" name="Content Placeholder 2"/>
          <p:cNvSpPr>
            <a:spLocks noGrp="1"/>
          </p:cNvSpPr>
          <p:nvPr>
            <p:ph idx="1"/>
          </p:nvPr>
        </p:nvSpPr>
        <p:spPr>
          <a:xfrm>
            <a:off x="457200" y="1371601"/>
            <a:ext cx="8229600" cy="4876799"/>
          </a:xfrm>
        </p:spPr>
        <p:txBody>
          <a:bodyPr>
            <a:normAutofit/>
          </a:bodyPr>
          <a:lstStyle/>
          <a:p>
            <a:r>
              <a:rPr lang="en-US" dirty="0" smtClean="0"/>
              <a:t>The algorithm viewpoint addresses construction design from a dynamic (behavioral) perspective, which provides the description of operations (such as methods and functions), the </a:t>
            </a:r>
            <a:r>
              <a:rPr lang="en-US" i="1" dirty="0" smtClean="0"/>
              <a:t>internal details</a:t>
            </a:r>
            <a:r>
              <a:rPr lang="en-US" dirty="0" smtClean="0"/>
              <a:t> and </a:t>
            </a:r>
            <a:r>
              <a:rPr lang="en-US" i="1" dirty="0" smtClean="0"/>
              <a:t>logic</a:t>
            </a:r>
            <a:r>
              <a:rPr lang="en-US" dirty="0" smtClean="0"/>
              <a:t> of each design entity [1] .</a:t>
            </a:r>
          </a:p>
          <a:p>
            <a:endParaRPr lang="en-US" dirty="0" smtClean="0"/>
          </a:p>
          <a:p>
            <a:r>
              <a:rPr lang="en-US" dirty="0" smtClean="0"/>
              <a:t>The algorithmic viewpoint can be realized using the following:</a:t>
            </a:r>
          </a:p>
          <a:p>
            <a:pPr lvl="1"/>
            <a:r>
              <a:rPr lang="en-US" dirty="0" smtClean="0"/>
              <a:t>Graphical Designs</a:t>
            </a:r>
          </a:p>
          <a:p>
            <a:pPr lvl="2"/>
            <a:r>
              <a:rPr lang="en-US" dirty="0" smtClean="0"/>
              <a:t>Flow-based</a:t>
            </a:r>
          </a:p>
          <a:p>
            <a:pPr lvl="2"/>
            <a:r>
              <a:rPr lang="en-US" dirty="0" smtClean="0"/>
              <a:t>State-based</a:t>
            </a:r>
          </a:p>
          <a:p>
            <a:pPr lvl="1"/>
            <a:r>
              <a:rPr lang="en-US" dirty="0" smtClean="0"/>
              <a:t>Tabular Designs </a:t>
            </a:r>
          </a:p>
          <a:p>
            <a:pPr lvl="2"/>
            <a:r>
              <a:rPr lang="en-US" dirty="0" smtClean="0"/>
              <a:t>Lead to table-based design and implementation</a:t>
            </a:r>
          </a:p>
          <a:p>
            <a:pPr lvl="2">
              <a:buNone/>
            </a:pPr>
            <a:endParaRPr lang="en-US" dirty="0" smtClean="0"/>
          </a:p>
          <a:p>
            <a:r>
              <a:rPr lang="en-US" smtClean="0"/>
              <a:t>The algorithmic </a:t>
            </a:r>
            <a:r>
              <a:rPr lang="en-US" dirty="0" smtClean="0"/>
              <a:t>viewpoint minimizes complexity during construction by providing details required by programmers to implement the function's code.</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Construction Design?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separate but closely related task performed to achieve quality at the construction level is the enforcing of styles for software construction. We’ll refer to this as the “Stylistic Viewpoint” of construction design.  </a:t>
            </a:r>
          </a:p>
          <a:p>
            <a:pPr lvl="1"/>
            <a:r>
              <a:rPr lang="en-US" dirty="0" smtClean="0"/>
              <a:t>These styles play a significant role in shaping the systems’ modifiability quality attribute!</a:t>
            </a:r>
          </a:p>
          <a:p>
            <a:endParaRPr lang="en-US" dirty="0" smtClean="0"/>
          </a:p>
          <a:p>
            <a:r>
              <a:rPr lang="en-US" dirty="0" smtClean="0"/>
              <a:t>In the construction design activity, styles are used to provide a consistent approach for structuring code by defining styles for code elements, such as:</a:t>
            </a:r>
          </a:p>
          <a:p>
            <a:pPr lvl="1"/>
            <a:r>
              <a:rPr lang="en-US" dirty="0" smtClean="0"/>
              <a:t>Code formatting</a:t>
            </a:r>
          </a:p>
          <a:p>
            <a:pPr lvl="1"/>
            <a:r>
              <a:rPr lang="en-US" dirty="0" smtClean="0"/>
              <a:t>Naming conventions</a:t>
            </a:r>
          </a:p>
          <a:p>
            <a:pPr lvl="1"/>
            <a:r>
              <a:rPr lang="en-US" dirty="0" smtClean="0"/>
              <a:t>Documentation</a:t>
            </a:r>
          </a:p>
          <a:p>
            <a:pPr lvl="1"/>
            <a:r>
              <a:rPr lang="en-US" dirty="0" smtClean="0"/>
              <a:t>Etc.</a:t>
            </a:r>
          </a:p>
          <a:p>
            <a:endParaRPr lang="en-US" dirty="0" smtClean="0"/>
          </a:p>
          <a:p>
            <a:r>
              <a:rPr lang="en-US" dirty="0" smtClean="0"/>
              <a:t>The application of construction styles are mostly an activity that occurs during construction, however, due to the power of today's modeling tools, the application of styles are prevalent during the detailed design phase.</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Study Construction Design?</a:t>
            </a:r>
            <a:endParaRPr lang="en-US" dirty="0"/>
          </a:p>
        </p:txBody>
      </p:sp>
      <p:sp>
        <p:nvSpPr>
          <p:cNvPr id="3" name="Content Placeholder 2"/>
          <p:cNvSpPr>
            <a:spLocks noGrp="1"/>
          </p:cNvSpPr>
          <p:nvPr>
            <p:ph idx="1"/>
          </p:nvPr>
        </p:nvSpPr>
        <p:spPr>
          <a:xfrm>
            <a:off x="457200" y="1371601"/>
            <a:ext cx="8229600" cy="5105399"/>
          </a:xfrm>
        </p:spPr>
        <p:txBody>
          <a:bodyPr>
            <a:normAutofit fontScale="92500" lnSpcReduction="10000"/>
          </a:bodyPr>
          <a:lstStyle/>
          <a:p>
            <a:r>
              <a:rPr lang="en-US" dirty="0" smtClean="0"/>
              <a:t>From the algorithmic viewpoint, construction design is important because it provides the means for evaluating different implementations for a particular function before committing to it.</a:t>
            </a:r>
          </a:p>
          <a:p>
            <a:endParaRPr lang="en-US" dirty="0" smtClean="0"/>
          </a:p>
          <a:p>
            <a:r>
              <a:rPr lang="en-US" dirty="0" smtClean="0"/>
              <a:t>Behavioral designs at this level provide the means to:</a:t>
            </a:r>
          </a:p>
          <a:p>
            <a:pPr lvl="1"/>
            <a:r>
              <a:rPr lang="en-US" dirty="0" smtClean="0"/>
              <a:t>Evaluate a function's completeness, complexity, testability and maintainability. </a:t>
            </a:r>
          </a:p>
          <a:p>
            <a:pPr lvl="1"/>
            <a:r>
              <a:rPr lang="en-US" dirty="0" smtClean="0"/>
              <a:t>They also provide the means for analysts of algorithms in regard to time-space performance and processing logic prior to implementation [1].  This can have significant meaning when designing for </a:t>
            </a:r>
            <a:r>
              <a:rPr lang="en-US" i="1" dirty="0" smtClean="0"/>
              <a:t>performance</a:t>
            </a:r>
            <a:r>
              <a:rPr lang="en-US" dirty="0" smtClean="0"/>
              <a:t>!</a:t>
            </a:r>
          </a:p>
          <a:p>
            <a:pPr lvl="1"/>
            <a:endParaRPr lang="en-US" dirty="0" smtClean="0"/>
          </a:p>
          <a:p>
            <a:r>
              <a:rPr lang="en-US" dirty="0" smtClean="0"/>
              <a:t>Finally, since they provide a representation of the code through graphical and tabular ways, they increase collaborative evaluation efforts, since other members without knowledge of programming languages can evaluate the design and contribute their input.</a:t>
            </a:r>
          </a:p>
          <a:p>
            <a:pPr lvl="1"/>
            <a:r>
              <a:rPr lang="en-US" dirty="0" smtClean="0"/>
              <a:t>These collaboration efforts can lead to improvement in future phases, for example the testing phase, where construction designs can be used to generate unit test cases, or the maintenance phase, where construction designs can be used to increase knowledge and understanding of the software behavior.</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Study Construction Design?</a:t>
            </a:r>
            <a:endParaRPr lang="en-US" dirty="0"/>
          </a:p>
        </p:txBody>
      </p:sp>
      <p:sp>
        <p:nvSpPr>
          <p:cNvPr id="3" name="Content Placeholder 2"/>
          <p:cNvSpPr>
            <a:spLocks noGrp="1"/>
          </p:cNvSpPr>
          <p:nvPr>
            <p:ph idx="1"/>
          </p:nvPr>
        </p:nvSpPr>
        <p:spPr/>
        <p:txBody>
          <a:bodyPr>
            <a:normAutofit fontScale="92500"/>
          </a:bodyPr>
          <a:lstStyle/>
          <a:p>
            <a:r>
              <a:rPr lang="en-US" dirty="0" smtClean="0"/>
              <a:t>From the stylistic viewpoint, construction design is important because it provides heuristics for establishing a common criteria for evaluating the quality of the structure of code, which has direct effect on code readability, and therefore maintenance.</a:t>
            </a:r>
          </a:p>
          <a:p>
            <a:endParaRPr lang="en-US" dirty="0" smtClean="0"/>
          </a:p>
          <a:p>
            <a:r>
              <a:rPr lang="en-US" dirty="0" smtClean="0"/>
              <a:t>Code that exhibit low quality in terms of readability results in higher maintenance cost, since it requires more effort to understand [2].</a:t>
            </a:r>
          </a:p>
          <a:p>
            <a:endParaRPr lang="en-US" dirty="0" smtClean="0"/>
          </a:p>
          <a:p>
            <a:r>
              <a:rPr lang="en-US" dirty="0" smtClean="0"/>
              <a:t>Construction styles are important during the design phase so that generation of code from design models can be done correctly.</a:t>
            </a:r>
          </a:p>
          <a:p>
            <a:endParaRPr lang="en-US" dirty="0" smtClean="0"/>
          </a:p>
          <a:p>
            <a:r>
              <a:rPr lang="en-US" dirty="0" smtClean="0"/>
              <a:t>From the construction phase perspective, construction styles serve as blueprint that ensures consistency among teams of developers. Finally, as mentioned before, during the testing and maintenance phase, construction styles increase readability and understanding of the code, which results in minimized cost.</a:t>
            </a:r>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Behavioral Construction Design</a:t>
            </a:r>
            <a:endParaRPr lang="en-US" dirty="0"/>
          </a:p>
        </p:txBody>
      </p:sp>
      <p:sp>
        <p:nvSpPr>
          <p:cNvPr id="3" name="Content Placeholder 2"/>
          <p:cNvSpPr>
            <a:spLocks noGrp="1"/>
          </p:cNvSpPr>
          <p:nvPr>
            <p:ph idx="1"/>
          </p:nvPr>
        </p:nvSpPr>
        <p:spPr>
          <a:effectLst>
            <a:glow rad="228600">
              <a:schemeClr val="accent2">
                <a:satMod val="175000"/>
                <a:alpha val="40000"/>
              </a:schemeClr>
            </a:glow>
          </a:effectLst>
        </p:spPr>
        <p:txBody>
          <a:bodyPr>
            <a:normAutofit fontScale="92500" lnSpcReduction="20000"/>
          </a:bodyPr>
          <a:lstStyle/>
          <a:p>
            <a:r>
              <a:rPr lang="en-US" dirty="0" smtClean="0"/>
              <a:t>Behavioral designs at the construction level are used to model complex logic that is unknown or difficult to understand.  Popular examples include:</a:t>
            </a:r>
          </a:p>
          <a:p>
            <a:pPr lvl="1"/>
            <a:r>
              <a:rPr lang="en-US" dirty="0" smtClean="0"/>
              <a:t>Flow-based design</a:t>
            </a:r>
          </a:p>
          <a:p>
            <a:pPr lvl="1"/>
            <a:r>
              <a:rPr lang="en-US" dirty="0" smtClean="0"/>
              <a:t>State-based design</a:t>
            </a:r>
          </a:p>
          <a:p>
            <a:pPr lvl="1"/>
            <a:r>
              <a:rPr lang="en-US" dirty="0" smtClean="0"/>
              <a:t>Table-based design</a:t>
            </a:r>
          </a:p>
          <a:p>
            <a:pPr lvl="1"/>
            <a:endParaRPr lang="en-US" dirty="0" smtClean="0"/>
          </a:p>
          <a:p>
            <a:r>
              <a:rPr lang="en-US" dirty="0" smtClean="0"/>
              <a:t>Flow-Based design provide a systematic methodology for specifying the logic and structure of operations using a graphical approach. Two popular approaches for creating flow-based designs include:</a:t>
            </a:r>
          </a:p>
          <a:p>
            <a:pPr lvl="1"/>
            <a:r>
              <a:rPr lang="en-US" dirty="0" smtClean="0"/>
              <a:t>Flowcharts </a:t>
            </a:r>
          </a:p>
          <a:p>
            <a:pPr lvl="1"/>
            <a:r>
              <a:rPr lang="en-US" dirty="0" smtClean="0"/>
              <a:t>UML activity diagrams</a:t>
            </a:r>
          </a:p>
          <a:p>
            <a:pPr lvl="1"/>
            <a:endParaRPr lang="en-US" dirty="0" smtClean="0"/>
          </a:p>
          <a:p>
            <a:r>
              <a:rPr lang="en-US" dirty="0" smtClean="0"/>
              <a:t>Both work well for modeling the internal flow of routines because they can be defined using sequential process flows, loops, and other complex business logic or algorithms.</a:t>
            </a:r>
          </a:p>
          <a:p>
            <a:pPr lvl="1"/>
            <a:r>
              <a:rPr lang="en-US" dirty="0" smtClean="0"/>
              <a:t>UML activity diagrams provide powerful constructs for modeling complex logic at different stages of the SDLC, however, when applied towards modeling logic, activity diagrams are just another version of flowcharts.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7" name="Flowchart: Alternate Process 6"/>
          <p:cNvSpPr/>
          <p:nvPr/>
        </p:nvSpPr>
        <p:spPr>
          <a:xfrm>
            <a:off x="1676400" y="504365"/>
            <a:ext cx="2438400" cy="695324"/>
          </a:xfrm>
          <a:prstGeom prst="flowChartAlternateProcess">
            <a:avLst/>
          </a:prstGeom>
          <a:noFill/>
          <a:ln>
            <a:solidFill>
              <a:srgbClr val="FF0000"/>
            </a:solidFill>
          </a:ln>
          <a:scene3d>
            <a:camera prst="perspectiveContrastingLeftFacing"/>
            <a:lightRig rig="threePt" dir="t"/>
          </a:scene3d>
        </p:spPr>
        <p:style>
          <a:lnRef idx="2">
            <a:schemeClr val="accent6"/>
          </a:lnRef>
          <a:fillRef idx="1">
            <a:schemeClr val="lt1"/>
          </a:fillRef>
          <a:effectRef idx="0">
            <a:schemeClr val="accent6"/>
          </a:effectRef>
          <a:fontRef idx="minor">
            <a:schemeClr val="dk1"/>
          </a:fontRef>
        </p:style>
        <p:txBody>
          <a:bodyPr rtlCol="0" anchor="ctr"/>
          <a:lstStyle/>
          <a:p>
            <a:pPr algn="ctr"/>
            <a:endParaRPr lang="en-MY"/>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1028" name="Picture 4"/>
          <p:cNvPicPr>
            <a:picLocks noChangeAspect="1" noChangeArrowheads="1"/>
          </p:cNvPicPr>
          <p:nvPr/>
        </p:nvPicPr>
        <p:blipFill>
          <a:blip r:embed="rId2" cstate="print"/>
          <a:srcRect/>
          <a:stretch>
            <a:fillRect/>
          </a:stretch>
        </p:blipFill>
        <p:spPr bwMode="auto">
          <a:xfrm>
            <a:off x="6553200" y="4572000"/>
            <a:ext cx="1609725" cy="1495425"/>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762000" y="1219200"/>
            <a:ext cx="1762125" cy="1381125"/>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6781800" y="1752600"/>
            <a:ext cx="1333500" cy="1571625"/>
          </a:xfrm>
          <a:prstGeom prst="rect">
            <a:avLst/>
          </a:prstGeom>
          <a:noFill/>
          <a:ln w="9525">
            <a:noFill/>
            <a:miter lim="800000"/>
            <a:headEnd/>
            <a:tailEnd/>
          </a:ln>
        </p:spPr>
      </p:pic>
      <p:pic>
        <p:nvPicPr>
          <p:cNvPr id="1031" name="Picture 7"/>
          <p:cNvPicPr>
            <a:picLocks noChangeAspect="1" noChangeArrowheads="1"/>
          </p:cNvPicPr>
          <p:nvPr/>
        </p:nvPicPr>
        <p:blipFill>
          <a:blip r:embed="rId5" cstate="print"/>
          <a:srcRect/>
          <a:stretch>
            <a:fillRect/>
          </a:stretch>
        </p:blipFill>
        <p:spPr bwMode="auto">
          <a:xfrm>
            <a:off x="762000" y="4572000"/>
            <a:ext cx="1752600" cy="1600200"/>
          </a:xfrm>
          <a:prstGeom prst="rect">
            <a:avLst/>
          </a:prstGeom>
          <a:noFill/>
          <a:ln w="9525">
            <a:noFill/>
            <a:miter lim="800000"/>
            <a:headEnd/>
            <a:tailEnd/>
          </a:ln>
        </p:spPr>
      </p:pic>
      <p:pic>
        <p:nvPicPr>
          <p:cNvPr id="10" name="Picture 3"/>
          <p:cNvPicPr>
            <a:picLocks noChangeAspect="1" noChangeArrowheads="1"/>
          </p:cNvPicPr>
          <p:nvPr/>
        </p:nvPicPr>
        <p:blipFill>
          <a:blip r:embed="rId6" cstate="print"/>
          <a:srcRect/>
          <a:stretch>
            <a:fillRect/>
          </a:stretch>
        </p:blipFill>
        <p:spPr bwMode="auto">
          <a:xfrm>
            <a:off x="3505200" y="2819400"/>
            <a:ext cx="2047875" cy="1905000"/>
          </a:xfrm>
          <a:prstGeom prst="rect">
            <a:avLst/>
          </a:prstGeom>
          <a:noFill/>
          <a:ln w="9525">
            <a:noFill/>
            <a:miter lim="800000"/>
            <a:headEnd/>
            <a:tailEnd/>
          </a:ln>
        </p:spPr>
      </p:pic>
      <p:sp>
        <p:nvSpPr>
          <p:cNvPr id="11" name="Rounded Rectangle 10"/>
          <p:cNvSpPr/>
          <p:nvPr/>
        </p:nvSpPr>
        <p:spPr>
          <a:xfrm>
            <a:off x="3200400" y="2438400"/>
            <a:ext cx="2667000" cy="2438400"/>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hape 12"/>
          <p:cNvCxnSpPr>
            <a:stCxn id="11" idx="0"/>
            <a:endCxn id="1029" idx="3"/>
          </p:cNvCxnSpPr>
          <p:nvPr/>
        </p:nvCxnSpPr>
        <p:spPr>
          <a:xfrm rot="16200000" flipV="1">
            <a:off x="3264695" y="1169194"/>
            <a:ext cx="528637" cy="2009775"/>
          </a:xfrm>
          <a:prstGeom prst="bentConnector2">
            <a:avLst/>
          </a:prstGeom>
          <a:ln w="63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5" name="Shape 14"/>
          <p:cNvCxnSpPr>
            <a:stCxn id="11" idx="1"/>
            <a:endCxn id="1031" idx="0"/>
          </p:cNvCxnSpPr>
          <p:nvPr/>
        </p:nvCxnSpPr>
        <p:spPr>
          <a:xfrm rot="10800000" flipV="1">
            <a:off x="1638300" y="3657600"/>
            <a:ext cx="1562100" cy="914400"/>
          </a:xfrm>
          <a:prstGeom prst="bentConnector2">
            <a:avLst/>
          </a:prstGeom>
          <a:ln w="63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7" name="Shape 16"/>
          <p:cNvCxnSpPr>
            <a:stCxn id="11" idx="2"/>
            <a:endCxn id="1028" idx="1"/>
          </p:cNvCxnSpPr>
          <p:nvPr/>
        </p:nvCxnSpPr>
        <p:spPr>
          <a:xfrm rot="16200000" flipH="1">
            <a:off x="5322094" y="4088606"/>
            <a:ext cx="442913" cy="2019300"/>
          </a:xfrm>
          <a:prstGeom prst="bentConnector2">
            <a:avLst/>
          </a:prstGeom>
          <a:ln w="63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 name="Shape 19"/>
          <p:cNvCxnSpPr>
            <a:stCxn id="11" idx="3"/>
            <a:endCxn id="1030" idx="2"/>
          </p:cNvCxnSpPr>
          <p:nvPr/>
        </p:nvCxnSpPr>
        <p:spPr>
          <a:xfrm flipV="1">
            <a:off x="5867400" y="3324225"/>
            <a:ext cx="1581150" cy="333375"/>
          </a:xfrm>
          <a:prstGeom prst="bentConnector2">
            <a:avLst/>
          </a:prstGeom>
          <a:ln w="63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505200" y="2514600"/>
            <a:ext cx="2034788" cy="276999"/>
          </a:xfrm>
          <a:prstGeom prst="rect">
            <a:avLst/>
          </a:prstGeom>
          <a:noFill/>
        </p:spPr>
        <p:txBody>
          <a:bodyPr wrap="none" rtlCol="0">
            <a:spAutoFit/>
          </a:bodyPr>
          <a:lstStyle/>
          <a:p>
            <a:r>
              <a:rPr lang="en-US" sz="1200" dirty="0" smtClean="0"/>
              <a:t>Elements in Activity Diagrams</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3" name="Content Placeholder 2"/>
          <p:cNvSpPr>
            <a:spLocks noGrp="1"/>
          </p:cNvSpPr>
          <p:nvPr>
            <p:ph idx="1"/>
          </p:nvPr>
        </p:nvSpPr>
        <p:spPr/>
        <p:txBody>
          <a:bodyPr>
            <a:normAutofit lnSpcReduction="10000"/>
          </a:bodyPr>
          <a:lstStyle/>
          <a:p>
            <a:r>
              <a:rPr lang="en-US" dirty="0" smtClean="0"/>
              <a:t>Flow-based designs can be used to model operational logic by identifying the transitions from activity to activity required to perform an operation. </a:t>
            </a:r>
          </a:p>
          <a:p>
            <a:endParaRPr lang="en-US" dirty="0" smtClean="0"/>
          </a:p>
          <a:p>
            <a:r>
              <a:rPr lang="en-US" dirty="0" smtClean="0"/>
              <a:t>However, in some cases, the operational logic of a function or system is dictated by the different states that the system exhibits during its lifetime. That is, certain activities can only be performed when a system is in a particular state. </a:t>
            </a:r>
          </a:p>
          <a:p>
            <a:endParaRPr lang="en-US" dirty="0" smtClean="0"/>
          </a:p>
          <a:p>
            <a:r>
              <a:rPr lang="en-US" dirty="0" smtClean="0"/>
              <a:t>When this occur, the operational logic of a system can be modeled as a state machine using a (UML) state diagram. </a:t>
            </a:r>
          </a:p>
          <a:p>
            <a:endParaRPr lang="en-US" dirty="0" smtClean="0"/>
          </a:p>
          <a:p>
            <a:r>
              <a:rPr lang="en-US" dirty="0" smtClean="0"/>
              <a:t>State diagrams are typically used to model the behavior of complete system.  However, in many practical applications, the state diagram acts as  model for designing the logical structure of one operation that executes the state machine.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652588" y="2352675"/>
            <a:ext cx="5838825" cy="215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914400" y="1143000"/>
            <a:ext cx="5237179" cy="5334000"/>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4224380" y="3276600"/>
            <a:ext cx="4486232" cy="16539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2173089" y="1219200"/>
            <a:ext cx="5294511" cy="3952875"/>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2895600" y="5105400"/>
            <a:ext cx="3452812" cy="12729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609600" y="1447800"/>
            <a:ext cx="5619750" cy="2752725"/>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1981200" y="4191000"/>
            <a:ext cx="5106285" cy="18825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6146" name="Picture 2"/>
          <p:cNvPicPr>
            <a:picLocks noChangeAspect="1" noChangeArrowheads="1"/>
          </p:cNvPicPr>
          <p:nvPr/>
        </p:nvPicPr>
        <p:blipFill>
          <a:blip r:embed="rId2" cstate="print"/>
          <a:srcRect/>
          <a:stretch>
            <a:fillRect/>
          </a:stretch>
        </p:blipFill>
        <p:spPr bwMode="auto">
          <a:xfrm>
            <a:off x="533400" y="1447800"/>
            <a:ext cx="5581650" cy="3324225"/>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3886200" y="4724400"/>
            <a:ext cx="4072865" cy="15015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p:txBody>
          <a:bodyPr/>
          <a:lstStyle/>
          <a:p>
            <a:r>
              <a:rPr lang="en-US" dirty="0" smtClean="0"/>
              <a:t>Many times, the internal logic of routines are made up of complex conditional statements; each statement evaluating a condition (i.e., a cause) and providing some action (i.e., an effect) as result.</a:t>
            </a:r>
          </a:p>
          <a:p>
            <a:endParaRPr lang="en-US" dirty="0" smtClean="0"/>
          </a:p>
          <a:p>
            <a:r>
              <a:rPr lang="en-US" dirty="0" smtClean="0"/>
              <a:t>This can lead to an increasingly complex nesting structure that is error-prone, hard to read, and hard to maintain.</a:t>
            </a:r>
          </a:p>
          <a:p>
            <a:endParaRPr lang="en-US" dirty="0" smtClean="0"/>
          </a:p>
          <a:p>
            <a:r>
              <a:rPr lang="en-US" dirty="0" smtClean="0"/>
              <a:t>In these cases, the logic design can be managed using a Decision Table [3]. </a:t>
            </a:r>
          </a:p>
          <a:p>
            <a:endParaRPr lang="en-US" dirty="0" smtClean="0"/>
          </a:p>
          <a:p>
            <a:r>
              <a:rPr lang="en-US" dirty="0" smtClean="0"/>
              <a:t>A </a:t>
            </a:r>
            <a:r>
              <a:rPr lang="en-US" i="1" dirty="0" smtClean="0"/>
              <a:t>decision table </a:t>
            </a:r>
            <a:r>
              <a:rPr lang="en-US" dirty="0" smtClean="0"/>
              <a:t>is a well structured table that provides the means to formulate, evaluate, improve the design of complex problems that deal with cause and effect.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a:xfrm>
            <a:off x="457200" y="1371601"/>
            <a:ext cx="8229600" cy="4876799"/>
          </a:xfrm>
        </p:spPr>
        <p:txBody>
          <a:bodyPr>
            <a:normAutofit lnSpcReduction="10000"/>
          </a:bodyPr>
          <a:lstStyle/>
          <a:p>
            <a:r>
              <a:rPr lang="en-US" dirty="0" smtClean="0"/>
              <a:t>The fundamental structure of a decision table contains four main sections:</a:t>
            </a:r>
          </a:p>
          <a:p>
            <a:pPr lvl="1"/>
            <a:r>
              <a:rPr lang="en-US" dirty="0" smtClean="0"/>
              <a:t>Condition</a:t>
            </a:r>
          </a:p>
          <a:p>
            <a:pPr lvl="1"/>
            <a:r>
              <a:rPr lang="en-US" dirty="0" smtClean="0"/>
              <a:t>Action</a:t>
            </a:r>
          </a:p>
          <a:p>
            <a:pPr lvl="1"/>
            <a:r>
              <a:rPr lang="en-US" dirty="0" smtClean="0"/>
              <a:t>Condition Entry</a:t>
            </a:r>
          </a:p>
          <a:p>
            <a:pPr lvl="1"/>
            <a:r>
              <a:rPr lang="en-US" dirty="0" smtClean="0"/>
              <a:t>Action Entry</a:t>
            </a:r>
          </a:p>
          <a:p>
            <a:pPr lvl="1"/>
            <a:endParaRPr lang="en-US" dirty="0" smtClean="0"/>
          </a:p>
          <a:p>
            <a:r>
              <a:rPr lang="en-US" dirty="0" smtClean="0"/>
              <a:t>The first section is the </a:t>
            </a:r>
            <a:r>
              <a:rPr lang="en-US" i="1" dirty="0" smtClean="0"/>
              <a:t>Condition</a:t>
            </a:r>
            <a:r>
              <a:rPr lang="en-US" dirty="0" smtClean="0"/>
              <a:t> section, which contains a list of all of the conditions present in the decision problem.</a:t>
            </a:r>
          </a:p>
          <a:p>
            <a:r>
              <a:rPr lang="en-US" dirty="0" smtClean="0"/>
              <a:t>The second section is the </a:t>
            </a:r>
            <a:r>
              <a:rPr lang="en-US" i="1" dirty="0" smtClean="0"/>
              <a:t>Action</a:t>
            </a:r>
            <a:r>
              <a:rPr lang="en-US" dirty="0" smtClean="0"/>
              <a:t> section, which contains a list of all possible outcomes that can result from one or more conditions occurring. </a:t>
            </a:r>
          </a:p>
          <a:p>
            <a:r>
              <a:rPr lang="en-US" dirty="0" smtClean="0"/>
              <a:t>The third and fourth sections are found in matrix form adjacent to the </a:t>
            </a:r>
            <a:r>
              <a:rPr lang="en-US" i="1" dirty="0" smtClean="0"/>
              <a:t>Condition</a:t>
            </a:r>
            <a:r>
              <a:rPr lang="en-US" dirty="0" smtClean="0"/>
              <a:t> and </a:t>
            </a:r>
            <a:r>
              <a:rPr lang="en-US" i="1" dirty="0" smtClean="0"/>
              <a:t>Action</a:t>
            </a:r>
            <a:r>
              <a:rPr lang="en-US" dirty="0" smtClean="0"/>
              <a:t> sections. </a:t>
            </a:r>
          </a:p>
          <a:p>
            <a:pPr lvl="1"/>
            <a:r>
              <a:rPr lang="en-US" dirty="0" smtClean="0"/>
              <a:t>The matrix adjacent to the </a:t>
            </a:r>
            <a:r>
              <a:rPr lang="en-US" i="1" dirty="0" smtClean="0"/>
              <a:t>Condition</a:t>
            </a:r>
            <a:r>
              <a:rPr lang="en-US" dirty="0" smtClean="0"/>
              <a:t> section indicate all possible combinations of conditions for the decision problem, while the matrix adjacent to the </a:t>
            </a:r>
            <a:r>
              <a:rPr lang="en-US" i="1" dirty="0" smtClean="0"/>
              <a:t>Action</a:t>
            </a:r>
            <a:r>
              <a:rPr lang="en-US" dirty="0" smtClean="0"/>
              <a:t> section indicates the corresponding actions.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4267200" y="1905000"/>
            <a:ext cx="398145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p:txBody>
          <a:bodyPr>
            <a:normAutofit lnSpcReduction="10000"/>
          </a:bodyPr>
          <a:lstStyle/>
          <a:p>
            <a:r>
              <a:rPr lang="en-US" dirty="0" smtClean="0"/>
              <a:t>Three types of decision tables are as follow [3]:</a:t>
            </a:r>
          </a:p>
          <a:p>
            <a:pPr lvl="1"/>
            <a:r>
              <a:rPr lang="en-US" dirty="0" smtClean="0"/>
              <a:t>Limited Entry Decision Table</a:t>
            </a:r>
          </a:p>
          <a:p>
            <a:pPr lvl="1"/>
            <a:r>
              <a:rPr lang="en-US" dirty="0" smtClean="0"/>
              <a:t>Extended Entry Decision Table</a:t>
            </a:r>
          </a:p>
          <a:p>
            <a:pPr lvl="1"/>
            <a:r>
              <a:rPr lang="en-US" dirty="0" smtClean="0"/>
              <a:t>Mixed Entry Decision Table</a:t>
            </a:r>
          </a:p>
          <a:p>
            <a:pPr lvl="1"/>
            <a:endParaRPr lang="en-US" dirty="0" smtClean="0"/>
          </a:p>
          <a:p>
            <a:r>
              <a:rPr lang="en-US" dirty="0" smtClean="0"/>
              <a:t>Limited Entry Decision Table (LEDT)</a:t>
            </a:r>
          </a:p>
          <a:p>
            <a:pPr lvl="1"/>
            <a:r>
              <a:rPr lang="en-US" dirty="0" smtClean="0"/>
              <a:t>Simplest type of decision table in which the condition section of the LEDT presents Boolean conditional statements.</a:t>
            </a:r>
          </a:p>
          <a:p>
            <a:pPr lvl="1"/>
            <a:r>
              <a:rPr lang="en-US" dirty="0" smtClean="0"/>
              <a:t>That is, the condition section of the LEDT presents features of the design problem that are either present or not and their combined presence (or absence) trigger specific actions.</a:t>
            </a:r>
          </a:p>
          <a:p>
            <a:pPr lvl="1"/>
            <a:r>
              <a:rPr lang="en-US" dirty="0" smtClean="0"/>
              <a:t>Therefore, the condition entry section of the LEDT consists of Boolean values, such as true or false, or yes or no that can be used to define different policies in the decision problem.</a:t>
            </a:r>
          </a:p>
          <a:p>
            <a:pPr lvl="1"/>
            <a:r>
              <a:rPr lang="en-US" dirty="0" smtClean="0"/>
              <a:t>For a LEDT, the number of distinct elementary policies is </a:t>
            </a:r>
            <a:r>
              <a:rPr lang="en-US" i="1" dirty="0" smtClean="0"/>
              <a:t>2</a:t>
            </a:r>
            <a:r>
              <a:rPr lang="en-US" i="1" baseline="30000" dirty="0" smtClean="0"/>
              <a:t>n</a:t>
            </a:r>
            <a:r>
              <a:rPr lang="en-US" dirty="0" smtClean="0"/>
              <a:t>, were </a:t>
            </a:r>
            <a:r>
              <a:rPr lang="en-US" i="1" dirty="0" smtClean="0"/>
              <a:t>n</a:t>
            </a:r>
            <a:r>
              <a:rPr lang="en-US" dirty="0" smtClean="0"/>
              <a:t> is the number of conditions in the condition section.</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a:xfrm>
            <a:off x="457200" y="1371601"/>
            <a:ext cx="8229600" cy="1752599"/>
          </a:xfrm>
        </p:spPr>
        <p:txBody>
          <a:bodyPr/>
          <a:lstStyle/>
          <a:p>
            <a:r>
              <a:rPr lang="en-US" dirty="0" smtClean="0"/>
              <a:t>Limited Entry Decision Table (LEDT) – Example</a:t>
            </a:r>
          </a:p>
          <a:p>
            <a:pPr lvl="1"/>
            <a:r>
              <a:rPr lang="en-US" dirty="0" smtClean="0"/>
              <a:t>Consider the LEDT design for a function that computes discounts for the purchase of mobile phones. </a:t>
            </a:r>
          </a:p>
          <a:p>
            <a:pPr lvl="1"/>
            <a:r>
              <a:rPr lang="en-US" dirty="0" smtClean="0"/>
              <a:t>Two types of discounts are available, a store discount of $15, and a manufacturer discount of $30.</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1676400" y="3429000"/>
            <a:ext cx="5486400" cy="16629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8" name="Picture 2"/>
          <p:cNvPicPr>
            <a:picLocks noChangeAspect="1" noChangeArrowheads="1"/>
          </p:cNvPicPr>
          <p:nvPr/>
        </p:nvPicPr>
        <p:blipFill>
          <a:blip r:embed="rId2" cstate="print"/>
          <a:srcRect/>
          <a:stretch>
            <a:fillRect/>
          </a:stretch>
        </p:blipFill>
        <p:spPr bwMode="auto">
          <a:xfrm>
            <a:off x="5029200" y="1676400"/>
            <a:ext cx="3676650" cy="1114425"/>
          </a:xfrm>
          <a:prstGeom prst="rect">
            <a:avLst/>
          </a:prstGeom>
          <a:noFill/>
          <a:ln w="9525">
            <a:noFill/>
            <a:miter lim="800000"/>
            <a:headEnd/>
            <a:tailEnd/>
          </a:ln>
        </p:spPr>
      </p:pic>
      <p:sp>
        <p:nvSpPr>
          <p:cNvPr id="9" name="Content Placeholder 2"/>
          <p:cNvSpPr>
            <a:spLocks noGrp="1"/>
          </p:cNvSpPr>
          <p:nvPr>
            <p:ph idx="1"/>
          </p:nvPr>
        </p:nvSpPr>
        <p:spPr>
          <a:xfrm>
            <a:off x="457200" y="1371601"/>
            <a:ext cx="4495800" cy="457199"/>
          </a:xfrm>
        </p:spPr>
        <p:txBody>
          <a:bodyPr/>
          <a:lstStyle/>
          <a:p>
            <a:r>
              <a:rPr lang="en-US" dirty="0" smtClean="0"/>
              <a:t>Sample Implementation…</a:t>
            </a:r>
            <a:endParaRPr lang="en-US" dirty="0"/>
          </a:p>
        </p:txBody>
      </p:sp>
      <p:cxnSp>
        <p:nvCxnSpPr>
          <p:cNvPr id="10" name="Shape 9"/>
          <p:cNvCxnSpPr/>
          <p:nvPr/>
        </p:nvCxnSpPr>
        <p:spPr>
          <a:xfrm rot="5400000">
            <a:off x="4900893" y="3176309"/>
            <a:ext cx="1752601" cy="1038785"/>
          </a:xfrm>
          <a:prstGeom prst="bentConnector3">
            <a:avLst>
              <a:gd name="adj1" fmla="val 100000"/>
            </a:avLst>
          </a:prstGeom>
          <a:ln w="12700">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752600" y="4114800"/>
            <a:ext cx="3200400" cy="1754326"/>
          </a:xfrm>
          <a:prstGeom prst="rect">
            <a:avLst/>
          </a:prstGeom>
          <a:noFill/>
        </p:spPr>
        <p:txBody>
          <a:bodyPr wrap="square" rtlCol="0">
            <a:spAutoFit/>
          </a:bodyPr>
          <a:lstStyle/>
          <a:p>
            <a:r>
              <a:rPr lang="en-MY" dirty="0" smtClean="0">
                <a:solidFill>
                  <a:srgbClr val="FF0000"/>
                </a:solidFill>
              </a:rPr>
              <a:t>WRITE THE SOURE CODE BASED ON  THE GIVEN DECISION TABLE</a:t>
            </a:r>
          </a:p>
          <a:p>
            <a:endParaRPr lang="en-MY" dirty="0" smtClean="0"/>
          </a:p>
          <a:p>
            <a:endParaRPr lang="en-MY" dirty="0"/>
          </a:p>
          <a:p>
            <a:endParaRPr lang="en-MY" dirty="0" smtClean="0"/>
          </a:p>
          <a:p>
            <a:endParaRPr lang="en-MY"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p:txBody>
          <a:bodyPr/>
          <a:lstStyle/>
          <a:p>
            <a:r>
              <a:rPr lang="en-US" dirty="0" smtClean="0"/>
              <a:t>Extended Entry Decision Table (EEDT)</a:t>
            </a:r>
          </a:p>
          <a:p>
            <a:pPr lvl="1"/>
            <a:r>
              <a:rPr lang="en-US" dirty="0" smtClean="0"/>
              <a:t>Whereas the Condition and Action sections of LEDTs contain complete questions and actions, the Condition and Action sections of the extended entry decision table (EEDT) are extended into the Action Entry section.</a:t>
            </a:r>
          </a:p>
          <a:p>
            <a:pPr lvl="1"/>
            <a:r>
              <a:rPr lang="en-US" dirty="0" smtClean="0"/>
              <a:t>That is, in LEDTs, the Condition section contained information that could be used to ask a complete questions, such as “</a:t>
            </a:r>
            <a:r>
              <a:rPr lang="en-US" i="1" dirty="0" smtClean="0"/>
              <a:t>is there a store discount in effect?</a:t>
            </a:r>
            <a:r>
              <a:rPr lang="en-US" dirty="0" smtClean="0"/>
              <a:t>” </a:t>
            </a:r>
          </a:p>
          <a:p>
            <a:pPr lvl="1"/>
            <a:r>
              <a:rPr lang="en-US" dirty="0" smtClean="0"/>
              <a:t>In EEDT, the Condition and Condition Entry sections of the table are required to formulate a complete question, such as “</a:t>
            </a:r>
            <a:r>
              <a:rPr lang="en-US" i="1" dirty="0" smtClean="0"/>
              <a:t>Is the customer a regular, preferred, or VIP customer?</a:t>
            </a:r>
            <a:r>
              <a:rPr lang="en-US" dirty="0" smtClean="0"/>
              <a:t>”</a:t>
            </a:r>
          </a:p>
          <a:p>
            <a:pPr lvl="1"/>
            <a:r>
              <a:rPr lang="en-US" dirty="0" smtClean="0"/>
              <a:t>Similarly, the Action section must be combined with the Action Entry section of the decision table to formulate a complete action, such as “</a:t>
            </a:r>
            <a:r>
              <a:rPr lang="en-US" i="1" dirty="0" smtClean="0"/>
              <a:t>add a free car kit to the purchase.</a:t>
            </a:r>
            <a:r>
              <a:rPr lang="en-US" dirty="0" smtClean="0"/>
              <a:t>”</a:t>
            </a:r>
          </a:p>
          <a:p>
            <a:pPr lvl="1"/>
            <a:r>
              <a:rPr lang="en-US" dirty="0" smtClean="0"/>
              <a:t>In addition, the number of possible values for each condition and action in EEDTs are not bounded to two.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7" name="Picture 2"/>
          <p:cNvPicPr>
            <a:picLocks noChangeAspect="1" noChangeArrowheads="1"/>
          </p:cNvPicPr>
          <p:nvPr/>
        </p:nvPicPr>
        <p:blipFill>
          <a:blip r:embed="rId2" cstate="print"/>
          <a:srcRect/>
          <a:stretch>
            <a:fillRect/>
          </a:stretch>
        </p:blipFill>
        <p:spPr bwMode="auto">
          <a:xfrm>
            <a:off x="5562600" y="5486400"/>
            <a:ext cx="2667000" cy="7656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a:xfrm>
            <a:off x="457200" y="1371601"/>
            <a:ext cx="8229600" cy="5029199"/>
          </a:xfrm>
        </p:spPr>
        <p:txBody>
          <a:bodyPr>
            <a:normAutofit lnSpcReduction="10000"/>
          </a:bodyPr>
          <a:lstStyle/>
          <a:p>
            <a:r>
              <a:rPr lang="en-US" dirty="0" smtClean="0"/>
              <a:t>Extended Entry Decision Table (EEDT) – Example</a:t>
            </a:r>
          </a:p>
          <a:p>
            <a:endParaRPr lang="en-US" dirty="0" smtClean="0"/>
          </a:p>
          <a:p>
            <a:endParaRPr lang="en-US" dirty="0" smtClean="0"/>
          </a:p>
          <a:p>
            <a:endParaRPr lang="en-US" dirty="0" smtClean="0"/>
          </a:p>
          <a:p>
            <a:endParaRPr lang="en-US" dirty="0" smtClean="0"/>
          </a:p>
          <a:p>
            <a:endParaRPr lang="en-US" dirty="0" smtClean="0"/>
          </a:p>
          <a:p>
            <a:r>
              <a:rPr lang="en-US" dirty="0" smtClean="0"/>
              <a:t>Notice that:</a:t>
            </a:r>
          </a:p>
          <a:p>
            <a:pPr lvl="1"/>
            <a:r>
              <a:rPr lang="en-US" dirty="0" smtClean="0"/>
              <a:t>The number of possible values for each condition and action in EEDTs are not bounded to two.</a:t>
            </a:r>
          </a:p>
          <a:p>
            <a:pPr lvl="1"/>
            <a:r>
              <a:rPr lang="en-US" dirty="0" smtClean="0"/>
              <a:t>Therefore, the number of policies for EEDT is the product of the number of possible values for each condition, denoted by</a:t>
            </a:r>
          </a:p>
          <a:p>
            <a:pPr lvl="2"/>
            <a:r>
              <a:rPr lang="en-US" dirty="0" smtClean="0"/>
              <a:t>Where </a:t>
            </a:r>
            <a:r>
              <a:rPr lang="en-US" i="1" dirty="0" smtClean="0"/>
              <a:t>c</a:t>
            </a:r>
            <a:r>
              <a:rPr lang="en-US" dirty="0" smtClean="0"/>
              <a:t> is the number of conditions</a:t>
            </a:r>
          </a:p>
          <a:p>
            <a:pPr lvl="2"/>
            <a:r>
              <a:rPr lang="en-US" i="1" dirty="0" smtClean="0"/>
              <a:t>V</a:t>
            </a:r>
            <a:r>
              <a:rPr lang="en-US" i="1" baseline="-25000" dirty="0" smtClean="0"/>
              <a:t>i</a:t>
            </a:r>
            <a:r>
              <a:rPr lang="en-US" dirty="0" smtClean="0"/>
              <a:t> is the number of values for condition </a:t>
            </a:r>
            <a:r>
              <a:rPr lang="en-US" i="1" dirty="0" err="1" smtClean="0"/>
              <a:t>i</a:t>
            </a:r>
            <a:r>
              <a:rPr lang="en-US" dirty="0" smtClean="0"/>
              <a:t>.</a:t>
            </a:r>
          </a:p>
          <a:p>
            <a:pPr lvl="1"/>
            <a:r>
              <a:rPr lang="en-US" dirty="0" smtClean="0"/>
              <a:t>In this example, the number of policies are 3 x 2 = 6.</a:t>
            </a:r>
          </a:p>
          <a:p>
            <a:pPr lvl="2"/>
            <a:r>
              <a:rPr lang="en-US" dirty="0" smtClean="0"/>
              <a:t>3 different value types for Condition 1 (i.e., </a:t>
            </a:r>
            <a:r>
              <a:rPr lang="en-US" dirty="0" err="1" smtClean="0"/>
              <a:t>cutomer</a:t>
            </a:r>
            <a:r>
              <a:rPr lang="en-US" dirty="0" smtClean="0"/>
              <a:t> type is REG/PRE/VIP)</a:t>
            </a:r>
          </a:p>
          <a:p>
            <a:pPr lvl="2"/>
            <a:r>
              <a:rPr lang="en-US" dirty="0" smtClean="0"/>
              <a:t>2 different value types for Condition 2 (i.e., credit score is GOOD/BAD)</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9218" name="Picture 2"/>
          <p:cNvPicPr>
            <a:picLocks noChangeAspect="1" noChangeArrowheads="1"/>
          </p:cNvPicPr>
          <p:nvPr/>
        </p:nvPicPr>
        <p:blipFill>
          <a:blip r:embed="rId3" cstate="print"/>
          <a:srcRect/>
          <a:stretch>
            <a:fillRect/>
          </a:stretch>
        </p:blipFill>
        <p:spPr bwMode="auto">
          <a:xfrm>
            <a:off x="1295400" y="2057400"/>
            <a:ext cx="5972175" cy="1114425"/>
          </a:xfrm>
          <a:prstGeom prst="rect">
            <a:avLst/>
          </a:prstGeom>
          <a:noFill/>
          <a:ln w="9525">
            <a:noFill/>
            <a:miter lim="800000"/>
            <a:headEnd/>
            <a:tailEnd/>
          </a:ln>
        </p:spPr>
      </p:pic>
      <p:graphicFrame>
        <p:nvGraphicFramePr>
          <p:cNvPr id="1026" name="Object 2"/>
          <p:cNvGraphicFramePr>
            <a:graphicFrameLocks noChangeAspect="1"/>
          </p:cNvGraphicFramePr>
          <p:nvPr/>
        </p:nvGraphicFramePr>
        <p:xfrm>
          <a:off x="5638800" y="4572000"/>
          <a:ext cx="1710427" cy="457200"/>
        </p:xfrm>
        <a:graphic>
          <a:graphicData uri="http://schemas.openxmlformats.org/presentationml/2006/ole">
            <mc:AlternateContent xmlns:mc="http://schemas.openxmlformats.org/markup-compatibility/2006">
              <mc:Choice xmlns:v="urn:schemas-microsoft-com:vml" Requires="v">
                <p:oleObj spid="_x0000_s1029" name="Equation" r:id="rId4" imgW="1384200" imgH="431640" progId="Equation.3">
                  <p:embed/>
                </p:oleObj>
              </mc:Choice>
              <mc:Fallback>
                <p:oleObj name="Equation" r:id="rId4" imgW="1384200" imgH="4316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4572000"/>
                        <a:ext cx="1710427"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3" name="Content Placeholder 2"/>
          <p:cNvSpPr>
            <a:spLocks noGrp="1"/>
          </p:cNvSpPr>
          <p:nvPr>
            <p:ph idx="1"/>
          </p:nvPr>
        </p:nvSpPr>
        <p:spPr>
          <a:xfrm>
            <a:off x="457200" y="1371601"/>
            <a:ext cx="8229600" cy="1523999"/>
          </a:xfrm>
        </p:spPr>
        <p:txBody>
          <a:bodyPr/>
          <a:lstStyle/>
          <a:p>
            <a:r>
              <a:rPr lang="en-US" dirty="0" smtClean="0"/>
              <a:t>Mixed Entry Decision Table (MEDT)</a:t>
            </a:r>
          </a:p>
          <a:p>
            <a:pPr lvl="1"/>
            <a:r>
              <a:rPr lang="en-US" dirty="0" smtClean="0"/>
              <a:t>Combines LEDTs and EEDTs into one MEDT</a:t>
            </a:r>
          </a:p>
          <a:p>
            <a:pPr lvl="2"/>
            <a:r>
              <a:rPr lang="en-US" dirty="0" smtClean="0"/>
              <a:t>That is, conditions can be questions, with various answers or</a:t>
            </a:r>
          </a:p>
          <a:p>
            <a:pPr lvl="2"/>
            <a:r>
              <a:rPr lang="en-US" dirty="0" smtClean="0"/>
              <a:t>Binary features that are present or not (true or false).</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7" name="Picture 3"/>
          <p:cNvPicPr>
            <a:picLocks noChangeAspect="1" noChangeArrowheads="1"/>
          </p:cNvPicPr>
          <p:nvPr/>
        </p:nvPicPr>
        <p:blipFill>
          <a:blip r:embed="rId2" cstate="print"/>
          <a:srcRect/>
          <a:stretch>
            <a:fillRect/>
          </a:stretch>
        </p:blipFill>
        <p:spPr bwMode="auto">
          <a:xfrm>
            <a:off x="1524000" y="3048000"/>
            <a:ext cx="5981700" cy="2609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12290" name="Picture 2"/>
          <p:cNvPicPr>
            <a:picLocks noChangeAspect="1" noChangeArrowheads="1"/>
          </p:cNvPicPr>
          <p:nvPr/>
        </p:nvPicPr>
        <p:blipFill>
          <a:blip r:embed="rId2" cstate="print"/>
          <a:srcRect/>
          <a:stretch>
            <a:fillRect/>
          </a:stretch>
        </p:blipFill>
        <p:spPr bwMode="auto">
          <a:xfrm>
            <a:off x="609600" y="914400"/>
            <a:ext cx="3657600" cy="5397910"/>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bwMode="auto">
          <a:xfrm>
            <a:off x="4419600" y="1219200"/>
            <a:ext cx="4235218" cy="1847850"/>
          </a:xfrm>
          <a:prstGeom prst="rect">
            <a:avLst/>
          </a:prstGeom>
          <a:noFill/>
          <a:ln w="9525">
            <a:noFill/>
            <a:miter lim="800000"/>
            <a:headEnd/>
            <a:tailEnd/>
          </a:ln>
        </p:spPr>
      </p:pic>
      <p:sp>
        <p:nvSpPr>
          <p:cNvPr id="9" name="Title 1"/>
          <p:cNvSpPr>
            <a:spLocks noGrp="1"/>
          </p:cNvSpPr>
          <p:nvPr>
            <p:ph type="title"/>
          </p:nvPr>
        </p:nvSpPr>
        <p:spPr>
          <a:xfrm>
            <a:off x="457200" y="152400"/>
            <a:ext cx="8229600" cy="792162"/>
          </a:xfrm>
        </p:spPr>
        <p:txBody>
          <a:bodyPr/>
          <a:lstStyle/>
          <a:p>
            <a:r>
              <a:rPr lang="en-US" dirty="0" smtClean="0"/>
              <a:t>Table-Based Construction Design</a:t>
            </a:r>
            <a:endParaRPr lang="en-US" dirty="0"/>
          </a:p>
        </p:txBody>
      </p:sp>
      <p:sp>
        <p:nvSpPr>
          <p:cNvPr id="11" name="TextBox 10"/>
          <p:cNvSpPr txBox="1"/>
          <p:nvPr/>
        </p:nvSpPr>
        <p:spPr>
          <a:xfrm>
            <a:off x="5181600" y="3962400"/>
            <a:ext cx="914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2" name="Freeform 11"/>
          <p:cNvSpPr/>
          <p:nvPr/>
        </p:nvSpPr>
        <p:spPr>
          <a:xfrm>
            <a:off x="6029325" y="3105150"/>
            <a:ext cx="428625" cy="990600"/>
          </a:xfrm>
          <a:custGeom>
            <a:avLst/>
            <a:gdLst>
              <a:gd name="connsiteX0" fmla="*/ 0 w 428625"/>
              <a:gd name="connsiteY0" fmla="*/ 990600 h 990600"/>
              <a:gd name="connsiteX1" fmla="*/ 390525 w 428625"/>
              <a:gd name="connsiteY1" fmla="*/ 762000 h 990600"/>
              <a:gd name="connsiteX2" fmla="*/ 228600 w 428625"/>
              <a:gd name="connsiteY2" fmla="*/ 361950 h 990600"/>
              <a:gd name="connsiteX3" fmla="*/ 371475 w 428625"/>
              <a:gd name="connsiteY3" fmla="*/ 0 h 990600"/>
            </a:gdLst>
            <a:ahLst/>
            <a:cxnLst>
              <a:cxn ang="0">
                <a:pos x="connsiteX0" y="connsiteY0"/>
              </a:cxn>
              <a:cxn ang="0">
                <a:pos x="connsiteX1" y="connsiteY1"/>
              </a:cxn>
              <a:cxn ang="0">
                <a:pos x="connsiteX2" y="connsiteY2"/>
              </a:cxn>
              <a:cxn ang="0">
                <a:pos x="connsiteX3" y="connsiteY3"/>
              </a:cxn>
            </a:cxnLst>
            <a:rect l="l" t="t" r="r" b="b"/>
            <a:pathLst>
              <a:path w="428625" h="990600">
                <a:moveTo>
                  <a:pt x="0" y="990600"/>
                </a:moveTo>
                <a:cubicBezTo>
                  <a:pt x="176212" y="928687"/>
                  <a:pt x="352425" y="866775"/>
                  <a:pt x="390525" y="762000"/>
                </a:cubicBezTo>
                <a:cubicBezTo>
                  <a:pt x="428625" y="657225"/>
                  <a:pt x="231775" y="488950"/>
                  <a:pt x="228600" y="361950"/>
                </a:cubicBezTo>
                <a:cubicBezTo>
                  <a:pt x="225425" y="234950"/>
                  <a:pt x="298450" y="117475"/>
                  <a:pt x="3714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4295775" y="4305300"/>
            <a:ext cx="933450" cy="685800"/>
          </a:xfrm>
          <a:custGeom>
            <a:avLst/>
            <a:gdLst>
              <a:gd name="connsiteX0" fmla="*/ 933450 w 933450"/>
              <a:gd name="connsiteY0" fmla="*/ 0 h 685800"/>
              <a:gd name="connsiteX1" fmla="*/ 504825 w 933450"/>
              <a:gd name="connsiteY1" fmla="*/ 114300 h 685800"/>
              <a:gd name="connsiteX2" fmla="*/ 381000 w 933450"/>
              <a:gd name="connsiteY2" fmla="*/ 542925 h 685800"/>
              <a:gd name="connsiteX3" fmla="*/ 0 w 9334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933450" h="685800">
                <a:moveTo>
                  <a:pt x="933450" y="0"/>
                </a:moveTo>
                <a:cubicBezTo>
                  <a:pt x="765175" y="11906"/>
                  <a:pt x="596900" y="23813"/>
                  <a:pt x="504825" y="114300"/>
                </a:cubicBezTo>
                <a:cubicBezTo>
                  <a:pt x="412750" y="204788"/>
                  <a:pt x="465138" y="447675"/>
                  <a:pt x="381000" y="542925"/>
                </a:cubicBezTo>
                <a:cubicBezTo>
                  <a:pt x="296863" y="638175"/>
                  <a:pt x="148431" y="661987"/>
                  <a:pt x="0" y="6858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334000" y="5257800"/>
            <a:ext cx="2895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That ‘s a lot of conditional statements!  Let’s see how we can leverage of table-based construction to reduce complexity…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990600" y="2209800"/>
            <a:ext cx="5857875" cy="3905250"/>
          </a:xfrm>
          <a:prstGeom prst="rect">
            <a:avLst/>
          </a:prstGeom>
          <a:noFill/>
          <a:ln w="9525">
            <a:noFill/>
            <a:miter lim="800000"/>
            <a:headEnd/>
            <a:tailEnd/>
          </a:ln>
        </p:spPr>
      </p:pic>
      <p:sp>
        <p:nvSpPr>
          <p:cNvPr id="7" name="Content Placeholder 2"/>
          <p:cNvSpPr>
            <a:spLocks noGrp="1"/>
          </p:cNvSpPr>
          <p:nvPr>
            <p:ph idx="1"/>
          </p:nvPr>
        </p:nvSpPr>
        <p:spPr>
          <a:xfrm>
            <a:off x="457200" y="1371601"/>
            <a:ext cx="8229600" cy="838199"/>
          </a:xfrm>
        </p:spPr>
        <p:txBody>
          <a:bodyPr/>
          <a:lstStyle/>
          <a:p>
            <a:r>
              <a:rPr lang="en-US" dirty="0" smtClean="0"/>
              <a:t>Table-based designs lead to efficient construction that has significant lower complexity.</a:t>
            </a:r>
            <a:endParaRPr lang="en-US" dirty="0"/>
          </a:p>
        </p:txBody>
      </p:sp>
      <p:sp>
        <p:nvSpPr>
          <p:cNvPr id="8" name="TextBox 7"/>
          <p:cNvSpPr txBox="1"/>
          <p:nvPr/>
        </p:nvSpPr>
        <p:spPr>
          <a:xfrm>
            <a:off x="7010400" y="3429000"/>
            <a:ext cx="1752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Move the complexity of the previous conditional statements to a table!</a:t>
            </a:r>
            <a:endParaRPr lang="en-US" sz="1200" b="1" dirty="0">
              <a:solidFill>
                <a:srgbClr val="C00000"/>
              </a:solidFill>
              <a:latin typeface="Bradley Hand ITC" pitchFamily="66" charset="0"/>
            </a:endParaRPr>
          </a:p>
        </p:txBody>
      </p:sp>
      <p:sp>
        <p:nvSpPr>
          <p:cNvPr id="9" name="Freeform 8"/>
          <p:cNvSpPr/>
          <p:nvPr/>
        </p:nvSpPr>
        <p:spPr>
          <a:xfrm>
            <a:off x="6705600" y="3887788"/>
            <a:ext cx="419100" cy="1093787"/>
          </a:xfrm>
          <a:custGeom>
            <a:avLst/>
            <a:gdLst>
              <a:gd name="connsiteX0" fmla="*/ 723900 w 723900"/>
              <a:gd name="connsiteY0" fmla="*/ 26987 h 1093787"/>
              <a:gd name="connsiteX1" fmla="*/ 666750 w 723900"/>
              <a:gd name="connsiteY1" fmla="*/ 36512 h 1093787"/>
              <a:gd name="connsiteX2" fmla="*/ 447675 w 723900"/>
              <a:gd name="connsiteY2" fmla="*/ 246062 h 1093787"/>
              <a:gd name="connsiteX3" fmla="*/ 419100 w 723900"/>
              <a:gd name="connsiteY3" fmla="*/ 893762 h 1093787"/>
              <a:gd name="connsiteX4" fmla="*/ 0 w 723900"/>
              <a:gd name="connsiteY4" fmla="*/ 1093787 h 1093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1093787">
                <a:moveTo>
                  <a:pt x="723900" y="26987"/>
                </a:moveTo>
                <a:cubicBezTo>
                  <a:pt x="718343" y="13493"/>
                  <a:pt x="712787" y="0"/>
                  <a:pt x="666750" y="36512"/>
                </a:cubicBezTo>
                <a:cubicBezTo>
                  <a:pt x="620713" y="73024"/>
                  <a:pt x="488950" y="103187"/>
                  <a:pt x="447675" y="246062"/>
                </a:cubicBezTo>
                <a:cubicBezTo>
                  <a:pt x="406400" y="388937"/>
                  <a:pt x="493713" y="752475"/>
                  <a:pt x="419100" y="893762"/>
                </a:cubicBezTo>
                <a:cubicBezTo>
                  <a:pt x="344488" y="1035050"/>
                  <a:pt x="172244" y="1064418"/>
                  <a:pt x="0" y="10937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1143000" y="2133600"/>
            <a:ext cx="5600700" cy="3667125"/>
          </a:xfrm>
          <a:prstGeom prst="rect">
            <a:avLst/>
          </a:prstGeom>
          <a:noFill/>
          <a:ln w="9525">
            <a:noFill/>
            <a:miter lim="800000"/>
            <a:headEnd/>
            <a:tailEnd/>
          </a:ln>
        </p:spPr>
      </p:pic>
      <p:sp>
        <p:nvSpPr>
          <p:cNvPr id="7" name="TextBox 6"/>
          <p:cNvSpPr txBox="1"/>
          <p:nvPr/>
        </p:nvSpPr>
        <p:spPr>
          <a:xfrm>
            <a:off x="6019800" y="1981200"/>
            <a:ext cx="2590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Since we moved the complexity of the previous conditional statements to a table, all we have to do now to retrieve the discount is key into the table!</a:t>
            </a:r>
            <a:endParaRPr lang="en-US" sz="1200" b="1" dirty="0">
              <a:solidFill>
                <a:srgbClr val="C00000"/>
              </a:solidFill>
              <a:latin typeface="Bradley Hand ITC" pitchFamily="66" charset="0"/>
            </a:endParaRPr>
          </a:p>
        </p:txBody>
      </p:sp>
      <p:sp>
        <p:nvSpPr>
          <p:cNvPr id="8" name="Freeform 7"/>
          <p:cNvSpPr/>
          <p:nvPr/>
        </p:nvSpPr>
        <p:spPr>
          <a:xfrm>
            <a:off x="6781800" y="2743200"/>
            <a:ext cx="419100" cy="1093787"/>
          </a:xfrm>
          <a:custGeom>
            <a:avLst/>
            <a:gdLst>
              <a:gd name="connsiteX0" fmla="*/ 723900 w 723900"/>
              <a:gd name="connsiteY0" fmla="*/ 26987 h 1093787"/>
              <a:gd name="connsiteX1" fmla="*/ 666750 w 723900"/>
              <a:gd name="connsiteY1" fmla="*/ 36512 h 1093787"/>
              <a:gd name="connsiteX2" fmla="*/ 447675 w 723900"/>
              <a:gd name="connsiteY2" fmla="*/ 246062 h 1093787"/>
              <a:gd name="connsiteX3" fmla="*/ 419100 w 723900"/>
              <a:gd name="connsiteY3" fmla="*/ 893762 h 1093787"/>
              <a:gd name="connsiteX4" fmla="*/ 0 w 723900"/>
              <a:gd name="connsiteY4" fmla="*/ 1093787 h 1093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1093787">
                <a:moveTo>
                  <a:pt x="723900" y="26987"/>
                </a:moveTo>
                <a:cubicBezTo>
                  <a:pt x="718343" y="13493"/>
                  <a:pt x="712787" y="0"/>
                  <a:pt x="666750" y="36512"/>
                </a:cubicBezTo>
                <a:cubicBezTo>
                  <a:pt x="620713" y="73024"/>
                  <a:pt x="488950" y="103187"/>
                  <a:pt x="447675" y="246062"/>
                </a:cubicBezTo>
                <a:cubicBezTo>
                  <a:pt x="406400" y="388937"/>
                  <a:pt x="493713" y="752475"/>
                  <a:pt x="419100" y="893762"/>
                </a:cubicBezTo>
                <a:cubicBezTo>
                  <a:pt x="344488" y="1035050"/>
                  <a:pt x="172244" y="1064418"/>
                  <a:pt x="0" y="10937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4800600" y="1447800"/>
            <a:ext cx="2590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Compute the discount key!</a:t>
            </a:r>
            <a:endParaRPr lang="en-US" sz="1200" b="1" dirty="0">
              <a:solidFill>
                <a:srgbClr val="C00000"/>
              </a:solidFill>
              <a:latin typeface="Bradley Hand ITC" pitchFamily="66" charset="0"/>
            </a:endParaRPr>
          </a:p>
        </p:txBody>
      </p:sp>
      <p:sp>
        <p:nvSpPr>
          <p:cNvPr id="10" name="Freeform 9"/>
          <p:cNvSpPr/>
          <p:nvPr/>
        </p:nvSpPr>
        <p:spPr>
          <a:xfrm>
            <a:off x="5486400" y="1647825"/>
            <a:ext cx="419100" cy="941387"/>
          </a:xfrm>
          <a:custGeom>
            <a:avLst/>
            <a:gdLst>
              <a:gd name="connsiteX0" fmla="*/ 723900 w 723900"/>
              <a:gd name="connsiteY0" fmla="*/ 26987 h 1093787"/>
              <a:gd name="connsiteX1" fmla="*/ 666750 w 723900"/>
              <a:gd name="connsiteY1" fmla="*/ 36512 h 1093787"/>
              <a:gd name="connsiteX2" fmla="*/ 447675 w 723900"/>
              <a:gd name="connsiteY2" fmla="*/ 246062 h 1093787"/>
              <a:gd name="connsiteX3" fmla="*/ 419100 w 723900"/>
              <a:gd name="connsiteY3" fmla="*/ 893762 h 1093787"/>
              <a:gd name="connsiteX4" fmla="*/ 0 w 723900"/>
              <a:gd name="connsiteY4" fmla="*/ 1093787 h 1093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1093787">
                <a:moveTo>
                  <a:pt x="723900" y="26987"/>
                </a:moveTo>
                <a:cubicBezTo>
                  <a:pt x="718343" y="13493"/>
                  <a:pt x="712787" y="0"/>
                  <a:pt x="666750" y="36512"/>
                </a:cubicBezTo>
                <a:cubicBezTo>
                  <a:pt x="620713" y="73024"/>
                  <a:pt x="488950" y="103187"/>
                  <a:pt x="447675" y="246062"/>
                </a:cubicBezTo>
                <a:cubicBezTo>
                  <a:pt x="406400" y="388937"/>
                  <a:pt x="493713" y="752475"/>
                  <a:pt x="419100" y="893762"/>
                </a:cubicBezTo>
                <a:cubicBezTo>
                  <a:pt x="344488" y="1035050"/>
                  <a:pt x="172244" y="1064418"/>
                  <a:pt x="0" y="10937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Table-Based Construction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pic>
        <p:nvPicPr>
          <p:cNvPr id="7" name="Picture 2"/>
          <p:cNvPicPr>
            <a:picLocks noChangeAspect="1" noChangeArrowheads="1"/>
          </p:cNvPicPr>
          <p:nvPr/>
        </p:nvPicPr>
        <p:blipFill>
          <a:blip r:embed="rId2" cstate="print"/>
          <a:srcRect/>
          <a:stretch>
            <a:fillRect/>
          </a:stretch>
        </p:blipFill>
        <p:spPr bwMode="auto">
          <a:xfrm>
            <a:off x="457200" y="1295400"/>
            <a:ext cx="3141272" cy="4635910"/>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4572000" y="3810000"/>
            <a:ext cx="3847754" cy="2519363"/>
          </a:xfrm>
          <a:prstGeom prst="rect">
            <a:avLst/>
          </a:prstGeom>
          <a:noFill/>
          <a:ln w="9525">
            <a:noFill/>
            <a:miter lim="800000"/>
            <a:headEnd/>
            <a:tailEnd/>
          </a:ln>
        </p:spPr>
      </p:pic>
      <p:pic>
        <p:nvPicPr>
          <p:cNvPr id="9" name="Picture 3"/>
          <p:cNvPicPr>
            <a:picLocks noChangeAspect="1" noChangeArrowheads="1"/>
          </p:cNvPicPr>
          <p:nvPr/>
        </p:nvPicPr>
        <p:blipFill>
          <a:blip r:embed="rId4" cstate="print"/>
          <a:srcRect/>
          <a:stretch>
            <a:fillRect/>
          </a:stretch>
        </p:blipFill>
        <p:spPr bwMode="auto">
          <a:xfrm>
            <a:off x="4191000" y="1371600"/>
            <a:ext cx="4235218" cy="1847850"/>
          </a:xfrm>
          <a:prstGeom prst="rect">
            <a:avLst/>
          </a:prstGeom>
          <a:noFill/>
          <a:ln w="9525">
            <a:noFill/>
            <a:miter lim="800000"/>
            <a:headEnd/>
            <a:tailEnd/>
          </a:ln>
        </p:spPr>
      </p:pic>
      <p:sp>
        <p:nvSpPr>
          <p:cNvPr id="10" name="TextBox 9"/>
          <p:cNvSpPr txBox="1"/>
          <p:nvPr/>
        </p:nvSpPr>
        <p:spPr>
          <a:xfrm>
            <a:off x="3581400" y="3429000"/>
            <a:ext cx="914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1" name="Freeform 10"/>
          <p:cNvSpPr/>
          <p:nvPr/>
        </p:nvSpPr>
        <p:spPr>
          <a:xfrm>
            <a:off x="4419600" y="3200400"/>
            <a:ext cx="428625" cy="476250"/>
          </a:xfrm>
          <a:custGeom>
            <a:avLst/>
            <a:gdLst>
              <a:gd name="connsiteX0" fmla="*/ 0 w 428625"/>
              <a:gd name="connsiteY0" fmla="*/ 990600 h 990600"/>
              <a:gd name="connsiteX1" fmla="*/ 390525 w 428625"/>
              <a:gd name="connsiteY1" fmla="*/ 762000 h 990600"/>
              <a:gd name="connsiteX2" fmla="*/ 228600 w 428625"/>
              <a:gd name="connsiteY2" fmla="*/ 361950 h 990600"/>
              <a:gd name="connsiteX3" fmla="*/ 371475 w 428625"/>
              <a:gd name="connsiteY3" fmla="*/ 0 h 990600"/>
            </a:gdLst>
            <a:ahLst/>
            <a:cxnLst>
              <a:cxn ang="0">
                <a:pos x="connsiteX0" y="connsiteY0"/>
              </a:cxn>
              <a:cxn ang="0">
                <a:pos x="connsiteX1" y="connsiteY1"/>
              </a:cxn>
              <a:cxn ang="0">
                <a:pos x="connsiteX2" y="connsiteY2"/>
              </a:cxn>
              <a:cxn ang="0">
                <a:pos x="connsiteX3" y="connsiteY3"/>
              </a:cxn>
            </a:cxnLst>
            <a:rect l="l" t="t" r="r" b="b"/>
            <a:pathLst>
              <a:path w="428625" h="990600">
                <a:moveTo>
                  <a:pt x="0" y="990600"/>
                </a:moveTo>
                <a:cubicBezTo>
                  <a:pt x="176212" y="928687"/>
                  <a:pt x="352425" y="866775"/>
                  <a:pt x="390525" y="762000"/>
                </a:cubicBezTo>
                <a:cubicBezTo>
                  <a:pt x="428625" y="657225"/>
                  <a:pt x="231775" y="488950"/>
                  <a:pt x="228600" y="361950"/>
                </a:cubicBezTo>
                <a:cubicBezTo>
                  <a:pt x="225425" y="234950"/>
                  <a:pt x="298450" y="117475"/>
                  <a:pt x="3714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3200400" y="3733800"/>
            <a:ext cx="457200" cy="533400"/>
          </a:xfrm>
          <a:custGeom>
            <a:avLst/>
            <a:gdLst>
              <a:gd name="connsiteX0" fmla="*/ 933450 w 933450"/>
              <a:gd name="connsiteY0" fmla="*/ 0 h 685800"/>
              <a:gd name="connsiteX1" fmla="*/ 504825 w 933450"/>
              <a:gd name="connsiteY1" fmla="*/ 114300 h 685800"/>
              <a:gd name="connsiteX2" fmla="*/ 381000 w 933450"/>
              <a:gd name="connsiteY2" fmla="*/ 542925 h 685800"/>
              <a:gd name="connsiteX3" fmla="*/ 0 w 9334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933450" h="685800">
                <a:moveTo>
                  <a:pt x="933450" y="0"/>
                </a:moveTo>
                <a:cubicBezTo>
                  <a:pt x="765175" y="11906"/>
                  <a:pt x="596900" y="23813"/>
                  <a:pt x="504825" y="114300"/>
                </a:cubicBezTo>
                <a:cubicBezTo>
                  <a:pt x="412750" y="204788"/>
                  <a:pt x="465138" y="447675"/>
                  <a:pt x="381000" y="542925"/>
                </a:cubicBezTo>
                <a:cubicBezTo>
                  <a:pt x="296863" y="638175"/>
                  <a:pt x="148431" y="661987"/>
                  <a:pt x="0" y="6858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4048125" y="3867150"/>
            <a:ext cx="571500" cy="781050"/>
          </a:xfrm>
          <a:custGeom>
            <a:avLst/>
            <a:gdLst>
              <a:gd name="connsiteX0" fmla="*/ 0 w 571500"/>
              <a:gd name="connsiteY0" fmla="*/ 0 h 781050"/>
              <a:gd name="connsiteX1" fmla="*/ 228600 w 571500"/>
              <a:gd name="connsiteY1" fmla="*/ 142875 h 781050"/>
              <a:gd name="connsiteX2" fmla="*/ 161925 w 571500"/>
              <a:gd name="connsiteY2" fmla="*/ 619125 h 781050"/>
              <a:gd name="connsiteX3" fmla="*/ 571500 w 571500"/>
              <a:gd name="connsiteY3" fmla="*/ 781050 h 781050"/>
            </a:gdLst>
            <a:ahLst/>
            <a:cxnLst>
              <a:cxn ang="0">
                <a:pos x="connsiteX0" y="connsiteY0"/>
              </a:cxn>
              <a:cxn ang="0">
                <a:pos x="connsiteX1" y="connsiteY1"/>
              </a:cxn>
              <a:cxn ang="0">
                <a:pos x="connsiteX2" y="connsiteY2"/>
              </a:cxn>
              <a:cxn ang="0">
                <a:pos x="connsiteX3" y="connsiteY3"/>
              </a:cxn>
            </a:cxnLst>
            <a:rect l="l" t="t" r="r" b="b"/>
            <a:pathLst>
              <a:path w="571500" h="781050">
                <a:moveTo>
                  <a:pt x="0" y="0"/>
                </a:moveTo>
                <a:cubicBezTo>
                  <a:pt x="100806" y="19844"/>
                  <a:pt x="201613" y="39688"/>
                  <a:pt x="228600" y="142875"/>
                </a:cubicBezTo>
                <a:cubicBezTo>
                  <a:pt x="255587" y="246062"/>
                  <a:pt x="104775" y="512762"/>
                  <a:pt x="161925" y="619125"/>
                </a:cubicBezTo>
                <a:cubicBezTo>
                  <a:pt x="219075" y="725488"/>
                  <a:pt x="395287" y="753269"/>
                  <a:pt x="571500" y="781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1981200" y="60198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much simpler this version of the code looks!</a:t>
            </a:r>
            <a:endParaRPr lang="en-US" sz="1200" b="1" dirty="0">
              <a:solidFill>
                <a:srgbClr val="C00000"/>
              </a:solidFill>
              <a:latin typeface="Bradley Hand ITC" pitchFamily="66" charset="0"/>
            </a:endParaRPr>
          </a:p>
        </p:txBody>
      </p:sp>
      <p:sp>
        <p:nvSpPr>
          <p:cNvPr id="15" name="Freeform 14"/>
          <p:cNvSpPr/>
          <p:nvPr/>
        </p:nvSpPr>
        <p:spPr>
          <a:xfrm>
            <a:off x="4114800" y="5867400"/>
            <a:ext cx="428625" cy="476250"/>
          </a:xfrm>
          <a:custGeom>
            <a:avLst/>
            <a:gdLst>
              <a:gd name="connsiteX0" fmla="*/ 0 w 428625"/>
              <a:gd name="connsiteY0" fmla="*/ 990600 h 990600"/>
              <a:gd name="connsiteX1" fmla="*/ 390525 w 428625"/>
              <a:gd name="connsiteY1" fmla="*/ 762000 h 990600"/>
              <a:gd name="connsiteX2" fmla="*/ 228600 w 428625"/>
              <a:gd name="connsiteY2" fmla="*/ 361950 h 990600"/>
              <a:gd name="connsiteX3" fmla="*/ 371475 w 428625"/>
              <a:gd name="connsiteY3" fmla="*/ 0 h 990600"/>
            </a:gdLst>
            <a:ahLst/>
            <a:cxnLst>
              <a:cxn ang="0">
                <a:pos x="connsiteX0" y="connsiteY0"/>
              </a:cxn>
              <a:cxn ang="0">
                <a:pos x="connsiteX1" y="connsiteY1"/>
              </a:cxn>
              <a:cxn ang="0">
                <a:pos x="connsiteX2" y="connsiteY2"/>
              </a:cxn>
              <a:cxn ang="0">
                <a:pos x="connsiteX3" y="connsiteY3"/>
              </a:cxn>
            </a:cxnLst>
            <a:rect l="l" t="t" r="r" b="b"/>
            <a:pathLst>
              <a:path w="428625" h="990600">
                <a:moveTo>
                  <a:pt x="0" y="990600"/>
                </a:moveTo>
                <a:cubicBezTo>
                  <a:pt x="176212" y="928687"/>
                  <a:pt x="352425" y="866775"/>
                  <a:pt x="390525" y="762000"/>
                </a:cubicBezTo>
                <a:cubicBezTo>
                  <a:pt x="428625" y="657225"/>
                  <a:pt x="231775" y="488950"/>
                  <a:pt x="228600" y="361950"/>
                </a:cubicBezTo>
                <a:cubicBezTo>
                  <a:pt x="225425" y="234950"/>
                  <a:pt x="298450" y="117475"/>
                  <a:pt x="3714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construction design from the algorithmic viewpoint, including:</a:t>
            </a:r>
          </a:p>
          <a:p>
            <a:pPr lvl="1"/>
            <a:r>
              <a:rPr lang="en-US" dirty="0" smtClean="0"/>
              <a:t>Flow-based design</a:t>
            </a:r>
          </a:p>
          <a:p>
            <a:pPr lvl="1"/>
            <a:r>
              <a:rPr lang="en-US" dirty="0" smtClean="0"/>
              <a:t>State-based design</a:t>
            </a:r>
          </a:p>
          <a:p>
            <a:pPr lvl="1"/>
            <a:r>
              <a:rPr lang="en-US" dirty="0" smtClean="0"/>
              <a:t>Table-based design</a:t>
            </a:r>
          </a:p>
          <a:p>
            <a:pPr lvl="1">
              <a:buNone/>
            </a:pPr>
            <a:endParaRPr lang="en-US" dirty="0" smtClean="0"/>
          </a:p>
          <a:p>
            <a:r>
              <a:rPr lang="en-US" dirty="0" smtClean="0"/>
              <a:t>In the next session, we will discuss another form of algorithmic design at the construction level, the Programming Design Language (PDL).  We </a:t>
            </a:r>
            <a:r>
              <a:rPr lang="en-US" smtClean="0"/>
              <a:t>will also focuses </a:t>
            </a:r>
            <a:r>
              <a:rPr lang="en-US" dirty="0" smtClean="0"/>
              <a:t>on the stylistic view of construction design and on quality evaluation at the construction level.</a:t>
            </a:r>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IEEE. “IEEE Standard for Information Technology-Systems DESIGN-Software Design Descriptions.” 2009, p. 175.</a:t>
            </a:r>
          </a:p>
          <a:p>
            <a:r>
              <a:rPr lang="en-US" dirty="0" smtClean="0"/>
              <a:t>[2] Collar, Emilio Jr. “An Investigation of Programming Code </a:t>
            </a:r>
            <a:r>
              <a:rPr lang="en-US" dirty="0" err="1" smtClean="0"/>
              <a:t>Textbase</a:t>
            </a:r>
            <a:r>
              <a:rPr lang="en-US" dirty="0" smtClean="0"/>
              <a:t> Readability Based on a Cognitive Readability Model.” PhD thesis, University of Colorado at Boulder, 2005.</a:t>
            </a:r>
          </a:p>
          <a:p>
            <a:r>
              <a:rPr lang="en-US" dirty="0" smtClean="0"/>
              <a:t>[3] Hurley, Richard B. Decision Tables in Software Engineering.  New York: Van </a:t>
            </a:r>
            <a:r>
              <a:rPr lang="en-US" dirty="0" err="1" smtClean="0"/>
              <a:t>Nostrand</a:t>
            </a:r>
            <a:r>
              <a:rPr lang="en-US" dirty="0" smtClean="0"/>
              <a:t> Reinhold, 1982.</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4/30/2017</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17384</TotalTime>
  <Words>2287</Words>
  <Application>Microsoft Office PowerPoint</Application>
  <PresentationFormat>On-screen Show (4:3)</PresentationFormat>
  <Paragraphs>273</Paragraphs>
  <Slides>29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6" baseType="lpstr">
      <vt:lpstr>Arial</vt:lpstr>
      <vt:lpstr>Bradley Hand ITC</vt:lpstr>
      <vt:lpstr>Calibri</vt:lpstr>
      <vt:lpstr>Times New Roman</vt:lpstr>
      <vt:lpstr>Wingdings</vt:lpstr>
      <vt:lpstr>UVa-Wise-Clean-BW</vt:lpstr>
      <vt:lpstr>Equation</vt:lpstr>
      <vt:lpstr>Chapter 8: Principles of Construction Design</vt:lpstr>
      <vt:lpstr>Session’s Agenda</vt:lpstr>
      <vt:lpstr>What is Construction Design?</vt:lpstr>
      <vt:lpstr>What is Construction Design?</vt:lpstr>
      <vt:lpstr>What is Construction Design?</vt:lpstr>
      <vt:lpstr>Why Study Construction Design?</vt:lpstr>
      <vt:lpstr>Why Study Construction Design?</vt:lpstr>
      <vt:lpstr>Behavioral Construction Design</vt:lpstr>
      <vt:lpstr>Flow-Based Construction Design</vt:lpstr>
      <vt:lpstr>State-Based Construction Design</vt:lpstr>
      <vt:lpstr>State-Based Construction Design</vt:lpstr>
      <vt:lpstr>State-Based Construction Design</vt:lpstr>
      <vt:lpstr>State-Based Construction Design</vt:lpstr>
      <vt:lpstr>State-Based Construction Design</vt:lpstr>
      <vt:lpstr>State-Based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Table-Based Construction Design</vt:lpstr>
      <vt:lpstr>What’s Next…</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anonymous</cp:lastModifiedBy>
  <cp:revision>1168</cp:revision>
  <dcterms:created xsi:type="dcterms:W3CDTF">2006-08-16T00:00:00Z</dcterms:created>
  <dcterms:modified xsi:type="dcterms:W3CDTF">2017-05-03T05:49:34Z</dcterms:modified>
</cp:coreProperties>
</file>
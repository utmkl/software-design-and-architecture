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433" r:id="rId4"/>
    <p:sldId id="438" r:id="rId5"/>
    <p:sldId id="439" r:id="rId6"/>
    <p:sldId id="440" r:id="rId7"/>
    <p:sldId id="441" r:id="rId8"/>
    <p:sldId id="442" r:id="rId9"/>
    <p:sldId id="437" r:id="rId10"/>
    <p:sldId id="444" r:id="rId11"/>
    <p:sldId id="434" r:id="rId12"/>
    <p:sldId id="450" r:id="rId13"/>
    <p:sldId id="435" r:id="rId14"/>
    <p:sldId id="436" r:id="rId15"/>
    <p:sldId id="445" r:id="rId16"/>
    <p:sldId id="446" r:id="rId17"/>
    <p:sldId id="447" r:id="rId18"/>
    <p:sldId id="448" r:id="rId19"/>
    <p:sldId id="336" r:id="rId20"/>
    <p:sldId id="404" r:id="rId2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B5"/>
    <a:srgbClr val="96969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94" y="-15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10/15/2012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10/15/2012</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10/15/2012</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10/15/2012</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10/15/2012</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10/15/2012</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10/15/2012</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10/15/2012</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10/15/2012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10/15/2012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10/15/2012</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10/15/2012</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10/15/2012</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6: Creational Design Patterns</a:t>
            </a:r>
            <a:endParaRPr lang="en-US" dirty="0"/>
          </a:p>
        </p:txBody>
      </p:sp>
      <p:sp>
        <p:nvSpPr>
          <p:cNvPr id="3" name="Subtitle 2"/>
          <p:cNvSpPr>
            <a:spLocks noGrp="1"/>
          </p:cNvSpPr>
          <p:nvPr>
            <p:ph type="subTitle" idx="1"/>
          </p:nvPr>
        </p:nvSpPr>
        <p:spPr>
          <a:xfrm>
            <a:off x="0" y="1752598"/>
            <a:ext cx="9144000" cy="838202"/>
          </a:xfrm>
        </p:spPr>
        <p:txBody>
          <a:bodyPr>
            <a:normAutofit/>
          </a:bodyPr>
          <a:lstStyle/>
          <a:p>
            <a:r>
              <a:rPr lang="en-US" dirty="0" smtClean="0"/>
              <a:t>Session II: Factory Method</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10/15/2012</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648199"/>
          </a:xfrm>
        </p:spPr>
        <p:txBody>
          <a:bodyPr>
            <a:normAutofit/>
          </a:bodyPr>
          <a:lstStyle/>
          <a:p>
            <a:pPr lvl="2"/>
            <a:endParaRPr lang="en-US" dirty="0" smtClean="0"/>
          </a:p>
          <a:p>
            <a:r>
              <a:rPr lang="en-US" dirty="0" smtClean="0"/>
              <a:t>Creational Patterns in Detailed Design</a:t>
            </a:r>
          </a:p>
          <a:p>
            <a:pPr lvl="1">
              <a:buNone/>
            </a:pPr>
            <a:endParaRPr lang="en-US" dirty="0" smtClean="0"/>
          </a:p>
          <a:p>
            <a:r>
              <a:rPr lang="en-US" dirty="0" smtClean="0"/>
              <a:t>Factory Method Design Pattern</a:t>
            </a:r>
          </a:p>
          <a:p>
            <a:pPr lvl="1"/>
            <a:r>
              <a:rPr lang="en-US" dirty="0" smtClean="0"/>
              <a:t>Java Example</a:t>
            </a:r>
          </a:p>
          <a:p>
            <a:pPr lvl="1"/>
            <a:r>
              <a:rPr lang="en-US" dirty="0" smtClean="0"/>
              <a:t>C++ Example</a:t>
            </a:r>
          </a:p>
          <a:p>
            <a:pPr lvl="1"/>
            <a:endParaRPr lang="en-US" dirty="0" smtClean="0"/>
          </a:p>
          <a:p>
            <a:r>
              <a:rPr lang="en-US" dirty="0" smtClean="0"/>
              <a:t>Null Object Design Pattern</a:t>
            </a:r>
          </a:p>
          <a:p>
            <a:pPr lvl="2"/>
            <a:endParaRPr lang="en-US" dirty="0" smtClean="0"/>
          </a:p>
          <a:p>
            <a:r>
              <a:rPr lang="en-US" dirty="0" smtClean="0"/>
              <a:t>Benefits of Factory Method</a:t>
            </a:r>
          </a:p>
          <a:p>
            <a:pPr lvl="1"/>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Design Pattern</a:t>
            </a:r>
            <a:endParaRPr lang="en-US" dirty="0"/>
          </a:p>
        </p:txBody>
      </p:sp>
      <p:sp>
        <p:nvSpPr>
          <p:cNvPr id="3" name="Content Placeholder 2"/>
          <p:cNvSpPr>
            <a:spLocks noGrp="1"/>
          </p:cNvSpPr>
          <p:nvPr>
            <p:ph idx="1"/>
          </p:nvPr>
        </p:nvSpPr>
        <p:spPr>
          <a:xfrm>
            <a:off x="457200" y="1371601"/>
            <a:ext cx="8229600" cy="1752599"/>
          </a:xfrm>
        </p:spPr>
        <p:txBody>
          <a:bodyPr>
            <a:normAutofit fontScale="92500" lnSpcReduction="20000"/>
          </a:bodyPr>
          <a:lstStyle/>
          <a:p>
            <a:r>
              <a:rPr lang="en-US" dirty="0" smtClean="0"/>
              <a:t>The Factory Method design pattern is a class creational pattern used to encapsulate and defer object instantiation to derived classes.</a:t>
            </a:r>
          </a:p>
          <a:p>
            <a:endParaRPr lang="en-US" dirty="0" smtClean="0"/>
          </a:p>
          <a:p>
            <a:r>
              <a:rPr lang="en-US" dirty="0" smtClean="0"/>
              <a:t>According to the </a:t>
            </a:r>
            <a:r>
              <a:rPr lang="en-US" dirty="0" err="1" smtClean="0"/>
              <a:t>GoF</a:t>
            </a:r>
            <a:r>
              <a:rPr lang="en-US" dirty="0" smtClean="0"/>
              <a:t>, the intent of the factory method is to [1]</a:t>
            </a:r>
          </a:p>
          <a:p>
            <a:pPr lvl="1"/>
            <a:r>
              <a:rPr lang="en-US" dirty="0" smtClean="0"/>
              <a:t>Define an interface for creating an object, but let subclasses decide which class to instantiate.  Factory method lets a class defer instantiation to subclasses.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pic>
        <p:nvPicPr>
          <p:cNvPr id="7" name="Picture 2"/>
          <p:cNvPicPr>
            <a:picLocks noChangeAspect="1" noChangeArrowheads="1"/>
          </p:cNvPicPr>
          <p:nvPr/>
        </p:nvPicPr>
        <p:blipFill>
          <a:blip r:embed="rId2" cstate="print"/>
          <a:srcRect/>
          <a:stretch>
            <a:fillRect/>
          </a:stretch>
        </p:blipFill>
        <p:spPr bwMode="auto">
          <a:xfrm>
            <a:off x="3124200" y="3962400"/>
            <a:ext cx="3114675" cy="1809750"/>
          </a:xfrm>
          <a:prstGeom prst="rect">
            <a:avLst/>
          </a:prstGeom>
          <a:noFill/>
          <a:ln w="9525">
            <a:noFill/>
            <a:miter lim="800000"/>
            <a:headEnd/>
            <a:tailEnd/>
          </a:ln>
        </p:spPr>
      </p:pic>
      <p:sp>
        <p:nvSpPr>
          <p:cNvPr id="8" name="TextBox 7"/>
          <p:cNvSpPr txBox="1"/>
          <p:nvPr/>
        </p:nvSpPr>
        <p:spPr>
          <a:xfrm>
            <a:off x="6510337" y="4562475"/>
            <a:ext cx="7620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Product</a:t>
            </a:r>
          </a:p>
          <a:p>
            <a:pPr algn="ctr"/>
            <a:r>
              <a:rPr lang="en-US" sz="1200" b="1" dirty="0" smtClean="0">
                <a:solidFill>
                  <a:srgbClr val="C00000"/>
                </a:solidFill>
                <a:latin typeface="Bradley Hand ITC" pitchFamily="66" charset="0"/>
              </a:rPr>
              <a:t> Classes</a:t>
            </a:r>
            <a:endParaRPr lang="en-US" sz="1200" b="1" dirty="0">
              <a:solidFill>
                <a:srgbClr val="C00000"/>
              </a:solidFill>
              <a:latin typeface="Bradley Hand ITC" pitchFamily="66" charset="0"/>
            </a:endParaRPr>
          </a:p>
        </p:txBody>
      </p:sp>
      <p:sp>
        <p:nvSpPr>
          <p:cNvPr id="9" name="Right Brace 8"/>
          <p:cNvSpPr/>
          <p:nvPr/>
        </p:nvSpPr>
        <p:spPr>
          <a:xfrm>
            <a:off x="6357937" y="3952875"/>
            <a:ext cx="152400" cy="1752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p:cNvSpPr/>
          <p:nvPr/>
        </p:nvSpPr>
        <p:spPr>
          <a:xfrm>
            <a:off x="3005137" y="3952875"/>
            <a:ext cx="228600" cy="17526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2243137" y="4714875"/>
            <a:ext cx="6858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Creator</a:t>
            </a:r>
          </a:p>
          <a:p>
            <a:pPr algn="ctr"/>
            <a:r>
              <a:rPr lang="en-US" sz="1200" b="1" dirty="0" smtClean="0">
                <a:solidFill>
                  <a:srgbClr val="C00000"/>
                </a:solidFill>
                <a:latin typeface="Bradley Hand ITC" pitchFamily="66" charset="0"/>
              </a:rPr>
              <a:t>Classes</a:t>
            </a:r>
            <a:endParaRPr lang="en-US" sz="1200" b="1" dirty="0">
              <a:solidFill>
                <a:srgbClr val="C00000"/>
              </a:solidFill>
              <a:latin typeface="Bradley Hand ITC" pitchFamily="66" charset="0"/>
            </a:endParaRPr>
          </a:p>
        </p:txBody>
      </p:sp>
      <p:sp>
        <p:nvSpPr>
          <p:cNvPr id="12" name="TextBox 11"/>
          <p:cNvSpPr txBox="1"/>
          <p:nvPr/>
        </p:nvSpPr>
        <p:spPr>
          <a:xfrm>
            <a:off x="6400800" y="31242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Products need to obey the Product interface!</a:t>
            </a:r>
            <a:endParaRPr lang="en-US" sz="1200" b="1" dirty="0">
              <a:solidFill>
                <a:srgbClr val="C00000"/>
              </a:solidFill>
              <a:latin typeface="Bradley Hand ITC" pitchFamily="66" charset="0"/>
            </a:endParaRPr>
          </a:p>
        </p:txBody>
      </p:sp>
      <p:sp>
        <p:nvSpPr>
          <p:cNvPr id="13" name="Freeform 12"/>
          <p:cNvSpPr/>
          <p:nvPr/>
        </p:nvSpPr>
        <p:spPr>
          <a:xfrm>
            <a:off x="5900737" y="3505200"/>
            <a:ext cx="695325" cy="447675"/>
          </a:xfrm>
          <a:custGeom>
            <a:avLst/>
            <a:gdLst>
              <a:gd name="connsiteX0" fmla="*/ 695325 w 695325"/>
              <a:gd name="connsiteY0" fmla="*/ 0 h 762000"/>
              <a:gd name="connsiteX1" fmla="*/ 371475 w 695325"/>
              <a:gd name="connsiteY1" fmla="*/ 161925 h 762000"/>
              <a:gd name="connsiteX2" fmla="*/ 295275 w 695325"/>
              <a:gd name="connsiteY2" fmla="*/ 514350 h 762000"/>
              <a:gd name="connsiteX3" fmla="*/ 0 w 695325"/>
              <a:gd name="connsiteY3" fmla="*/ 762000 h 762000"/>
            </a:gdLst>
            <a:ahLst/>
            <a:cxnLst>
              <a:cxn ang="0">
                <a:pos x="connsiteX0" y="connsiteY0"/>
              </a:cxn>
              <a:cxn ang="0">
                <a:pos x="connsiteX1" y="connsiteY1"/>
              </a:cxn>
              <a:cxn ang="0">
                <a:pos x="connsiteX2" y="connsiteY2"/>
              </a:cxn>
              <a:cxn ang="0">
                <a:pos x="connsiteX3" y="connsiteY3"/>
              </a:cxn>
            </a:cxnLst>
            <a:rect l="l" t="t" r="r" b="b"/>
            <a:pathLst>
              <a:path w="695325" h="762000">
                <a:moveTo>
                  <a:pt x="695325" y="0"/>
                </a:moveTo>
                <a:cubicBezTo>
                  <a:pt x="566737" y="38100"/>
                  <a:pt x="438150" y="76200"/>
                  <a:pt x="371475" y="161925"/>
                </a:cubicBezTo>
                <a:cubicBezTo>
                  <a:pt x="304800" y="247650"/>
                  <a:pt x="357188" y="414337"/>
                  <a:pt x="295275" y="514350"/>
                </a:cubicBezTo>
                <a:cubicBezTo>
                  <a:pt x="233362" y="614363"/>
                  <a:pt x="116681" y="688181"/>
                  <a:pt x="0" y="762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795337" y="417701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Factories need to obey the Factory interface!</a:t>
            </a:r>
            <a:endParaRPr lang="en-US" sz="1200" b="1" dirty="0">
              <a:solidFill>
                <a:srgbClr val="C00000"/>
              </a:solidFill>
              <a:latin typeface="Bradley Hand ITC" pitchFamily="66" charset="0"/>
            </a:endParaRPr>
          </a:p>
        </p:txBody>
      </p:sp>
      <p:sp>
        <p:nvSpPr>
          <p:cNvPr id="15" name="Freeform 14"/>
          <p:cNvSpPr/>
          <p:nvPr/>
        </p:nvSpPr>
        <p:spPr>
          <a:xfrm>
            <a:off x="2081212" y="3691235"/>
            <a:ext cx="1304925" cy="514350"/>
          </a:xfrm>
          <a:custGeom>
            <a:avLst/>
            <a:gdLst>
              <a:gd name="connsiteX0" fmla="*/ 0 w 1076325"/>
              <a:gd name="connsiteY0" fmla="*/ 495300 h 514350"/>
              <a:gd name="connsiteX1" fmla="*/ 476250 w 1076325"/>
              <a:gd name="connsiteY1" fmla="*/ 438150 h 514350"/>
              <a:gd name="connsiteX2" fmla="*/ 742950 w 1076325"/>
              <a:gd name="connsiteY2" fmla="*/ 38100 h 514350"/>
              <a:gd name="connsiteX3" fmla="*/ 1076325 w 1076325"/>
              <a:gd name="connsiteY3" fmla="*/ 209550 h 514350"/>
            </a:gdLst>
            <a:ahLst/>
            <a:cxnLst>
              <a:cxn ang="0">
                <a:pos x="connsiteX0" y="connsiteY0"/>
              </a:cxn>
              <a:cxn ang="0">
                <a:pos x="connsiteX1" y="connsiteY1"/>
              </a:cxn>
              <a:cxn ang="0">
                <a:pos x="connsiteX2" y="connsiteY2"/>
              </a:cxn>
              <a:cxn ang="0">
                <a:pos x="connsiteX3" y="connsiteY3"/>
              </a:cxn>
            </a:cxnLst>
            <a:rect l="l" t="t" r="r" b="b"/>
            <a:pathLst>
              <a:path w="1076325" h="514350">
                <a:moveTo>
                  <a:pt x="0" y="495300"/>
                </a:moveTo>
                <a:cubicBezTo>
                  <a:pt x="176212" y="504825"/>
                  <a:pt x="352425" y="514350"/>
                  <a:pt x="476250" y="438150"/>
                </a:cubicBezTo>
                <a:cubicBezTo>
                  <a:pt x="600075" y="361950"/>
                  <a:pt x="642938" y="76200"/>
                  <a:pt x="742950" y="38100"/>
                </a:cubicBezTo>
                <a:cubicBezTo>
                  <a:pt x="842962" y="0"/>
                  <a:pt x="959643" y="104775"/>
                  <a:pt x="1076325" y="209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3733800" y="1524000"/>
            <a:ext cx="2514600" cy="3733800"/>
            <a:chOff x="4114800" y="1676400"/>
            <a:chExt cx="3219450" cy="4343400"/>
          </a:xfrm>
        </p:grpSpPr>
        <p:pic>
          <p:nvPicPr>
            <p:cNvPr id="5122" name="Picture 2"/>
            <p:cNvPicPr>
              <a:picLocks noChangeAspect="1" noChangeArrowheads="1"/>
            </p:cNvPicPr>
            <p:nvPr/>
          </p:nvPicPr>
          <p:blipFill>
            <a:blip r:embed="rId2" cstate="print"/>
            <a:srcRect/>
            <a:stretch>
              <a:fillRect/>
            </a:stretch>
          </p:blipFill>
          <p:spPr bwMode="auto">
            <a:xfrm>
              <a:off x="4114800" y="1676400"/>
              <a:ext cx="3219450" cy="4343400"/>
            </a:xfrm>
            <a:prstGeom prst="rect">
              <a:avLst/>
            </a:prstGeom>
            <a:noFill/>
            <a:ln w="9525">
              <a:noFill/>
              <a:miter lim="800000"/>
              <a:headEnd/>
              <a:tailEnd/>
            </a:ln>
          </p:spPr>
        </p:pic>
        <p:sp>
          <p:nvSpPr>
            <p:cNvPr id="13" name="Rectangle 12"/>
            <p:cNvSpPr/>
            <p:nvPr/>
          </p:nvSpPr>
          <p:spPr>
            <a:xfrm>
              <a:off x="4114800" y="1771650"/>
              <a:ext cx="152400" cy="424815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p:cNvSpPr>
            <a:spLocks noGrp="1"/>
          </p:cNvSpPr>
          <p:nvPr>
            <p:ph type="title"/>
          </p:nvPr>
        </p:nvSpPr>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8" name="Rectangle 7"/>
          <p:cNvSpPr/>
          <p:nvPr/>
        </p:nvSpPr>
        <p:spPr bwMode="auto">
          <a:xfrm>
            <a:off x="7010400" y="1371600"/>
            <a:ext cx="1600200" cy="838200"/>
          </a:xfrm>
          <a:prstGeom prst="rect">
            <a:avLst/>
          </a:prstGeom>
          <a:noFill/>
          <a:ln w="6350" cap="flat" cmpd="sng" algn="ctr">
            <a:solidFill>
              <a:srgbClr val="000000"/>
            </a:soli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9" name="TextBox 8"/>
          <p:cNvSpPr txBox="1"/>
          <p:nvPr/>
        </p:nvSpPr>
        <p:spPr>
          <a:xfrm>
            <a:off x="7066935" y="1371600"/>
            <a:ext cx="1696065" cy="215444"/>
          </a:xfrm>
          <a:prstGeom prst="rect">
            <a:avLst/>
          </a:prstGeom>
          <a:noFill/>
        </p:spPr>
        <p:txBody>
          <a:bodyPr wrap="square" rtlCol="0">
            <a:spAutoFit/>
          </a:bodyPr>
          <a:lstStyle/>
          <a:p>
            <a:r>
              <a:rPr lang="en-US" sz="800" dirty="0" smtClean="0"/>
              <a:t>Remote Store Manager’s Station</a:t>
            </a:r>
            <a:endParaRPr lang="en-US" sz="800" dirty="0"/>
          </a:p>
        </p:txBody>
      </p:sp>
      <p:pic>
        <p:nvPicPr>
          <p:cNvPr id="10" name="Picture 3" descr="C:\Program Files (x86)\Microsoft Office\MEDIA\CAGCAT10\j0285750.wmf"/>
          <p:cNvPicPr>
            <a:picLocks noChangeAspect="1" noChangeArrowheads="1"/>
          </p:cNvPicPr>
          <p:nvPr/>
        </p:nvPicPr>
        <p:blipFill>
          <a:blip r:embed="rId3" cstate="print"/>
          <a:srcRect/>
          <a:stretch>
            <a:fillRect/>
          </a:stretch>
        </p:blipFill>
        <p:spPr bwMode="auto">
          <a:xfrm>
            <a:off x="7462684" y="1619250"/>
            <a:ext cx="789801" cy="531522"/>
          </a:xfrm>
          <a:prstGeom prst="rect">
            <a:avLst/>
          </a:prstGeom>
          <a:noFill/>
        </p:spPr>
      </p:pic>
      <p:sp>
        <p:nvSpPr>
          <p:cNvPr id="15" name="Rounded Rectangular Callout 14"/>
          <p:cNvSpPr/>
          <p:nvPr/>
        </p:nvSpPr>
        <p:spPr>
          <a:xfrm>
            <a:off x="3581400" y="1295400"/>
            <a:ext cx="2667000" cy="4038600"/>
          </a:xfrm>
          <a:prstGeom prst="wedgeRoundRectCallout">
            <a:avLst>
              <a:gd name="adj1" fmla="val 105333"/>
              <a:gd name="adj2" fmla="val -36616"/>
              <a:gd name="adj3" fmla="val 16667"/>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4"/>
          <p:cNvPicPr>
            <a:picLocks noChangeAspect="1" noChangeArrowheads="1"/>
          </p:cNvPicPr>
          <p:nvPr/>
        </p:nvPicPr>
        <p:blipFill>
          <a:blip r:embed="rId4" cstate="print"/>
          <a:srcRect l="20740" t="18412" r="50000" b="27000"/>
          <a:stretch>
            <a:fillRect/>
          </a:stretch>
        </p:blipFill>
        <p:spPr bwMode="auto">
          <a:xfrm>
            <a:off x="6324600" y="2971800"/>
            <a:ext cx="2438400" cy="2843186"/>
          </a:xfrm>
          <a:prstGeom prst="rect">
            <a:avLst/>
          </a:prstGeom>
          <a:noFill/>
          <a:ln w="9525">
            <a:noFill/>
            <a:miter lim="800000"/>
            <a:headEnd/>
            <a:tailEnd/>
          </a:ln>
        </p:spPr>
      </p:pic>
      <p:sp>
        <p:nvSpPr>
          <p:cNvPr id="18" name="TextBox 17"/>
          <p:cNvSpPr txBox="1"/>
          <p:nvPr/>
        </p:nvSpPr>
        <p:spPr>
          <a:xfrm>
            <a:off x="1143000" y="1258669"/>
            <a:ext cx="2362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Consider this </a:t>
            </a:r>
            <a:r>
              <a:rPr lang="en-US" sz="1200" b="1" dirty="0" smtClean="0">
                <a:solidFill>
                  <a:srgbClr val="C00000"/>
                </a:solidFill>
                <a:latin typeface="Bradley Hand ITC" pitchFamily="66" charset="0"/>
              </a:rPr>
              <a:t>code, which handles all computers from stores #1 and #2.  </a:t>
            </a:r>
            <a:r>
              <a:rPr lang="en-US" sz="1200" b="1" dirty="0" smtClean="0">
                <a:solidFill>
                  <a:srgbClr val="C00000"/>
                </a:solidFill>
                <a:latin typeface="Bradley Hand ITC" pitchFamily="66" charset="0"/>
              </a:rPr>
              <a:t>What’s wrong with it?</a:t>
            </a:r>
            <a:endParaRPr lang="en-US" sz="1200" b="1" dirty="0">
              <a:solidFill>
                <a:srgbClr val="C00000"/>
              </a:solidFill>
              <a:latin typeface="Bradley Hand ITC" pitchFamily="66" charset="0"/>
            </a:endParaRPr>
          </a:p>
        </p:txBody>
      </p:sp>
      <p:pic>
        <p:nvPicPr>
          <p:cNvPr id="5123" name="Picture 3"/>
          <p:cNvPicPr>
            <a:picLocks noChangeAspect="1" noChangeArrowheads="1"/>
          </p:cNvPicPr>
          <p:nvPr/>
        </p:nvPicPr>
        <p:blipFill>
          <a:blip r:embed="rId5" cstate="print"/>
          <a:srcRect/>
          <a:stretch>
            <a:fillRect/>
          </a:stretch>
        </p:blipFill>
        <p:spPr bwMode="auto">
          <a:xfrm>
            <a:off x="457200" y="2057400"/>
            <a:ext cx="2952750" cy="2971800"/>
          </a:xfrm>
          <a:prstGeom prst="rect">
            <a:avLst/>
          </a:prstGeom>
          <a:noFill/>
          <a:ln w="9525">
            <a:noFill/>
            <a:miter lim="800000"/>
            <a:headEnd/>
            <a:tailEnd/>
          </a:ln>
        </p:spPr>
      </p:pic>
      <p:sp>
        <p:nvSpPr>
          <p:cNvPr id="19" name="Freeform 18"/>
          <p:cNvSpPr/>
          <p:nvPr/>
        </p:nvSpPr>
        <p:spPr>
          <a:xfrm>
            <a:off x="3276600" y="1752600"/>
            <a:ext cx="762000" cy="533399"/>
          </a:xfrm>
          <a:custGeom>
            <a:avLst/>
            <a:gdLst>
              <a:gd name="connsiteX0" fmla="*/ 0 w 1924050"/>
              <a:gd name="connsiteY0" fmla="*/ 0 h 904875"/>
              <a:gd name="connsiteX1" fmla="*/ 1028700 w 1924050"/>
              <a:gd name="connsiteY1" fmla="*/ 209550 h 904875"/>
              <a:gd name="connsiteX2" fmla="*/ 1390650 w 1924050"/>
              <a:gd name="connsiteY2" fmla="*/ 771525 h 904875"/>
              <a:gd name="connsiteX3" fmla="*/ 1924050 w 1924050"/>
              <a:gd name="connsiteY3" fmla="*/ 904875 h 904875"/>
            </a:gdLst>
            <a:ahLst/>
            <a:cxnLst>
              <a:cxn ang="0">
                <a:pos x="connsiteX0" y="connsiteY0"/>
              </a:cxn>
              <a:cxn ang="0">
                <a:pos x="connsiteX1" y="connsiteY1"/>
              </a:cxn>
              <a:cxn ang="0">
                <a:pos x="connsiteX2" y="connsiteY2"/>
              </a:cxn>
              <a:cxn ang="0">
                <a:pos x="connsiteX3" y="connsiteY3"/>
              </a:cxn>
            </a:cxnLst>
            <a:rect l="l" t="t" r="r" b="b"/>
            <a:pathLst>
              <a:path w="1924050" h="904875">
                <a:moveTo>
                  <a:pt x="0" y="0"/>
                </a:moveTo>
                <a:cubicBezTo>
                  <a:pt x="398462" y="40481"/>
                  <a:pt x="796925" y="80963"/>
                  <a:pt x="1028700" y="209550"/>
                </a:cubicBezTo>
                <a:cubicBezTo>
                  <a:pt x="1260475" y="338137"/>
                  <a:pt x="1241425" y="655638"/>
                  <a:pt x="1390650" y="771525"/>
                </a:cubicBezTo>
                <a:cubicBezTo>
                  <a:pt x="1539875" y="887412"/>
                  <a:pt x="1731962" y="896143"/>
                  <a:pt x="1924050" y="9048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a:off x="1657350" y="4953001"/>
            <a:ext cx="4800600" cy="685800"/>
          </a:xfrm>
          <a:custGeom>
            <a:avLst/>
            <a:gdLst>
              <a:gd name="connsiteX0" fmla="*/ 0 w 4800600"/>
              <a:gd name="connsiteY0" fmla="*/ 0 h 1087437"/>
              <a:gd name="connsiteX1" fmla="*/ 1476375 w 4800600"/>
              <a:gd name="connsiteY1" fmla="*/ 266700 h 1087437"/>
              <a:gd name="connsiteX2" fmla="*/ 2381250 w 4800600"/>
              <a:gd name="connsiteY2" fmla="*/ 962025 h 1087437"/>
              <a:gd name="connsiteX3" fmla="*/ 4124325 w 4800600"/>
              <a:gd name="connsiteY3" fmla="*/ 981075 h 1087437"/>
              <a:gd name="connsiteX4" fmla="*/ 4800600 w 4800600"/>
              <a:gd name="connsiteY4" fmla="*/ 323850 h 10874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0600" h="1087437">
                <a:moveTo>
                  <a:pt x="0" y="0"/>
                </a:moveTo>
                <a:cubicBezTo>
                  <a:pt x="539750" y="53181"/>
                  <a:pt x="1079500" y="106363"/>
                  <a:pt x="1476375" y="266700"/>
                </a:cubicBezTo>
                <a:cubicBezTo>
                  <a:pt x="1873250" y="427037"/>
                  <a:pt x="1939925" y="842963"/>
                  <a:pt x="2381250" y="962025"/>
                </a:cubicBezTo>
                <a:cubicBezTo>
                  <a:pt x="2822575" y="1081088"/>
                  <a:pt x="3721100" y="1087437"/>
                  <a:pt x="4124325" y="981075"/>
                </a:cubicBezTo>
                <a:cubicBezTo>
                  <a:pt x="4527550" y="874713"/>
                  <a:pt x="4664075" y="599281"/>
                  <a:pt x="4800600" y="3238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p:cNvSpPr txBox="1"/>
          <p:nvPr/>
        </p:nvSpPr>
        <p:spPr>
          <a:xfrm>
            <a:off x="2895600" y="5638800"/>
            <a:ext cx="2590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code would have to support all types of computer in all sites!</a:t>
            </a:r>
            <a:endParaRPr lang="en-US" sz="1200" b="1" dirty="0">
              <a:solidFill>
                <a:srgbClr val="C00000"/>
              </a:solidFill>
              <a:latin typeface="Bradley Hand ITC" pitchFamily="66" charset="0"/>
            </a:endParaRPr>
          </a:p>
        </p:txBody>
      </p:sp>
      <p:sp>
        <p:nvSpPr>
          <p:cNvPr id="23" name="TextBox 22"/>
          <p:cNvSpPr txBox="1"/>
          <p:nvPr/>
        </p:nvSpPr>
        <p:spPr>
          <a:xfrm>
            <a:off x="5257800" y="6172200"/>
            <a:ext cx="2819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take a closer look in the next slide…</a:t>
            </a:r>
            <a:endParaRPr lang="en-US" sz="1200" b="1" dirty="0">
              <a:solidFill>
                <a:srgbClr val="C00000"/>
              </a:solidFill>
              <a:latin typeface="Bradley Hand ITC" pitchFamily="66" charset="0"/>
            </a:endParaRPr>
          </a:p>
        </p:txBody>
      </p:sp>
      <p:sp>
        <p:nvSpPr>
          <p:cNvPr id="24" name="TextBox 23"/>
          <p:cNvSpPr txBox="1"/>
          <p:nvPr/>
        </p:nvSpPr>
        <p:spPr>
          <a:xfrm>
            <a:off x="6248400" y="1143000"/>
            <a:ext cx="609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Java code</a:t>
            </a:r>
            <a:endParaRPr lang="en-US" sz="1200" b="1" dirty="0">
              <a:solidFill>
                <a:srgbClr val="C00000"/>
              </a:solidFill>
              <a:latin typeface="Bradley Hand ITC" pitchFamily="66" charset="0"/>
            </a:endParaRPr>
          </a:p>
        </p:txBody>
      </p:sp>
      <p:sp>
        <p:nvSpPr>
          <p:cNvPr id="25" name="Freeform 24"/>
          <p:cNvSpPr/>
          <p:nvPr/>
        </p:nvSpPr>
        <p:spPr>
          <a:xfrm>
            <a:off x="5943600" y="1504950"/>
            <a:ext cx="447675" cy="171450"/>
          </a:xfrm>
          <a:custGeom>
            <a:avLst/>
            <a:gdLst>
              <a:gd name="connsiteX0" fmla="*/ 304800 w 304800"/>
              <a:gd name="connsiteY0" fmla="*/ 0 h 144462"/>
              <a:gd name="connsiteX1" fmla="*/ 219075 w 304800"/>
              <a:gd name="connsiteY1" fmla="*/ 123825 h 144462"/>
              <a:gd name="connsiteX2" fmla="*/ 0 w 304800"/>
              <a:gd name="connsiteY2" fmla="*/ 123825 h 144462"/>
            </a:gdLst>
            <a:ahLst/>
            <a:cxnLst>
              <a:cxn ang="0">
                <a:pos x="connsiteX0" y="connsiteY0"/>
              </a:cxn>
              <a:cxn ang="0">
                <a:pos x="connsiteX1" y="connsiteY1"/>
              </a:cxn>
              <a:cxn ang="0">
                <a:pos x="connsiteX2" y="connsiteY2"/>
              </a:cxn>
            </a:cxnLst>
            <a:rect l="l" t="t" r="r" b="b"/>
            <a:pathLst>
              <a:path w="304800" h="144462">
                <a:moveTo>
                  <a:pt x="304800" y="0"/>
                </a:moveTo>
                <a:cubicBezTo>
                  <a:pt x="287337" y="51594"/>
                  <a:pt x="269875" y="103188"/>
                  <a:pt x="219075" y="123825"/>
                </a:cubicBezTo>
                <a:cubicBezTo>
                  <a:pt x="168275" y="144462"/>
                  <a:pt x="84137" y="134143"/>
                  <a:pt x="0" y="1238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6934200" y="457200"/>
            <a:ext cx="479618" cy="215444"/>
          </a:xfrm>
          <a:prstGeom prst="rect">
            <a:avLst/>
          </a:prstGeom>
          <a:noFill/>
        </p:spPr>
        <p:txBody>
          <a:bodyPr wrap="none" rtlCol="0">
            <a:spAutoFit/>
          </a:bodyPr>
          <a:lstStyle/>
          <a:p>
            <a:r>
              <a:rPr lang="en-US" sz="800" dirty="0" smtClean="0"/>
              <a:t>Store 1</a:t>
            </a:r>
            <a:endParaRPr lang="en-US" sz="800" dirty="0"/>
          </a:p>
        </p:txBody>
      </p:sp>
      <p:sp>
        <p:nvSpPr>
          <p:cNvPr id="29" name="TextBox 28"/>
          <p:cNvSpPr txBox="1"/>
          <p:nvPr/>
        </p:nvSpPr>
        <p:spPr>
          <a:xfrm>
            <a:off x="8001000" y="457200"/>
            <a:ext cx="479618" cy="215444"/>
          </a:xfrm>
          <a:prstGeom prst="rect">
            <a:avLst/>
          </a:prstGeom>
          <a:noFill/>
        </p:spPr>
        <p:txBody>
          <a:bodyPr wrap="none" rtlCol="0">
            <a:spAutoFit/>
          </a:bodyPr>
          <a:lstStyle/>
          <a:p>
            <a:r>
              <a:rPr lang="en-US" sz="800" dirty="0" smtClean="0"/>
              <a:t>Store 2</a:t>
            </a:r>
            <a:endParaRPr lang="en-US" sz="800" dirty="0"/>
          </a:p>
        </p:txBody>
      </p:sp>
      <p:cxnSp>
        <p:nvCxnSpPr>
          <p:cNvPr id="31" name="Straight Connector 30"/>
          <p:cNvCxnSpPr/>
          <p:nvPr/>
        </p:nvCxnSpPr>
        <p:spPr>
          <a:xfrm>
            <a:off x="7239000" y="990600"/>
            <a:ext cx="457200" cy="381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endCxn id="9" idx="0"/>
          </p:cNvCxnSpPr>
          <p:nvPr/>
        </p:nvCxnSpPr>
        <p:spPr>
          <a:xfrm flipH="1">
            <a:off x="7914968" y="1066800"/>
            <a:ext cx="314632" cy="3048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26" name="Picture 2" descr="C:\Users\cotero\AppData\Local\Microsoft\Windows\Temporary Internet Files\Content.IE5\MFZE6V1B\MC900089246[1].wmf"/>
          <p:cNvPicPr>
            <a:picLocks noChangeAspect="1" noChangeArrowheads="1"/>
          </p:cNvPicPr>
          <p:nvPr/>
        </p:nvPicPr>
        <p:blipFill>
          <a:blip r:embed="rId6" cstate="print"/>
          <a:srcRect/>
          <a:stretch>
            <a:fillRect/>
          </a:stretch>
        </p:blipFill>
        <p:spPr bwMode="auto">
          <a:xfrm>
            <a:off x="6858000" y="685800"/>
            <a:ext cx="675832" cy="457200"/>
          </a:xfrm>
          <a:prstGeom prst="rect">
            <a:avLst/>
          </a:prstGeom>
          <a:noFill/>
        </p:spPr>
      </p:pic>
      <p:pic>
        <p:nvPicPr>
          <p:cNvPr id="27" name="Picture 2" descr="C:\Users\cotero\AppData\Local\Microsoft\Windows\Temporary Internet Files\Content.IE5\MFZE6V1B\MC900089246[1].wmf"/>
          <p:cNvPicPr>
            <a:picLocks noChangeAspect="1" noChangeArrowheads="1"/>
          </p:cNvPicPr>
          <p:nvPr/>
        </p:nvPicPr>
        <p:blipFill>
          <a:blip r:embed="rId6" cstate="print"/>
          <a:srcRect/>
          <a:stretch>
            <a:fillRect/>
          </a:stretch>
        </p:blipFill>
        <p:spPr bwMode="auto">
          <a:xfrm>
            <a:off x="7924800" y="685800"/>
            <a:ext cx="685800" cy="463944"/>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pic>
        <p:nvPicPr>
          <p:cNvPr id="7" name="Picture 5"/>
          <p:cNvPicPr>
            <a:picLocks noChangeAspect="1" noChangeArrowheads="1"/>
          </p:cNvPicPr>
          <p:nvPr/>
        </p:nvPicPr>
        <p:blipFill>
          <a:blip r:embed="rId2" cstate="print"/>
          <a:srcRect l="21875" t="23000" r="51250" b="16000"/>
          <a:stretch>
            <a:fillRect/>
          </a:stretch>
        </p:blipFill>
        <p:spPr bwMode="auto">
          <a:xfrm>
            <a:off x="3048000" y="1676400"/>
            <a:ext cx="2793167" cy="3962400"/>
          </a:xfrm>
          <a:prstGeom prst="rect">
            <a:avLst/>
          </a:prstGeom>
          <a:noFill/>
          <a:ln w="9525">
            <a:noFill/>
            <a:miter lim="800000"/>
            <a:headEnd/>
            <a:tailEnd/>
          </a:ln>
        </p:spPr>
      </p:pic>
      <p:sp>
        <p:nvSpPr>
          <p:cNvPr id="8" name="Left Brace 7"/>
          <p:cNvSpPr/>
          <p:nvPr/>
        </p:nvSpPr>
        <p:spPr bwMode="auto">
          <a:xfrm rot="10800000">
            <a:off x="5715000" y="2362200"/>
            <a:ext cx="457200" cy="2057400"/>
          </a:xfrm>
          <a:prstGeom prst="leftBrace">
            <a:avLst>
              <a:gd name="adj1" fmla="val 16407"/>
              <a:gd name="adj2" fmla="val 50000"/>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cxnSp>
        <p:nvCxnSpPr>
          <p:cNvPr id="10" name="Curved Connector 9"/>
          <p:cNvCxnSpPr/>
          <p:nvPr/>
        </p:nvCxnSpPr>
        <p:spPr bwMode="auto">
          <a:xfrm>
            <a:off x="2667000" y="3352800"/>
            <a:ext cx="609600" cy="228600"/>
          </a:xfrm>
          <a:prstGeom prst="curvedConnector3">
            <a:avLst>
              <a:gd name="adj1" fmla="val 50000"/>
            </a:avLst>
          </a:prstGeom>
          <a:noFill/>
          <a:ln w="9525" cap="flat" cmpd="sng" algn="ctr">
            <a:noFill/>
            <a:prstDash val="solid"/>
            <a:round/>
            <a:headEnd type="none" w="med" len="med"/>
            <a:tailEnd type="arrow"/>
          </a:ln>
          <a:effectLst/>
        </p:spPr>
      </p:cxnSp>
      <p:cxnSp>
        <p:nvCxnSpPr>
          <p:cNvPr id="11" name="Curved Connector 11"/>
          <p:cNvCxnSpPr/>
          <p:nvPr/>
        </p:nvCxnSpPr>
        <p:spPr bwMode="auto">
          <a:xfrm>
            <a:off x="2667000" y="5744781"/>
            <a:ext cx="533400" cy="1113219"/>
          </a:xfrm>
          <a:prstGeom prst="curvedConnector2">
            <a:avLst/>
          </a:prstGeom>
          <a:noFill/>
          <a:ln w="9525" cap="flat" cmpd="sng" algn="ctr">
            <a:noFill/>
            <a:prstDash val="solid"/>
            <a:round/>
            <a:headEnd type="none" w="med" len="med"/>
            <a:tailEnd type="arrow"/>
          </a:ln>
          <a:effectLst/>
        </p:spPr>
      </p:cxnSp>
      <p:sp>
        <p:nvSpPr>
          <p:cNvPr id="13" name="Left Brace 12"/>
          <p:cNvSpPr/>
          <p:nvPr/>
        </p:nvSpPr>
        <p:spPr bwMode="auto">
          <a:xfrm rot="10800000">
            <a:off x="5715001" y="4648200"/>
            <a:ext cx="457200" cy="838200"/>
          </a:xfrm>
          <a:prstGeom prst="leftBrace">
            <a:avLst>
              <a:gd name="adj1" fmla="val 16407"/>
              <a:gd name="adj2" fmla="val 50000"/>
            </a:avLst>
          </a:prstGeom>
          <a:no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8" name="TextBox 17"/>
          <p:cNvSpPr txBox="1"/>
          <p:nvPr/>
        </p:nvSpPr>
        <p:spPr>
          <a:xfrm>
            <a:off x="304800" y="1524000"/>
            <a:ext cx="2743200" cy="1169551"/>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This code is not closed for modification.  If a new computer is added to the inventory of store #1, we have to get into this code and modify it for all other stores!</a:t>
            </a:r>
          </a:p>
        </p:txBody>
      </p:sp>
      <p:sp>
        <p:nvSpPr>
          <p:cNvPr id="20" name="TextBox 19"/>
          <p:cNvSpPr txBox="1"/>
          <p:nvPr/>
        </p:nvSpPr>
        <p:spPr>
          <a:xfrm>
            <a:off x="6096000" y="2895600"/>
            <a:ext cx="2667000" cy="1169551"/>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This is what varies.  As the computer selection changes over </a:t>
            </a:r>
            <a:r>
              <a:rPr lang="en-US" sz="1400" b="1" dirty="0" smtClean="0">
                <a:solidFill>
                  <a:srgbClr val="C00000"/>
                </a:solidFill>
                <a:latin typeface="Bradley Hand ITC" pitchFamily="66" charset="0"/>
              </a:rPr>
              <a:t>time (for all computer stores), </a:t>
            </a:r>
            <a:r>
              <a:rPr lang="en-US" sz="1400" b="1" dirty="0" smtClean="0">
                <a:solidFill>
                  <a:srgbClr val="C00000"/>
                </a:solidFill>
                <a:latin typeface="Bradley Hand ITC" pitchFamily="66" charset="0"/>
              </a:rPr>
              <a:t>you’ll have to modify this code over and over.</a:t>
            </a:r>
          </a:p>
        </p:txBody>
      </p:sp>
      <p:sp>
        <p:nvSpPr>
          <p:cNvPr id="22" name="TextBox 21"/>
          <p:cNvSpPr txBox="1"/>
          <p:nvPr/>
        </p:nvSpPr>
        <p:spPr>
          <a:xfrm>
            <a:off x="6172200" y="4724400"/>
            <a:ext cx="19050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This is what we expect to stay the same.</a:t>
            </a:r>
          </a:p>
        </p:txBody>
      </p:sp>
      <p:sp>
        <p:nvSpPr>
          <p:cNvPr id="23" name="TextBox 22"/>
          <p:cNvSpPr txBox="1"/>
          <p:nvPr/>
        </p:nvSpPr>
        <p:spPr>
          <a:xfrm>
            <a:off x="6324600" y="1676400"/>
            <a:ext cx="2057400" cy="523220"/>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400" b="1" dirty="0" smtClean="0">
                <a:solidFill>
                  <a:srgbClr val="C00000"/>
                </a:solidFill>
                <a:latin typeface="Bradley Hand ITC" pitchFamily="66" charset="0"/>
              </a:rPr>
              <a:t>Design Principle:</a:t>
            </a:r>
          </a:p>
          <a:p>
            <a:r>
              <a:rPr lang="en-US" sz="1400" b="1" dirty="0" smtClean="0">
                <a:solidFill>
                  <a:srgbClr val="C00000"/>
                </a:solidFill>
                <a:latin typeface="Bradley Hand ITC" pitchFamily="66" charset="0"/>
              </a:rPr>
              <a:t>Encapsulate what varies!</a:t>
            </a:r>
          </a:p>
        </p:txBody>
      </p:sp>
      <p:sp>
        <p:nvSpPr>
          <p:cNvPr id="24" name="Freeform 23"/>
          <p:cNvSpPr/>
          <p:nvPr/>
        </p:nvSpPr>
        <p:spPr>
          <a:xfrm>
            <a:off x="2533650" y="2686050"/>
            <a:ext cx="657225" cy="619125"/>
          </a:xfrm>
          <a:custGeom>
            <a:avLst/>
            <a:gdLst>
              <a:gd name="connsiteX0" fmla="*/ 0 w 657225"/>
              <a:gd name="connsiteY0" fmla="*/ 0 h 619125"/>
              <a:gd name="connsiteX1" fmla="*/ 323850 w 657225"/>
              <a:gd name="connsiteY1" fmla="*/ 114300 h 619125"/>
              <a:gd name="connsiteX2" fmla="*/ 323850 w 657225"/>
              <a:gd name="connsiteY2" fmla="*/ 466725 h 619125"/>
              <a:gd name="connsiteX3" fmla="*/ 657225 w 657225"/>
              <a:gd name="connsiteY3" fmla="*/ 619125 h 619125"/>
            </a:gdLst>
            <a:ahLst/>
            <a:cxnLst>
              <a:cxn ang="0">
                <a:pos x="connsiteX0" y="connsiteY0"/>
              </a:cxn>
              <a:cxn ang="0">
                <a:pos x="connsiteX1" y="connsiteY1"/>
              </a:cxn>
              <a:cxn ang="0">
                <a:pos x="connsiteX2" y="connsiteY2"/>
              </a:cxn>
              <a:cxn ang="0">
                <a:pos x="connsiteX3" y="connsiteY3"/>
              </a:cxn>
            </a:cxnLst>
            <a:rect l="l" t="t" r="r" b="b"/>
            <a:pathLst>
              <a:path w="657225" h="619125">
                <a:moveTo>
                  <a:pt x="0" y="0"/>
                </a:moveTo>
                <a:cubicBezTo>
                  <a:pt x="134937" y="18256"/>
                  <a:pt x="269875" y="36513"/>
                  <a:pt x="323850" y="114300"/>
                </a:cubicBezTo>
                <a:cubicBezTo>
                  <a:pt x="377825" y="192087"/>
                  <a:pt x="268288" y="382588"/>
                  <a:pt x="323850" y="466725"/>
                </a:cubicBezTo>
                <a:cubicBezTo>
                  <a:pt x="379412" y="550862"/>
                  <a:pt x="518318" y="584993"/>
                  <a:pt x="657225" y="619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a:off x="685800" y="3886200"/>
            <a:ext cx="1981200" cy="830997"/>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dirty="0" smtClean="0">
                <a:solidFill>
                  <a:srgbClr val="C00000"/>
                </a:solidFill>
                <a:latin typeface="Bradley Hand ITC" pitchFamily="66" charset="0"/>
              </a:rPr>
              <a:t>Important:</a:t>
            </a:r>
          </a:p>
          <a:p>
            <a:r>
              <a:rPr lang="en-US" sz="1200" b="1" dirty="0" smtClean="0">
                <a:solidFill>
                  <a:srgbClr val="C00000"/>
                </a:solidFill>
                <a:latin typeface="Bradley Hand ITC" pitchFamily="66" charset="0"/>
              </a:rPr>
              <a:t>By coding to an interface, we can insulate ourselves from future changes!</a:t>
            </a:r>
          </a:p>
        </p:txBody>
      </p:sp>
      <p:sp>
        <p:nvSpPr>
          <p:cNvPr id="27" name="TextBox 26"/>
          <p:cNvSpPr txBox="1"/>
          <p:nvPr/>
        </p:nvSpPr>
        <p:spPr>
          <a:xfrm>
            <a:off x="3505200" y="6019800"/>
            <a:ext cx="4648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see how the Factory Method can be used to solve this problem…</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6147" name="Picture 3"/>
          <p:cNvPicPr>
            <a:picLocks noChangeAspect="1" noChangeArrowheads="1"/>
          </p:cNvPicPr>
          <p:nvPr/>
        </p:nvPicPr>
        <p:blipFill>
          <a:blip r:embed="rId2" cstate="print"/>
          <a:srcRect/>
          <a:stretch>
            <a:fillRect/>
          </a:stretch>
        </p:blipFill>
        <p:spPr bwMode="auto">
          <a:xfrm>
            <a:off x="538163" y="1543050"/>
            <a:ext cx="8067675" cy="37719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pic>
        <p:nvPicPr>
          <p:cNvPr id="7171" name="Picture 3"/>
          <p:cNvPicPr>
            <a:picLocks noChangeAspect="1" noChangeArrowheads="1"/>
          </p:cNvPicPr>
          <p:nvPr/>
        </p:nvPicPr>
        <p:blipFill>
          <a:blip r:embed="rId2" cstate="print"/>
          <a:srcRect/>
          <a:stretch>
            <a:fillRect/>
          </a:stretch>
        </p:blipFill>
        <p:spPr bwMode="auto">
          <a:xfrm>
            <a:off x="647700" y="1676400"/>
            <a:ext cx="7991475" cy="4143375"/>
          </a:xfrm>
          <a:prstGeom prst="rect">
            <a:avLst/>
          </a:prstGeom>
          <a:noFill/>
          <a:ln w="9525">
            <a:noFill/>
            <a:miter lim="800000"/>
            <a:headEnd/>
            <a:tailEnd/>
          </a:ln>
        </p:spPr>
      </p:pic>
      <p:sp>
        <p:nvSpPr>
          <p:cNvPr id="7" name="TextBox 6"/>
          <p:cNvSpPr txBox="1"/>
          <p:nvPr/>
        </p:nvSpPr>
        <p:spPr>
          <a:xfrm>
            <a:off x="2590800" y="6019800"/>
            <a:ext cx="31242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Notice that this is an abstract method!</a:t>
            </a:r>
            <a:endParaRPr lang="en-US" sz="1400" b="1" dirty="0" smtClean="0">
              <a:solidFill>
                <a:srgbClr val="C00000"/>
              </a:solidFill>
              <a:latin typeface="Bradley Hand ITC" pitchFamily="66" charset="0"/>
            </a:endParaRPr>
          </a:p>
        </p:txBody>
      </p:sp>
      <p:sp>
        <p:nvSpPr>
          <p:cNvPr id="8" name="Freeform 7"/>
          <p:cNvSpPr/>
          <p:nvPr/>
        </p:nvSpPr>
        <p:spPr>
          <a:xfrm>
            <a:off x="2066925" y="5800725"/>
            <a:ext cx="609600" cy="361950"/>
          </a:xfrm>
          <a:custGeom>
            <a:avLst/>
            <a:gdLst>
              <a:gd name="connsiteX0" fmla="*/ 609600 w 609600"/>
              <a:gd name="connsiteY0" fmla="*/ 361950 h 361950"/>
              <a:gd name="connsiteX1" fmla="*/ 419100 w 609600"/>
              <a:gd name="connsiteY1" fmla="*/ 228600 h 361950"/>
              <a:gd name="connsiteX2" fmla="*/ 133350 w 609600"/>
              <a:gd name="connsiteY2" fmla="*/ 238125 h 361950"/>
              <a:gd name="connsiteX3" fmla="*/ 0 w 609600"/>
              <a:gd name="connsiteY3" fmla="*/ 0 h 361950"/>
            </a:gdLst>
            <a:ahLst/>
            <a:cxnLst>
              <a:cxn ang="0">
                <a:pos x="connsiteX0" y="connsiteY0"/>
              </a:cxn>
              <a:cxn ang="0">
                <a:pos x="connsiteX1" y="connsiteY1"/>
              </a:cxn>
              <a:cxn ang="0">
                <a:pos x="connsiteX2" y="connsiteY2"/>
              </a:cxn>
              <a:cxn ang="0">
                <a:pos x="connsiteX3" y="connsiteY3"/>
              </a:cxn>
            </a:cxnLst>
            <a:rect l="l" t="t" r="r" b="b"/>
            <a:pathLst>
              <a:path w="609600" h="361950">
                <a:moveTo>
                  <a:pt x="609600" y="361950"/>
                </a:moveTo>
                <a:cubicBezTo>
                  <a:pt x="554037" y="305593"/>
                  <a:pt x="498475" y="249237"/>
                  <a:pt x="419100" y="228600"/>
                </a:cubicBezTo>
                <a:cubicBezTo>
                  <a:pt x="339725" y="207963"/>
                  <a:pt x="203200" y="276225"/>
                  <a:pt x="133350" y="238125"/>
                </a:cubicBezTo>
                <a:cubicBezTo>
                  <a:pt x="63500" y="200025"/>
                  <a:pt x="31750" y="100012"/>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8194" name="Picture 2"/>
          <p:cNvPicPr>
            <a:picLocks noChangeAspect="1" noChangeArrowheads="1"/>
          </p:cNvPicPr>
          <p:nvPr/>
        </p:nvPicPr>
        <p:blipFill>
          <a:blip r:embed="rId2" cstate="print"/>
          <a:srcRect/>
          <a:stretch>
            <a:fillRect/>
          </a:stretch>
        </p:blipFill>
        <p:spPr bwMode="auto">
          <a:xfrm>
            <a:off x="581025" y="1771650"/>
            <a:ext cx="7915275" cy="4010025"/>
          </a:xfrm>
          <a:prstGeom prst="rect">
            <a:avLst/>
          </a:prstGeom>
          <a:noFill/>
          <a:ln w="9525">
            <a:noFill/>
            <a:miter lim="800000"/>
            <a:headEnd/>
            <a:tailEnd/>
          </a:ln>
        </p:spPr>
      </p:pic>
      <p:sp>
        <p:nvSpPr>
          <p:cNvPr id="7" name="TextBox 6"/>
          <p:cNvSpPr txBox="1"/>
          <p:nvPr/>
        </p:nvSpPr>
        <p:spPr>
          <a:xfrm>
            <a:off x="2590800" y="6019800"/>
            <a:ext cx="31242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Notice that this is an abstract method!</a:t>
            </a:r>
            <a:endParaRPr lang="en-US" sz="1400" b="1" dirty="0" smtClean="0">
              <a:solidFill>
                <a:srgbClr val="C00000"/>
              </a:solidFill>
              <a:latin typeface="Bradley Hand ITC" pitchFamily="66" charset="0"/>
            </a:endParaRPr>
          </a:p>
        </p:txBody>
      </p:sp>
      <p:sp>
        <p:nvSpPr>
          <p:cNvPr id="8" name="Freeform 7"/>
          <p:cNvSpPr/>
          <p:nvPr/>
        </p:nvSpPr>
        <p:spPr>
          <a:xfrm>
            <a:off x="2066925" y="5800725"/>
            <a:ext cx="609600" cy="361950"/>
          </a:xfrm>
          <a:custGeom>
            <a:avLst/>
            <a:gdLst>
              <a:gd name="connsiteX0" fmla="*/ 609600 w 609600"/>
              <a:gd name="connsiteY0" fmla="*/ 361950 h 361950"/>
              <a:gd name="connsiteX1" fmla="*/ 419100 w 609600"/>
              <a:gd name="connsiteY1" fmla="*/ 228600 h 361950"/>
              <a:gd name="connsiteX2" fmla="*/ 133350 w 609600"/>
              <a:gd name="connsiteY2" fmla="*/ 238125 h 361950"/>
              <a:gd name="connsiteX3" fmla="*/ 0 w 609600"/>
              <a:gd name="connsiteY3" fmla="*/ 0 h 361950"/>
            </a:gdLst>
            <a:ahLst/>
            <a:cxnLst>
              <a:cxn ang="0">
                <a:pos x="connsiteX0" y="connsiteY0"/>
              </a:cxn>
              <a:cxn ang="0">
                <a:pos x="connsiteX1" y="connsiteY1"/>
              </a:cxn>
              <a:cxn ang="0">
                <a:pos x="connsiteX2" y="connsiteY2"/>
              </a:cxn>
              <a:cxn ang="0">
                <a:pos x="connsiteX3" y="connsiteY3"/>
              </a:cxn>
            </a:cxnLst>
            <a:rect l="l" t="t" r="r" b="b"/>
            <a:pathLst>
              <a:path w="609600" h="361950">
                <a:moveTo>
                  <a:pt x="609600" y="361950"/>
                </a:moveTo>
                <a:cubicBezTo>
                  <a:pt x="554037" y="305593"/>
                  <a:pt x="498475" y="249237"/>
                  <a:pt x="419100" y="228600"/>
                </a:cubicBezTo>
                <a:cubicBezTo>
                  <a:pt x="339725" y="207963"/>
                  <a:pt x="203200" y="276225"/>
                  <a:pt x="133350" y="238125"/>
                </a:cubicBezTo>
                <a:cubicBezTo>
                  <a:pt x="63500" y="200025"/>
                  <a:pt x="31750" y="100012"/>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Content Placeholder 2"/>
          <p:cNvSpPr>
            <a:spLocks noGrp="1"/>
          </p:cNvSpPr>
          <p:nvPr>
            <p:ph idx="1"/>
          </p:nvPr>
        </p:nvSpPr>
        <p:spPr>
          <a:xfrm>
            <a:off x="457200" y="1371601"/>
            <a:ext cx="7693025" cy="1981200"/>
          </a:xfrm>
        </p:spPr>
        <p:txBody>
          <a:bodyPr>
            <a:normAutofit fontScale="92500" lnSpcReduction="10000"/>
          </a:bodyPr>
          <a:lstStyle/>
          <a:p>
            <a:r>
              <a:rPr lang="en-US" dirty="0" smtClean="0"/>
              <a:t>Consider an information system for a chain of Computer Stores.  The chain is currently composed of two sites and the manager wants to have a centralized software that manages all two sites.  Mainly, the manager wants this centralized system to keep track of computer sales and display computer information for all sites.  Not all sites carry the same computers and new sites could be added in the future, therefore support for computers should be site-specific!</a:t>
            </a:r>
            <a:endParaRPr lang="en-US" dirty="0"/>
          </a:p>
        </p:txBody>
      </p:sp>
      <p:cxnSp>
        <p:nvCxnSpPr>
          <p:cNvPr id="12" name="Straight Arrow Connector 11"/>
          <p:cNvCxnSpPr/>
          <p:nvPr/>
        </p:nvCxnSpPr>
        <p:spPr bwMode="auto">
          <a:xfrm flipV="1">
            <a:off x="2057400" y="4419600"/>
            <a:ext cx="1828800" cy="609600"/>
          </a:xfrm>
          <a:prstGeom prst="straightConnector1">
            <a:avLst/>
          </a:prstGeom>
          <a:noFill/>
          <a:ln w="6350" cap="flat" cmpd="sng" algn="ctr">
            <a:solidFill>
              <a:srgbClr val="000000"/>
            </a:solidFill>
            <a:prstDash val="solid"/>
            <a:round/>
            <a:headEnd type="none" w="med" len="med"/>
            <a:tailEnd type="stealth"/>
          </a:ln>
          <a:effectLst/>
        </p:spPr>
      </p:cxnSp>
      <p:cxnSp>
        <p:nvCxnSpPr>
          <p:cNvPr id="13" name="Straight Arrow Connector 12"/>
          <p:cNvCxnSpPr/>
          <p:nvPr/>
        </p:nvCxnSpPr>
        <p:spPr bwMode="auto">
          <a:xfrm flipV="1">
            <a:off x="4343400" y="4457700"/>
            <a:ext cx="0" cy="457201"/>
          </a:xfrm>
          <a:prstGeom prst="straightConnector1">
            <a:avLst/>
          </a:prstGeom>
          <a:noFill/>
          <a:ln w="6350" cap="flat" cmpd="sng" algn="ctr">
            <a:solidFill>
              <a:srgbClr val="000000"/>
            </a:solidFill>
            <a:prstDash val="solid"/>
            <a:round/>
            <a:headEnd type="none" w="med" len="med"/>
            <a:tailEnd type="stealth"/>
          </a:ln>
          <a:effectLst/>
        </p:spPr>
      </p:cxnSp>
      <p:cxnSp>
        <p:nvCxnSpPr>
          <p:cNvPr id="14" name="Straight Arrow Connector 13"/>
          <p:cNvCxnSpPr/>
          <p:nvPr/>
        </p:nvCxnSpPr>
        <p:spPr bwMode="auto">
          <a:xfrm flipH="1" flipV="1">
            <a:off x="4876800" y="4419600"/>
            <a:ext cx="1219200" cy="609600"/>
          </a:xfrm>
          <a:prstGeom prst="straightConnector1">
            <a:avLst/>
          </a:prstGeom>
          <a:noFill/>
          <a:ln w="6350" cap="flat" cmpd="sng" algn="ctr">
            <a:solidFill>
              <a:srgbClr val="000000"/>
            </a:solidFill>
            <a:prstDash val="dash"/>
            <a:round/>
            <a:headEnd type="none" w="med" len="med"/>
            <a:tailEnd type="stealth"/>
          </a:ln>
          <a:effectLst/>
        </p:spPr>
      </p:cxnSp>
      <p:sp>
        <p:nvSpPr>
          <p:cNvPr id="17" name="Rounded Rectangle 16"/>
          <p:cNvSpPr/>
          <p:nvPr/>
        </p:nvSpPr>
        <p:spPr bwMode="auto">
          <a:xfrm>
            <a:off x="6324600" y="5638800"/>
            <a:ext cx="533400" cy="228600"/>
          </a:xfrm>
          <a:prstGeom prst="roundRect">
            <a:avLst/>
          </a:prstGeom>
          <a:noFill/>
          <a:ln w="6350" cap="flat" cmpd="sng" algn="ctr">
            <a:solidFill>
              <a:srgbClr val="00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rPr>
              <a:t>HP</a:t>
            </a:r>
          </a:p>
        </p:txBody>
      </p:sp>
      <p:cxnSp>
        <p:nvCxnSpPr>
          <p:cNvPr id="19" name="Straight Connector 18"/>
          <p:cNvCxnSpPr>
            <a:endCxn id="17" idx="0"/>
          </p:cNvCxnSpPr>
          <p:nvPr/>
        </p:nvCxnSpPr>
        <p:spPr bwMode="auto">
          <a:xfrm>
            <a:off x="6096000" y="5334001"/>
            <a:ext cx="495300" cy="304799"/>
          </a:xfrm>
          <a:prstGeom prst="line">
            <a:avLst/>
          </a:prstGeom>
          <a:noFill/>
          <a:ln w="6350" cap="flat" cmpd="sng" algn="ctr">
            <a:solidFill>
              <a:srgbClr val="000000"/>
            </a:solidFill>
            <a:prstDash val="dash"/>
            <a:round/>
            <a:headEnd type="none" w="med" len="med"/>
            <a:tailEnd type="none" w="med" len="med"/>
          </a:ln>
          <a:effectLst/>
        </p:spPr>
      </p:cxnSp>
      <p:grpSp>
        <p:nvGrpSpPr>
          <p:cNvPr id="91" name="Group 90"/>
          <p:cNvGrpSpPr/>
          <p:nvPr/>
        </p:nvGrpSpPr>
        <p:grpSpPr>
          <a:xfrm>
            <a:off x="3276600" y="3505200"/>
            <a:ext cx="2362200" cy="1219201"/>
            <a:chOff x="3276600" y="3505200"/>
            <a:chExt cx="2362200" cy="1219201"/>
          </a:xfrm>
        </p:grpSpPr>
        <p:sp>
          <p:nvSpPr>
            <p:cNvPr id="20" name="Rectangle 19"/>
            <p:cNvSpPr/>
            <p:nvPr/>
          </p:nvSpPr>
          <p:spPr bwMode="auto">
            <a:xfrm>
              <a:off x="3276600" y="3505200"/>
              <a:ext cx="2362200" cy="1219201"/>
            </a:xfrm>
            <a:prstGeom prst="rect">
              <a:avLst/>
            </a:prstGeom>
            <a:noFill/>
            <a:ln w="6350" cap="flat" cmpd="sng" algn="ctr">
              <a:solidFill>
                <a:srgbClr val="000000"/>
              </a:solidFill>
              <a:prstDash val="solid"/>
              <a:round/>
              <a:headEnd type="none" w="med" len="med"/>
              <a:tailEnd type="none" w="med" len="med"/>
            </a:ln>
            <a:effectLst>
              <a:outerShdw blurRad="63500" sx="102000" sy="102000" algn="ctr"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21" name="TextBox 20"/>
            <p:cNvSpPr txBox="1"/>
            <p:nvPr/>
          </p:nvSpPr>
          <p:spPr>
            <a:xfrm>
              <a:off x="3352800" y="3505200"/>
              <a:ext cx="2286000" cy="276999"/>
            </a:xfrm>
            <a:prstGeom prst="rect">
              <a:avLst/>
            </a:prstGeom>
            <a:noFill/>
          </p:spPr>
          <p:txBody>
            <a:bodyPr wrap="square" rtlCol="0">
              <a:spAutoFit/>
            </a:bodyPr>
            <a:lstStyle/>
            <a:p>
              <a:r>
                <a:rPr lang="en-US" sz="1200" dirty="0" smtClean="0"/>
                <a:t>Remote Store Manager’s Station</a:t>
              </a:r>
              <a:endParaRPr lang="en-US" sz="1200" dirty="0"/>
            </a:p>
          </p:txBody>
        </p:sp>
        <p:pic>
          <p:nvPicPr>
            <p:cNvPr id="4099" name="Picture 3" descr="C:\Program Files (x86)\Microsoft Office\MEDIA\CAGCAT10\j0285750.wmf"/>
            <p:cNvPicPr>
              <a:picLocks noChangeAspect="1" noChangeArrowheads="1"/>
            </p:cNvPicPr>
            <p:nvPr/>
          </p:nvPicPr>
          <p:blipFill>
            <a:blip r:embed="rId2" cstate="print"/>
            <a:srcRect/>
            <a:stretch>
              <a:fillRect/>
            </a:stretch>
          </p:blipFill>
          <p:spPr bwMode="auto">
            <a:xfrm>
              <a:off x="3886200" y="3810000"/>
              <a:ext cx="1064514" cy="654182"/>
            </a:xfrm>
            <a:prstGeom prst="rect">
              <a:avLst/>
            </a:prstGeom>
            <a:noFill/>
          </p:spPr>
        </p:pic>
      </p:grpSp>
      <p:sp>
        <p:nvSpPr>
          <p:cNvPr id="75" name="TextBox 74"/>
          <p:cNvSpPr txBox="1"/>
          <p:nvPr/>
        </p:nvSpPr>
        <p:spPr>
          <a:xfrm>
            <a:off x="1371600" y="3657600"/>
            <a:ext cx="1676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Manager logs on to this computer to view products from all sites.</a:t>
            </a:r>
            <a:endParaRPr lang="en-US" sz="1200" b="1" dirty="0">
              <a:solidFill>
                <a:srgbClr val="C00000"/>
              </a:solidFill>
              <a:latin typeface="Bradley Hand ITC" pitchFamily="66" charset="0"/>
            </a:endParaRPr>
          </a:p>
        </p:txBody>
      </p:sp>
      <p:sp>
        <p:nvSpPr>
          <p:cNvPr id="76" name="Freeform 75"/>
          <p:cNvSpPr/>
          <p:nvPr/>
        </p:nvSpPr>
        <p:spPr>
          <a:xfrm>
            <a:off x="2905125" y="3800475"/>
            <a:ext cx="923925" cy="390525"/>
          </a:xfrm>
          <a:custGeom>
            <a:avLst/>
            <a:gdLst>
              <a:gd name="connsiteX0" fmla="*/ 0 w 923925"/>
              <a:gd name="connsiteY0" fmla="*/ 0 h 390525"/>
              <a:gd name="connsiteX1" fmla="*/ 485775 w 923925"/>
              <a:gd name="connsiteY1" fmla="*/ 171450 h 390525"/>
              <a:gd name="connsiteX2" fmla="*/ 619125 w 923925"/>
              <a:gd name="connsiteY2" fmla="*/ 352425 h 390525"/>
              <a:gd name="connsiteX3" fmla="*/ 923925 w 923925"/>
              <a:gd name="connsiteY3" fmla="*/ 390525 h 390525"/>
            </a:gdLst>
            <a:ahLst/>
            <a:cxnLst>
              <a:cxn ang="0">
                <a:pos x="connsiteX0" y="connsiteY0"/>
              </a:cxn>
              <a:cxn ang="0">
                <a:pos x="connsiteX1" y="connsiteY1"/>
              </a:cxn>
              <a:cxn ang="0">
                <a:pos x="connsiteX2" y="connsiteY2"/>
              </a:cxn>
              <a:cxn ang="0">
                <a:pos x="connsiteX3" y="connsiteY3"/>
              </a:cxn>
            </a:cxnLst>
            <a:rect l="l" t="t" r="r" b="b"/>
            <a:pathLst>
              <a:path w="923925" h="390525">
                <a:moveTo>
                  <a:pt x="0" y="0"/>
                </a:moveTo>
                <a:cubicBezTo>
                  <a:pt x="191293" y="56356"/>
                  <a:pt x="382587" y="112712"/>
                  <a:pt x="485775" y="171450"/>
                </a:cubicBezTo>
                <a:cubicBezTo>
                  <a:pt x="588963" y="230188"/>
                  <a:pt x="546100" y="315913"/>
                  <a:pt x="619125" y="352425"/>
                </a:cubicBezTo>
                <a:cubicBezTo>
                  <a:pt x="692150" y="388937"/>
                  <a:pt x="808037" y="389731"/>
                  <a:pt x="923925" y="390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7" name="TextBox 76"/>
          <p:cNvSpPr txBox="1"/>
          <p:nvPr/>
        </p:nvSpPr>
        <p:spPr>
          <a:xfrm>
            <a:off x="7086600" y="5105400"/>
            <a:ext cx="17526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It is possible that other sites carrying different computers could be added in the future</a:t>
            </a:r>
            <a:endParaRPr lang="en-US" sz="1200" b="1" dirty="0">
              <a:solidFill>
                <a:srgbClr val="C00000"/>
              </a:solidFill>
              <a:latin typeface="Bradley Hand ITC" pitchFamily="66" charset="0"/>
            </a:endParaRPr>
          </a:p>
        </p:txBody>
      </p:sp>
      <p:sp>
        <p:nvSpPr>
          <p:cNvPr id="78" name="Freeform 77"/>
          <p:cNvSpPr/>
          <p:nvPr/>
        </p:nvSpPr>
        <p:spPr>
          <a:xfrm>
            <a:off x="6534150" y="5153025"/>
            <a:ext cx="685800" cy="95250"/>
          </a:xfrm>
          <a:custGeom>
            <a:avLst/>
            <a:gdLst>
              <a:gd name="connsiteX0" fmla="*/ 685800 w 685800"/>
              <a:gd name="connsiteY0" fmla="*/ 95250 h 95250"/>
              <a:gd name="connsiteX1" fmla="*/ 400050 w 685800"/>
              <a:gd name="connsiteY1" fmla="*/ 85725 h 95250"/>
              <a:gd name="connsiteX2" fmla="*/ 276225 w 685800"/>
              <a:gd name="connsiteY2" fmla="*/ 38100 h 95250"/>
              <a:gd name="connsiteX3" fmla="*/ 0 w 685800"/>
              <a:gd name="connsiteY3" fmla="*/ 0 h 95250"/>
            </a:gdLst>
            <a:ahLst/>
            <a:cxnLst>
              <a:cxn ang="0">
                <a:pos x="connsiteX0" y="connsiteY0"/>
              </a:cxn>
              <a:cxn ang="0">
                <a:pos x="connsiteX1" y="connsiteY1"/>
              </a:cxn>
              <a:cxn ang="0">
                <a:pos x="connsiteX2" y="connsiteY2"/>
              </a:cxn>
              <a:cxn ang="0">
                <a:pos x="connsiteX3" y="connsiteY3"/>
              </a:cxn>
            </a:cxnLst>
            <a:rect l="l" t="t" r="r" b="b"/>
            <a:pathLst>
              <a:path w="685800" h="95250">
                <a:moveTo>
                  <a:pt x="685800" y="95250"/>
                </a:moveTo>
                <a:cubicBezTo>
                  <a:pt x="577056" y="95250"/>
                  <a:pt x="468312" y="95250"/>
                  <a:pt x="400050" y="85725"/>
                </a:cubicBezTo>
                <a:cubicBezTo>
                  <a:pt x="331788" y="76200"/>
                  <a:pt x="342900" y="52387"/>
                  <a:pt x="276225" y="38100"/>
                </a:cubicBezTo>
                <a:cubicBezTo>
                  <a:pt x="209550" y="23813"/>
                  <a:pt x="104775" y="11906"/>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87" name="Group 86"/>
          <p:cNvGrpSpPr/>
          <p:nvPr/>
        </p:nvGrpSpPr>
        <p:grpSpPr>
          <a:xfrm>
            <a:off x="1600200" y="4800600"/>
            <a:ext cx="2026942" cy="1524000"/>
            <a:chOff x="1981200" y="4800600"/>
            <a:chExt cx="2026942" cy="1524000"/>
          </a:xfrm>
        </p:grpSpPr>
        <p:sp>
          <p:nvSpPr>
            <p:cNvPr id="63" name="Rounded Rectangle 62"/>
            <p:cNvSpPr/>
            <p:nvPr/>
          </p:nvSpPr>
          <p:spPr bwMode="auto">
            <a:xfrm>
              <a:off x="2745308" y="5410200"/>
              <a:ext cx="533400" cy="228600"/>
            </a:xfrm>
            <a:prstGeom prst="roundRect">
              <a:avLst/>
            </a:prstGeom>
            <a:noFill/>
            <a:ln w="63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lang="en-US" sz="800" dirty="0" smtClean="0"/>
                <a:t>DELL</a:t>
              </a:r>
              <a:endParaRPr kumimoji="0" lang="en-US" sz="800" b="0" i="0" u="none" strike="noStrike" cap="none" normalizeH="0" baseline="0" dirty="0" smtClean="0">
                <a:ln>
                  <a:noFill/>
                </a:ln>
                <a:solidFill>
                  <a:schemeClr val="tx1"/>
                </a:solidFill>
                <a:effectLst/>
                <a:latin typeface="Arial" charset="0"/>
              </a:endParaRPr>
            </a:p>
          </p:txBody>
        </p:sp>
        <p:sp>
          <p:nvSpPr>
            <p:cNvPr id="64" name="Rounded Rectangle 63"/>
            <p:cNvSpPr/>
            <p:nvPr/>
          </p:nvSpPr>
          <p:spPr bwMode="auto">
            <a:xfrm>
              <a:off x="2745308" y="5867400"/>
              <a:ext cx="533400" cy="228600"/>
            </a:xfrm>
            <a:prstGeom prst="roundRect">
              <a:avLst/>
            </a:prstGeom>
            <a:noFill/>
            <a:ln w="63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rPr>
                <a:t>MAC</a:t>
              </a:r>
            </a:p>
          </p:txBody>
        </p:sp>
        <p:sp>
          <p:nvSpPr>
            <p:cNvPr id="65" name="TextBox 64"/>
            <p:cNvSpPr txBox="1"/>
            <p:nvPr/>
          </p:nvSpPr>
          <p:spPr>
            <a:xfrm>
              <a:off x="3119529" y="5638800"/>
              <a:ext cx="609462" cy="246221"/>
            </a:xfrm>
            <a:prstGeom prst="rect">
              <a:avLst/>
            </a:prstGeom>
            <a:noFill/>
          </p:spPr>
          <p:txBody>
            <a:bodyPr wrap="none" rtlCol="0">
              <a:spAutoFit/>
            </a:bodyPr>
            <a:lstStyle/>
            <a:p>
              <a:r>
                <a:rPr lang="en-US" sz="1000" dirty="0" smtClean="0"/>
                <a:t>Inspiron</a:t>
              </a:r>
              <a:endParaRPr lang="en-US" sz="1000" dirty="0"/>
            </a:p>
          </p:txBody>
        </p:sp>
        <p:sp>
          <p:nvSpPr>
            <p:cNvPr id="66" name="TextBox 65"/>
            <p:cNvSpPr txBox="1"/>
            <p:nvPr/>
          </p:nvSpPr>
          <p:spPr>
            <a:xfrm>
              <a:off x="3130979" y="6078379"/>
              <a:ext cx="877163" cy="246221"/>
            </a:xfrm>
            <a:prstGeom prst="rect">
              <a:avLst/>
            </a:prstGeom>
            <a:noFill/>
          </p:spPr>
          <p:txBody>
            <a:bodyPr wrap="none" rtlCol="0">
              <a:spAutoFit/>
            </a:bodyPr>
            <a:lstStyle/>
            <a:p>
              <a:r>
                <a:rPr lang="en-US" sz="1000" dirty="0" smtClean="0"/>
                <a:t>Mac Book Air</a:t>
              </a:r>
              <a:endParaRPr lang="en-US" sz="1000" dirty="0"/>
            </a:p>
          </p:txBody>
        </p:sp>
        <p:cxnSp>
          <p:nvCxnSpPr>
            <p:cNvPr id="67" name="Straight Connector 66"/>
            <p:cNvCxnSpPr/>
            <p:nvPr/>
          </p:nvCxnSpPr>
          <p:spPr>
            <a:xfrm>
              <a:off x="2514600" y="5334000"/>
              <a:ext cx="0" cy="6858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a:off x="2514600" y="5553075"/>
              <a:ext cx="2286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a:off x="2514600" y="6019800"/>
              <a:ext cx="2286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hape 69"/>
            <p:cNvCxnSpPr>
              <a:stCxn id="63" idx="2"/>
              <a:endCxn id="65" idx="1"/>
            </p:cNvCxnSpPr>
            <p:nvPr/>
          </p:nvCxnSpPr>
          <p:spPr>
            <a:xfrm rot="16200000" flipH="1">
              <a:off x="3004213" y="5646594"/>
              <a:ext cx="123111" cy="107521"/>
            </a:xfrm>
            <a:prstGeom prst="bent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hape 70"/>
            <p:cNvCxnSpPr>
              <a:stCxn id="64" idx="2"/>
              <a:endCxn id="66" idx="1"/>
            </p:cNvCxnSpPr>
            <p:nvPr/>
          </p:nvCxnSpPr>
          <p:spPr>
            <a:xfrm rot="16200000" flipH="1">
              <a:off x="3018748" y="6089259"/>
              <a:ext cx="105490" cy="118971"/>
            </a:xfrm>
            <a:prstGeom prst="bent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23" name="Picture 2" descr="C:\Users\cotero\AppData\Local\Microsoft\Windows\Temporary Internet Files\Content.IE5\MFZE6V1B\MC900089246[1].wmf"/>
            <p:cNvPicPr>
              <a:picLocks noChangeAspect="1" noChangeArrowheads="1"/>
            </p:cNvPicPr>
            <p:nvPr/>
          </p:nvPicPr>
          <p:blipFill>
            <a:blip r:embed="rId3" cstate="print"/>
            <a:srcRect/>
            <a:stretch>
              <a:fillRect/>
            </a:stretch>
          </p:blipFill>
          <p:spPr bwMode="auto">
            <a:xfrm>
              <a:off x="1981200" y="4800600"/>
              <a:ext cx="914400" cy="618591"/>
            </a:xfrm>
            <a:prstGeom prst="rect">
              <a:avLst/>
            </a:prstGeom>
            <a:noFill/>
          </p:spPr>
        </p:pic>
      </p:grpSp>
      <p:grpSp>
        <p:nvGrpSpPr>
          <p:cNvPr id="83" name="Group 82"/>
          <p:cNvGrpSpPr/>
          <p:nvPr/>
        </p:nvGrpSpPr>
        <p:grpSpPr>
          <a:xfrm>
            <a:off x="3962400" y="4876800"/>
            <a:ext cx="2209800" cy="1524000"/>
            <a:chOff x="3657600" y="4800600"/>
            <a:chExt cx="2209800" cy="1524000"/>
          </a:xfrm>
        </p:grpSpPr>
        <p:sp>
          <p:nvSpPr>
            <p:cNvPr id="16" name="Rounded Rectangle 15"/>
            <p:cNvSpPr/>
            <p:nvPr/>
          </p:nvSpPr>
          <p:spPr bwMode="auto">
            <a:xfrm>
              <a:off x="4574108" y="5410200"/>
              <a:ext cx="533400" cy="228600"/>
            </a:xfrm>
            <a:prstGeom prst="roundRect">
              <a:avLst/>
            </a:prstGeom>
            <a:noFill/>
            <a:ln w="63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lang="en-US" sz="800" dirty="0" smtClean="0"/>
                <a:t>DELL</a:t>
              </a:r>
              <a:endParaRPr kumimoji="0" lang="en-US" sz="800" b="0" i="0" u="none" strike="noStrike" cap="none" normalizeH="0" baseline="0" dirty="0" smtClean="0">
                <a:ln>
                  <a:noFill/>
                </a:ln>
                <a:solidFill>
                  <a:schemeClr val="tx1"/>
                </a:solidFill>
                <a:effectLst/>
                <a:latin typeface="Arial" charset="0"/>
              </a:endParaRPr>
            </a:p>
          </p:txBody>
        </p:sp>
        <p:sp>
          <p:nvSpPr>
            <p:cNvPr id="27" name="Rounded Rectangle 26"/>
            <p:cNvSpPr/>
            <p:nvPr/>
          </p:nvSpPr>
          <p:spPr bwMode="auto">
            <a:xfrm>
              <a:off x="4574108" y="5867400"/>
              <a:ext cx="533400" cy="228600"/>
            </a:xfrm>
            <a:prstGeom prst="roundRect">
              <a:avLst/>
            </a:prstGeom>
            <a:noFill/>
            <a:ln w="63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800" b="0" i="0" u="none" strike="noStrike" cap="none" normalizeH="0" baseline="0" dirty="0" smtClean="0">
                  <a:ln>
                    <a:noFill/>
                  </a:ln>
                  <a:solidFill>
                    <a:schemeClr val="tx1"/>
                  </a:solidFill>
                  <a:effectLst/>
                  <a:latin typeface="Arial" charset="0"/>
                </a:rPr>
                <a:t>MAC</a:t>
              </a:r>
            </a:p>
          </p:txBody>
        </p:sp>
        <p:sp>
          <p:nvSpPr>
            <p:cNvPr id="39" name="TextBox 38"/>
            <p:cNvSpPr txBox="1"/>
            <p:nvPr/>
          </p:nvSpPr>
          <p:spPr>
            <a:xfrm>
              <a:off x="4948329" y="5638800"/>
              <a:ext cx="614271" cy="246221"/>
            </a:xfrm>
            <a:prstGeom prst="rect">
              <a:avLst/>
            </a:prstGeom>
            <a:noFill/>
          </p:spPr>
          <p:txBody>
            <a:bodyPr wrap="none" rtlCol="0">
              <a:spAutoFit/>
            </a:bodyPr>
            <a:lstStyle/>
            <a:p>
              <a:r>
                <a:rPr lang="en-US" sz="1000" dirty="0" smtClean="0"/>
                <a:t>Latitude</a:t>
              </a:r>
              <a:endParaRPr lang="en-US" sz="1000" dirty="0"/>
            </a:p>
          </p:txBody>
        </p:sp>
        <p:sp>
          <p:nvSpPr>
            <p:cNvPr id="40" name="TextBox 39"/>
            <p:cNvSpPr txBox="1"/>
            <p:nvPr/>
          </p:nvSpPr>
          <p:spPr>
            <a:xfrm>
              <a:off x="4959779" y="6078379"/>
              <a:ext cx="907621" cy="246221"/>
            </a:xfrm>
            <a:prstGeom prst="rect">
              <a:avLst/>
            </a:prstGeom>
            <a:noFill/>
          </p:spPr>
          <p:txBody>
            <a:bodyPr wrap="none" rtlCol="0">
              <a:spAutoFit/>
            </a:bodyPr>
            <a:lstStyle/>
            <a:p>
              <a:r>
                <a:rPr lang="en-US" sz="1000" dirty="0" smtClean="0"/>
                <a:t>Mac Book Pro</a:t>
              </a:r>
              <a:endParaRPr lang="en-US" sz="1000" dirty="0"/>
            </a:p>
          </p:txBody>
        </p:sp>
        <p:cxnSp>
          <p:nvCxnSpPr>
            <p:cNvPr id="50" name="Straight Connector 49"/>
            <p:cNvCxnSpPr/>
            <p:nvPr/>
          </p:nvCxnSpPr>
          <p:spPr>
            <a:xfrm>
              <a:off x="4343400" y="5334000"/>
              <a:ext cx="0" cy="6858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flipH="1">
              <a:off x="4343400" y="5553075"/>
              <a:ext cx="2286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flipH="1">
              <a:off x="4343400" y="6019800"/>
              <a:ext cx="228600"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hape 58"/>
            <p:cNvCxnSpPr>
              <a:stCxn id="16" idx="2"/>
              <a:endCxn id="39" idx="1"/>
            </p:cNvCxnSpPr>
            <p:nvPr/>
          </p:nvCxnSpPr>
          <p:spPr>
            <a:xfrm rot="16200000" flipH="1">
              <a:off x="4833013" y="5646594"/>
              <a:ext cx="123111" cy="107521"/>
            </a:xfrm>
            <a:prstGeom prst="bent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hape 60"/>
            <p:cNvCxnSpPr>
              <a:stCxn id="27" idx="2"/>
              <a:endCxn id="40" idx="1"/>
            </p:cNvCxnSpPr>
            <p:nvPr/>
          </p:nvCxnSpPr>
          <p:spPr>
            <a:xfrm rot="16200000" flipH="1">
              <a:off x="4847548" y="6089259"/>
              <a:ext cx="105490" cy="118971"/>
            </a:xfrm>
            <a:prstGeom prst="bent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1" name="Picture 2" descr="C:\Users\cotero\AppData\Local\Microsoft\Windows\Temporary Internet Files\Content.IE5\MFZE6V1B\MC900089246[1].wmf"/>
            <p:cNvPicPr>
              <a:picLocks noChangeAspect="1" noChangeArrowheads="1"/>
            </p:cNvPicPr>
            <p:nvPr/>
          </p:nvPicPr>
          <p:blipFill>
            <a:blip r:embed="rId3" cstate="print"/>
            <a:srcRect/>
            <a:stretch>
              <a:fillRect/>
            </a:stretch>
          </p:blipFill>
          <p:spPr bwMode="auto">
            <a:xfrm>
              <a:off x="3657600" y="4800600"/>
              <a:ext cx="914400" cy="618591"/>
            </a:xfrm>
            <a:prstGeom prst="rect">
              <a:avLst/>
            </a:prstGeom>
            <a:noFill/>
          </p:spPr>
        </p:pic>
      </p:grpSp>
      <p:pic>
        <p:nvPicPr>
          <p:cNvPr id="82" name="Picture 2" descr="C:\Users\cotero\AppData\Local\Microsoft\Windows\Temporary Internet Files\Content.IE5\MFZE6V1B\MC900089246[1].wmf"/>
          <p:cNvPicPr>
            <a:picLocks noChangeAspect="1" noChangeArrowheads="1"/>
          </p:cNvPicPr>
          <p:nvPr/>
        </p:nvPicPr>
        <p:blipFill>
          <a:blip r:embed="rId3" cstate="print"/>
          <a:srcRect/>
          <a:stretch>
            <a:fillRect/>
          </a:stretch>
        </p:blipFill>
        <p:spPr bwMode="auto">
          <a:xfrm>
            <a:off x="5638800" y="4800600"/>
            <a:ext cx="914400" cy="618591"/>
          </a:xfrm>
          <a:prstGeom prst="rect">
            <a:avLst/>
          </a:prstGeom>
          <a:solidFill>
            <a:schemeClr val="bg1"/>
          </a:solidFill>
          <a:ln w="6350">
            <a:solidFill>
              <a:srgbClr val="000000"/>
            </a:solidFill>
            <a:prstDash val="dash"/>
          </a:ln>
        </p:spPr>
      </p:pic>
      <p:sp>
        <p:nvSpPr>
          <p:cNvPr id="89" name="TextBox 88"/>
          <p:cNvSpPr txBox="1"/>
          <p:nvPr/>
        </p:nvSpPr>
        <p:spPr>
          <a:xfrm>
            <a:off x="1219200" y="5329535"/>
            <a:ext cx="838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Computer Store 1</a:t>
            </a:r>
            <a:endParaRPr lang="en-US" sz="1200" b="1" dirty="0">
              <a:solidFill>
                <a:srgbClr val="C00000"/>
              </a:solidFill>
              <a:latin typeface="Bradley Hand ITC" pitchFamily="66" charset="0"/>
            </a:endParaRPr>
          </a:p>
        </p:txBody>
      </p:sp>
      <p:sp>
        <p:nvSpPr>
          <p:cNvPr id="90" name="TextBox 89"/>
          <p:cNvSpPr txBox="1"/>
          <p:nvPr/>
        </p:nvSpPr>
        <p:spPr>
          <a:xfrm>
            <a:off x="3581400" y="5486400"/>
            <a:ext cx="914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Computer Store 2</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Design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pic>
        <p:nvPicPr>
          <p:cNvPr id="10242" name="Picture 2"/>
          <p:cNvPicPr>
            <a:picLocks noChangeAspect="1" noChangeArrowheads="1"/>
          </p:cNvPicPr>
          <p:nvPr/>
        </p:nvPicPr>
        <p:blipFill>
          <a:blip r:embed="rId2" cstate="print"/>
          <a:srcRect/>
          <a:stretch>
            <a:fillRect/>
          </a:stretch>
        </p:blipFill>
        <p:spPr bwMode="auto">
          <a:xfrm>
            <a:off x="2362200" y="1752600"/>
            <a:ext cx="4457700" cy="4381500"/>
          </a:xfrm>
          <a:prstGeom prst="rect">
            <a:avLst/>
          </a:prstGeom>
          <a:noFill/>
          <a:ln w="9525">
            <a:noFill/>
            <a:miter lim="800000"/>
            <a:headEnd/>
            <a:tailEnd/>
          </a:ln>
        </p:spPr>
      </p:pic>
      <p:sp>
        <p:nvSpPr>
          <p:cNvPr id="8" name="TextBox 7"/>
          <p:cNvSpPr txBox="1"/>
          <p:nvPr/>
        </p:nvSpPr>
        <p:spPr>
          <a:xfrm>
            <a:off x="6934200" y="3733800"/>
            <a:ext cx="762000" cy="457200"/>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Product</a:t>
            </a:r>
          </a:p>
          <a:p>
            <a:pPr algn="ctr"/>
            <a:r>
              <a:rPr lang="en-US" sz="1200" b="1" dirty="0" smtClean="0">
                <a:solidFill>
                  <a:srgbClr val="C00000"/>
                </a:solidFill>
                <a:latin typeface="Bradley Hand ITC" pitchFamily="66" charset="0"/>
              </a:rPr>
              <a:t> Classes</a:t>
            </a:r>
            <a:endParaRPr lang="en-US" sz="1200" b="1" dirty="0">
              <a:solidFill>
                <a:srgbClr val="C00000"/>
              </a:solidFill>
              <a:latin typeface="Bradley Hand ITC" pitchFamily="66" charset="0"/>
            </a:endParaRPr>
          </a:p>
        </p:txBody>
      </p:sp>
      <p:sp>
        <p:nvSpPr>
          <p:cNvPr id="9" name="Right Brace 8"/>
          <p:cNvSpPr/>
          <p:nvPr/>
        </p:nvSpPr>
        <p:spPr>
          <a:xfrm>
            <a:off x="6781800" y="1828800"/>
            <a:ext cx="152400" cy="4267199"/>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9"/>
          <p:cNvSpPr/>
          <p:nvPr/>
        </p:nvSpPr>
        <p:spPr>
          <a:xfrm>
            <a:off x="2209800" y="1981200"/>
            <a:ext cx="152400" cy="28194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1524000" y="3124200"/>
            <a:ext cx="6858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Creator</a:t>
            </a:r>
          </a:p>
          <a:p>
            <a:pPr algn="ctr"/>
            <a:r>
              <a:rPr lang="en-US" sz="1200" b="1" dirty="0" smtClean="0">
                <a:solidFill>
                  <a:srgbClr val="C00000"/>
                </a:solidFill>
                <a:latin typeface="Bradley Hand ITC" pitchFamily="66" charset="0"/>
              </a:rPr>
              <a:t>Classes</a:t>
            </a:r>
            <a:endParaRPr lang="en-US" sz="1200" b="1" dirty="0">
              <a:solidFill>
                <a:srgbClr val="C00000"/>
              </a:solidFill>
              <a:latin typeface="Bradley Hand ITC" pitchFamily="66" charset="0"/>
            </a:endParaRPr>
          </a:p>
        </p:txBody>
      </p:sp>
      <p:sp>
        <p:nvSpPr>
          <p:cNvPr id="12" name="TextBox 11"/>
          <p:cNvSpPr txBox="1"/>
          <p:nvPr/>
        </p:nvSpPr>
        <p:spPr>
          <a:xfrm>
            <a:off x="6858000" y="11430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Products need to obey the Product interface!</a:t>
            </a:r>
            <a:endParaRPr lang="en-US" sz="1200" b="1" dirty="0">
              <a:solidFill>
                <a:srgbClr val="C00000"/>
              </a:solidFill>
              <a:latin typeface="Bradley Hand ITC" pitchFamily="66" charset="0"/>
            </a:endParaRPr>
          </a:p>
        </p:txBody>
      </p:sp>
      <p:sp>
        <p:nvSpPr>
          <p:cNvPr id="13" name="Freeform 12"/>
          <p:cNvSpPr/>
          <p:nvPr/>
        </p:nvSpPr>
        <p:spPr>
          <a:xfrm>
            <a:off x="6248400" y="1295401"/>
            <a:ext cx="695325" cy="457200"/>
          </a:xfrm>
          <a:custGeom>
            <a:avLst/>
            <a:gdLst>
              <a:gd name="connsiteX0" fmla="*/ 695325 w 695325"/>
              <a:gd name="connsiteY0" fmla="*/ 0 h 762000"/>
              <a:gd name="connsiteX1" fmla="*/ 371475 w 695325"/>
              <a:gd name="connsiteY1" fmla="*/ 161925 h 762000"/>
              <a:gd name="connsiteX2" fmla="*/ 295275 w 695325"/>
              <a:gd name="connsiteY2" fmla="*/ 514350 h 762000"/>
              <a:gd name="connsiteX3" fmla="*/ 0 w 695325"/>
              <a:gd name="connsiteY3" fmla="*/ 762000 h 762000"/>
            </a:gdLst>
            <a:ahLst/>
            <a:cxnLst>
              <a:cxn ang="0">
                <a:pos x="connsiteX0" y="connsiteY0"/>
              </a:cxn>
              <a:cxn ang="0">
                <a:pos x="connsiteX1" y="connsiteY1"/>
              </a:cxn>
              <a:cxn ang="0">
                <a:pos x="connsiteX2" y="connsiteY2"/>
              </a:cxn>
              <a:cxn ang="0">
                <a:pos x="connsiteX3" y="connsiteY3"/>
              </a:cxn>
            </a:cxnLst>
            <a:rect l="l" t="t" r="r" b="b"/>
            <a:pathLst>
              <a:path w="695325" h="762000">
                <a:moveTo>
                  <a:pt x="695325" y="0"/>
                </a:moveTo>
                <a:cubicBezTo>
                  <a:pt x="566737" y="38100"/>
                  <a:pt x="438150" y="76200"/>
                  <a:pt x="371475" y="161925"/>
                </a:cubicBezTo>
                <a:cubicBezTo>
                  <a:pt x="304800" y="247650"/>
                  <a:pt x="357188" y="414337"/>
                  <a:pt x="295275" y="514350"/>
                </a:cubicBezTo>
                <a:cubicBezTo>
                  <a:pt x="233362" y="614363"/>
                  <a:pt x="116681" y="688181"/>
                  <a:pt x="0" y="762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304800" y="19050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Factories need to obey the Factory interface!</a:t>
            </a:r>
            <a:endParaRPr lang="en-US" sz="1200" b="1" dirty="0">
              <a:solidFill>
                <a:srgbClr val="C00000"/>
              </a:solidFill>
              <a:latin typeface="Bradley Hand ITC" pitchFamily="66" charset="0"/>
            </a:endParaRPr>
          </a:p>
        </p:txBody>
      </p:sp>
      <p:sp>
        <p:nvSpPr>
          <p:cNvPr id="15" name="Freeform 14"/>
          <p:cNvSpPr/>
          <p:nvPr/>
        </p:nvSpPr>
        <p:spPr>
          <a:xfrm>
            <a:off x="1828800" y="1752600"/>
            <a:ext cx="609600" cy="514350"/>
          </a:xfrm>
          <a:custGeom>
            <a:avLst/>
            <a:gdLst>
              <a:gd name="connsiteX0" fmla="*/ 0 w 1076325"/>
              <a:gd name="connsiteY0" fmla="*/ 495300 h 514350"/>
              <a:gd name="connsiteX1" fmla="*/ 476250 w 1076325"/>
              <a:gd name="connsiteY1" fmla="*/ 438150 h 514350"/>
              <a:gd name="connsiteX2" fmla="*/ 742950 w 1076325"/>
              <a:gd name="connsiteY2" fmla="*/ 38100 h 514350"/>
              <a:gd name="connsiteX3" fmla="*/ 1076325 w 1076325"/>
              <a:gd name="connsiteY3" fmla="*/ 209550 h 514350"/>
            </a:gdLst>
            <a:ahLst/>
            <a:cxnLst>
              <a:cxn ang="0">
                <a:pos x="connsiteX0" y="connsiteY0"/>
              </a:cxn>
              <a:cxn ang="0">
                <a:pos x="connsiteX1" y="connsiteY1"/>
              </a:cxn>
              <a:cxn ang="0">
                <a:pos x="connsiteX2" y="connsiteY2"/>
              </a:cxn>
              <a:cxn ang="0">
                <a:pos x="connsiteX3" y="connsiteY3"/>
              </a:cxn>
            </a:cxnLst>
            <a:rect l="l" t="t" r="r" b="b"/>
            <a:pathLst>
              <a:path w="1076325" h="514350">
                <a:moveTo>
                  <a:pt x="0" y="495300"/>
                </a:moveTo>
                <a:cubicBezTo>
                  <a:pt x="176212" y="504825"/>
                  <a:pt x="352425" y="514350"/>
                  <a:pt x="476250" y="438150"/>
                </a:cubicBezTo>
                <a:cubicBezTo>
                  <a:pt x="600075" y="361950"/>
                  <a:pt x="642938" y="76200"/>
                  <a:pt x="742950" y="38100"/>
                </a:cubicBezTo>
                <a:cubicBezTo>
                  <a:pt x="842962" y="0"/>
                  <a:pt x="959643" y="104775"/>
                  <a:pt x="1076325" y="209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Example</a:t>
            </a:r>
            <a:endParaRPr lang="en-US" dirty="0"/>
          </a:p>
        </p:txBody>
      </p:sp>
      <p:sp>
        <p:nvSpPr>
          <p:cNvPr id="3" name="Content Placeholder 2"/>
          <p:cNvSpPr>
            <a:spLocks noGrp="1"/>
          </p:cNvSpPr>
          <p:nvPr>
            <p:ph idx="1"/>
          </p:nvPr>
        </p:nvSpPr>
        <p:spPr>
          <a:xfrm>
            <a:off x="457200" y="1371601"/>
            <a:ext cx="8229600" cy="609599"/>
          </a:xfrm>
        </p:spPr>
        <p:txBody>
          <a:bodyPr/>
          <a:lstStyle/>
          <a:p>
            <a:r>
              <a:rPr lang="en-US" dirty="0" smtClean="0"/>
              <a:t>Sample code for the displayComputer (…)method:</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2133600" y="2438400"/>
            <a:ext cx="4686300" cy="2743200"/>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6553200" y="2286000"/>
            <a:ext cx="2143125" cy="695325"/>
          </a:xfrm>
          <a:prstGeom prst="rect">
            <a:avLst/>
          </a:prstGeom>
          <a:noFill/>
          <a:ln w="9525">
            <a:noFill/>
            <a:miter lim="800000"/>
            <a:headEnd/>
            <a:tailEnd/>
          </a:ln>
        </p:spPr>
      </p:pic>
      <p:sp>
        <p:nvSpPr>
          <p:cNvPr id="9" name="TextBox 8"/>
          <p:cNvSpPr txBox="1"/>
          <p:nvPr/>
        </p:nvSpPr>
        <p:spPr>
          <a:xfrm>
            <a:off x="228600" y="2590800"/>
            <a:ext cx="18288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Factory method!</a:t>
            </a:r>
            <a:endParaRPr lang="en-US" sz="1200" b="1" dirty="0">
              <a:solidFill>
                <a:srgbClr val="C00000"/>
              </a:solidFill>
              <a:latin typeface="Bradley Hand ITC" pitchFamily="66" charset="0"/>
            </a:endParaRPr>
          </a:p>
        </p:txBody>
      </p:sp>
      <p:sp>
        <p:nvSpPr>
          <p:cNvPr id="10" name="Freeform 9"/>
          <p:cNvSpPr/>
          <p:nvPr/>
        </p:nvSpPr>
        <p:spPr>
          <a:xfrm>
            <a:off x="1704975" y="2819400"/>
            <a:ext cx="523875" cy="433387"/>
          </a:xfrm>
          <a:custGeom>
            <a:avLst/>
            <a:gdLst>
              <a:gd name="connsiteX0" fmla="*/ 0 w 523875"/>
              <a:gd name="connsiteY0" fmla="*/ 0 h 433387"/>
              <a:gd name="connsiteX1" fmla="*/ 152400 w 523875"/>
              <a:gd name="connsiteY1" fmla="*/ 219075 h 433387"/>
              <a:gd name="connsiteX2" fmla="*/ 314325 w 523875"/>
              <a:gd name="connsiteY2" fmla="*/ 400050 h 433387"/>
              <a:gd name="connsiteX3" fmla="*/ 523875 w 523875"/>
              <a:gd name="connsiteY3" fmla="*/ 419100 h 433387"/>
            </a:gdLst>
            <a:ahLst/>
            <a:cxnLst>
              <a:cxn ang="0">
                <a:pos x="connsiteX0" y="connsiteY0"/>
              </a:cxn>
              <a:cxn ang="0">
                <a:pos x="connsiteX1" y="connsiteY1"/>
              </a:cxn>
              <a:cxn ang="0">
                <a:pos x="connsiteX2" y="connsiteY2"/>
              </a:cxn>
              <a:cxn ang="0">
                <a:pos x="connsiteX3" y="connsiteY3"/>
              </a:cxn>
            </a:cxnLst>
            <a:rect l="l" t="t" r="r" b="b"/>
            <a:pathLst>
              <a:path w="523875" h="433387">
                <a:moveTo>
                  <a:pt x="0" y="0"/>
                </a:moveTo>
                <a:cubicBezTo>
                  <a:pt x="50006" y="76200"/>
                  <a:pt x="100013" y="152400"/>
                  <a:pt x="152400" y="219075"/>
                </a:cubicBezTo>
                <a:cubicBezTo>
                  <a:pt x="204787" y="285750"/>
                  <a:pt x="252413" y="366713"/>
                  <a:pt x="314325" y="400050"/>
                </a:cubicBezTo>
                <a:cubicBezTo>
                  <a:pt x="376237" y="433387"/>
                  <a:pt x="450056" y="426243"/>
                  <a:pt x="523875" y="4191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6858000" y="3581400"/>
            <a:ext cx="1219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Optional parameter</a:t>
            </a:r>
            <a:endParaRPr lang="en-US" sz="1200" b="1" dirty="0">
              <a:solidFill>
                <a:srgbClr val="C00000"/>
              </a:solidFill>
              <a:latin typeface="Bradley Hand ITC" pitchFamily="66" charset="0"/>
            </a:endParaRPr>
          </a:p>
        </p:txBody>
      </p:sp>
      <p:sp>
        <p:nvSpPr>
          <p:cNvPr id="12" name="Freeform 11"/>
          <p:cNvSpPr/>
          <p:nvPr/>
        </p:nvSpPr>
        <p:spPr>
          <a:xfrm>
            <a:off x="4953000" y="3352800"/>
            <a:ext cx="2357437" cy="228600"/>
          </a:xfrm>
          <a:custGeom>
            <a:avLst/>
            <a:gdLst>
              <a:gd name="connsiteX0" fmla="*/ 2357437 w 2357437"/>
              <a:gd name="connsiteY0" fmla="*/ 428625 h 428625"/>
              <a:gd name="connsiteX1" fmla="*/ 1690687 w 2357437"/>
              <a:gd name="connsiteY1" fmla="*/ 76200 h 428625"/>
              <a:gd name="connsiteX2" fmla="*/ 280987 w 2357437"/>
              <a:gd name="connsiteY2" fmla="*/ 85725 h 428625"/>
              <a:gd name="connsiteX3" fmla="*/ 4762 w 2357437"/>
              <a:gd name="connsiteY3" fmla="*/ 0 h 428625"/>
            </a:gdLst>
            <a:ahLst/>
            <a:cxnLst>
              <a:cxn ang="0">
                <a:pos x="connsiteX0" y="connsiteY0"/>
              </a:cxn>
              <a:cxn ang="0">
                <a:pos x="connsiteX1" y="connsiteY1"/>
              </a:cxn>
              <a:cxn ang="0">
                <a:pos x="connsiteX2" y="connsiteY2"/>
              </a:cxn>
              <a:cxn ang="0">
                <a:pos x="connsiteX3" y="connsiteY3"/>
              </a:cxn>
            </a:cxnLst>
            <a:rect l="l" t="t" r="r" b="b"/>
            <a:pathLst>
              <a:path w="2357437" h="428625">
                <a:moveTo>
                  <a:pt x="2357437" y="428625"/>
                </a:moveTo>
                <a:cubicBezTo>
                  <a:pt x="2197099" y="280987"/>
                  <a:pt x="2036762" y="133350"/>
                  <a:pt x="1690687" y="76200"/>
                </a:cubicBezTo>
                <a:cubicBezTo>
                  <a:pt x="1344612" y="19050"/>
                  <a:pt x="561975" y="98425"/>
                  <a:pt x="280987" y="85725"/>
                </a:cubicBezTo>
                <a:cubicBezTo>
                  <a:pt x="0" y="73025"/>
                  <a:pt x="2381" y="36512"/>
                  <a:pt x="4762"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p:cNvSpPr/>
          <p:nvPr/>
        </p:nvSpPr>
        <p:spPr bwMode="auto">
          <a:xfrm rot="10800000">
            <a:off x="4419600" y="3962400"/>
            <a:ext cx="76200" cy="609600"/>
          </a:xfrm>
          <a:prstGeom prst="leftBrace">
            <a:avLst>
              <a:gd name="adj1" fmla="val 16407"/>
              <a:gd name="adj2" fmla="val 50000"/>
            </a:avLst>
          </a:prstGeom>
          <a:noFill/>
          <a:ln w="63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4" name="TextBox 13"/>
          <p:cNvSpPr txBox="1"/>
          <p:nvPr/>
        </p:nvSpPr>
        <p:spPr>
          <a:xfrm>
            <a:off x="4419600" y="3962400"/>
            <a:ext cx="1219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is what we expect to stay the same.</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1027" name="Picture 3"/>
          <p:cNvPicPr>
            <a:picLocks noChangeAspect="1" noChangeArrowheads="1"/>
          </p:cNvPicPr>
          <p:nvPr/>
        </p:nvPicPr>
        <p:blipFill>
          <a:blip r:embed="rId2" cstate="print"/>
          <a:srcRect/>
          <a:stretch>
            <a:fillRect/>
          </a:stretch>
        </p:blipFill>
        <p:spPr bwMode="auto">
          <a:xfrm>
            <a:off x="2590800" y="1856601"/>
            <a:ext cx="5334000" cy="3333750"/>
          </a:xfrm>
          <a:prstGeom prst="rect">
            <a:avLst/>
          </a:prstGeom>
          <a:noFill/>
          <a:ln w="9525">
            <a:noFill/>
            <a:miter lim="800000"/>
            <a:headEnd/>
            <a:tailEnd/>
          </a:ln>
        </p:spPr>
      </p:pic>
      <p:sp>
        <p:nvSpPr>
          <p:cNvPr id="9" name="TextBox 8"/>
          <p:cNvSpPr txBox="1"/>
          <p:nvPr/>
        </p:nvSpPr>
        <p:spPr>
          <a:xfrm>
            <a:off x="533400" y="1323201"/>
            <a:ext cx="2286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Factory </a:t>
            </a:r>
            <a:r>
              <a:rPr lang="en-US" sz="1200" b="1" dirty="0" smtClean="0">
                <a:solidFill>
                  <a:srgbClr val="C00000"/>
                </a:solidFill>
                <a:latin typeface="Bradley Hand ITC" pitchFamily="66" charset="0"/>
              </a:rPr>
              <a:t>method implementation for standard computer store</a:t>
            </a:r>
            <a:endParaRPr lang="en-US" sz="1200" b="1" dirty="0">
              <a:solidFill>
                <a:srgbClr val="C00000"/>
              </a:solidFill>
              <a:latin typeface="Bradley Hand ITC" pitchFamily="66" charset="0"/>
            </a:endParaRPr>
          </a:p>
        </p:txBody>
      </p:sp>
      <p:sp>
        <p:nvSpPr>
          <p:cNvPr id="10" name="Freeform 9"/>
          <p:cNvSpPr/>
          <p:nvPr/>
        </p:nvSpPr>
        <p:spPr>
          <a:xfrm>
            <a:off x="1971675" y="1780401"/>
            <a:ext cx="571500" cy="285750"/>
          </a:xfrm>
          <a:custGeom>
            <a:avLst/>
            <a:gdLst>
              <a:gd name="connsiteX0" fmla="*/ 0 w 571500"/>
              <a:gd name="connsiteY0" fmla="*/ 0 h 361950"/>
              <a:gd name="connsiteX1" fmla="*/ 180975 w 571500"/>
              <a:gd name="connsiteY1" fmla="*/ 133350 h 361950"/>
              <a:gd name="connsiteX2" fmla="*/ 247650 w 571500"/>
              <a:gd name="connsiteY2" fmla="*/ 323850 h 361950"/>
              <a:gd name="connsiteX3" fmla="*/ 571500 w 571500"/>
              <a:gd name="connsiteY3" fmla="*/ 361950 h 361950"/>
            </a:gdLst>
            <a:ahLst/>
            <a:cxnLst>
              <a:cxn ang="0">
                <a:pos x="connsiteX0" y="connsiteY0"/>
              </a:cxn>
              <a:cxn ang="0">
                <a:pos x="connsiteX1" y="connsiteY1"/>
              </a:cxn>
              <a:cxn ang="0">
                <a:pos x="connsiteX2" y="connsiteY2"/>
              </a:cxn>
              <a:cxn ang="0">
                <a:pos x="connsiteX3" y="connsiteY3"/>
              </a:cxn>
            </a:cxnLst>
            <a:rect l="l" t="t" r="r" b="b"/>
            <a:pathLst>
              <a:path w="571500" h="361950">
                <a:moveTo>
                  <a:pt x="0" y="0"/>
                </a:moveTo>
                <a:cubicBezTo>
                  <a:pt x="69850" y="39687"/>
                  <a:pt x="139700" y="79375"/>
                  <a:pt x="180975" y="133350"/>
                </a:cubicBezTo>
                <a:cubicBezTo>
                  <a:pt x="222250" y="187325"/>
                  <a:pt x="182563" y="285750"/>
                  <a:pt x="247650" y="323850"/>
                </a:cubicBezTo>
                <a:cubicBezTo>
                  <a:pt x="312737" y="361950"/>
                  <a:pt x="442118" y="361950"/>
                  <a:pt x="571500" y="3619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6553200" y="2237601"/>
            <a:ext cx="2057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Rarely a computer store will carry only one computer!</a:t>
            </a:r>
            <a:endParaRPr lang="en-US" sz="1200" b="1" dirty="0">
              <a:solidFill>
                <a:srgbClr val="C00000"/>
              </a:solidFill>
              <a:latin typeface="Bradley Hand ITC" pitchFamily="66" charset="0"/>
            </a:endParaRPr>
          </a:p>
        </p:txBody>
      </p:sp>
      <p:sp>
        <p:nvSpPr>
          <p:cNvPr id="12" name="TextBox 11"/>
          <p:cNvSpPr txBox="1"/>
          <p:nvPr/>
        </p:nvSpPr>
        <p:spPr>
          <a:xfrm>
            <a:off x="2438400" y="5285601"/>
            <a:ext cx="4038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We use the optional parameter to support computers that may be carried in the future by the standard computer store</a:t>
            </a:r>
            <a:endParaRPr lang="en-US" sz="1200" b="1" dirty="0">
              <a:solidFill>
                <a:srgbClr val="C00000"/>
              </a:solidFill>
              <a:latin typeface="Bradley Hand ITC" pitchFamily="66" charset="0"/>
            </a:endParaRPr>
          </a:p>
        </p:txBody>
      </p:sp>
      <p:sp>
        <p:nvSpPr>
          <p:cNvPr id="13" name="Freeform 12"/>
          <p:cNvSpPr/>
          <p:nvPr/>
        </p:nvSpPr>
        <p:spPr>
          <a:xfrm rot="3262088">
            <a:off x="6394387" y="2541560"/>
            <a:ext cx="247779" cy="486485"/>
          </a:xfrm>
          <a:custGeom>
            <a:avLst/>
            <a:gdLst>
              <a:gd name="connsiteX0" fmla="*/ 0 w 198437"/>
              <a:gd name="connsiteY0" fmla="*/ 0 h 323850"/>
              <a:gd name="connsiteX1" fmla="*/ 190500 w 198437"/>
              <a:gd name="connsiteY1" fmla="*/ 142875 h 323850"/>
              <a:gd name="connsiteX2" fmla="*/ 47625 w 198437"/>
              <a:gd name="connsiteY2" fmla="*/ 323850 h 323850"/>
            </a:gdLst>
            <a:ahLst/>
            <a:cxnLst>
              <a:cxn ang="0">
                <a:pos x="connsiteX0" y="connsiteY0"/>
              </a:cxn>
              <a:cxn ang="0">
                <a:pos x="connsiteX1" y="connsiteY1"/>
              </a:cxn>
              <a:cxn ang="0">
                <a:pos x="connsiteX2" y="connsiteY2"/>
              </a:cxn>
            </a:cxnLst>
            <a:rect l="l" t="t" r="r" b="b"/>
            <a:pathLst>
              <a:path w="198437" h="323850">
                <a:moveTo>
                  <a:pt x="0" y="0"/>
                </a:moveTo>
                <a:cubicBezTo>
                  <a:pt x="91281" y="44450"/>
                  <a:pt x="182563" y="88900"/>
                  <a:pt x="190500" y="142875"/>
                </a:cubicBezTo>
                <a:cubicBezTo>
                  <a:pt x="198437" y="196850"/>
                  <a:pt x="123031" y="260350"/>
                  <a:pt x="47625" y="3238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4724400" y="5895201"/>
            <a:ext cx="38100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see how to support new standard computers…</a:t>
            </a:r>
            <a:endParaRPr lang="en-US" sz="1200" b="1" dirty="0">
              <a:solidFill>
                <a:srgbClr val="C00000"/>
              </a:solidFill>
              <a:latin typeface="Bradley Hand ITC" pitchFamily="66" charset="0"/>
            </a:endParaRPr>
          </a:p>
        </p:txBody>
      </p:sp>
      <p:sp>
        <p:nvSpPr>
          <p:cNvPr id="16" name="TextBox 15"/>
          <p:cNvSpPr txBox="1"/>
          <p:nvPr/>
        </p:nvSpPr>
        <p:spPr>
          <a:xfrm>
            <a:off x="1143000" y="3304401"/>
            <a:ext cx="914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 generic standard computer</a:t>
            </a:r>
            <a:endParaRPr lang="en-US" sz="1200" b="1" dirty="0">
              <a:solidFill>
                <a:srgbClr val="C00000"/>
              </a:solidFill>
              <a:latin typeface="Bradley Hand ITC" pitchFamily="66" charset="0"/>
            </a:endParaRPr>
          </a:p>
        </p:txBody>
      </p:sp>
      <p:sp>
        <p:nvSpPr>
          <p:cNvPr id="17" name="Freeform 16"/>
          <p:cNvSpPr/>
          <p:nvPr/>
        </p:nvSpPr>
        <p:spPr>
          <a:xfrm>
            <a:off x="2000250" y="3056751"/>
            <a:ext cx="666750" cy="342900"/>
          </a:xfrm>
          <a:custGeom>
            <a:avLst/>
            <a:gdLst>
              <a:gd name="connsiteX0" fmla="*/ 0 w 666750"/>
              <a:gd name="connsiteY0" fmla="*/ 342900 h 342900"/>
              <a:gd name="connsiteX1" fmla="*/ 209550 w 666750"/>
              <a:gd name="connsiteY1" fmla="*/ 104775 h 342900"/>
              <a:gd name="connsiteX2" fmla="*/ 419100 w 666750"/>
              <a:gd name="connsiteY2" fmla="*/ 142875 h 342900"/>
              <a:gd name="connsiteX3" fmla="*/ 666750 w 666750"/>
              <a:gd name="connsiteY3" fmla="*/ 0 h 342900"/>
            </a:gdLst>
            <a:ahLst/>
            <a:cxnLst>
              <a:cxn ang="0">
                <a:pos x="connsiteX0" y="connsiteY0"/>
              </a:cxn>
              <a:cxn ang="0">
                <a:pos x="connsiteX1" y="connsiteY1"/>
              </a:cxn>
              <a:cxn ang="0">
                <a:pos x="connsiteX2" y="connsiteY2"/>
              </a:cxn>
              <a:cxn ang="0">
                <a:pos x="connsiteX3" y="connsiteY3"/>
              </a:cxn>
            </a:cxnLst>
            <a:rect l="l" t="t" r="r" b="b"/>
            <a:pathLst>
              <a:path w="666750" h="342900">
                <a:moveTo>
                  <a:pt x="0" y="342900"/>
                </a:moveTo>
                <a:cubicBezTo>
                  <a:pt x="69850" y="240506"/>
                  <a:pt x="139700" y="138112"/>
                  <a:pt x="209550" y="104775"/>
                </a:cubicBezTo>
                <a:cubicBezTo>
                  <a:pt x="279400" y="71438"/>
                  <a:pt x="342900" y="160338"/>
                  <a:pt x="419100" y="142875"/>
                </a:cubicBezTo>
                <a:cubicBezTo>
                  <a:pt x="495300" y="125413"/>
                  <a:pt x="581025" y="62706"/>
                  <a:pt x="6667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Freeform 18"/>
          <p:cNvSpPr/>
          <p:nvPr/>
        </p:nvSpPr>
        <p:spPr>
          <a:xfrm>
            <a:off x="6400800" y="5590401"/>
            <a:ext cx="220662" cy="342900"/>
          </a:xfrm>
          <a:custGeom>
            <a:avLst/>
            <a:gdLst>
              <a:gd name="connsiteX0" fmla="*/ 0 w 220662"/>
              <a:gd name="connsiteY0" fmla="*/ 0 h 342900"/>
              <a:gd name="connsiteX1" fmla="*/ 200025 w 220662"/>
              <a:gd name="connsiteY1" fmla="*/ 142875 h 342900"/>
              <a:gd name="connsiteX2" fmla="*/ 123825 w 220662"/>
              <a:gd name="connsiteY2" fmla="*/ 342900 h 342900"/>
            </a:gdLst>
            <a:ahLst/>
            <a:cxnLst>
              <a:cxn ang="0">
                <a:pos x="connsiteX0" y="connsiteY0"/>
              </a:cxn>
              <a:cxn ang="0">
                <a:pos x="connsiteX1" y="connsiteY1"/>
              </a:cxn>
              <a:cxn ang="0">
                <a:pos x="connsiteX2" y="connsiteY2"/>
              </a:cxn>
            </a:cxnLst>
            <a:rect l="l" t="t" r="r" b="b"/>
            <a:pathLst>
              <a:path w="220662" h="342900">
                <a:moveTo>
                  <a:pt x="0" y="0"/>
                </a:moveTo>
                <a:cubicBezTo>
                  <a:pt x="89694" y="42862"/>
                  <a:pt x="179388" y="85725"/>
                  <a:pt x="200025" y="142875"/>
                </a:cubicBezTo>
                <a:cubicBezTo>
                  <a:pt x="220662" y="200025"/>
                  <a:pt x="172243" y="271462"/>
                  <a:pt x="123825" y="342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6781800" y="1475601"/>
            <a:ext cx="1219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Optional parameter</a:t>
            </a:r>
            <a:endParaRPr lang="en-US" sz="1200" b="1" dirty="0">
              <a:solidFill>
                <a:srgbClr val="C00000"/>
              </a:solidFill>
              <a:latin typeface="Bradley Hand ITC" pitchFamily="66" charset="0"/>
            </a:endParaRPr>
          </a:p>
        </p:txBody>
      </p:sp>
      <p:sp>
        <p:nvSpPr>
          <p:cNvPr id="21" name="Freeform 20"/>
          <p:cNvSpPr/>
          <p:nvPr/>
        </p:nvSpPr>
        <p:spPr>
          <a:xfrm>
            <a:off x="6353175" y="1647051"/>
            <a:ext cx="666750" cy="323850"/>
          </a:xfrm>
          <a:custGeom>
            <a:avLst/>
            <a:gdLst>
              <a:gd name="connsiteX0" fmla="*/ 666750 w 666750"/>
              <a:gd name="connsiteY0" fmla="*/ 0 h 323850"/>
              <a:gd name="connsiteX1" fmla="*/ 352425 w 666750"/>
              <a:gd name="connsiteY1" fmla="*/ 66675 h 323850"/>
              <a:gd name="connsiteX2" fmla="*/ 200025 w 666750"/>
              <a:gd name="connsiteY2" fmla="*/ 228600 h 323850"/>
              <a:gd name="connsiteX3" fmla="*/ 0 w 666750"/>
              <a:gd name="connsiteY3" fmla="*/ 323850 h 323850"/>
            </a:gdLst>
            <a:ahLst/>
            <a:cxnLst>
              <a:cxn ang="0">
                <a:pos x="connsiteX0" y="connsiteY0"/>
              </a:cxn>
              <a:cxn ang="0">
                <a:pos x="connsiteX1" y="connsiteY1"/>
              </a:cxn>
              <a:cxn ang="0">
                <a:pos x="connsiteX2" y="connsiteY2"/>
              </a:cxn>
              <a:cxn ang="0">
                <a:pos x="connsiteX3" y="connsiteY3"/>
              </a:cxn>
            </a:cxnLst>
            <a:rect l="l" t="t" r="r" b="b"/>
            <a:pathLst>
              <a:path w="666750" h="323850">
                <a:moveTo>
                  <a:pt x="666750" y="0"/>
                </a:moveTo>
                <a:cubicBezTo>
                  <a:pt x="548481" y="14287"/>
                  <a:pt x="430213" y="28575"/>
                  <a:pt x="352425" y="66675"/>
                </a:cubicBezTo>
                <a:cubicBezTo>
                  <a:pt x="274638" y="104775"/>
                  <a:pt x="258763" y="185737"/>
                  <a:pt x="200025" y="228600"/>
                </a:cubicBezTo>
                <a:cubicBezTo>
                  <a:pt x="141287" y="271463"/>
                  <a:pt x="70643" y="297656"/>
                  <a:pt x="0" y="3238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7" name="Group 26"/>
          <p:cNvGrpSpPr/>
          <p:nvPr/>
        </p:nvGrpSpPr>
        <p:grpSpPr>
          <a:xfrm>
            <a:off x="706211" y="4371201"/>
            <a:ext cx="1503589" cy="1170531"/>
            <a:chOff x="457200" y="4392069"/>
            <a:chExt cx="1503589" cy="1170531"/>
          </a:xfrm>
        </p:grpSpPr>
        <p:pic>
          <p:nvPicPr>
            <p:cNvPr id="22" name="Picture 5"/>
            <p:cNvPicPr>
              <a:picLocks noChangeAspect="1" noChangeArrowheads="1"/>
            </p:cNvPicPr>
            <p:nvPr/>
          </p:nvPicPr>
          <p:blipFill>
            <a:blip r:embed="rId3" cstate="print"/>
            <a:srcRect/>
            <a:stretch>
              <a:fillRect/>
            </a:stretch>
          </p:blipFill>
          <p:spPr bwMode="auto">
            <a:xfrm>
              <a:off x="457200" y="5181600"/>
              <a:ext cx="1503589" cy="381000"/>
            </a:xfrm>
            <a:prstGeom prst="rect">
              <a:avLst/>
            </a:prstGeom>
            <a:noFill/>
            <a:ln w="9525">
              <a:noFill/>
              <a:miter lim="800000"/>
              <a:headEnd/>
              <a:tailEnd/>
            </a:ln>
          </p:spPr>
        </p:pic>
        <p:pic>
          <p:nvPicPr>
            <p:cNvPr id="23" name="Picture 3"/>
            <p:cNvPicPr>
              <a:picLocks noChangeAspect="1" noChangeArrowheads="1"/>
            </p:cNvPicPr>
            <p:nvPr/>
          </p:nvPicPr>
          <p:blipFill>
            <a:blip r:embed="rId4" cstate="print"/>
            <a:srcRect/>
            <a:stretch>
              <a:fillRect/>
            </a:stretch>
          </p:blipFill>
          <p:spPr bwMode="auto">
            <a:xfrm>
              <a:off x="485776" y="4392069"/>
              <a:ext cx="1447800" cy="456156"/>
            </a:xfrm>
            <a:prstGeom prst="rect">
              <a:avLst/>
            </a:prstGeom>
            <a:noFill/>
            <a:ln w="9525">
              <a:noFill/>
              <a:miter lim="800000"/>
              <a:headEnd/>
              <a:tailEnd/>
            </a:ln>
          </p:spPr>
        </p:pic>
        <p:cxnSp>
          <p:nvCxnSpPr>
            <p:cNvPr id="25" name="Straight Arrow Connector 24"/>
            <p:cNvCxnSpPr>
              <a:stCxn id="22" idx="0"/>
              <a:endCxn id="23" idx="2"/>
            </p:cNvCxnSpPr>
            <p:nvPr/>
          </p:nvCxnSpPr>
          <p:spPr>
            <a:xfrm flipV="1">
              <a:off x="1208995" y="4848225"/>
              <a:ext cx="681" cy="333375"/>
            </a:xfrm>
            <a:prstGeom prst="straightConnector1">
              <a:avLst/>
            </a:prstGeom>
            <a:ln w="63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6" name="Isosceles Triangle 25"/>
            <p:cNvSpPr/>
            <p:nvPr/>
          </p:nvSpPr>
          <p:spPr>
            <a:xfrm>
              <a:off x="1133475" y="4848225"/>
              <a:ext cx="152400" cy="152400"/>
            </a:xfrm>
            <a:prstGeom prst="triangl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1029" name="Picture 5"/>
          <p:cNvPicPr>
            <a:picLocks noChangeAspect="1" noChangeArrowheads="1"/>
          </p:cNvPicPr>
          <p:nvPr/>
        </p:nvPicPr>
        <p:blipFill>
          <a:blip r:embed="rId2" cstate="print"/>
          <a:srcRect/>
          <a:stretch>
            <a:fillRect/>
          </a:stretch>
        </p:blipFill>
        <p:spPr bwMode="auto">
          <a:xfrm>
            <a:off x="676275" y="2286000"/>
            <a:ext cx="2105025" cy="533400"/>
          </a:xfrm>
          <a:prstGeom prst="rect">
            <a:avLst/>
          </a:prstGeom>
          <a:noFill/>
          <a:ln w="9525">
            <a:noFill/>
            <a:miter lim="800000"/>
            <a:headEnd/>
            <a:tailEnd/>
          </a:ln>
        </p:spPr>
      </p:pic>
      <p:sp>
        <p:nvSpPr>
          <p:cNvPr id="11" name="TextBox 10"/>
          <p:cNvSpPr txBox="1"/>
          <p:nvPr/>
        </p:nvSpPr>
        <p:spPr>
          <a:xfrm>
            <a:off x="600075" y="3163669"/>
            <a:ext cx="2286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standard computer </a:t>
            </a:r>
            <a:r>
              <a:rPr lang="en-US" sz="1200" b="1" dirty="0" smtClean="0">
                <a:solidFill>
                  <a:srgbClr val="C00000"/>
                </a:solidFill>
                <a:latin typeface="Bradley Hand ITC" pitchFamily="66" charset="0"/>
              </a:rPr>
              <a:t>store now carries </a:t>
            </a:r>
            <a:r>
              <a:rPr lang="en-US" sz="1200" b="1" dirty="0" smtClean="0">
                <a:solidFill>
                  <a:srgbClr val="C00000"/>
                </a:solidFill>
                <a:latin typeface="Bradley Hand ITC" pitchFamily="66" charset="0"/>
              </a:rPr>
              <a:t>Dell Inspiron and Mac Book Air computers</a:t>
            </a:r>
            <a:endParaRPr lang="en-US" sz="1200" b="1" dirty="0">
              <a:solidFill>
                <a:srgbClr val="C00000"/>
              </a:solidFill>
              <a:latin typeface="Bradley Hand ITC" pitchFamily="66" charset="0"/>
            </a:endParaRPr>
          </a:p>
        </p:txBody>
      </p:sp>
      <p:sp>
        <p:nvSpPr>
          <p:cNvPr id="12" name="Freeform 11"/>
          <p:cNvSpPr/>
          <p:nvPr/>
        </p:nvSpPr>
        <p:spPr>
          <a:xfrm>
            <a:off x="2590800" y="3681413"/>
            <a:ext cx="523875" cy="433387"/>
          </a:xfrm>
          <a:custGeom>
            <a:avLst/>
            <a:gdLst>
              <a:gd name="connsiteX0" fmla="*/ 0 w 523875"/>
              <a:gd name="connsiteY0" fmla="*/ 0 h 433387"/>
              <a:gd name="connsiteX1" fmla="*/ 152400 w 523875"/>
              <a:gd name="connsiteY1" fmla="*/ 219075 h 433387"/>
              <a:gd name="connsiteX2" fmla="*/ 314325 w 523875"/>
              <a:gd name="connsiteY2" fmla="*/ 400050 h 433387"/>
              <a:gd name="connsiteX3" fmla="*/ 523875 w 523875"/>
              <a:gd name="connsiteY3" fmla="*/ 419100 h 433387"/>
            </a:gdLst>
            <a:ahLst/>
            <a:cxnLst>
              <a:cxn ang="0">
                <a:pos x="connsiteX0" y="connsiteY0"/>
              </a:cxn>
              <a:cxn ang="0">
                <a:pos x="connsiteX1" y="connsiteY1"/>
              </a:cxn>
              <a:cxn ang="0">
                <a:pos x="connsiteX2" y="connsiteY2"/>
              </a:cxn>
              <a:cxn ang="0">
                <a:pos x="connsiteX3" y="connsiteY3"/>
              </a:cxn>
            </a:cxnLst>
            <a:rect l="l" t="t" r="r" b="b"/>
            <a:pathLst>
              <a:path w="523875" h="433387">
                <a:moveTo>
                  <a:pt x="0" y="0"/>
                </a:moveTo>
                <a:cubicBezTo>
                  <a:pt x="50006" y="76200"/>
                  <a:pt x="100013" y="152400"/>
                  <a:pt x="152400" y="219075"/>
                </a:cubicBezTo>
                <a:cubicBezTo>
                  <a:pt x="204787" y="285750"/>
                  <a:pt x="252413" y="366713"/>
                  <a:pt x="314325" y="400050"/>
                </a:cubicBezTo>
                <a:cubicBezTo>
                  <a:pt x="376237" y="433387"/>
                  <a:pt x="450056" y="426243"/>
                  <a:pt x="523875" y="4191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50" name="Picture 2"/>
          <p:cNvPicPr>
            <a:picLocks noChangeAspect="1" noChangeArrowheads="1"/>
          </p:cNvPicPr>
          <p:nvPr/>
        </p:nvPicPr>
        <p:blipFill>
          <a:blip r:embed="rId3" cstate="print"/>
          <a:srcRect/>
          <a:stretch>
            <a:fillRect/>
          </a:stretch>
        </p:blipFill>
        <p:spPr bwMode="auto">
          <a:xfrm>
            <a:off x="3124200" y="1143000"/>
            <a:ext cx="5334000" cy="5191125"/>
          </a:xfrm>
          <a:prstGeom prst="rect">
            <a:avLst/>
          </a:prstGeom>
          <a:noFill/>
          <a:ln w="9525">
            <a:noFill/>
            <a:miter lim="800000"/>
            <a:headEnd/>
            <a:tailEnd/>
          </a:ln>
        </p:spPr>
      </p:pic>
      <p:sp>
        <p:nvSpPr>
          <p:cNvPr id="13" name="TextBox 12"/>
          <p:cNvSpPr txBox="1"/>
          <p:nvPr/>
        </p:nvSpPr>
        <p:spPr>
          <a:xfrm>
            <a:off x="533400" y="4343400"/>
            <a:ext cx="22860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Notice that these changes are independent from what happens in the AdvancedComputer Store!</a:t>
            </a:r>
            <a:endParaRPr lang="en-US" sz="1200" b="1" dirty="0">
              <a:solidFill>
                <a:srgbClr val="C00000"/>
              </a:solidFill>
              <a:latin typeface="Bradley Hand ITC" pitchFamily="66" charset="0"/>
            </a:endParaRPr>
          </a:p>
        </p:txBody>
      </p:sp>
      <p:sp>
        <p:nvSpPr>
          <p:cNvPr id="14" name="Rounded Rectangle 13"/>
          <p:cNvSpPr/>
          <p:nvPr/>
        </p:nvSpPr>
        <p:spPr>
          <a:xfrm>
            <a:off x="3114675" y="3105150"/>
            <a:ext cx="5181600" cy="1695450"/>
          </a:xfrm>
          <a:prstGeom prst="roundRect">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1" name="Picture 3"/>
          <p:cNvPicPr>
            <a:picLocks noChangeAspect="1" noChangeArrowheads="1"/>
          </p:cNvPicPr>
          <p:nvPr/>
        </p:nvPicPr>
        <p:blipFill>
          <a:blip r:embed="rId4" cstate="print"/>
          <a:srcRect/>
          <a:stretch>
            <a:fillRect/>
          </a:stretch>
        </p:blipFill>
        <p:spPr bwMode="auto">
          <a:xfrm>
            <a:off x="685800" y="1219200"/>
            <a:ext cx="2085975" cy="657225"/>
          </a:xfrm>
          <a:prstGeom prst="rect">
            <a:avLst/>
          </a:prstGeom>
          <a:noFill/>
          <a:ln w="9525">
            <a:noFill/>
            <a:miter lim="800000"/>
            <a:headEnd/>
            <a:tailEnd/>
          </a:ln>
        </p:spPr>
      </p:pic>
      <p:grpSp>
        <p:nvGrpSpPr>
          <p:cNvPr id="18" name="Group 17"/>
          <p:cNvGrpSpPr/>
          <p:nvPr/>
        </p:nvGrpSpPr>
        <p:grpSpPr>
          <a:xfrm>
            <a:off x="1657350" y="1876425"/>
            <a:ext cx="152400" cy="409575"/>
            <a:chOff x="1657350" y="1876425"/>
            <a:chExt cx="152400" cy="409575"/>
          </a:xfrm>
        </p:grpSpPr>
        <p:cxnSp>
          <p:nvCxnSpPr>
            <p:cNvPr id="16" name="Straight Connector 15"/>
            <p:cNvCxnSpPr>
              <a:stCxn id="2051" idx="2"/>
              <a:endCxn id="1029" idx="0"/>
            </p:cNvCxnSpPr>
            <p:nvPr/>
          </p:nvCxnSpPr>
          <p:spPr>
            <a:xfrm>
              <a:off x="1728788" y="1876425"/>
              <a:ext cx="0" cy="40957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Isosceles Triangle 16"/>
            <p:cNvSpPr/>
            <p:nvPr/>
          </p:nvSpPr>
          <p:spPr>
            <a:xfrm>
              <a:off x="1657350" y="1876425"/>
              <a:ext cx="152400" cy="152400"/>
            </a:xfrm>
            <a:prstGeom prst="triangl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cstate="print"/>
          <a:srcRect/>
          <a:stretch>
            <a:fillRect/>
          </a:stretch>
        </p:blipFill>
        <p:spPr bwMode="auto">
          <a:xfrm>
            <a:off x="3276600" y="1981200"/>
            <a:ext cx="5324475" cy="32004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2054" name="Picture 6"/>
          <p:cNvPicPr>
            <a:picLocks noChangeAspect="1" noChangeArrowheads="1"/>
          </p:cNvPicPr>
          <p:nvPr/>
        </p:nvPicPr>
        <p:blipFill>
          <a:blip r:embed="rId3" cstate="print"/>
          <a:srcRect/>
          <a:stretch>
            <a:fillRect/>
          </a:stretch>
        </p:blipFill>
        <p:spPr bwMode="auto">
          <a:xfrm>
            <a:off x="685800" y="2286000"/>
            <a:ext cx="2095500" cy="571500"/>
          </a:xfrm>
          <a:prstGeom prst="rect">
            <a:avLst/>
          </a:prstGeom>
          <a:noFill/>
          <a:ln w="9525">
            <a:noFill/>
            <a:miter lim="800000"/>
            <a:headEnd/>
            <a:tailEnd/>
          </a:ln>
        </p:spPr>
      </p:pic>
      <p:sp>
        <p:nvSpPr>
          <p:cNvPr id="12" name="TextBox 11"/>
          <p:cNvSpPr txBox="1"/>
          <p:nvPr/>
        </p:nvSpPr>
        <p:spPr>
          <a:xfrm>
            <a:off x="685800" y="2971800"/>
            <a:ext cx="20193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Currently, the</a:t>
            </a:r>
            <a:r>
              <a:rPr lang="en-US" sz="1200" b="1" dirty="0" smtClean="0">
                <a:solidFill>
                  <a:srgbClr val="C00000"/>
                </a:solidFill>
                <a:latin typeface="Bradley Hand ITC" pitchFamily="66" charset="0"/>
              </a:rPr>
              <a:t> </a:t>
            </a:r>
            <a:r>
              <a:rPr lang="en-US" sz="1200" b="1" dirty="0" smtClean="0">
                <a:solidFill>
                  <a:srgbClr val="C00000"/>
                </a:solidFill>
                <a:latin typeface="Bradley Hand ITC" pitchFamily="66" charset="0"/>
              </a:rPr>
              <a:t>advanced computer store </a:t>
            </a:r>
            <a:r>
              <a:rPr lang="en-US" sz="1200" b="1" dirty="0" smtClean="0">
                <a:solidFill>
                  <a:srgbClr val="C00000"/>
                </a:solidFill>
                <a:latin typeface="Bradley Hand ITC" pitchFamily="66" charset="0"/>
              </a:rPr>
              <a:t>only carries  </a:t>
            </a:r>
            <a:r>
              <a:rPr lang="en-US" sz="1200" b="1" dirty="0" smtClean="0">
                <a:solidFill>
                  <a:srgbClr val="C00000"/>
                </a:solidFill>
                <a:latin typeface="Bradley Hand ITC" pitchFamily="66" charset="0"/>
              </a:rPr>
              <a:t>Mac Book Pro computers</a:t>
            </a:r>
            <a:endParaRPr lang="en-US" sz="1200" b="1" dirty="0">
              <a:solidFill>
                <a:srgbClr val="C00000"/>
              </a:solidFill>
              <a:latin typeface="Bradley Hand ITC" pitchFamily="66" charset="0"/>
            </a:endParaRPr>
          </a:p>
        </p:txBody>
      </p:sp>
      <p:sp>
        <p:nvSpPr>
          <p:cNvPr id="11" name="TextBox 10"/>
          <p:cNvSpPr txBox="1"/>
          <p:nvPr/>
        </p:nvSpPr>
        <p:spPr>
          <a:xfrm>
            <a:off x="7315200" y="1600200"/>
            <a:ext cx="1219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Optional parameter</a:t>
            </a:r>
            <a:endParaRPr lang="en-US" sz="1200" b="1" dirty="0">
              <a:solidFill>
                <a:srgbClr val="C00000"/>
              </a:solidFill>
              <a:latin typeface="Bradley Hand ITC" pitchFamily="66" charset="0"/>
            </a:endParaRPr>
          </a:p>
        </p:txBody>
      </p:sp>
      <p:sp>
        <p:nvSpPr>
          <p:cNvPr id="14" name="Freeform 13"/>
          <p:cNvSpPr/>
          <p:nvPr/>
        </p:nvSpPr>
        <p:spPr>
          <a:xfrm>
            <a:off x="6886575" y="1771650"/>
            <a:ext cx="666750" cy="323850"/>
          </a:xfrm>
          <a:custGeom>
            <a:avLst/>
            <a:gdLst>
              <a:gd name="connsiteX0" fmla="*/ 666750 w 666750"/>
              <a:gd name="connsiteY0" fmla="*/ 0 h 323850"/>
              <a:gd name="connsiteX1" fmla="*/ 352425 w 666750"/>
              <a:gd name="connsiteY1" fmla="*/ 66675 h 323850"/>
              <a:gd name="connsiteX2" fmla="*/ 200025 w 666750"/>
              <a:gd name="connsiteY2" fmla="*/ 228600 h 323850"/>
              <a:gd name="connsiteX3" fmla="*/ 0 w 666750"/>
              <a:gd name="connsiteY3" fmla="*/ 323850 h 323850"/>
            </a:gdLst>
            <a:ahLst/>
            <a:cxnLst>
              <a:cxn ang="0">
                <a:pos x="connsiteX0" y="connsiteY0"/>
              </a:cxn>
              <a:cxn ang="0">
                <a:pos x="connsiteX1" y="connsiteY1"/>
              </a:cxn>
              <a:cxn ang="0">
                <a:pos x="connsiteX2" y="connsiteY2"/>
              </a:cxn>
              <a:cxn ang="0">
                <a:pos x="connsiteX3" y="connsiteY3"/>
              </a:cxn>
            </a:cxnLst>
            <a:rect l="l" t="t" r="r" b="b"/>
            <a:pathLst>
              <a:path w="666750" h="323850">
                <a:moveTo>
                  <a:pt x="666750" y="0"/>
                </a:moveTo>
                <a:cubicBezTo>
                  <a:pt x="548481" y="14287"/>
                  <a:pt x="430213" y="28575"/>
                  <a:pt x="352425" y="66675"/>
                </a:cubicBezTo>
                <a:cubicBezTo>
                  <a:pt x="274638" y="104775"/>
                  <a:pt x="258763" y="185737"/>
                  <a:pt x="200025" y="228600"/>
                </a:cubicBezTo>
                <a:cubicBezTo>
                  <a:pt x="141287" y="271463"/>
                  <a:pt x="70643" y="297656"/>
                  <a:pt x="0" y="3238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2590800" y="3200400"/>
            <a:ext cx="762000" cy="228599"/>
          </a:xfrm>
          <a:custGeom>
            <a:avLst/>
            <a:gdLst>
              <a:gd name="connsiteX0" fmla="*/ 0 w 523875"/>
              <a:gd name="connsiteY0" fmla="*/ 0 h 433387"/>
              <a:gd name="connsiteX1" fmla="*/ 152400 w 523875"/>
              <a:gd name="connsiteY1" fmla="*/ 219075 h 433387"/>
              <a:gd name="connsiteX2" fmla="*/ 314325 w 523875"/>
              <a:gd name="connsiteY2" fmla="*/ 400050 h 433387"/>
              <a:gd name="connsiteX3" fmla="*/ 523875 w 523875"/>
              <a:gd name="connsiteY3" fmla="*/ 419100 h 433387"/>
            </a:gdLst>
            <a:ahLst/>
            <a:cxnLst>
              <a:cxn ang="0">
                <a:pos x="connsiteX0" y="connsiteY0"/>
              </a:cxn>
              <a:cxn ang="0">
                <a:pos x="connsiteX1" y="connsiteY1"/>
              </a:cxn>
              <a:cxn ang="0">
                <a:pos x="connsiteX2" y="connsiteY2"/>
              </a:cxn>
              <a:cxn ang="0">
                <a:pos x="connsiteX3" y="connsiteY3"/>
              </a:cxn>
            </a:cxnLst>
            <a:rect l="l" t="t" r="r" b="b"/>
            <a:pathLst>
              <a:path w="523875" h="433387">
                <a:moveTo>
                  <a:pt x="0" y="0"/>
                </a:moveTo>
                <a:cubicBezTo>
                  <a:pt x="50006" y="76200"/>
                  <a:pt x="100013" y="152400"/>
                  <a:pt x="152400" y="219075"/>
                </a:cubicBezTo>
                <a:cubicBezTo>
                  <a:pt x="204787" y="285750"/>
                  <a:pt x="252413" y="366713"/>
                  <a:pt x="314325" y="400050"/>
                </a:cubicBezTo>
                <a:cubicBezTo>
                  <a:pt x="376237" y="433387"/>
                  <a:pt x="450056" y="426243"/>
                  <a:pt x="523875" y="4191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2819400" y="5562600"/>
            <a:ext cx="5181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Hopefully, by now, you are able to see how the pattern works to localize changes and support the addition of future computers with minimal impact!</a:t>
            </a:r>
            <a:endParaRPr lang="en-US" sz="1200" b="1" dirty="0">
              <a:solidFill>
                <a:srgbClr val="C00000"/>
              </a:solidFill>
              <a:latin typeface="Bradley Hand ITC" pitchFamily="66" charset="0"/>
            </a:endParaRPr>
          </a:p>
        </p:txBody>
      </p:sp>
      <p:pic>
        <p:nvPicPr>
          <p:cNvPr id="16" name="Picture 3"/>
          <p:cNvPicPr>
            <a:picLocks noChangeAspect="1" noChangeArrowheads="1"/>
          </p:cNvPicPr>
          <p:nvPr/>
        </p:nvPicPr>
        <p:blipFill>
          <a:blip r:embed="rId4" cstate="print"/>
          <a:srcRect/>
          <a:stretch>
            <a:fillRect/>
          </a:stretch>
        </p:blipFill>
        <p:spPr bwMode="auto">
          <a:xfrm>
            <a:off x="685800" y="1219200"/>
            <a:ext cx="2085975" cy="657225"/>
          </a:xfrm>
          <a:prstGeom prst="rect">
            <a:avLst/>
          </a:prstGeom>
          <a:noFill/>
          <a:ln w="9525">
            <a:noFill/>
            <a:miter lim="800000"/>
            <a:headEnd/>
            <a:tailEnd/>
          </a:ln>
        </p:spPr>
      </p:pic>
      <p:grpSp>
        <p:nvGrpSpPr>
          <p:cNvPr id="17" name="Group 16"/>
          <p:cNvGrpSpPr/>
          <p:nvPr/>
        </p:nvGrpSpPr>
        <p:grpSpPr>
          <a:xfrm>
            <a:off x="1657350" y="1876425"/>
            <a:ext cx="152400" cy="409575"/>
            <a:chOff x="1657350" y="1876425"/>
            <a:chExt cx="152400" cy="409575"/>
          </a:xfrm>
        </p:grpSpPr>
        <p:cxnSp>
          <p:nvCxnSpPr>
            <p:cNvPr id="18" name="Straight Connector 17"/>
            <p:cNvCxnSpPr>
              <a:stCxn id="16" idx="2"/>
            </p:cNvCxnSpPr>
            <p:nvPr/>
          </p:nvCxnSpPr>
          <p:spPr>
            <a:xfrm>
              <a:off x="1728788" y="1876425"/>
              <a:ext cx="0" cy="40957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Isosceles Triangle 18"/>
            <p:cNvSpPr/>
            <p:nvPr/>
          </p:nvSpPr>
          <p:spPr>
            <a:xfrm>
              <a:off x="1657350" y="1876425"/>
              <a:ext cx="152400" cy="152400"/>
            </a:xfrm>
            <a:prstGeom prst="triangl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11269" name="Picture 5"/>
          <p:cNvPicPr>
            <a:picLocks noChangeAspect="1" noChangeArrowheads="1"/>
          </p:cNvPicPr>
          <p:nvPr/>
        </p:nvPicPr>
        <p:blipFill>
          <a:blip r:embed="rId2" cstate="print"/>
          <a:srcRect/>
          <a:stretch>
            <a:fillRect/>
          </a:stretch>
        </p:blipFill>
        <p:spPr bwMode="auto">
          <a:xfrm>
            <a:off x="1066800" y="1371600"/>
            <a:ext cx="3352800" cy="5029200"/>
          </a:xfrm>
          <a:prstGeom prst="rect">
            <a:avLst/>
          </a:prstGeom>
          <a:noFill/>
          <a:ln w="9525">
            <a:noFill/>
            <a:miter lim="800000"/>
            <a:headEnd/>
            <a:tailEnd/>
          </a:ln>
        </p:spPr>
      </p:pic>
      <p:sp>
        <p:nvSpPr>
          <p:cNvPr id="11" name="TextBox 10"/>
          <p:cNvSpPr txBox="1"/>
          <p:nvPr/>
        </p:nvSpPr>
        <p:spPr>
          <a:xfrm>
            <a:off x="4648200" y="5177135"/>
            <a:ext cx="2362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Just enough code to demonstrate the Factory Method in action!</a:t>
            </a:r>
            <a:endParaRPr lang="en-US" sz="1200" b="1" dirty="0">
              <a:solidFill>
                <a:srgbClr val="C00000"/>
              </a:solidFill>
              <a:latin typeface="Bradley Hand ITC" pitchFamily="66" charset="0"/>
            </a:endParaRPr>
          </a:p>
        </p:txBody>
      </p:sp>
      <p:sp>
        <p:nvSpPr>
          <p:cNvPr id="12" name="Freeform 11"/>
          <p:cNvSpPr/>
          <p:nvPr/>
        </p:nvSpPr>
        <p:spPr>
          <a:xfrm>
            <a:off x="3743325" y="4377035"/>
            <a:ext cx="933450" cy="895350"/>
          </a:xfrm>
          <a:custGeom>
            <a:avLst/>
            <a:gdLst>
              <a:gd name="connsiteX0" fmla="*/ 933450 w 933450"/>
              <a:gd name="connsiteY0" fmla="*/ 895350 h 895350"/>
              <a:gd name="connsiteX1" fmla="*/ 304800 w 933450"/>
              <a:gd name="connsiteY1" fmla="*/ 704850 h 895350"/>
              <a:gd name="connsiteX2" fmla="*/ 333375 w 933450"/>
              <a:gd name="connsiteY2" fmla="*/ 228600 h 895350"/>
              <a:gd name="connsiteX3" fmla="*/ 0 w 933450"/>
              <a:gd name="connsiteY3" fmla="*/ 0 h 895350"/>
            </a:gdLst>
            <a:ahLst/>
            <a:cxnLst>
              <a:cxn ang="0">
                <a:pos x="connsiteX0" y="connsiteY0"/>
              </a:cxn>
              <a:cxn ang="0">
                <a:pos x="connsiteX1" y="connsiteY1"/>
              </a:cxn>
              <a:cxn ang="0">
                <a:pos x="connsiteX2" y="connsiteY2"/>
              </a:cxn>
              <a:cxn ang="0">
                <a:pos x="connsiteX3" y="connsiteY3"/>
              </a:cxn>
            </a:cxnLst>
            <a:rect l="l" t="t" r="r" b="b"/>
            <a:pathLst>
              <a:path w="933450" h="895350">
                <a:moveTo>
                  <a:pt x="933450" y="895350"/>
                </a:moveTo>
                <a:cubicBezTo>
                  <a:pt x="669131" y="855662"/>
                  <a:pt x="404813" y="815975"/>
                  <a:pt x="304800" y="704850"/>
                </a:cubicBezTo>
                <a:cubicBezTo>
                  <a:pt x="204788" y="593725"/>
                  <a:pt x="384175" y="346075"/>
                  <a:pt x="333375" y="228600"/>
                </a:cubicBezTo>
                <a:cubicBezTo>
                  <a:pt x="282575" y="111125"/>
                  <a:pt x="141287" y="55562"/>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867400" y="4572000"/>
            <a:ext cx="2362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Sample output</a:t>
            </a:r>
            <a:endParaRPr lang="en-US" sz="1200" b="1" dirty="0">
              <a:solidFill>
                <a:srgbClr val="C00000"/>
              </a:solidFill>
              <a:latin typeface="Bradley Hand ITC" pitchFamily="66" charset="0"/>
            </a:endParaRPr>
          </a:p>
        </p:txBody>
      </p:sp>
      <p:sp>
        <p:nvSpPr>
          <p:cNvPr id="14" name="Freeform 13"/>
          <p:cNvSpPr/>
          <p:nvPr/>
        </p:nvSpPr>
        <p:spPr>
          <a:xfrm>
            <a:off x="5943600" y="4343400"/>
            <a:ext cx="609600" cy="381000"/>
          </a:xfrm>
          <a:custGeom>
            <a:avLst/>
            <a:gdLst>
              <a:gd name="connsiteX0" fmla="*/ 933450 w 933450"/>
              <a:gd name="connsiteY0" fmla="*/ 895350 h 895350"/>
              <a:gd name="connsiteX1" fmla="*/ 304800 w 933450"/>
              <a:gd name="connsiteY1" fmla="*/ 704850 h 895350"/>
              <a:gd name="connsiteX2" fmla="*/ 333375 w 933450"/>
              <a:gd name="connsiteY2" fmla="*/ 228600 h 895350"/>
              <a:gd name="connsiteX3" fmla="*/ 0 w 933450"/>
              <a:gd name="connsiteY3" fmla="*/ 0 h 895350"/>
            </a:gdLst>
            <a:ahLst/>
            <a:cxnLst>
              <a:cxn ang="0">
                <a:pos x="connsiteX0" y="connsiteY0"/>
              </a:cxn>
              <a:cxn ang="0">
                <a:pos x="connsiteX1" y="connsiteY1"/>
              </a:cxn>
              <a:cxn ang="0">
                <a:pos x="connsiteX2" y="connsiteY2"/>
              </a:cxn>
              <a:cxn ang="0">
                <a:pos x="connsiteX3" y="connsiteY3"/>
              </a:cxn>
            </a:cxnLst>
            <a:rect l="l" t="t" r="r" b="b"/>
            <a:pathLst>
              <a:path w="933450" h="895350">
                <a:moveTo>
                  <a:pt x="933450" y="895350"/>
                </a:moveTo>
                <a:cubicBezTo>
                  <a:pt x="669131" y="855662"/>
                  <a:pt x="404813" y="815975"/>
                  <a:pt x="304800" y="704850"/>
                </a:cubicBezTo>
                <a:cubicBezTo>
                  <a:pt x="204788" y="593725"/>
                  <a:pt x="384175" y="346075"/>
                  <a:pt x="333375" y="228600"/>
                </a:cubicBezTo>
                <a:cubicBezTo>
                  <a:pt x="282575" y="111125"/>
                  <a:pt x="141287" y="55562"/>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098" name="Picture 2"/>
          <p:cNvPicPr>
            <a:picLocks noChangeAspect="1" noChangeArrowheads="1"/>
          </p:cNvPicPr>
          <p:nvPr/>
        </p:nvPicPr>
        <p:blipFill>
          <a:blip r:embed="rId3" cstate="print"/>
          <a:srcRect/>
          <a:stretch>
            <a:fillRect/>
          </a:stretch>
        </p:blipFill>
        <p:spPr bwMode="auto">
          <a:xfrm>
            <a:off x="4495800" y="1371600"/>
            <a:ext cx="4204570" cy="2895600"/>
          </a:xfrm>
          <a:prstGeom prst="rect">
            <a:avLst/>
          </a:prstGeom>
          <a:noFill/>
          <a:ln w="9525">
            <a:noFill/>
            <a:miter lim="800000"/>
            <a:headEnd/>
            <a:tailEnd/>
          </a:ln>
          <a:effectLst>
            <a:outerShdw blurRad="63500" sx="102000" sy="102000" algn="ctr" rotWithShape="0">
              <a:prstClr val="black">
                <a:alpha val="40000"/>
              </a:prstClr>
            </a:outerShdw>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3238"/>
            <a:ext cx="8229600" cy="639762"/>
          </a:xfrm>
        </p:spPr>
        <p:txBody>
          <a:bodyPr/>
          <a:lstStyle/>
          <a:p>
            <a:r>
              <a:rPr lang="en-US" dirty="0" smtClean="0"/>
              <a:t>Factory Method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12290" name="Picture 2"/>
          <p:cNvPicPr>
            <a:picLocks noChangeAspect="1" noChangeArrowheads="1"/>
          </p:cNvPicPr>
          <p:nvPr/>
        </p:nvPicPr>
        <p:blipFill>
          <a:blip r:embed="rId2" cstate="print"/>
          <a:srcRect/>
          <a:stretch>
            <a:fillRect/>
          </a:stretch>
        </p:blipFill>
        <p:spPr bwMode="auto">
          <a:xfrm>
            <a:off x="457200" y="1371600"/>
            <a:ext cx="1600200" cy="3512819"/>
          </a:xfrm>
          <a:prstGeom prst="rect">
            <a:avLst/>
          </a:prstGeom>
          <a:noFill/>
          <a:ln w="9525">
            <a:noFill/>
            <a:miter lim="800000"/>
            <a:headEnd/>
            <a:tailEnd/>
          </a:ln>
        </p:spPr>
      </p:pic>
      <p:pic>
        <p:nvPicPr>
          <p:cNvPr id="12291" name="Picture 3"/>
          <p:cNvPicPr>
            <a:picLocks noChangeAspect="1" noChangeArrowheads="1"/>
          </p:cNvPicPr>
          <p:nvPr/>
        </p:nvPicPr>
        <p:blipFill>
          <a:blip r:embed="rId3" cstate="print"/>
          <a:srcRect/>
          <a:stretch>
            <a:fillRect/>
          </a:stretch>
        </p:blipFill>
        <p:spPr bwMode="auto">
          <a:xfrm>
            <a:off x="2895600" y="1143000"/>
            <a:ext cx="4953000" cy="1867393"/>
          </a:xfrm>
          <a:prstGeom prst="rect">
            <a:avLst/>
          </a:prstGeom>
          <a:noFill/>
          <a:ln w="9525">
            <a:noFill/>
            <a:miter lim="800000"/>
            <a:headEnd/>
            <a:tailEnd/>
          </a:ln>
        </p:spPr>
      </p:pic>
      <p:sp>
        <p:nvSpPr>
          <p:cNvPr id="14" name="TextBox 13"/>
          <p:cNvSpPr txBox="1"/>
          <p:nvPr/>
        </p:nvSpPr>
        <p:spPr>
          <a:xfrm>
            <a:off x="609600" y="5334000"/>
            <a:ext cx="1524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Did you notice this NullComputer class?</a:t>
            </a:r>
            <a:endParaRPr lang="en-US" sz="1200" b="1" dirty="0">
              <a:solidFill>
                <a:srgbClr val="C00000"/>
              </a:solidFill>
              <a:latin typeface="Bradley Hand ITC" pitchFamily="66" charset="0"/>
            </a:endParaRPr>
          </a:p>
        </p:txBody>
      </p:sp>
      <p:sp>
        <p:nvSpPr>
          <p:cNvPr id="15" name="Freeform 14"/>
          <p:cNvSpPr/>
          <p:nvPr/>
        </p:nvSpPr>
        <p:spPr>
          <a:xfrm>
            <a:off x="549275" y="4867275"/>
            <a:ext cx="127000" cy="590550"/>
          </a:xfrm>
          <a:custGeom>
            <a:avLst/>
            <a:gdLst>
              <a:gd name="connsiteX0" fmla="*/ 127000 w 127000"/>
              <a:gd name="connsiteY0" fmla="*/ 590550 h 590550"/>
              <a:gd name="connsiteX1" fmla="*/ 3175 w 127000"/>
              <a:gd name="connsiteY1" fmla="*/ 342900 h 590550"/>
              <a:gd name="connsiteX2" fmla="*/ 107950 w 127000"/>
              <a:gd name="connsiteY2" fmla="*/ 0 h 590550"/>
            </a:gdLst>
            <a:ahLst/>
            <a:cxnLst>
              <a:cxn ang="0">
                <a:pos x="connsiteX0" y="connsiteY0"/>
              </a:cxn>
              <a:cxn ang="0">
                <a:pos x="connsiteX1" y="connsiteY1"/>
              </a:cxn>
              <a:cxn ang="0">
                <a:pos x="connsiteX2" y="connsiteY2"/>
              </a:cxn>
            </a:cxnLst>
            <a:rect l="l" t="t" r="r" b="b"/>
            <a:pathLst>
              <a:path w="127000" h="590550">
                <a:moveTo>
                  <a:pt x="127000" y="590550"/>
                </a:moveTo>
                <a:cubicBezTo>
                  <a:pt x="66675" y="515937"/>
                  <a:pt x="6350" y="441325"/>
                  <a:pt x="3175" y="342900"/>
                </a:cubicBezTo>
                <a:cubicBezTo>
                  <a:pt x="0" y="244475"/>
                  <a:pt x="53975" y="122237"/>
                  <a:pt x="1079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1914525" y="5762625"/>
            <a:ext cx="962025" cy="180975"/>
          </a:xfrm>
          <a:custGeom>
            <a:avLst/>
            <a:gdLst>
              <a:gd name="connsiteX0" fmla="*/ 0 w 962025"/>
              <a:gd name="connsiteY0" fmla="*/ 0 h 396875"/>
              <a:gd name="connsiteX1" fmla="*/ 333375 w 962025"/>
              <a:gd name="connsiteY1" fmla="*/ 390525 h 396875"/>
              <a:gd name="connsiteX2" fmla="*/ 962025 w 962025"/>
              <a:gd name="connsiteY2" fmla="*/ 38100 h 396875"/>
            </a:gdLst>
            <a:ahLst/>
            <a:cxnLst>
              <a:cxn ang="0">
                <a:pos x="connsiteX0" y="connsiteY0"/>
              </a:cxn>
              <a:cxn ang="0">
                <a:pos x="connsiteX1" y="connsiteY1"/>
              </a:cxn>
              <a:cxn ang="0">
                <a:pos x="connsiteX2" y="connsiteY2"/>
              </a:cxn>
            </a:cxnLst>
            <a:rect l="l" t="t" r="r" b="b"/>
            <a:pathLst>
              <a:path w="962025" h="396875">
                <a:moveTo>
                  <a:pt x="0" y="0"/>
                </a:moveTo>
                <a:cubicBezTo>
                  <a:pt x="86518" y="192087"/>
                  <a:pt x="173037" y="384175"/>
                  <a:pt x="333375" y="390525"/>
                </a:cubicBezTo>
                <a:cubicBezTo>
                  <a:pt x="493713" y="396875"/>
                  <a:pt x="727869" y="217487"/>
                  <a:pt x="962025" y="381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Freeform 16"/>
          <p:cNvSpPr/>
          <p:nvPr/>
        </p:nvSpPr>
        <p:spPr>
          <a:xfrm rot="16728363">
            <a:off x="7228916" y="3186837"/>
            <a:ext cx="494583" cy="249236"/>
          </a:xfrm>
          <a:custGeom>
            <a:avLst/>
            <a:gdLst>
              <a:gd name="connsiteX0" fmla="*/ 0 w 962025"/>
              <a:gd name="connsiteY0" fmla="*/ 0 h 396875"/>
              <a:gd name="connsiteX1" fmla="*/ 333375 w 962025"/>
              <a:gd name="connsiteY1" fmla="*/ 390525 h 396875"/>
              <a:gd name="connsiteX2" fmla="*/ 962025 w 962025"/>
              <a:gd name="connsiteY2" fmla="*/ 38100 h 396875"/>
            </a:gdLst>
            <a:ahLst/>
            <a:cxnLst>
              <a:cxn ang="0">
                <a:pos x="connsiteX0" y="connsiteY0"/>
              </a:cxn>
              <a:cxn ang="0">
                <a:pos x="connsiteX1" y="connsiteY1"/>
              </a:cxn>
              <a:cxn ang="0">
                <a:pos x="connsiteX2" y="connsiteY2"/>
              </a:cxn>
            </a:cxnLst>
            <a:rect l="l" t="t" r="r" b="b"/>
            <a:pathLst>
              <a:path w="962025" h="396875">
                <a:moveTo>
                  <a:pt x="0" y="0"/>
                </a:moveTo>
                <a:cubicBezTo>
                  <a:pt x="86518" y="192087"/>
                  <a:pt x="173037" y="384175"/>
                  <a:pt x="333375" y="390525"/>
                </a:cubicBezTo>
                <a:cubicBezTo>
                  <a:pt x="493713" y="396875"/>
                  <a:pt x="727869" y="217487"/>
                  <a:pt x="962025" y="381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2294" name="Picture 6"/>
          <p:cNvPicPr>
            <a:picLocks noChangeAspect="1" noChangeArrowheads="1"/>
          </p:cNvPicPr>
          <p:nvPr/>
        </p:nvPicPr>
        <p:blipFill>
          <a:blip r:embed="rId4" cstate="print"/>
          <a:srcRect/>
          <a:stretch>
            <a:fillRect/>
          </a:stretch>
        </p:blipFill>
        <p:spPr bwMode="auto">
          <a:xfrm>
            <a:off x="3048000" y="5181600"/>
            <a:ext cx="4981575" cy="1000125"/>
          </a:xfrm>
          <a:prstGeom prst="rect">
            <a:avLst/>
          </a:prstGeom>
          <a:noFill/>
          <a:ln w="9525">
            <a:noFill/>
            <a:miter lim="800000"/>
            <a:headEnd/>
            <a:tailEnd/>
          </a:ln>
        </p:spPr>
      </p:pic>
      <p:pic>
        <p:nvPicPr>
          <p:cNvPr id="12297" name="Picture 9"/>
          <p:cNvPicPr>
            <a:picLocks noChangeAspect="1" noChangeArrowheads="1"/>
          </p:cNvPicPr>
          <p:nvPr/>
        </p:nvPicPr>
        <p:blipFill>
          <a:blip r:embed="rId5" cstate="print"/>
          <a:srcRect/>
          <a:stretch>
            <a:fillRect/>
          </a:stretch>
        </p:blipFill>
        <p:spPr bwMode="auto">
          <a:xfrm>
            <a:off x="2971800" y="3200400"/>
            <a:ext cx="3077026" cy="609600"/>
          </a:xfrm>
          <a:prstGeom prst="rect">
            <a:avLst/>
          </a:prstGeom>
          <a:noFill/>
          <a:ln w="9525">
            <a:noFill/>
            <a:miter lim="800000"/>
            <a:headEnd/>
            <a:tailEnd/>
          </a:ln>
        </p:spPr>
      </p:pic>
      <p:sp>
        <p:nvSpPr>
          <p:cNvPr id="27" name="Folded Corner 26"/>
          <p:cNvSpPr/>
          <p:nvPr/>
        </p:nvSpPr>
        <p:spPr>
          <a:xfrm>
            <a:off x="2895600" y="5105400"/>
            <a:ext cx="5105400" cy="12192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p:nvSpPr>
        <p:spPr>
          <a:xfrm rot="16200000">
            <a:off x="7219771" y="4819829"/>
            <a:ext cx="385459" cy="194601"/>
          </a:xfrm>
          <a:custGeom>
            <a:avLst/>
            <a:gdLst>
              <a:gd name="connsiteX0" fmla="*/ 0 w 962025"/>
              <a:gd name="connsiteY0" fmla="*/ 0 h 396875"/>
              <a:gd name="connsiteX1" fmla="*/ 333375 w 962025"/>
              <a:gd name="connsiteY1" fmla="*/ 390525 h 396875"/>
              <a:gd name="connsiteX2" fmla="*/ 962025 w 962025"/>
              <a:gd name="connsiteY2" fmla="*/ 38100 h 396875"/>
            </a:gdLst>
            <a:ahLst/>
            <a:cxnLst>
              <a:cxn ang="0">
                <a:pos x="connsiteX0" y="connsiteY0"/>
              </a:cxn>
              <a:cxn ang="0">
                <a:pos x="connsiteX1" y="connsiteY1"/>
              </a:cxn>
              <a:cxn ang="0">
                <a:pos x="connsiteX2" y="connsiteY2"/>
              </a:cxn>
            </a:cxnLst>
            <a:rect l="l" t="t" r="r" b="b"/>
            <a:pathLst>
              <a:path w="962025" h="396875">
                <a:moveTo>
                  <a:pt x="0" y="0"/>
                </a:moveTo>
                <a:cubicBezTo>
                  <a:pt x="86518" y="192087"/>
                  <a:pt x="173037" y="384175"/>
                  <a:pt x="333375" y="390525"/>
                </a:cubicBezTo>
                <a:cubicBezTo>
                  <a:pt x="493713" y="396875"/>
                  <a:pt x="727869" y="217487"/>
                  <a:pt x="962025" y="381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Box 30"/>
          <p:cNvSpPr txBox="1"/>
          <p:nvPr/>
        </p:nvSpPr>
        <p:spPr>
          <a:xfrm>
            <a:off x="7543800" y="3657600"/>
            <a:ext cx="1143000" cy="461665"/>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pPr algn="ctr"/>
            <a:r>
              <a:rPr lang="en-US" sz="1200" b="1" dirty="0" smtClean="0">
                <a:solidFill>
                  <a:srgbClr val="C00000"/>
                </a:solidFill>
                <a:latin typeface="Bradley Hand ITC" pitchFamily="66" charset="0"/>
              </a:rPr>
              <a:t>The Null Object Pattern!</a:t>
            </a:r>
            <a:endParaRPr lang="en-US" sz="1200" b="1" dirty="0">
              <a:solidFill>
                <a:srgbClr val="C00000"/>
              </a:solidFill>
              <a:latin typeface="Bradley Hand ITC" pitchFamily="66" charset="0"/>
            </a:endParaRPr>
          </a:p>
        </p:txBody>
      </p:sp>
      <p:pic>
        <p:nvPicPr>
          <p:cNvPr id="5122" name="Picture 2"/>
          <p:cNvPicPr>
            <a:picLocks noChangeAspect="1" noChangeArrowheads="1"/>
          </p:cNvPicPr>
          <p:nvPr/>
        </p:nvPicPr>
        <p:blipFill>
          <a:blip r:embed="rId6" cstate="print"/>
          <a:srcRect/>
          <a:stretch>
            <a:fillRect/>
          </a:stretch>
        </p:blipFill>
        <p:spPr bwMode="auto">
          <a:xfrm>
            <a:off x="3086100" y="3819525"/>
            <a:ext cx="3962400" cy="1177814"/>
          </a:xfrm>
          <a:prstGeom prst="rect">
            <a:avLst/>
          </a:prstGeom>
          <a:noFill/>
          <a:ln w="9525">
            <a:noFill/>
            <a:miter lim="800000"/>
            <a:headEnd/>
            <a:tailEnd/>
          </a:ln>
        </p:spPr>
      </p:pic>
      <p:cxnSp>
        <p:nvCxnSpPr>
          <p:cNvPr id="30" name="Straight Arrow Connector 29"/>
          <p:cNvCxnSpPr/>
          <p:nvPr/>
        </p:nvCxnSpPr>
        <p:spPr>
          <a:xfrm>
            <a:off x="2457450" y="4829175"/>
            <a:ext cx="685800" cy="0"/>
          </a:xfrm>
          <a:prstGeom prst="straightConnector1">
            <a:avLst/>
          </a:pr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cxnSp>
      <p:sp>
        <p:nvSpPr>
          <p:cNvPr id="26" name="Folded Corner 25"/>
          <p:cNvSpPr/>
          <p:nvPr/>
        </p:nvSpPr>
        <p:spPr>
          <a:xfrm>
            <a:off x="2895600" y="3124200"/>
            <a:ext cx="4419600" cy="1905000"/>
          </a:xfrm>
          <a:prstGeom prst="foldedCorner">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2"/>
          <p:cNvPicPr>
            <a:picLocks noChangeAspect="1" noChangeArrowheads="1"/>
          </p:cNvPicPr>
          <p:nvPr/>
        </p:nvPicPr>
        <p:blipFill>
          <a:blip r:embed="rId2" cstate="print"/>
          <a:srcRect/>
          <a:stretch>
            <a:fillRect/>
          </a:stretch>
        </p:blipFill>
        <p:spPr bwMode="auto">
          <a:xfrm>
            <a:off x="2514600" y="1143000"/>
            <a:ext cx="5334000" cy="519112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The Null Object Pattern Example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8" name="TextBox 7"/>
          <p:cNvSpPr txBox="1"/>
          <p:nvPr/>
        </p:nvSpPr>
        <p:spPr>
          <a:xfrm>
            <a:off x="7391400" y="1752600"/>
            <a:ext cx="1143000" cy="461665"/>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pPr algn="ctr"/>
            <a:r>
              <a:rPr lang="en-US" sz="1200" b="1" dirty="0" smtClean="0">
                <a:solidFill>
                  <a:srgbClr val="C00000"/>
                </a:solidFill>
                <a:latin typeface="Bradley Hand ITC" pitchFamily="66" charset="0"/>
              </a:rPr>
              <a:t>The Null Object Pattern!</a:t>
            </a:r>
            <a:endParaRPr lang="en-US" sz="1200" b="1" dirty="0">
              <a:solidFill>
                <a:srgbClr val="C00000"/>
              </a:solidFill>
              <a:latin typeface="Bradley Hand ITC" pitchFamily="66" charset="0"/>
            </a:endParaRPr>
          </a:p>
        </p:txBody>
      </p:sp>
      <p:pic>
        <p:nvPicPr>
          <p:cNvPr id="9" name="Picture 2"/>
          <p:cNvPicPr>
            <a:picLocks noChangeAspect="1" noChangeArrowheads="1"/>
          </p:cNvPicPr>
          <p:nvPr/>
        </p:nvPicPr>
        <p:blipFill>
          <a:blip r:embed="rId3" cstate="print"/>
          <a:srcRect/>
          <a:stretch>
            <a:fillRect/>
          </a:stretch>
        </p:blipFill>
        <p:spPr bwMode="auto">
          <a:xfrm>
            <a:off x="457200" y="1371600"/>
            <a:ext cx="1600200" cy="3512819"/>
          </a:xfrm>
          <a:prstGeom prst="rect">
            <a:avLst/>
          </a:prstGeom>
          <a:noFill/>
          <a:ln w="9525">
            <a:noFill/>
            <a:miter lim="800000"/>
            <a:headEnd/>
            <a:tailEnd/>
          </a:ln>
        </p:spPr>
      </p:pic>
      <p:sp>
        <p:nvSpPr>
          <p:cNvPr id="10" name="TextBox 9"/>
          <p:cNvSpPr txBox="1"/>
          <p:nvPr/>
        </p:nvSpPr>
        <p:spPr>
          <a:xfrm>
            <a:off x="457200" y="5105400"/>
            <a:ext cx="19050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With this pattern, we treat invalid inputs as objects, therefore allowing us to treat them as other valid expected objects!</a:t>
            </a:r>
            <a:endParaRPr lang="en-US" sz="1200" b="1" dirty="0">
              <a:solidFill>
                <a:srgbClr val="C00000"/>
              </a:solidFill>
              <a:latin typeface="Bradley Hand ITC" pitchFamily="66" charset="0"/>
            </a:endParaRPr>
          </a:p>
        </p:txBody>
      </p:sp>
      <p:sp>
        <p:nvSpPr>
          <p:cNvPr id="11" name="Freeform 10"/>
          <p:cNvSpPr/>
          <p:nvPr/>
        </p:nvSpPr>
        <p:spPr>
          <a:xfrm>
            <a:off x="5095875" y="2247900"/>
            <a:ext cx="3009900" cy="3314700"/>
          </a:xfrm>
          <a:custGeom>
            <a:avLst/>
            <a:gdLst>
              <a:gd name="connsiteX0" fmla="*/ 3009900 w 3009900"/>
              <a:gd name="connsiteY0" fmla="*/ 0 h 2684463"/>
              <a:gd name="connsiteX1" fmla="*/ 2743200 w 3009900"/>
              <a:gd name="connsiteY1" fmla="*/ 1247775 h 2684463"/>
              <a:gd name="connsiteX2" fmla="*/ 2857500 w 3009900"/>
              <a:gd name="connsiteY2" fmla="*/ 2305050 h 2684463"/>
              <a:gd name="connsiteX3" fmla="*/ 2181225 w 3009900"/>
              <a:gd name="connsiteY3" fmla="*/ 2647950 h 2684463"/>
              <a:gd name="connsiteX4" fmla="*/ 0 w 3009900"/>
              <a:gd name="connsiteY4" fmla="*/ 2524125 h 26844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9900" h="2684463">
                <a:moveTo>
                  <a:pt x="3009900" y="0"/>
                </a:moveTo>
                <a:cubicBezTo>
                  <a:pt x="2889250" y="431800"/>
                  <a:pt x="2768600" y="863600"/>
                  <a:pt x="2743200" y="1247775"/>
                </a:cubicBezTo>
                <a:cubicBezTo>
                  <a:pt x="2717800" y="1631950"/>
                  <a:pt x="2951162" y="2071688"/>
                  <a:pt x="2857500" y="2305050"/>
                </a:cubicBezTo>
                <a:cubicBezTo>
                  <a:pt x="2763838" y="2538412"/>
                  <a:pt x="2657475" y="2611438"/>
                  <a:pt x="2181225" y="2647950"/>
                </a:cubicBezTo>
                <a:cubicBezTo>
                  <a:pt x="1704975" y="2684463"/>
                  <a:pt x="852487" y="2604294"/>
                  <a:pt x="0" y="2524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a:off x="1797050" y="2257425"/>
            <a:ext cx="6889750" cy="4295775"/>
          </a:xfrm>
          <a:custGeom>
            <a:avLst/>
            <a:gdLst>
              <a:gd name="connsiteX0" fmla="*/ 6372225 w 6823075"/>
              <a:gd name="connsiteY0" fmla="*/ 0 h 4060825"/>
              <a:gd name="connsiteX1" fmla="*/ 6791325 w 6823075"/>
              <a:gd name="connsiteY1" fmla="*/ 1533525 h 4060825"/>
              <a:gd name="connsiteX2" fmla="*/ 6181725 w 6823075"/>
              <a:gd name="connsiteY2" fmla="*/ 2781300 h 4060825"/>
              <a:gd name="connsiteX3" fmla="*/ 5781675 w 6823075"/>
              <a:gd name="connsiteY3" fmla="*/ 3619500 h 4060825"/>
              <a:gd name="connsiteX4" fmla="*/ 1038225 w 6823075"/>
              <a:gd name="connsiteY4" fmla="*/ 3990975 h 4060825"/>
              <a:gd name="connsiteX5" fmla="*/ 600075 w 6823075"/>
              <a:gd name="connsiteY5" fmla="*/ 3200400 h 4060825"/>
              <a:gd name="connsiteX6" fmla="*/ 590550 w 6823075"/>
              <a:gd name="connsiteY6" fmla="*/ 2562225 h 4060825"/>
              <a:gd name="connsiteX7" fmla="*/ 0 w 6823075"/>
              <a:gd name="connsiteY7" fmla="*/ 2305050 h 4060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23075" h="4060825">
                <a:moveTo>
                  <a:pt x="6372225" y="0"/>
                </a:moveTo>
                <a:cubicBezTo>
                  <a:pt x="6597650" y="534987"/>
                  <a:pt x="6823075" y="1069975"/>
                  <a:pt x="6791325" y="1533525"/>
                </a:cubicBezTo>
                <a:cubicBezTo>
                  <a:pt x="6759575" y="1997075"/>
                  <a:pt x="6350000" y="2433638"/>
                  <a:pt x="6181725" y="2781300"/>
                </a:cubicBezTo>
                <a:cubicBezTo>
                  <a:pt x="6013450" y="3128963"/>
                  <a:pt x="6638925" y="3417888"/>
                  <a:pt x="5781675" y="3619500"/>
                </a:cubicBezTo>
                <a:cubicBezTo>
                  <a:pt x="4924425" y="3821112"/>
                  <a:pt x="1901825" y="4060825"/>
                  <a:pt x="1038225" y="3990975"/>
                </a:cubicBezTo>
                <a:cubicBezTo>
                  <a:pt x="174625" y="3921125"/>
                  <a:pt x="674688" y="3438525"/>
                  <a:pt x="600075" y="3200400"/>
                </a:cubicBezTo>
                <a:cubicBezTo>
                  <a:pt x="525462" y="2962275"/>
                  <a:pt x="690562" y="2711450"/>
                  <a:pt x="590550" y="2562225"/>
                </a:cubicBezTo>
                <a:cubicBezTo>
                  <a:pt x="490538" y="2413000"/>
                  <a:pt x="245269" y="2359025"/>
                  <a:pt x="0" y="23050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Factory Method Design Pattern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Steps for designing with the Factory Method:</a:t>
            </a:r>
          </a:p>
          <a:p>
            <a:pPr marL="800100" lvl="1" indent="-342900">
              <a:buFont typeface="+mj-lt"/>
              <a:buAutoNum type="arabicPeriod"/>
            </a:pPr>
            <a:r>
              <a:rPr lang="en-US" dirty="0" smtClean="0"/>
              <a:t>Identify and design the product interface (e.g., Computer)</a:t>
            </a:r>
          </a:p>
          <a:p>
            <a:pPr marL="800100" lvl="1" indent="-342900">
              <a:buFont typeface="+mj-lt"/>
              <a:buAutoNum type="arabicPeriod"/>
            </a:pPr>
            <a:r>
              <a:rPr lang="en-US" dirty="0" smtClean="0"/>
              <a:t>Identify and design the concrete products that realize the interface from step 1 (e.g., StandardComputer, AdvancedComputer, DellComputer, etc.)</a:t>
            </a:r>
          </a:p>
          <a:p>
            <a:pPr marL="800100" lvl="1" indent="-342900">
              <a:buFont typeface="+mj-lt"/>
              <a:buAutoNum type="arabicPeriod"/>
            </a:pPr>
            <a:r>
              <a:rPr lang="en-US" dirty="0" smtClean="0"/>
              <a:t>Design the factory interface (e.g., ComputerStore), which contains one abstract factory interface method for delegating product creation to derived classes.</a:t>
            </a:r>
          </a:p>
          <a:p>
            <a:pPr marL="800100" lvl="1" indent="-342900">
              <a:buFont typeface="+mj-lt"/>
              <a:buAutoNum type="arabicPeriod"/>
            </a:pPr>
            <a:r>
              <a:rPr lang="en-US" dirty="0" smtClean="0"/>
              <a:t>Design one or more concrete factories for each product identified in step 2.</a:t>
            </a:r>
          </a:p>
          <a:p>
            <a:pPr marL="800100" lvl="1" indent="-342900">
              <a:buFont typeface="+mj-lt"/>
              <a:buAutoNum type="arabicPeriod"/>
            </a:pPr>
            <a:r>
              <a:rPr lang="en-US" dirty="0" smtClean="0"/>
              <a:t>Associate each factory from step 4 with its respective product from step 2. </a:t>
            </a:r>
          </a:p>
          <a:p>
            <a:endParaRPr lang="en-US" dirty="0" smtClean="0"/>
          </a:p>
          <a:p>
            <a:r>
              <a:rPr lang="en-US" dirty="0" smtClean="0"/>
              <a:t>Benefits </a:t>
            </a:r>
            <a:r>
              <a:rPr lang="en-US" dirty="0" smtClean="0"/>
              <a:t>of the Factory Method pattern</a:t>
            </a:r>
          </a:p>
          <a:p>
            <a:pPr lvl="1"/>
            <a:r>
              <a:rPr lang="en-US" dirty="0" smtClean="0"/>
              <a:t>Separates code from product-specific classes; therefore, the same code can work with various existing or newly created product classes.</a:t>
            </a:r>
          </a:p>
          <a:p>
            <a:pPr lvl="1"/>
            <a:r>
              <a:rPr lang="en-US" dirty="0" smtClean="0"/>
              <a:t>By separating the code, development becomes efficient, since different developers can work on the different parts of the project at the same time.</a:t>
            </a:r>
          </a:p>
          <a:p>
            <a:pPr lvl="1"/>
            <a:r>
              <a:rPr lang="en-US" dirty="0" smtClean="0"/>
              <a:t>By separating the code, it becomes easier to reuse and maintain specific parts of the code.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this session, we </a:t>
            </a:r>
            <a:r>
              <a:rPr lang="en-US" dirty="0" smtClean="0"/>
              <a:t>continued the discussion on creational design patterns, including</a:t>
            </a:r>
            <a:r>
              <a:rPr lang="en-US" dirty="0" smtClean="0"/>
              <a:t>:</a:t>
            </a:r>
          </a:p>
          <a:p>
            <a:pPr lvl="1"/>
            <a:r>
              <a:rPr lang="en-US" dirty="0" smtClean="0"/>
              <a:t>Factory Method</a:t>
            </a:r>
          </a:p>
          <a:p>
            <a:pPr lvl="1">
              <a:buNone/>
            </a:pPr>
            <a:endParaRPr lang="en-US" dirty="0" smtClean="0"/>
          </a:p>
          <a:p>
            <a:r>
              <a:rPr lang="en-US" dirty="0" smtClean="0"/>
              <a:t>In the next sessions, we will </a:t>
            </a:r>
            <a:r>
              <a:rPr lang="en-US" dirty="0" smtClean="0"/>
              <a:t>finalize the </a:t>
            </a:r>
            <a:r>
              <a:rPr lang="en-US" dirty="0" smtClean="0"/>
              <a:t>presentation on creational design </a:t>
            </a:r>
            <a:r>
              <a:rPr lang="en-US" dirty="0" smtClean="0"/>
              <a:t>patterns.  Specifically, we will cover:</a:t>
            </a:r>
            <a:endParaRPr lang="en-US" dirty="0" smtClean="0"/>
          </a:p>
          <a:p>
            <a:pPr lvl="1"/>
            <a:r>
              <a:rPr lang="en-US" dirty="0" smtClean="0"/>
              <a:t>Builder</a:t>
            </a:r>
          </a:p>
          <a:p>
            <a:pPr lvl="1"/>
            <a:r>
              <a:rPr lang="en-US" dirty="0" smtClean="0"/>
              <a:t>Prototype</a:t>
            </a:r>
          </a:p>
          <a:p>
            <a:pPr lvl="1"/>
            <a:r>
              <a:rPr lang="en-US" dirty="0" smtClean="0"/>
              <a:t>Singleton</a:t>
            </a:r>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Gamma, Erich, Richard Helm, Ralph Johnson, and John </a:t>
            </a:r>
            <a:r>
              <a:rPr lang="en-US" dirty="0" err="1" smtClean="0"/>
              <a:t>Vlissides</a:t>
            </a:r>
            <a:r>
              <a:rPr lang="en-US" dirty="0" smtClean="0"/>
              <a:t>.  </a:t>
            </a:r>
            <a:r>
              <a:rPr lang="en-US" i="1" dirty="0" smtClean="0"/>
              <a:t>Design Patterns: Elements of Reusable Object-Oriented Software</a:t>
            </a:r>
            <a:r>
              <a:rPr lang="en-US" dirty="0" smtClean="0"/>
              <a:t>.  Boston: Addison-Wesley, 1995.</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10/15/2012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12241</TotalTime>
  <Words>1136</Words>
  <Application>Microsoft Office PowerPoint</Application>
  <PresentationFormat>On-screen Show (4:3)</PresentationFormat>
  <Paragraphs>186</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UVa-Wise-Clean-BW</vt:lpstr>
      <vt:lpstr>Chapter 6: Creational Design Patterns</vt:lpstr>
      <vt:lpstr>Session’s Agenda</vt:lpstr>
      <vt:lpstr>Factory Method Design Pattern</vt:lpstr>
      <vt:lpstr>Factory Method Example</vt:lpstr>
      <vt:lpstr>Factory Method Example</vt:lpstr>
      <vt:lpstr>Factory Method Example</vt:lpstr>
      <vt:lpstr>Factory Method Example</vt:lpstr>
      <vt:lpstr>Factory Method Example</vt:lpstr>
      <vt:lpstr>Factory Method Example</vt:lpstr>
      <vt:lpstr>Factory Method Design Pattern Example</vt:lpstr>
      <vt:lpstr>Factory Method Example</vt:lpstr>
      <vt:lpstr>Factory Method Example</vt:lpstr>
      <vt:lpstr>Factory Method Example</vt:lpstr>
      <vt:lpstr>Factory Method Example</vt:lpstr>
      <vt:lpstr>Factory Method Example</vt:lpstr>
      <vt:lpstr>Factory Method Example</vt:lpstr>
      <vt:lpstr>The Null Object Pattern Example</vt:lpstr>
      <vt:lpstr>Factory Method Design Pattern</vt:lpstr>
      <vt:lpstr>What’s Next…</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cotero</cp:lastModifiedBy>
  <cp:revision>939</cp:revision>
  <dcterms:created xsi:type="dcterms:W3CDTF">2006-08-16T00:00:00Z</dcterms:created>
  <dcterms:modified xsi:type="dcterms:W3CDTF">2012-10-15T13:16:49Z</dcterms:modified>
</cp:coreProperties>
</file>
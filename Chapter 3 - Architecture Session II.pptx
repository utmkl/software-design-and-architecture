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56" r:id="rId2"/>
    <p:sldId id="257" r:id="rId3"/>
    <p:sldId id="339" r:id="rId4"/>
    <p:sldId id="343" r:id="rId5"/>
    <p:sldId id="340" r:id="rId6"/>
    <p:sldId id="347" r:id="rId7"/>
    <p:sldId id="348" r:id="rId8"/>
    <p:sldId id="342" r:id="rId9"/>
    <p:sldId id="344" r:id="rId10"/>
    <p:sldId id="341" r:id="rId11"/>
    <p:sldId id="345" r:id="rId12"/>
    <p:sldId id="346" r:id="rId13"/>
    <p:sldId id="349" r:id="rId14"/>
    <p:sldId id="350" r:id="rId15"/>
    <p:sldId id="351" r:id="rId16"/>
    <p:sldId id="352" r:id="rId17"/>
    <p:sldId id="337" r:id="rId18"/>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294" y="-15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49B3061A-7F4E-4E3A-A627-E1FC384385A9}" type="datetimeFigureOut">
              <a:rPr lang="en-US" smtClean="0"/>
              <a:pPr/>
              <a:t>10/3/2012</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C58D7772-57C4-43FE-B30D-FBB40B6BD3D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685800"/>
            <a:ext cx="9144000" cy="1066800"/>
          </a:xfrm>
        </p:spPr>
        <p:txBody>
          <a:bodyPr>
            <a:normAutofit/>
          </a:bodyPr>
          <a:lstStyle>
            <a:lvl1pPr algn="ctr">
              <a:defRPr sz="2400" b="1" cap="small" baseline="0">
                <a:latin typeface="Times New Roman" pitchFamily="18" charset="0"/>
                <a:cs typeface="Times New Roman" pitchFamily="18"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0" y="1752599"/>
            <a:ext cx="9144000" cy="457200"/>
          </a:xfrm>
        </p:spPr>
        <p:txBody>
          <a:bodyPr>
            <a:normAutofit/>
          </a:bodyPr>
          <a:lstStyle>
            <a:lvl1pPr marL="0" indent="0" algn="ctr">
              <a:spcBef>
                <a:spcPts val="0"/>
              </a:spcBef>
              <a:buNone/>
              <a:defRPr sz="2000" cap="small" baseline="0">
                <a:solidFill>
                  <a:srgbClr val="000000"/>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a:xfrm>
            <a:off x="457200" y="6584950"/>
            <a:ext cx="9906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8E146812-51FF-4609-8A40-02FC8C31783E}" type="datetime1">
              <a:rPr lang="en-US" smtClean="0"/>
              <a:pPr/>
              <a:t>10/3/2012</a:t>
            </a:fld>
            <a:endParaRPr lang="en-US"/>
          </a:p>
        </p:txBody>
      </p:sp>
      <p:sp>
        <p:nvSpPr>
          <p:cNvPr id="5"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333333"/>
                </a:solidFill>
                <a:latin typeface="Times New Roman" pitchFamily="18" charset="0"/>
                <a:cs typeface="Times New Roman" pitchFamily="18" charset="0"/>
              </a:defRPr>
            </a:lvl1pPr>
          </a:lstStyle>
          <a:p>
            <a:r>
              <a:rPr lang="en-US" dirty="0" smtClean="0"/>
              <a:t>Software Engineering Design: Theory and Practice. Copyright 2012 by Carlos E. Otero</a:t>
            </a:r>
          </a:p>
          <a:p>
            <a:endParaRPr lang="en-US" dirty="0"/>
          </a:p>
        </p:txBody>
      </p:sp>
      <p:sp>
        <p:nvSpPr>
          <p:cNvPr id="6" name="Slide Number Placeholder 5"/>
          <p:cNvSpPr>
            <a:spLocks noGrp="1"/>
          </p:cNvSpPr>
          <p:nvPr>
            <p:ph type="sldNum" sz="quarter" idx="12"/>
          </p:nvPr>
        </p:nvSpPr>
        <p:spPr>
          <a:xfrm>
            <a:off x="7543800" y="6553200"/>
            <a:ext cx="1143000" cy="30480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B6F15528-21DE-4FAA-801E-634DDDAF4B2B}" type="slidenum">
              <a:rPr lang="en-US" smtClean="0"/>
              <a:pPr/>
              <a:t>‹#›</a:t>
            </a:fld>
            <a:endParaRPr lang="en-US"/>
          </a:p>
        </p:txBody>
      </p:sp>
      <p:sp>
        <p:nvSpPr>
          <p:cNvPr id="9" name="Text Box 7"/>
          <p:cNvSpPr txBox="1">
            <a:spLocks noChangeArrowheads="1"/>
          </p:cNvSpPr>
          <p:nvPr userDrawn="1"/>
        </p:nvSpPr>
        <p:spPr bwMode="auto">
          <a:xfrm>
            <a:off x="1676400" y="2713434"/>
            <a:ext cx="6477000" cy="2800767"/>
          </a:xfrm>
          <a:prstGeom prst="rect">
            <a:avLst/>
          </a:prstGeom>
          <a:noFill/>
          <a:ln w="9525">
            <a:noFill/>
            <a:miter lim="800000"/>
            <a:headEnd/>
            <a:tailEnd/>
          </a:ln>
        </p:spPr>
        <p:txBody>
          <a:bodyPr>
            <a:spAutoFit/>
          </a:bodyPr>
          <a:lstStyle/>
          <a:p>
            <a:r>
              <a:rPr lang="en-US" sz="2000" i="1" dirty="0" smtClean="0">
                <a:solidFill>
                  <a:srgbClr val="C00000"/>
                </a:solidFill>
                <a:latin typeface="Times New Roman" pitchFamily="18" charset="0"/>
                <a:cs typeface="Times New Roman" pitchFamily="18" charset="0"/>
              </a:rPr>
              <a:t>Software Engineering Design: Theory and Practice</a:t>
            </a:r>
            <a:r>
              <a:rPr lang="en-US" i="1" dirty="0" smtClean="0">
                <a:solidFill>
                  <a:srgbClr val="C00000"/>
                </a:solidFill>
                <a:latin typeface="Times New Roman" pitchFamily="18" charset="0"/>
                <a:cs typeface="Times New Roman" pitchFamily="18" charset="0"/>
              </a:rPr>
              <a:t> </a:t>
            </a:r>
            <a:endParaRPr lang="en-US" i="1" dirty="0">
              <a:solidFill>
                <a:srgbClr val="C00000"/>
              </a:solidFill>
              <a:latin typeface="Times New Roman" pitchFamily="18" charset="0"/>
              <a:cs typeface="Times New Roman" pitchFamily="18" charset="0"/>
            </a:endParaRPr>
          </a:p>
          <a:p>
            <a:r>
              <a:rPr lang="en-US" sz="1600" b="0" dirty="0">
                <a:latin typeface="Times New Roman" pitchFamily="18" charset="0"/>
                <a:cs typeface="Times New Roman" pitchFamily="18" charset="0"/>
              </a:rPr>
              <a:t>by </a:t>
            </a:r>
            <a:r>
              <a:rPr lang="en-US" sz="1600" b="0" dirty="0" smtClean="0">
                <a:latin typeface="Times New Roman" pitchFamily="18" charset="0"/>
                <a:cs typeface="Times New Roman" pitchFamily="18" charset="0"/>
              </a:rPr>
              <a:t>Carlos</a:t>
            </a:r>
            <a:r>
              <a:rPr lang="en-US" sz="1600" b="0" baseline="0" dirty="0" smtClean="0">
                <a:latin typeface="Times New Roman" pitchFamily="18" charset="0"/>
                <a:cs typeface="Times New Roman" pitchFamily="18" charset="0"/>
              </a:rPr>
              <a:t> E. Otero</a:t>
            </a:r>
            <a:endParaRPr lang="en-US" sz="1200" b="0" dirty="0">
              <a:latin typeface="Times New Roman" pitchFamily="18" charset="0"/>
              <a:cs typeface="Times New Roman" pitchFamily="18" charset="0"/>
            </a:endParaRPr>
          </a:p>
          <a:p>
            <a:endParaRPr lang="en-US" sz="1200" b="1" dirty="0">
              <a:latin typeface="Times New Roman" pitchFamily="18" charset="0"/>
              <a:cs typeface="Times New Roman" pitchFamily="18" charset="0"/>
            </a:endParaRPr>
          </a:p>
          <a:p>
            <a:r>
              <a:rPr lang="en-US" sz="1200" b="1" dirty="0">
                <a:latin typeface="Times New Roman" pitchFamily="18" charset="0"/>
                <a:cs typeface="Times New Roman" pitchFamily="18" charset="0"/>
              </a:rPr>
              <a:t>Slides copyright © </a:t>
            </a:r>
            <a:r>
              <a:rPr lang="en-US" sz="1200" b="1" dirty="0" smtClean="0">
                <a:latin typeface="Times New Roman" pitchFamily="18" charset="0"/>
                <a:cs typeface="Times New Roman" pitchFamily="18" charset="0"/>
              </a:rPr>
              <a:t>2012</a:t>
            </a:r>
            <a:r>
              <a:rPr lang="en-US" sz="1800" dirty="0" smtClean="0">
                <a:latin typeface="Times New Roman" pitchFamily="18" charset="0"/>
                <a:cs typeface="Times New Roman" pitchFamily="18" charset="0"/>
              </a:rPr>
              <a:t> </a:t>
            </a:r>
            <a:r>
              <a:rPr lang="en-US" sz="1200" b="1" dirty="0">
                <a:latin typeface="Times New Roman" pitchFamily="18" charset="0"/>
                <a:cs typeface="Times New Roman" pitchFamily="18" charset="0"/>
              </a:rPr>
              <a:t>by </a:t>
            </a:r>
            <a:r>
              <a:rPr lang="en-US" sz="1200" b="1" dirty="0" smtClean="0">
                <a:latin typeface="Times New Roman" pitchFamily="18" charset="0"/>
                <a:cs typeface="Times New Roman" pitchFamily="18" charset="0"/>
              </a:rPr>
              <a:t>Carlos E. Otero</a:t>
            </a:r>
            <a:endParaRPr lang="en-US" sz="1800" dirty="0">
              <a:latin typeface="Times New Roman" pitchFamily="18" charset="0"/>
              <a:cs typeface="Times New Roman" pitchFamily="18" charset="0"/>
            </a:endParaRPr>
          </a:p>
          <a:p>
            <a:endParaRPr lang="en-US" sz="1800" b="1" i="1" dirty="0">
              <a:solidFill>
                <a:schemeClr val="tx2"/>
              </a:solidFill>
              <a:latin typeface="Times New Roman" pitchFamily="18" charset="0"/>
              <a:cs typeface="Times New Roman" pitchFamily="18" charset="0"/>
            </a:endParaRPr>
          </a:p>
          <a:p>
            <a:r>
              <a:rPr lang="en-US" sz="1800" b="1" i="1" dirty="0">
                <a:solidFill>
                  <a:srgbClr val="C00000"/>
                </a:solidFill>
                <a:latin typeface="Times New Roman" pitchFamily="18" charset="0"/>
                <a:cs typeface="Times New Roman" pitchFamily="18" charset="0"/>
              </a:rPr>
              <a:t>For non-profit educational use only</a:t>
            </a:r>
            <a:endParaRPr lang="en-US" sz="1800" b="1" dirty="0">
              <a:solidFill>
                <a:srgbClr val="C00000"/>
              </a:solidFill>
              <a:latin typeface="Times New Roman" pitchFamily="18" charset="0"/>
              <a:cs typeface="Times New Roman" pitchFamily="18" charset="0"/>
            </a:endParaRPr>
          </a:p>
          <a:p>
            <a:endParaRPr lang="en-US" sz="1400" dirty="0">
              <a:latin typeface="Times New Roman" pitchFamily="18" charset="0"/>
              <a:cs typeface="Times New Roman" pitchFamily="18" charset="0"/>
            </a:endParaRPr>
          </a:p>
          <a:p>
            <a:r>
              <a:rPr lang="en-US" sz="1200" dirty="0">
                <a:latin typeface="Times New Roman" pitchFamily="18" charset="0"/>
                <a:cs typeface="Times New Roman" pitchFamily="18" charset="0"/>
              </a:rPr>
              <a:t>May be reproduced </a:t>
            </a:r>
            <a:r>
              <a:rPr lang="en-US" sz="1200" dirty="0" smtClean="0">
                <a:latin typeface="Times New Roman" pitchFamily="18" charset="0"/>
                <a:cs typeface="Times New Roman" pitchFamily="18" charset="0"/>
              </a:rPr>
              <a:t>only for </a:t>
            </a:r>
            <a:r>
              <a:rPr lang="en-US" sz="1200" dirty="0">
                <a:latin typeface="Times New Roman" pitchFamily="18" charset="0"/>
                <a:cs typeface="Times New Roman" pitchFamily="18" charset="0"/>
              </a:rPr>
              <a:t>student use </a:t>
            </a:r>
            <a:r>
              <a:rPr lang="en-US" sz="1200" dirty="0" smtClean="0">
                <a:latin typeface="Times New Roman" pitchFamily="18" charset="0"/>
                <a:cs typeface="Times New Roman" pitchFamily="18" charset="0"/>
              </a:rPr>
              <a:t>when </a:t>
            </a:r>
            <a:r>
              <a:rPr lang="en-US" sz="1200" dirty="0">
                <a:latin typeface="Times New Roman" pitchFamily="18" charset="0"/>
                <a:cs typeface="Times New Roman" pitchFamily="18" charset="0"/>
              </a:rPr>
              <a:t>used in conjunction with </a:t>
            </a:r>
            <a:r>
              <a:rPr lang="en-US" sz="1200" i="1" dirty="0">
                <a:latin typeface="Times New Roman" pitchFamily="18" charset="0"/>
                <a:cs typeface="Times New Roman" pitchFamily="18" charset="0"/>
              </a:rPr>
              <a:t>Software </a:t>
            </a:r>
            <a:r>
              <a:rPr lang="en-US" sz="1200" i="1" dirty="0" smtClean="0">
                <a:latin typeface="Times New Roman" pitchFamily="18" charset="0"/>
                <a:cs typeface="Times New Roman" pitchFamily="18" charset="0"/>
              </a:rPr>
              <a:t>Engineering Design: Theory and Practice. </a:t>
            </a:r>
            <a:r>
              <a:rPr lang="en-US" sz="1200" dirty="0">
                <a:latin typeface="Times New Roman" pitchFamily="18" charset="0"/>
                <a:cs typeface="Times New Roman" pitchFamily="18" charset="0"/>
              </a:rPr>
              <a:t>Any other reproduction or use is prohibited without the express written permission of the author.</a:t>
            </a:r>
          </a:p>
          <a:p>
            <a:endParaRPr lang="en-US" sz="1200" dirty="0">
              <a:latin typeface="Times New Roman" pitchFamily="18" charset="0"/>
              <a:cs typeface="Times New Roman" pitchFamily="18" charset="0"/>
            </a:endParaRPr>
          </a:p>
          <a:p>
            <a:r>
              <a:rPr lang="en-US" sz="1200" dirty="0">
                <a:latin typeface="Times New Roman" pitchFamily="18" charset="0"/>
                <a:cs typeface="Times New Roman" pitchFamily="18" charset="0"/>
              </a:rPr>
              <a:t>All copyright information </a:t>
            </a:r>
            <a:r>
              <a:rPr lang="en-US" sz="1200" dirty="0" smtClean="0">
                <a:latin typeface="Times New Roman" pitchFamily="18" charset="0"/>
                <a:cs typeface="Times New Roman" pitchFamily="18" charset="0"/>
              </a:rPr>
              <a:t>must appear </a:t>
            </a:r>
            <a:r>
              <a:rPr lang="en-US" sz="1200" dirty="0">
                <a:latin typeface="Times New Roman" pitchFamily="18" charset="0"/>
                <a:cs typeface="Times New Roman" pitchFamily="18" charset="0"/>
              </a:rPr>
              <a:t>if these slides are posted on a website for student use.</a:t>
            </a:r>
          </a:p>
        </p:txBody>
      </p:sp>
      <p:pic>
        <p:nvPicPr>
          <p:cNvPr id="10" name="Picture 1"/>
          <p:cNvPicPr>
            <a:picLocks noChangeAspect="1" noChangeArrowheads="1"/>
          </p:cNvPicPr>
          <p:nvPr userDrawn="1"/>
        </p:nvPicPr>
        <p:blipFill>
          <a:blip r:embed="rId2" cstate="print"/>
          <a:srcRect/>
          <a:stretch>
            <a:fillRect/>
          </a:stretch>
        </p:blipFill>
        <p:spPr bwMode="auto">
          <a:xfrm>
            <a:off x="7162800" y="3200400"/>
            <a:ext cx="762000" cy="1102469"/>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457200" y="1371601"/>
            <a:ext cx="8229600" cy="4800599"/>
          </a:xfrm>
        </p:spPr>
        <p:txBody>
          <a:bodyPr/>
          <a:lstStyle>
            <a:lvl1pPr>
              <a:buFont typeface="Wingdings" pitchFamily="2" charset="2"/>
              <a:buChar char="Ø"/>
              <a:defRPr sz="2000"/>
            </a:lvl1pPr>
            <a:lvl2pPr>
              <a:buFont typeface="Wingdings" pitchFamily="2" charset="2"/>
              <a:buChar char="ü"/>
              <a:defRPr sz="1800"/>
            </a:lvl2pPr>
            <a:lvl3pPr>
              <a:buFont typeface="Wingdings" pitchFamily="2" charset="2"/>
              <a:buChar char="§"/>
              <a:defRPr sz="1600"/>
            </a:lvl3pPr>
            <a:lvl4pPr>
              <a:defRPr sz="14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Date Placeholder 3"/>
          <p:cNvSpPr>
            <a:spLocks noGrp="1"/>
          </p:cNvSpPr>
          <p:nvPr>
            <p:ph type="dt" sz="half" idx="10"/>
          </p:nvPr>
        </p:nvSpPr>
        <p:spPr>
          <a:xfrm>
            <a:off x="457200" y="6584950"/>
            <a:ext cx="990600" cy="273050"/>
          </a:xfrm>
          <a:prstGeom prst="rect">
            <a:avLst/>
          </a:prstGeom>
        </p:spPr>
        <p:txBody>
          <a:bodyPr/>
          <a:lstStyle>
            <a:lvl1pPr>
              <a:defRPr sz="1000" i="1">
                <a:latin typeface="Times New Roman" pitchFamily="18" charset="0"/>
                <a:cs typeface="Times New Roman" pitchFamily="18" charset="0"/>
              </a:defRPr>
            </a:lvl1pPr>
          </a:lstStyle>
          <a:p>
            <a:fld id="{F3FBCFF5-EE4F-4FFF-A0F1-127D95D6DEF9}" type="datetime1">
              <a:rPr lang="en-US" smtClean="0"/>
              <a:pPr/>
              <a:t>10/3/2012</a:t>
            </a:fld>
            <a:endParaRPr lang="en-US"/>
          </a:p>
        </p:txBody>
      </p:sp>
      <p:sp>
        <p:nvSpPr>
          <p:cNvPr id="16"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r>
              <a:rPr lang="en-US" dirty="0" smtClean="0"/>
              <a:t>Software Engineering Design: Theory and Practice</a:t>
            </a:r>
            <a:endParaRPr lang="en-US" dirty="0"/>
          </a:p>
        </p:txBody>
      </p:sp>
      <p:sp>
        <p:nvSpPr>
          <p:cNvPr id="17" name="Slide Number Placeholder 5"/>
          <p:cNvSpPr>
            <a:spLocks noGrp="1"/>
          </p:cNvSpPr>
          <p:nvPr>
            <p:ph type="sldNum" sz="quarter" idx="12"/>
          </p:nvPr>
        </p:nvSpPr>
        <p:spPr>
          <a:xfrm>
            <a:off x="7543800" y="6553200"/>
            <a:ext cx="1143000" cy="304800"/>
          </a:xfrm>
          <a:prstGeom prst="rect">
            <a:avLst/>
          </a:prstGeom>
        </p:spPr>
        <p:txBody>
          <a:bodyPr/>
          <a:lstStyle>
            <a:lvl1pPr>
              <a:defRPr sz="1000">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562078"/>
            <a:ext cx="990600" cy="304800"/>
          </a:xfrm>
          <a:prstGeom prst="rect">
            <a:avLst/>
          </a:prstGeom>
        </p:spPr>
        <p:txBody>
          <a:bodyPr/>
          <a:lstStyle/>
          <a:p>
            <a:fld id="{ED229BA3-A27B-42AB-9F31-42418016249D}" type="datetime1">
              <a:rPr lang="en-US" smtClean="0"/>
              <a:pPr/>
              <a:t>10/3/2012</a:t>
            </a:fld>
            <a:endParaRPr lang="en-US"/>
          </a:p>
        </p:txBody>
      </p:sp>
      <p:sp>
        <p:nvSpPr>
          <p:cNvPr id="5" name="Footer Placeholder 4"/>
          <p:cNvSpPr>
            <a:spLocks noGrp="1"/>
          </p:cNvSpPr>
          <p:nvPr>
            <p:ph type="ftr" sz="quarter" idx="11"/>
          </p:nvPr>
        </p:nvSpPr>
        <p:spPr>
          <a:xfrm>
            <a:off x="1447800" y="6562078"/>
            <a:ext cx="60960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7543800" y="6562078"/>
            <a:ext cx="11430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F0BB3435-0E9A-4626-BE17-A8762A108CF2}" type="datetime1">
              <a:rPr lang="en-US" smtClean="0"/>
              <a:pPr/>
              <a:t>10/3/2012</a:t>
            </a:fld>
            <a:endParaRPr lang="en-US"/>
          </a:p>
        </p:txBody>
      </p:sp>
      <p:sp>
        <p:nvSpPr>
          <p:cNvPr id="6" name="Footer Placeholder 5"/>
          <p:cNvSpPr>
            <a:spLocks noGrp="1"/>
          </p:cNvSpPr>
          <p:nvPr>
            <p:ph type="ftr" sz="quarter" idx="11"/>
          </p:nvPr>
        </p:nvSpPr>
        <p:spPr>
          <a:xfrm>
            <a:off x="32004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553200"/>
            <a:ext cx="2133600" cy="304800"/>
          </a:xfrm>
          <a:prstGeom prst="rect">
            <a:avLst/>
          </a:prstGeom>
        </p:spPr>
        <p:txBody>
          <a:bodyPr/>
          <a:lstStyle/>
          <a:p>
            <a:fld id="{A8E9BC6D-F3D4-4CAF-ACEC-494A57D202E4}" type="datetime1">
              <a:rPr lang="en-US" smtClean="0"/>
              <a:pPr/>
              <a:t>10/3/2012</a:t>
            </a:fld>
            <a:endParaRPr lang="en-US"/>
          </a:p>
        </p:txBody>
      </p:sp>
      <p:sp>
        <p:nvSpPr>
          <p:cNvPr id="8" name="Footer Placeholder 7"/>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9" name="Slide Number Placeholder 8"/>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553200"/>
            <a:ext cx="2133600" cy="304800"/>
          </a:xfrm>
          <a:prstGeom prst="rect">
            <a:avLst/>
          </a:prstGeom>
        </p:spPr>
        <p:txBody>
          <a:bodyPr/>
          <a:lstStyle/>
          <a:p>
            <a:fld id="{E15860A7-5D37-4EAC-8EFD-51F43FFA3B5E}" type="datetime1">
              <a:rPr lang="en-US" smtClean="0"/>
              <a:pPr/>
              <a:t>10/3/2012</a:t>
            </a:fld>
            <a:endParaRPr lang="en-US"/>
          </a:p>
        </p:txBody>
      </p:sp>
      <p:sp>
        <p:nvSpPr>
          <p:cNvPr id="4" name="Footer Placeholder 3"/>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5" name="Slide Number Placeholder 4"/>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553200"/>
            <a:ext cx="2133600" cy="304800"/>
          </a:xfrm>
          <a:prstGeom prst="rect">
            <a:avLst/>
          </a:prstGeom>
        </p:spPr>
        <p:txBody>
          <a:bodyPr/>
          <a:lstStyle/>
          <a:p>
            <a:fld id="{061ED6DB-E37C-45C5-85AA-C10B399F13E3}" type="datetime1">
              <a:rPr lang="en-US" smtClean="0"/>
              <a:pPr/>
              <a:t>10/3/2012</a:t>
            </a:fld>
            <a:endParaRPr lang="en-US"/>
          </a:p>
        </p:txBody>
      </p:sp>
      <p:sp>
        <p:nvSpPr>
          <p:cNvPr id="3" name="Footer Placeholder 2"/>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4" name="Slide Number Placeholder 3"/>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DA6BCD18-5551-42D7-A5DD-C6871E4D3FB5}" type="datetime1">
              <a:rPr lang="en-US" smtClean="0"/>
              <a:pPr/>
              <a:t>10/3/2012</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25C7B514-375B-4C9F-AB19-638794D6AC42}" type="datetime1">
              <a:rPr lang="en-US" smtClean="0"/>
              <a:pPr/>
              <a:t>10/3/2012</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41643C31-6BED-43CE-92EC-61FE9F1B16F6}" type="datetime1">
              <a:rPr lang="en-US" smtClean="0"/>
              <a:pPr/>
              <a:t>10/3/2012</a:t>
            </a:fld>
            <a:endParaRPr lang="en-US"/>
          </a:p>
        </p:txBody>
      </p:sp>
      <p:sp>
        <p:nvSpPr>
          <p:cNvPr id="5" name="Footer Placeholder 4"/>
          <p:cNvSpPr>
            <a:spLocks noGrp="1"/>
          </p:cNvSpPr>
          <p:nvPr>
            <p:ph type="ftr" sz="quarter" idx="11"/>
          </p:nvPr>
        </p:nvSpPr>
        <p:spPr>
          <a:xfrm>
            <a:off x="29718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999D3834-0217-485F-B8FA-819EC68F0E18}" type="datetime1">
              <a:rPr lang="en-US" smtClean="0"/>
              <a:pPr/>
              <a:t>10/3/2012</a:t>
            </a:fld>
            <a:endParaRPr lang="en-US"/>
          </a:p>
        </p:txBody>
      </p:sp>
      <p:sp>
        <p:nvSpPr>
          <p:cNvPr id="5" name="Footer Placeholder 4"/>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503238"/>
            <a:ext cx="8229600" cy="792162"/>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371600"/>
            <a:ext cx="8229600" cy="47545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Rounded Rectangle 8"/>
          <p:cNvSpPr/>
          <p:nvPr/>
        </p:nvSpPr>
        <p:spPr bwMode="auto">
          <a:xfrm>
            <a:off x="219722" y="228600"/>
            <a:ext cx="8686800" cy="6324600"/>
          </a:xfrm>
          <a:prstGeom prst="roundRect">
            <a:avLst/>
          </a:prstGeom>
          <a:noFill/>
          <a:ln w="19050"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2" name="Date Placeholder 3"/>
          <p:cNvSpPr>
            <a:spLocks noGrp="1"/>
          </p:cNvSpPr>
          <p:nvPr>
            <p:ph type="dt" sz="half" idx="2"/>
          </p:nvPr>
        </p:nvSpPr>
        <p:spPr>
          <a:xfrm>
            <a:off x="457200" y="6584950"/>
            <a:ext cx="990600" cy="273050"/>
          </a:xfrm>
          <a:prstGeom prst="rect">
            <a:avLst/>
          </a:prstGeom>
        </p:spPr>
        <p:txBody>
          <a:bodyPr/>
          <a:lstStyle>
            <a:lvl1pPr>
              <a:defRPr sz="1000" i="1">
                <a:solidFill>
                  <a:srgbClr val="333333"/>
                </a:solidFill>
                <a:latin typeface="Times New Roman" pitchFamily="18" charset="0"/>
                <a:cs typeface="Times New Roman" pitchFamily="18" charset="0"/>
              </a:defRPr>
            </a:lvl1pPr>
          </a:lstStyle>
          <a:p>
            <a:fld id="{714859E5-2B7A-4354-9302-A47E7090D679}" type="datetime1">
              <a:rPr lang="en-US" smtClean="0"/>
              <a:pPr/>
              <a:t>10/3/2012</a:t>
            </a:fld>
            <a:endParaRPr lang="en-US"/>
          </a:p>
        </p:txBody>
      </p:sp>
      <p:sp>
        <p:nvSpPr>
          <p:cNvPr id="13" name="Footer Placeholder 4"/>
          <p:cNvSpPr>
            <a:spLocks noGrp="1"/>
          </p:cNvSpPr>
          <p:nvPr>
            <p:ph type="ftr" sz="quarter" idx="3"/>
          </p:nvPr>
        </p:nvSpPr>
        <p:spPr>
          <a:xfrm>
            <a:off x="1447800" y="6584950"/>
            <a:ext cx="6096000" cy="273050"/>
          </a:xfrm>
          <a:prstGeom prst="rect">
            <a:avLst/>
          </a:prstGeom>
        </p:spPr>
        <p:txBody>
          <a:bodyPr/>
          <a:lstStyle>
            <a:lvl1pPr algn="ctr">
              <a:defRPr sz="1000" i="1">
                <a:solidFill>
                  <a:srgbClr val="333333"/>
                </a:solidFill>
                <a:latin typeface="Times New Roman" pitchFamily="18" charset="0"/>
                <a:cs typeface="Times New Roman" pitchFamily="18" charset="0"/>
              </a:defRPr>
            </a:lvl1pPr>
          </a:lstStyle>
          <a:p>
            <a:r>
              <a:rPr lang="en-US" smtClean="0"/>
              <a:t>Enterprise Software Architecture</a:t>
            </a:r>
            <a:endParaRPr lang="en-US" dirty="0"/>
          </a:p>
        </p:txBody>
      </p:sp>
      <p:sp>
        <p:nvSpPr>
          <p:cNvPr id="14" name="Slide Number Placeholder 5"/>
          <p:cNvSpPr>
            <a:spLocks noGrp="1"/>
          </p:cNvSpPr>
          <p:nvPr>
            <p:ph type="sldNum" sz="quarter" idx="4"/>
          </p:nvPr>
        </p:nvSpPr>
        <p:spPr>
          <a:xfrm>
            <a:off x="7543800" y="6553200"/>
            <a:ext cx="1143000" cy="304800"/>
          </a:xfrm>
          <a:prstGeom prst="rect">
            <a:avLst/>
          </a:prstGeom>
        </p:spPr>
        <p:txBody>
          <a:bodyPr/>
          <a:lstStyle>
            <a:lvl1pPr algn="r">
              <a:defRPr sz="1000" i="1">
                <a:solidFill>
                  <a:srgbClr val="333333"/>
                </a:solidFill>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914400" rtl="0" eaLnBrk="1" latinLnBrk="0" hangingPunct="1">
        <a:spcBef>
          <a:spcPct val="0"/>
        </a:spcBef>
        <a:buNone/>
        <a:defRPr sz="2400" b="1" kern="1200" cap="small" baseline="0">
          <a:solidFill>
            <a:schemeClr val="tx1"/>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smtClean="0"/>
              <a:t>Chapter 3: Principles of Software Architecture</a:t>
            </a:r>
            <a:br>
              <a:rPr lang="en-US" dirty="0" smtClean="0"/>
            </a:br>
            <a:endParaRPr lang="en-US" dirty="0"/>
          </a:p>
        </p:txBody>
      </p:sp>
      <p:sp>
        <p:nvSpPr>
          <p:cNvPr id="3" name="Subtitle 2"/>
          <p:cNvSpPr>
            <a:spLocks noGrp="1"/>
          </p:cNvSpPr>
          <p:nvPr>
            <p:ph type="subTitle" idx="1"/>
          </p:nvPr>
        </p:nvSpPr>
        <p:spPr/>
        <p:txBody>
          <a:bodyPr>
            <a:normAutofit/>
          </a:bodyPr>
          <a:lstStyle/>
          <a:p>
            <a:r>
              <a:rPr lang="en-US" dirty="0" smtClean="0"/>
              <a:t>Session II: Fundamentals of Requirements Engineering</a:t>
            </a:r>
            <a:endParaRPr lang="en-US" dirty="0"/>
          </a:p>
        </p:txBody>
      </p:sp>
      <p:sp>
        <p:nvSpPr>
          <p:cNvPr id="4" name="Date Placeholder 3"/>
          <p:cNvSpPr>
            <a:spLocks noGrp="1"/>
          </p:cNvSpPr>
          <p:nvPr>
            <p:ph type="dt" sz="half" idx="10"/>
          </p:nvPr>
        </p:nvSpPr>
        <p:spPr/>
        <p:txBody>
          <a:bodyPr/>
          <a:lstStyle/>
          <a:p>
            <a:fld id="{EFE05638-2204-47C5-8D02-0990D6B01040}" type="datetime1">
              <a:rPr lang="en-US" smtClean="0"/>
              <a:pPr/>
              <a:t>10/3/2012</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a:p>
        </p:txBody>
      </p:sp>
      <p:sp>
        <p:nvSpPr>
          <p:cNvPr id="6" name="Footer Placeholder 5"/>
          <p:cNvSpPr>
            <a:spLocks noGrp="1"/>
          </p:cNvSpPr>
          <p:nvPr>
            <p:ph type="ftr" sz="quarter" idx="11"/>
          </p:nvPr>
        </p:nvSpPr>
        <p:spPr/>
        <p:txBody>
          <a:bodyPr/>
          <a:lstStyle/>
          <a:p>
            <a:r>
              <a:rPr lang="en-US" dirty="0" smtClean="0"/>
              <a:t>Software Engineering Design: Theory and Practice</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Session’s Agenda</a:t>
            </a:r>
            <a:endParaRPr lang="en-US" dirty="0"/>
          </a:p>
        </p:txBody>
      </p:sp>
      <p:sp>
        <p:nvSpPr>
          <p:cNvPr id="3" name="Content Placeholder 2"/>
          <p:cNvSpPr>
            <a:spLocks noGrp="1"/>
          </p:cNvSpPr>
          <p:nvPr>
            <p:ph idx="1"/>
          </p:nvPr>
        </p:nvSpPr>
        <p:spPr>
          <a:xfrm>
            <a:off x="457200" y="1371601"/>
            <a:ext cx="8229600" cy="4876799"/>
          </a:xfrm>
        </p:spPr>
        <p:txBody>
          <a:bodyPr>
            <a:normAutofit/>
          </a:bodyPr>
          <a:lstStyle/>
          <a:p>
            <a:r>
              <a:rPr lang="en-US" dirty="0" smtClean="0"/>
              <a:t>Software Architecture Process</a:t>
            </a:r>
          </a:p>
          <a:p>
            <a:pPr lvl="1"/>
            <a:r>
              <a:rPr lang="en-US" dirty="0" smtClean="0"/>
              <a:t>Understand and Evaluate Requirements</a:t>
            </a:r>
          </a:p>
          <a:p>
            <a:pPr lvl="1"/>
            <a:r>
              <a:rPr lang="en-US" dirty="0" smtClean="0"/>
              <a:t>Design the Architecture</a:t>
            </a:r>
          </a:p>
          <a:p>
            <a:pPr lvl="1"/>
            <a:r>
              <a:rPr lang="en-US" dirty="0" smtClean="0"/>
              <a:t>Evaluate the Architecture</a:t>
            </a:r>
          </a:p>
          <a:p>
            <a:pPr lvl="1"/>
            <a:r>
              <a:rPr lang="en-US" dirty="0" smtClean="0"/>
              <a:t>Document the Architecture</a:t>
            </a:r>
          </a:p>
          <a:p>
            <a:pPr lvl="1"/>
            <a:r>
              <a:rPr lang="en-US" dirty="0" smtClean="0"/>
              <a:t>Monitor and control implementation</a:t>
            </a:r>
          </a:p>
          <a:p>
            <a:endParaRPr lang="en-US" dirty="0" smtClean="0"/>
          </a:p>
          <a:p>
            <a:r>
              <a:rPr lang="en-US" dirty="0" smtClean="0"/>
              <a:t>Requirements Engineering</a:t>
            </a:r>
          </a:p>
          <a:p>
            <a:pPr lvl="1"/>
            <a:r>
              <a:rPr lang="en-US" dirty="0" smtClean="0"/>
              <a:t>Elicitation</a:t>
            </a:r>
          </a:p>
          <a:p>
            <a:pPr lvl="1"/>
            <a:r>
              <a:rPr lang="en-US" dirty="0" smtClean="0"/>
              <a:t>Analysis</a:t>
            </a:r>
          </a:p>
          <a:p>
            <a:pPr lvl="1"/>
            <a:r>
              <a:rPr lang="en-US" dirty="0" smtClean="0"/>
              <a:t>Specification</a:t>
            </a:r>
          </a:p>
          <a:p>
            <a:pPr lvl="1"/>
            <a:r>
              <a:rPr lang="en-US" dirty="0" smtClean="0"/>
              <a:t>Validation</a:t>
            </a:r>
          </a:p>
          <a:p>
            <a:pPr lvl="1"/>
            <a:endParaRPr lang="en-US" dirty="0" smtClean="0"/>
          </a:p>
          <a:p>
            <a:r>
              <a:rPr lang="en-US" dirty="0" smtClean="0"/>
              <a:t>What’s next..</a:t>
            </a:r>
          </a:p>
          <a:p>
            <a:pPr lvl="1">
              <a:buNone/>
            </a:pPr>
            <a:endParaRPr lang="en-US" dirty="0" smtClean="0"/>
          </a:p>
          <a:p>
            <a:pPr>
              <a:buNone/>
            </a:pPr>
            <a:endParaRPr lang="en-US" dirty="0" smtClean="0"/>
          </a:p>
          <a:p>
            <a:endParaRPr lang="en-US" dirty="0" smtClean="0"/>
          </a:p>
          <a:p>
            <a:pPr lvl="1">
              <a:buNone/>
            </a:pPr>
            <a:endParaRPr lang="en-US" dirty="0" smtClean="0"/>
          </a:p>
          <a:p>
            <a:pPr>
              <a:buNone/>
            </a:pPr>
            <a:endParaRPr lang="en-US" dirty="0" smtClean="0"/>
          </a:p>
          <a:p>
            <a:pPr lvl="1"/>
            <a:endParaRPr lang="en-US" dirty="0" smtClean="0"/>
          </a:p>
        </p:txBody>
      </p:sp>
      <p:sp>
        <p:nvSpPr>
          <p:cNvPr id="4" name="Date Placeholder 3"/>
          <p:cNvSpPr>
            <a:spLocks noGrp="1"/>
          </p:cNvSpPr>
          <p:nvPr>
            <p:ph type="dt" sz="half" idx="10"/>
          </p:nvPr>
        </p:nvSpPr>
        <p:spPr/>
        <p:txBody>
          <a:bodyPr/>
          <a:lstStyle/>
          <a:p>
            <a:fld id="{3F2E7354-941D-4A10-A419-5D3E5FF7573C}" type="datetime1">
              <a:rPr lang="en-US" smtClean="0"/>
              <a:pPr/>
              <a:t>10/3/2012</a:t>
            </a:fld>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Architecture Process</a:t>
            </a:r>
            <a:endParaRPr lang="en-US" dirty="0"/>
          </a:p>
        </p:txBody>
      </p:sp>
      <p:sp>
        <p:nvSpPr>
          <p:cNvPr id="3" name="Content Placeholder 2"/>
          <p:cNvSpPr>
            <a:spLocks noGrp="1"/>
          </p:cNvSpPr>
          <p:nvPr>
            <p:ph idx="1"/>
          </p:nvPr>
        </p:nvSpPr>
        <p:spPr>
          <a:xfrm>
            <a:off x="457200" y="1371601"/>
            <a:ext cx="8229600" cy="5181599"/>
          </a:xfrm>
        </p:spPr>
        <p:txBody>
          <a:bodyPr>
            <a:normAutofit/>
          </a:bodyPr>
          <a:lstStyle/>
          <a:p>
            <a:r>
              <a:rPr lang="en-US" dirty="0" smtClean="0"/>
              <a:t>On a larger scale, the process for creating software architectures can be executed using the following tasks:</a:t>
            </a:r>
          </a:p>
          <a:p>
            <a:pPr lvl="1"/>
            <a:r>
              <a:rPr lang="en-US" dirty="0" smtClean="0"/>
              <a:t>Understand and evaluate requirements</a:t>
            </a:r>
          </a:p>
          <a:p>
            <a:pPr lvl="1"/>
            <a:r>
              <a:rPr lang="en-US" dirty="0" smtClean="0"/>
              <a:t>Design the architecture</a:t>
            </a:r>
          </a:p>
          <a:p>
            <a:pPr lvl="1"/>
            <a:r>
              <a:rPr lang="en-US" dirty="0" smtClean="0"/>
              <a:t>Evaluate the architecture</a:t>
            </a:r>
          </a:p>
          <a:p>
            <a:pPr lvl="1"/>
            <a:r>
              <a:rPr lang="en-US" dirty="0" smtClean="0"/>
              <a:t>Document the architecture</a:t>
            </a:r>
          </a:p>
          <a:p>
            <a:pPr lvl="1"/>
            <a:r>
              <a:rPr lang="en-US" dirty="0" smtClean="0"/>
              <a:t>Monitor and control implementation</a:t>
            </a:r>
          </a:p>
          <a:p>
            <a:pPr lvl="1"/>
            <a:endParaRPr lang="en-US" dirty="0" smtClean="0"/>
          </a:p>
          <a:p>
            <a:r>
              <a:rPr lang="en-US" dirty="0" smtClean="0"/>
              <a:t>Software architects spend a great deal of time working with software requirements.</a:t>
            </a:r>
          </a:p>
          <a:p>
            <a:pPr lvl="1"/>
            <a:r>
              <a:rPr lang="en-US" dirty="0" smtClean="0"/>
              <a:t>Even after requirements are specified, software architects find themselves going back and forth between requirements and design.</a:t>
            </a:r>
          </a:p>
          <a:p>
            <a:pPr lvl="1"/>
            <a:r>
              <a:rPr lang="en-US" dirty="0" smtClean="0"/>
              <a:t>In some cases, architects are completely immersed in the requirements phase, playing a key role in the specification of requirements.</a:t>
            </a:r>
          </a:p>
          <a:p>
            <a:pPr lvl="1"/>
            <a:endParaRPr lang="en-US" dirty="0" smtClean="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Understand and Evaluate Requirements</a:t>
            </a:r>
            <a:endParaRPr lang="en-US" dirty="0"/>
          </a:p>
        </p:txBody>
      </p:sp>
      <p:sp>
        <p:nvSpPr>
          <p:cNvPr id="3" name="Content Placeholder 2"/>
          <p:cNvSpPr>
            <a:spLocks noGrp="1"/>
          </p:cNvSpPr>
          <p:nvPr>
            <p:ph idx="1"/>
          </p:nvPr>
        </p:nvSpPr>
        <p:spPr>
          <a:xfrm>
            <a:off x="457200" y="1371601"/>
            <a:ext cx="8229600" cy="2514599"/>
          </a:xfrm>
        </p:spPr>
        <p:txBody>
          <a:bodyPr>
            <a:normAutofit fontScale="92500" lnSpcReduction="10000"/>
          </a:bodyPr>
          <a:lstStyle/>
          <a:p>
            <a:r>
              <a:rPr lang="en-US" dirty="0" smtClean="0"/>
              <a:t>Requirements engineering</a:t>
            </a:r>
          </a:p>
          <a:p>
            <a:pPr lvl="1"/>
            <a:r>
              <a:rPr lang="en-US" dirty="0" smtClean="0"/>
              <a:t>The discipline within software engineering that is concerned with the systematic approach to requirements specification, mainly through the following activities:</a:t>
            </a:r>
          </a:p>
          <a:p>
            <a:pPr lvl="2"/>
            <a:r>
              <a:rPr lang="en-US" dirty="0" smtClean="0"/>
              <a:t>Elicitation</a:t>
            </a:r>
          </a:p>
          <a:p>
            <a:pPr lvl="2"/>
            <a:r>
              <a:rPr lang="en-US" dirty="0" smtClean="0"/>
              <a:t>Analysis</a:t>
            </a:r>
          </a:p>
          <a:p>
            <a:pPr lvl="2"/>
            <a:r>
              <a:rPr lang="en-US" dirty="0" smtClean="0"/>
              <a:t>Specification</a:t>
            </a:r>
          </a:p>
          <a:p>
            <a:pPr lvl="2"/>
            <a:r>
              <a:rPr lang="en-US" dirty="0" smtClean="0"/>
              <a:t>Validation</a:t>
            </a:r>
          </a:p>
          <a:p>
            <a:r>
              <a:rPr lang="en-US" dirty="0" smtClean="0"/>
              <a:t>Similar to the design phase, the requirements phase can be broken down into well defined activities</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
        <p:nvSpPr>
          <p:cNvPr id="9" name="TextBox 8"/>
          <p:cNvSpPr txBox="1"/>
          <p:nvPr/>
        </p:nvSpPr>
        <p:spPr>
          <a:xfrm>
            <a:off x="1295400" y="4114800"/>
            <a:ext cx="20574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Software Engineering Life-cycle Phase</a:t>
            </a:r>
            <a:endParaRPr lang="en-US" sz="1400" b="1" dirty="0">
              <a:solidFill>
                <a:srgbClr val="C00000"/>
              </a:solidFill>
              <a:latin typeface="Bradley Hand ITC" pitchFamily="66" charset="0"/>
            </a:endParaRPr>
          </a:p>
        </p:txBody>
      </p:sp>
      <p:cxnSp>
        <p:nvCxnSpPr>
          <p:cNvPr id="12" name="Straight Connector 11"/>
          <p:cNvCxnSpPr/>
          <p:nvPr/>
        </p:nvCxnSpPr>
        <p:spPr>
          <a:xfrm>
            <a:off x="1371600" y="4733925"/>
            <a:ext cx="6096000"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1295400" y="5181600"/>
            <a:ext cx="20574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Phase Activities</a:t>
            </a:r>
            <a:endParaRPr lang="en-US" sz="1400" b="1" dirty="0">
              <a:solidFill>
                <a:srgbClr val="C00000"/>
              </a:solidFill>
              <a:latin typeface="Bradley Hand ITC" pitchFamily="66" charset="0"/>
            </a:endParaRPr>
          </a:p>
        </p:txBody>
      </p:sp>
      <p:sp>
        <p:nvSpPr>
          <p:cNvPr id="7" name="Rounded Rectangle 6"/>
          <p:cNvSpPr/>
          <p:nvPr/>
        </p:nvSpPr>
        <p:spPr>
          <a:xfrm>
            <a:off x="3505200" y="4200525"/>
            <a:ext cx="914400" cy="381000"/>
          </a:xfrm>
          <a:prstGeom prst="roundRect">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3581400" y="4289881"/>
            <a:ext cx="772969" cy="215444"/>
          </a:xfrm>
          <a:prstGeom prst="rect">
            <a:avLst/>
          </a:prstGeom>
          <a:noFill/>
        </p:spPr>
        <p:txBody>
          <a:bodyPr wrap="none" rtlCol="0">
            <a:spAutoFit/>
          </a:bodyPr>
          <a:lstStyle/>
          <a:p>
            <a:r>
              <a:rPr lang="en-US" sz="800" dirty="0" smtClean="0"/>
              <a:t>Requirements</a:t>
            </a:r>
            <a:endParaRPr lang="en-US" sz="800" dirty="0"/>
          </a:p>
        </p:txBody>
      </p:sp>
      <p:grpSp>
        <p:nvGrpSpPr>
          <p:cNvPr id="36" name="Group 35"/>
          <p:cNvGrpSpPr/>
          <p:nvPr/>
        </p:nvGrpSpPr>
        <p:grpSpPr>
          <a:xfrm>
            <a:off x="4876800" y="4200525"/>
            <a:ext cx="914400" cy="381000"/>
            <a:chOff x="4495800" y="4343400"/>
            <a:chExt cx="914400" cy="381000"/>
          </a:xfrm>
        </p:grpSpPr>
        <p:sp>
          <p:nvSpPr>
            <p:cNvPr id="13" name="Rounded Rectangle 12"/>
            <p:cNvSpPr/>
            <p:nvPr/>
          </p:nvSpPr>
          <p:spPr>
            <a:xfrm>
              <a:off x="4495800" y="4343400"/>
              <a:ext cx="914400" cy="381000"/>
            </a:xfrm>
            <a:prstGeom prst="roundRect">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4716408" y="4432756"/>
              <a:ext cx="465192" cy="215444"/>
            </a:xfrm>
            <a:prstGeom prst="rect">
              <a:avLst/>
            </a:prstGeom>
            <a:noFill/>
          </p:spPr>
          <p:txBody>
            <a:bodyPr wrap="none" rtlCol="0">
              <a:spAutoFit/>
            </a:bodyPr>
            <a:lstStyle/>
            <a:p>
              <a:r>
                <a:rPr lang="en-US" sz="800" dirty="0" smtClean="0"/>
                <a:t>Design</a:t>
              </a:r>
              <a:endParaRPr lang="en-US" sz="800" dirty="0"/>
            </a:p>
          </p:txBody>
        </p:sp>
      </p:grpSp>
      <p:grpSp>
        <p:nvGrpSpPr>
          <p:cNvPr id="49" name="Group 48"/>
          <p:cNvGrpSpPr/>
          <p:nvPr/>
        </p:nvGrpSpPr>
        <p:grpSpPr>
          <a:xfrm>
            <a:off x="6286500" y="4200525"/>
            <a:ext cx="914400" cy="381000"/>
            <a:chOff x="6210300" y="4343400"/>
            <a:chExt cx="914400" cy="381000"/>
          </a:xfrm>
        </p:grpSpPr>
        <p:sp>
          <p:nvSpPr>
            <p:cNvPr id="14" name="Rounded Rectangle 13"/>
            <p:cNvSpPr/>
            <p:nvPr/>
          </p:nvSpPr>
          <p:spPr>
            <a:xfrm>
              <a:off x="6210300" y="4343400"/>
              <a:ext cx="914400" cy="381000"/>
            </a:xfrm>
            <a:prstGeom prst="roundRect">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6419850" y="4432756"/>
              <a:ext cx="486030" cy="215444"/>
            </a:xfrm>
            <a:prstGeom prst="rect">
              <a:avLst/>
            </a:prstGeom>
            <a:noFill/>
          </p:spPr>
          <p:txBody>
            <a:bodyPr wrap="none" rtlCol="0">
              <a:spAutoFit/>
            </a:bodyPr>
            <a:lstStyle/>
            <a:p>
              <a:r>
                <a:rPr lang="en-US" sz="800" dirty="0" smtClean="0"/>
                <a:t>Testing</a:t>
              </a:r>
              <a:endParaRPr lang="en-US" sz="800" dirty="0"/>
            </a:p>
          </p:txBody>
        </p:sp>
      </p:grpSp>
      <p:grpSp>
        <p:nvGrpSpPr>
          <p:cNvPr id="45" name="Group 44"/>
          <p:cNvGrpSpPr/>
          <p:nvPr/>
        </p:nvGrpSpPr>
        <p:grpSpPr>
          <a:xfrm>
            <a:off x="3581400" y="4886325"/>
            <a:ext cx="762000" cy="1200150"/>
            <a:chOff x="3409950" y="5029200"/>
            <a:chExt cx="762000" cy="1200150"/>
          </a:xfrm>
        </p:grpSpPr>
        <p:grpSp>
          <p:nvGrpSpPr>
            <p:cNvPr id="31" name="Group 30"/>
            <p:cNvGrpSpPr/>
            <p:nvPr/>
          </p:nvGrpSpPr>
          <p:grpSpPr>
            <a:xfrm>
              <a:off x="3429000" y="6000750"/>
              <a:ext cx="685801" cy="228600"/>
              <a:chOff x="3200400" y="6096000"/>
              <a:chExt cx="685801" cy="228600"/>
            </a:xfrm>
          </p:grpSpPr>
          <p:sp>
            <p:nvSpPr>
              <p:cNvPr id="27" name="Rectangle 26"/>
              <p:cNvSpPr/>
              <p:nvPr/>
            </p:nvSpPr>
            <p:spPr>
              <a:xfrm>
                <a:off x="3200400" y="6096000"/>
                <a:ext cx="685800" cy="228600"/>
              </a:xfrm>
              <a:prstGeom prst="rect">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p:cNvSpPr txBox="1"/>
              <p:nvPr/>
            </p:nvSpPr>
            <p:spPr>
              <a:xfrm>
                <a:off x="3200401" y="6096000"/>
                <a:ext cx="685800" cy="215444"/>
              </a:xfrm>
              <a:prstGeom prst="rect">
                <a:avLst/>
              </a:prstGeom>
              <a:noFill/>
            </p:spPr>
            <p:txBody>
              <a:bodyPr wrap="square" rtlCol="0">
                <a:spAutoFit/>
              </a:bodyPr>
              <a:lstStyle/>
              <a:p>
                <a:pPr algn="ctr"/>
                <a:r>
                  <a:rPr lang="en-US" sz="800" dirty="0" smtClean="0"/>
                  <a:t>Validation</a:t>
                </a:r>
                <a:endParaRPr lang="en-US" sz="800" dirty="0"/>
              </a:p>
            </p:txBody>
          </p:sp>
        </p:grpSp>
        <p:grpSp>
          <p:nvGrpSpPr>
            <p:cNvPr id="30" name="Group 29"/>
            <p:cNvGrpSpPr/>
            <p:nvPr/>
          </p:nvGrpSpPr>
          <p:grpSpPr>
            <a:xfrm>
              <a:off x="3409950" y="5667375"/>
              <a:ext cx="762000" cy="228600"/>
              <a:chOff x="3181350" y="5562600"/>
              <a:chExt cx="762000" cy="228600"/>
            </a:xfrm>
          </p:grpSpPr>
          <p:sp>
            <p:nvSpPr>
              <p:cNvPr id="23" name="Rectangle 22"/>
              <p:cNvSpPr/>
              <p:nvPr/>
            </p:nvSpPr>
            <p:spPr>
              <a:xfrm>
                <a:off x="3200400" y="5562600"/>
                <a:ext cx="685800" cy="228600"/>
              </a:xfrm>
              <a:prstGeom prst="rect">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3181350" y="5562600"/>
                <a:ext cx="762000" cy="215444"/>
              </a:xfrm>
              <a:prstGeom prst="rect">
                <a:avLst/>
              </a:prstGeom>
              <a:noFill/>
            </p:spPr>
            <p:txBody>
              <a:bodyPr wrap="square" rtlCol="0">
                <a:spAutoFit/>
              </a:bodyPr>
              <a:lstStyle/>
              <a:p>
                <a:r>
                  <a:rPr lang="en-US" sz="800" dirty="0" smtClean="0"/>
                  <a:t>Specification</a:t>
                </a:r>
                <a:endParaRPr lang="en-US" sz="800" dirty="0"/>
              </a:p>
            </p:txBody>
          </p:sp>
        </p:grpSp>
        <p:grpSp>
          <p:nvGrpSpPr>
            <p:cNvPr id="32" name="Group 31"/>
            <p:cNvGrpSpPr/>
            <p:nvPr/>
          </p:nvGrpSpPr>
          <p:grpSpPr>
            <a:xfrm>
              <a:off x="3429000" y="5343525"/>
              <a:ext cx="685800" cy="228600"/>
              <a:chOff x="3200400" y="5867400"/>
              <a:chExt cx="685800" cy="228600"/>
            </a:xfrm>
          </p:grpSpPr>
          <p:sp>
            <p:nvSpPr>
              <p:cNvPr id="25" name="Rectangle 24"/>
              <p:cNvSpPr/>
              <p:nvPr/>
            </p:nvSpPr>
            <p:spPr>
              <a:xfrm>
                <a:off x="3200400" y="5867400"/>
                <a:ext cx="685800" cy="228600"/>
              </a:xfrm>
              <a:prstGeom prst="rect">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3200400" y="5867400"/>
                <a:ext cx="675300" cy="215444"/>
              </a:xfrm>
              <a:prstGeom prst="rect">
                <a:avLst/>
              </a:prstGeom>
              <a:noFill/>
            </p:spPr>
            <p:txBody>
              <a:bodyPr wrap="square" rtlCol="0">
                <a:spAutoFit/>
              </a:bodyPr>
              <a:lstStyle/>
              <a:p>
                <a:pPr algn="ctr"/>
                <a:r>
                  <a:rPr lang="en-US" sz="800" dirty="0" smtClean="0"/>
                  <a:t>Analysis</a:t>
                </a:r>
                <a:endParaRPr lang="en-US" sz="800" dirty="0"/>
              </a:p>
            </p:txBody>
          </p:sp>
        </p:grpSp>
        <p:grpSp>
          <p:nvGrpSpPr>
            <p:cNvPr id="29" name="Group 28"/>
            <p:cNvGrpSpPr/>
            <p:nvPr/>
          </p:nvGrpSpPr>
          <p:grpSpPr>
            <a:xfrm>
              <a:off x="3429000" y="5029200"/>
              <a:ext cx="685800" cy="228600"/>
              <a:chOff x="3200400" y="5334000"/>
              <a:chExt cx="685800" cy="228600"/>
            </a:xfrm>
          </p:grpSpPr>
          <p:sp>
            <p:nvSpPr>
              <p:cNvPr id="22" name="Rectangle 21"/>
              <p:cNvSpPr/>
              <p:nvPr/>
            </p:nvSpPr>
            <p:spPr>
              <a:xfrm>
                <a:off x="3200400" y="5334000"/>
                <a:ext cx="685800" cy="228600"/>
              </a:xfrm>
              <a:prstGeom prst="rect">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3200400" y="5334000"/>
                <a:ext cx="685800" cy="215444"/>
              </a:xfrm>
              <a:prstGeom prst="rect">
                <a:avLst/>
              </a:prstGeom>
              <a:noFill/>
            </p:spPr>
            <p:txBody>
              <a:bodyPr wrap="square" rtlCol="0">
                <a:spAutoFit/>
              </a:bodyPr>
              <a:lstStyle/>
              <a:p>
                <a:pPr algn="ctr"/>
                <a:r>
                  <a:rPr lang="en-US" sz="800" dirty="0" smtClean="0"/>
                  <a:t>Elicitation</a:t>
                </a:r>
                <a:endParaRPr lang="en-US" sz="800" dirty="0"/>
              </a:p>
            </p:txBody>
          </p:sp>
        </p:grpSp>
      </p:grpSp>
      <p:grpSp>
        <p:nvGrpSpPr>
          <p:cNvPr id="37" name="Group 36"/>
          <p:cNvGrpSpPr/>
          <p:nvPr/>
        </p:nvGrpSpPr>
        <p:grpSpPr>
          <a:xfrm>
            <a:off x="4876800" y="4886325"/>
            <a:ext cx="990600" cy="338554"/>
            <a:chOff x="3200400" y="5334000"/>
            <a:chExt cx="685800" cy="338554"/>
          </a:xfrm>
        </p:grpSpPr>
        <p:sp>
          <p:nvSpPr>
            <p:cNvPr id="38" name="Rectangle 37"/>
            <p:cNvSpPr/>
            <p:nvPr/>
          </p:nvSpPr>
          <p:spPr>
            <a:xfrm>
              <a:off x="3200400" y="5334000"/>
              <a:ext cx="685800" cy="228600"/>
            </a:xfrm>
            <a:prstGeom prst="rect">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p:cNvSpPr txBox="1"/>
            <p:nvPr/>
          </p:nvSpPr>
          <p:spPr>
            <a:xfrm>
              <a:off x="3200400" y="5334000"/>
              <a:ext cx="685800" cy="338554"/>
            </a:xfrm>
            <a:prstGeom prst="rect">
              <a:avLst/>
            </a:prstGeom>
            <a:noFill/>
          </p:spPr>
          <p:txBody>
            <a:bodyPr wrap="square" rtlCol="0">
              <a:spAutoFit/>
            </a:bodyPr>
            <a:lstStyle/>
            <a:p>
              <a:pPr algn="ctr"/>
              <a:r>
                <a:rPr lang="en-US" sz="800" dirty="0" smtClean="0"/>
                <a:t>Architecture</a:t>
              </a:r>
              <a:endParaRPr lang="en-US" sz="800" dirty="0"/>
            </a:p>
          </p:txBody>
        </p:sp>
      </p:grpSp>
      <p:grpSp>
        <p:nvGrpSpPr>
          <p:cNvPr id="40" name="Group 39"/>
          <p:cNvGrpSpPr/>
          <p:nvPr/>
        </p:nvGrpSpPr>
        <p:grpSpPr>
          <a:xfrm>
            <a:off x="4876800" y="5204996"/>
            <a:ext cx="990600" cy="338554"/>
            <a:chOff x="3200400" y="5867400"/>
            <a:chExt cx="685800" cy="338554"/>
          </a:xfrm>
        </p:grpSpPr>
        <p:sp>
          <p:nvSpPr>
            <p:cNvPr id="41" name="Rectangle 40"/>
            <p:cNvSpPr/>
            <p:nvPr/>
          </p:nvSpPr>
          <p:spPr>
            <a:xfrm>
              <a:off x="3200400" y="5867400"/>
              <a:ext cx="685800" cy="228600"/>
            </a:xfrm>
            <a:prstGeom prst="rect">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p:cNvSpPr txBox="1"/>
            <p:nvPr/>
          </p:nvSpPr>
          <p:spPr>
            <a:xfrm>
              <a:off x="3200400" y="5867400"/>
              <a:ext cx="675300" cy="338554"/>
            </a:xfrm>
            <a:prstGeom prst="rect">
              <a:avLst/>
            </a:prstGeom>
            <a:noFill/>
          </p:spPr>
          <p:txBody>
            <a:bodyPr wrap="square" rtlCol="0">
              <a:spAutoFit/>
            </a:bodyPr>
            <a:lstStyle/>
            <a:p>
              <a:pPr algn="ctr"/>
              <a:r>
                <a:rPr lang="en-US" sz="800" dirty="0" smtClean="0"/>
                <a:t>Detailed Design</a:t>
              </a:r>
              <a:endParaRPr lang="en-US" sz="800" dirty="0"/>
            </a:p>
          </p:txBody>
        </p:sp>
      </p:grpSp>
      <p:cxnSp>
        <p:nvCxnSpPr>
          <p:cNvPr id="47" name="Straight Arrow Connector 46"/>
          <p:cNvCxnSpPr>
            <a:stCxn id="7" idx="3"/>
            <a:endCxn id="13" idx="1"/>
          </p:cNvCxnSpPr>
          <p:nvPr/>
        </p:nvCxnSpPr>
        <p:spPr>
          <a:xfrm>
            <a:off x="4419600" y="4391025"/>
            <a:ext cx="457200" cy="0"/>
          </a:xfrm>
          <a:prstGeom prst="straightConnector1">
            <a:avLst/>
          </a:pr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a:off x="5791200" y="4391025"/>
            <a:ext cx="457200" cy="0"/>
          </a:xfrm>
          <a:prstGeom prst="straightConnector1">
            <a:avLst/>
          </a:pr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4648200" y="3971925"/>
            <a:ext cx="0" cy="228600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6019800" y="3971925"/>
            <a:ext cx="0" cy="228600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flipV="1">
            <a:off x="1371600" y="3962400"/>
            <a:ext cx="6096000" cy="9525"/>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1371600" y="3971925"/>
            <a:ext cx="0" cy="228600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a:off x="3352800" y="3962400"/>
            <a:ext cx="0" cy="228600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flipV="1">
            <a:off x="1371600" y="6248400"/>
            <a:ext cx="6096000" cy="9525"/>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Understand and Evaluate Requirements</a:t>
            </a:r>
            <a:endParaRPr lang="en-US" dirty="0"/>
          </a:p>
        </p:txBody>
      </p:sp>
      <p:sp>
        <p:nvSpPr>
          <p:cNvPr id="3" name="Content Placeholder 2"/>
          <p:cNvSpPr>
            <a:spLocks noGrp="1"/>
          </p:cNvSpPr>
          <p:nvPr>
            <p:ph idx="1"/>
          </p:nvPr>
        </p:nvSpPr>
        <p:spPr>
          <a:xfrm>
            <a:off x="457200" y="1371601"/>
            <a:ext cx="8229600" cy="5181599"/>
          </a:xfrm>
        </p:spPr>
        <p:txBody>
          <a:bodyPr>
            <a:normAutofit fontScale="92500" lnSpcReduction="10000"/>
          </a:bodyPr>
          <a:lstStyle/>
          <a:p>
            <a:r>
              <a:rPr lang="en-US" dirty="0" smtClean="0"/>
              <a:t>Elicitation</a:t>
            </a:r>
          </a:p>
          <a:p>
            <a:pPr lvl="1"/>
            <a:r>
              <a:rPr lang="en-US" dirty="0" smtClean="0"/>
              <a:t>Activity that deals with identifying stakeholders, uncovering what the customer needs and wants, and with determining the non-functional requirements.</a:t>
            </a:r>
          </a:p>
          <a:p>
            <a:pPr lvl="1"/>
            <a:r>
              <a:rPr lang="en-US" dirty="0" smtClean="0"/>
              <a:t>Begins by identifying all </a:t>
            </a:r>
            <a:r>
              <a:rPr lang="en-US" i="1" dirty="0" smtClean="0"/>
              <a:t>sources</a:t>
            </a:r>
            <a:r>
              <a:rPr lang="en-US" dirty="0" smtClean="0"/>
              <a:t> of information that can be used to generate requirements.</a:t>
            </a:r>
          </a:p>
          <a:p>
            <a:pPr lvl="2"/>
            <a:r>
              <a:rPr lang="en-US" dirty="0" smtClean="0"/>
              <a:t>These vary from project to project and can provide bias information to shape the system in a way that addresses their particular needs.</a:t>
            </a:r>
          </a:p>
          <a:p>
            <a:pPr lvl="1"/>
            <a:r>
              <a:rPr lang="en-US" dirty="0" smtClean="0"/>
              <a:t>Different sources can have similar but different visions for the system.  </a:t>
            </a:r>
          </a:p>
          <a:p>
            <a:pPr lvl="2"/>
            <a:r>
              <a:rPr lang="en-US" dirty="0" smtClean="0"/>
              <a:t>Common sources of requirements include:</a:t>
            </a:r>
          </a:p>
          <a:p>
            <a:pPr lvl="3"/>
            <a:r>
              <a:rPr lang="en-US" dirty="0" smtClean="0"/>
              <a:t>Stakeholders</a:t>
            </a:r>
          </a:p>
          <a:p>
            <a:pPr lvl="3"/>
            <a:r>
              <a:rPr lang="en-US" dirty="0" smtClean="0"/>
              <a:t>Goals</a:t>
            </a:r>
          </a:p>
          <a:p>
            <a:pPr lvl="3"/>
            <a:r>
              <a:rPr lang="en-US" dirty="0" smtClean="0"/>
              <a:t>Domain knowledge</a:t>
            </a:r>
          </a:p>
          <a:p>
            <a:pPr lvl="3"/>
            <a:r>
              <a:rPr lang="en-US" dirty="0" smtClean="0"/>
              <a:t>Operational and organizational environment</a:t>
            </a:r>
          </a:p>
          <a:p>
            <a:pPr lvl="3"/>
            <a:endParaRPr lang="en-US" dirty="0" smtClean="0"/>
          </a:p>
          <a:p>
            <a:r>
              <a:rPr lang="en-US" dirty="0" smtClean="0"/>
              <a:t>Elicitation Techniques</a:t>
            </a:r>
          </a:p>
          <a:p>
            <a:pPr lvl="1"/>
            <a:r>
              <a:rPr lang="en-US" dirty="0" smtClean="0"/>
              <a:t>Interviews</a:t>
            </a:r>
          </a:p>
          <a:p>
            <a:pPr lvl="1"/>
            <a:r>
              <a:rPr lang="en-US" dirty="0" smtClean="0"/>
              <a:t>Facilitated meetings</a:t>
            </a:r>
          </a:p>
          <a:p>
            <a:pPr lvl="1"/>
            <a:r>
              <a:rPr lang="en-US" dirty="0" smtClean="0"/>
              <a:t>Observation</a:t>
            </a:r>
          </a:p>
          <a:p>
            <a:pPr lvl="1"/>
            <a:r>
              <a:rPr lang="en-US" dirty="0" smtClean="0"/>
              <a:t>Scenarios</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Understand and Evaluate Requirements</a:t>
            </a:r>
            <a:endParaRPr lang="en-US" dirty="0"/>
          </a:p>
        </p:txBody>
      </p:sp>
      <p:sp>
        <p:nvSpPr>
          <p:cNvPr id="3" name="Content Placeholder 2"/>
          <p:cNvSpPr>
            <a:spLocks noGrp="1"/>
          </p:cNvSpPr>
          <p:nvPr>
            <p:ph idx="1"/>
          </p:nvPr>
        </p:nvSpPr>
        <p:spPr>
          <a:xfrm>
            <a:off x="457200" y="1371601"/>
            <a:ext cx="8229600" cy="4952999"/>
          </a:xfrm>
        </p:spPr>
        <p:txBody>
          <a:bodyPr>
            <a:normAutofit fontScale="85000" lnSpcReduction="20000"/>
          </a:bodyPr>
          <a:lstStyle/>
          <a:p>
            <a:r>
              <a:rPr lang="en-US" dirty="0" smtClean="0"/>
              <a:t>On eliciting requirements using </a:t>
            </a:r>
            <a:r>
              <a:rPr lang="en-US" i="1" dirty="0" smtClean="0"/>
              <a:t>Scenarios</a:t>
            </a:r>
          </a:p>
          <a:p>
            <a:pPr lvl="1"/>
            <a:r>
              <a:rPr lang="en-US" dirty="0" smtClean="0"/>
              <a:t>A popular approach for eliciting requirements.</a:t>
            </a:r>
          </a:p>
          <a:p>
            <a:pPr lvl="1"/>
            <a:r>
              <a:rPr lang="en-US" dirty="0" smtClean="0"/>
              <a:t>Allow designers to present stakeholders with storylines about different behaviors that the system is expected to provide.</a:t>
            </a:r>
          </a:p>
          <a:p>
            <a:pPr lvl="1"/>
            <a:r>
              <a:rPr lang="en-US" dirty="0" smtClean="0"/>
              <a:t>These storylines are born out of the perceived expected behavior by the designer and refined and validated through stakeholders’ reviews.</a:t>
            </a:r>
          </a:p>
          <a:p>
            <a:pPr lvl="1"/>
            <a:r>
              <a:rPr lang="en-US" dirty="0" smtClean="0"/>
              <a:t>They provide a valuable means for:</a:t>
            </a:r>
          </a:p>
          <a:p>
            <a:pPr lvl="2"/>
            <a:r>
              <a:rPr lang="en-US" dirty="0" smtClean="0"/>
              <a:t>Establishing a framework for eliciting requirements</a:t>
            </a:r>
          </a:p>
          <a:p>
            <a:pPr lvl="2"/>
            <a:r>
              <a:rPr lang="en-US" dirty="0" smtClean="0"/>
              <a:t>Identifying major system functions and details of the software</a:t>
            </a:r>
          </a:p>
          <a:p>
            <a:pPr lvl="2"/>
            <a:r>
              <a:rPr lang="en-US" dirty="0" smtClean="0"/>
              <a:t>Providing initial insight into the required testing of the software.</a:t>
            </a:r>
          </a:p>
          <a:p>
            <a:pPr lvl="2"/>
            <a:endParaRPr lang="en-US" dirty="0" smtClean="0"/>
          </a:p>
          <a:p>
            <a:r>
              <a:rPr lang="en-US" dirty="0" smtClean="0"/>
              <a:t>In UML, scenarios are grouped by use cases.</a:t>
            </a:r>
          </a:p>
          <a:p>
            <a:pPr lvl="1"/>
            <a:r>
              <a:rPr lang="en-US" dirty="0" smtClean="0"/>
              <a:t>For each use case, one or more scenarios—one for the main flow of events and other for alternate scenarios—are created to document the expected system behavior and deviations from its main flow of events.</a:t>
            </a:r>
          </a:p>
          <a:p>
            <a:pPr lvl="1"/>
            <a:r>
              <a:rPr lang="en-US" dirty="0" smtClean="0"/>
              <a:t>Scenarios represent instances of use cases, so there is one-to-many relationship between use case and scenarios.</a:t>
            </a:r>
          </a:p>
          <a:p>
            <a:pPr lvl="1"/>
            <a:r>
              <a:rPr lang="en-US" dirty="0" smtClean="0"/>
              <a:t>Since there are no universally accepted method for documenting scenarios, they can be found in the following format:</a:t>
            </a:r>
          </a:p>
          <a:p>
            <a:pPr lvl="2"/>
            <a:r>
              <a:rPr lang="en-US" dirty="0" smtClean="0"/>
              <a:t>Paragraphs, numbered list, tabular or graphical form, etc.</a:t>
            </a:r>
          </a:p>
          <a:p>
            <a:pPr lvl="1"/>
            <a:r>
              <a:rPr lang="en-US" dirty="0" smtClean="0"/>
              <a:t>Without scenarios, use cases provide limited benefits.</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grpSp>
        <p:nvGrpSpPr>
          <p:cNvPr id="35" name="Group 34"/>
          <p:cNvGrpSpPr/>
          <p:nvPr/>
        </p:nvGrpSpPr>
        <p:grpSpPr>
          <a:xfrm>
            <a:off x="3724275" y="5715000"/>
            <a:ext cx="2133600" cy="748844"/>
            <a:chOff x="3657600" y="457200"/>
            <a:chExt cx="2133600" cy="748844"/>
          </a:xfrm>
        </p:grpSpPr>
        <p:grpSp>
          <p:nvGrpSpPr>
            <p:cNvPr id="33" name="Group 32"/>
            <p:cNvGrpSpPr/>
            <p:nvPr/>
          </p:nvGrpSpPr>
          <p:grpSpPr>
            <a:xfrm>
              <a:off x="3810000" y="457200"/>
              <a:ext cx="1981200" cy="533400"/>
              <a:chOff x="4495800" y="381000"/>
              <a:chExt cx="1981200" cy="533400"/>
            </a:xfrm>
          </p:grpSpPr>
          <p:grpSp>
            <p:nvGrpSpPr>
              <p:cNvPr id="15" name="Group 14"/>
              <p:cNvGrpSpPr/>
              <p:nvPr/>
            </p:nvGrpSpPr>
            <p:grpSpPr>
              <a:xfrm>
                <a:off x="5486400" y="457200"/>
                <a:ext cx="990600" cy="457200"/>
                <a:chOff x="5486400" y="457200"/>
                <a:chExt cx="990600" cy="457200"/>
              </a:xfrm>
            </p:grpSpPr>
            <p:sp>
              <p:nvSpPr>
                <p:cNvPr id="12" name="Oval 11"/>
                <p:cNvSpPr/>
                <p:nvPr/>
              </p:nvSpPr>
              <p:spPr>
                <a:xfrm>
                  <a:off x="5486400" y="457200"/>
                  <a:ext cx="990600" cy="457200"/>
                </a:xfrm>
                <a:prstGeom prst="ellipse">
                  <a:avLst/>
                </a:prstGeom>
                <a:solidFill>
                  <a:schemeClr val="bg1"/>
                </a:solidFill>
                <a:ln w="635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5562600" y="571500"/>
                  <a:ext cx="816249" cy="215444"/>
                </a:xfrm>
                <a:prstGeom prst="rect">
                  <a:avLst/>
                </a:prstGeom>
                <a:noFill/>
              </p:spPr>
              <p:txBody>
                <a:bodyPr wrap="none" rtlCol="0">
                  <a:spAutoFit/>
                </a:bodyPr>
                <a:lstStyle/>
                <a:p>
                  <a:r>
                    <a:rPr lang="en-US" sz="800" dirty="0" smtClean="0"/>
                    <a:t>Search Product</a:t>
                  </a:r>
                  <a:endParaRPr lang="en-US" sz="800" dirty="0"/>
                </a:p>
              </p:txBody>
            </p:sp>
          </p:grpSp>
          <p:grpSp>
            <p:nvGrpSpPr>
              <p:cNvPr id="30" name="Group 29"/>
              <p:cNvGrpSpPr/>
              <p:nvPr/>
            </p:nvGrpSpPr>
            <p:grpSpPr>
              <a:xfrm>
                <a:off x="4495800" y="381000"/>
                <a:ext cx="304800" cy="533400"/>
                <a:chOff x="1143000" y="1295400"/>
                <a:chExt cx="304800" cy="533400"/>
              </a:xfrm>
            </p:grpSpPr>
            <p:sp>
              <p:nvSpPr>
                <p:cNvPr id="14" name="Oval 13"/>
                <p:cNvSpPr/>
                <p:nvPr/>
              </p:nvSpPr>
              <p:spPr>
                <a:xfrm>
                  <a:off x="1219200" y="1295400"/>
                  <a:ext cx="152400" cy="152400"/>
                </a:xfrm>
                <a:prstGeom prst="ellipse">
                  <a:avLst/>
                </a:prstGeom>
                <a:solidFill>
                  <a:schemeClr val="bg1"/>
                </a:solidFill>
                <a:ln w="635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p:cNvCxnSpPr>
                  <a:stCxn id="14" idx="4"/>
                </p:cNvCxnSpPr>
                <p:nvPr/>
              </p:nvCxnSpPr>
              <p:spPr>
                <a:xfrm>
                  <a:off x="1295400" y="1447800"/>
                  <a:ext cx="0" cy="228600"/>
                </a:xfrm>
                <a:prstGeom prst="line">
                  <a:avLst/>
                </a:prstGeom>
                <a:ln w="6350">
                  <a:solidFill>
                    <a:schemeClr val="tx1"/>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a:off x="1143000" y="1676400"/>
                  <a:ext cx="152400" cy="152400"/>
                </a:xfrm>
                <a:prstGeom prst="line">
                  <a:avLst/>
                </a:prstGeom>
                <a:ln w="6350">
                  <a:solidFill>
                    <a:schemeClr val="tx1"/>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295400" y="1676400"/>
                  <a:ext cx="152400" cy="152400"/>
                </a:xfrm>
                <a:prstGeom prst="line">
                  <a:avLst/>
                </a:prstGeom>
                <a:ln w="6350">
                  <a:solidFill>
                    <a:schemeClr val="tx1"/>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1181100" y="1524000"/>
                  <a:ext cx="228600" cy="0"/>
                </a:xfrm>
                <a:prstGeom prst="line">
                  <a:avLst/>
                </a:prstGeom>
                <a:ln w="6350">
                  <a:solidFill>
                    <a:schemeClr val="tx1"/>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cxnSp>
            <p:nvCxnSpPr>
              <p:cNvPr id="32" name="Straight Connector 31"/>
              <p:cNvCxnSpPr>
                <a:stCxn id="12" idx="2"/>
              </p:cNvCxnSpPr>
              <p:nvPr/>
            </p:nvCxnSpPr>
            <p:spPr>
              <a:xfrm flipH="1">
                <a:off x="4800600" y="685800"/>
                <a:ext cx="685800" cy="0"/>
              </a:xfrm>
              <a:prstGeom prst="line">
                <a:avLst/>
              </a:prstGeom>
              <a:ln w="6350">
                <a:solidFill>
                  <a:schemeClr val="tx1"/>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sp>
          <p:nvSpPr>
            <p:cNvPr id="34" name="TextBox 33"/>
            <p:cNvSpPr txBox="1"/>
            <p:nvPr/>
          </p:nvSpPr>
          <p:spPr>
            <a:xfrm>
              <a:off x="3657600" y="990600"/>
              <a:ext cx="566181" cy="215444"/>
            </a:xfrm>
            <a:prstGeom prst="rect">
              <a:avLst/>
            </a:prstGeom>
            <a:noFill/>
          </p:spPr>
          <p:txBody>
            <a:bodyPr wrap="none" rtlCol="0">
              <a:spAutoFit/>
            </a:bodyPr>
            <a:lstStyle/>
            <a:p>
              <a:r>
                <a:rPr lang="en-US" sz="800" dirty="0" smtClean="0"/>
                <a:t>Operator</a:t>
              </a:r>
              <a:endParaRPr lang="en-US" sz="800" dirty="0"/>
            </a:p>
          </p:txBody>
        </p:sp>
      </p:grpSp>
      <p:cxnSp>
        <p:nvCxnSpPr>
          <p:cNvPr id="37" name="Straight Connector 36"/>
          <p:cNvCxnSpPr/>
          <p:nvPr/>
        </p:nvCxnSpPr>
        <p:spPr>
          <a:xfrm flipH="1">
            <a:off x="219075" y="5381625"/>
            <a:ext cx="8686800"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228600" y="5381625"/>
            <a:ext cx="8686800" cy="307777"/>
          </a:xfrm>
          <a:prstGeom prst="rect">
            <a:avLst/>
          </a:prstGeom>
          <a:noFill/>
        </p:spPr>
        <p:txBody>
          <a:bodyPr wrap="square" rtlCol="0">
            <a:spAutoFit/>
          </a:bodyPr>
          <a:lstStyle/>
          <a:p>
            <a:pPr algn="ctr"/>
            <a:r>
              <a:rPr lang="en-US" sz="1400" b="1" dirty="0" smtClean="0">
                <a:latin typeface="Bradley Hand ITC" pitchFamily="66" charset="0"/>
              </a:rPr>
              <a:t>Search Product Use Case </a:t>
            </a:r>
            <a:endParaRPr lang="en-US" sz="1400" b="1" dirty="0">
              <a:latin typeface="Bradley Hand ITC" pitchFamily="66" charset="0"/>
            </a:endParaRPr>
          </a:p>
        </p:txBody>
      </p:sp>
      <p:sp>
        <p:nvSpPr>
          <p:cNvPr id="40" name="TextBox 39"/>
          <p:cNvSpPr txBox="1"/>
          <p:nvPr/>
        </p:nvSpPr>
        <p:spPr>
          <a:xfrm>
            <a:off x="228600" y="5076825"/>
            <a:ext cx="8686800" cy="307777"/>
          </a:xfrm>
          <a:prstGeom prst="rect">
            <a:avLst/>
          </a:prstGeom>
          <a:noFill/>
        </p:spPr>
        <p:txBody>
          <a:bodyPr wrap="square" rtlCol="0">
            <a:spAutoFit/>
          </a:bodyPr>
          <a:lstStyle/>
          <a:p>
            <a:pPr algn="ctr"/>
            <a:r>
              <a:rPr lang="en-US" sz="1400" b="1" dirty="0" smtClean="0">
                <a:latin typeface="Bradley Hand ITC" pitchFamily="66" charset="0"/>
              </a:rPr>
              <a:t>Search Product’s Main Scenario</a:t>
            </a:r>
            <a:endParaRPr lang="en-US" sz="1400" b="1" dirty="0">
              <a:latin typeface="Bradley Hand ITC" pitchFamily="66" charset="0"/>
            </a:endParaRPr>
          </a:p>
        </p:txBody>
      </p:sp>
      <p:sp>
        <p:nvSpPr>
          <p:cNvPr id="52" name="TextBox 51"/>
          <p:cNvSpPr txBox="1"/>
          <p:nvPr/>
        </p:nvSpPr>
        <p:spPr>
          <a:xfrm>
            <a:off x="6934200" y="4419600"/>
            <a:ext cx="1295400" cy="738664"/>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Scenarios need to be approved!</a:t>
            </a:r>
            <a:endParaRPr lang="en-US" sz="1400" b="1" dirty="0">
              <a:solidFill>
                <a:srgbClr val="C00000"/>
              </a:solidFill>
              <a:latin typeface="Bradley Hand ITC" pitchFamily="66" charset="0"/>
            </a:endParaRPr>
          </a:p>
        </p:txBody>
      </p:sp>
      <p:grpSp>
        <p:nvGrpSpPr>
          <p:cNvPr id="54" name="Group 53"/>
          <p:cNvGrpSpPr/>
          <p:nvPr/>
        </p:nvGrpSpPr>
        <p:grpSpPr>
          <a:xfrm>
            <a:off x="457200" y="381000"/>
            <a:ext cx="8486775" cy="4648200"/>
            <a:chOff x="457200" y="457200"/>
            <a:chExt cx="8486775" cy="4648200"/>
          </a:xfrm>
        </p:grpSpPr>
        <p:pic>
          <p:nvPicPr>
            <p:cNvPr id="1028" name="Picture 4"/>
            <p:cNvPicPr>
              <a:picLocks noChangeAspect="1" noChangeArrowheads="1"/>
            </p:cNvPicPr>
            <p:nvPr/>
          </p:nvPicPr>
          <p:blipFill>
            <a:blip r:embed="rId2" cstate="print"/>
            <a:srcRect/>
            <a:stretch>
              <a:fillRect/>
            </a:stretch>
          </p:blipFill>
          <p:spPr bwMode="auto">
            <a:xfrm>
              <a:off x="2667000" y="457200"/>
              <a:ext cx="4139079" cy="4648200"/>
            </a:xfrm>
            <a:prstGeom prst="rect">
              <a:avLst/>
            </a:prstGeom>
            <a:noFill/>
            <a:ln w="9525">
              <a:noFill/>
              <a:miter lim="800000"/>
              <a:headEnd/>
              <a:tailEnd/>
            </a:ln>
          </p:spPr>
        </p:pic>
        <p:sp>
          <p:nvSpPr>
            <p:cNvPr id="41" name="TextBox 40"/>
            <p:cNvSpPr txBox="1"/>
            <p:nvPr/>
          </p:nvSpPr>
          <p:spPr>
            <a:xfrm>
              <a:off x="6792457" y="935987"/>
              <a:ext cx="1524000" cy="738664"/>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Scenario Description and other Information</a:t>
              </a:r>
              <a:endParaRPr lang="en-US" sz="1400" b="1" dirty="0">
                <a:solidFill>
                  <a:srgbClr val="C00000"/>
                </a:solidFill>
                <a:latin typeface="Bradley Hand ITC" pitchFamily="66" charset="0"/>
              </a:endParaRPr>
            </a:p>
          </p:txBody>
        </p:sp>
        <p:sp>
          <p:nvSpPr>
            <p:cNvPr id="42" name="Freeform 41"/>
            <p:cNvSpPr/>
            <p:nvPr/>
          </p:nvSpPr>
          <p:spPr>
            <a:xfrm rot="21249315">
              <a:off x="6640004" y="958256"/>
              <a:ext cx="499118" cy="233737"/>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3" name="TextBox 42"/>
            <p:cNvSpPr txBox="1"/>
            <p:nvPr/>
          </p:nvSpPr>
          <p:spPr>
            <a:xfrm>
              <a:off x="1219200" y="685800"/>
              <a:ext cx="15240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Scenario Name and Number</a:t>
              </a:r>
              <a:endParaRPr lang="en-US" sz="1400" b="1" dirty="0">
                <a:solidFill>
                  <a:srgbClr val="C00000"/>
                </a:solidFill>
                <a:latin typeface="Bradley Hand ITC" pitchFamily="66" charset="0"/>
              </a:endParaRPr>
            </a:p>
          </p:txBody>
        </p:sp>
        <p:sp>
          <p:nvSpPr>
            <p:cNvPr id="44" name="Freeform 43"/>
            <p:cNvSpPr/>
            <p:nvPr/>
          </p:nvSpPr>
          <p:spPr>
            <a:xfrm rot="5133044">
              <a:off x="2524413" y="393502"/>
              <a:ext cx="141891" cy="456686"/>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TextBox 44"/>
            <p:cNvSpPr txBox="1"/>
            <p:nvPr/>
          </p:nvSpPr>
          <p:spPr>
            <a:xfrm>
              <a:off x="457200" y="2590800"/>
              <a:ext cx="2057400" cy="1015663"/>
            </a:xfrm>
            <a:prstGeom prst="rect">
              <a:avLst/>
            </a:prstGeom>
            <a:noFill/>
            <a:ln>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u="sng" dirty="0" smtClean="0">
                  <a:solidFill>
                    <a:srgbClr val="C00000"/>
                  </a:solidFill>
                  <a:latin typeface="Bradley Hand ITC" pitchFamily="66" charset="0"/>
                </a:rPr>
                <a:t>Important</a:t>
              </a:r>
              <a:r>
                <a:rPr lang="en-US" sz="1200" b="1" dirty="0" smtClean="0">
                  <a:solidFill>
                    <a:srgbClr val="C00000"/>
                  </a:solidFill>
                  <a:latin typeface="Bradley Hand ITC" pitchFamily="66" charset="0"/>
                </a:rPr>
                <a:t>:</a:t>
              </a:r>
            </a:p>
            <a:p>
              <a:r>
                <a:rPr lang="en-US" sz="1200" b="1" dirty="0" smtClean="0">
                  <a:solidFill>
                    <a:srgbClr val="C00000"/>
                  </a:solidFill>
                  <a:latin typeface="Bradley Hand ITC" pitchFamily="66" charset="0"/>
                </a:rPr>
                <a:t>Scenarios are NOT thrown away after design!  They are eventually transformed into Unit Test Cases!</a:t>
              </a:r>
              <a:endParaRPr lang="en-US" sz="1200" b="1" dirty="0">
                <a:solidFill>
                  <a:srgbClr val="C00000"/>
                </a:solidFill>
                <a:latin typeface="Bradley Hand ITC" pitchFamily="66" charset="0"/>
              </a:endParaRPr>
            </a:p>
          </p:txBody>
        </p:sp>
        <p:sp>
          <p:nvSpPr>
            <p:cNvPr id="46" name="Right Brace 45"/>
            <p:cNvSpPr/>
            <p:nvPr/>
          </p:nvSpPr>
          <p:spPr>
            <a:xfrm>
              <a:off x="6800850" y="2466975"/>
              <a:ext cx="228600" cy="1600200"/>
            </a:xfrm>
            <a:prstGeom prst="righ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TextBox 46"/>
            <p:cNvSpPr txBox="1"/>
            <p:nvPr/>
          </p:nvSpPr>
          <p:spPr>
            <a:xfrm>
              <a:off x="6858000" y="2779693"/>
              <a:ext cx="1905000" cy="95410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Steps included in the scenario, classified as operator action and system response.</a:t>
              </a:r>
              <a:endParaRPr lang="en-US" sz="1400" b="1" dirty="0">
                <a:solidFill>
                  <a:srgbClr val="C00000"/>
                </a:solidFill>
                <a:latin typeface="Bradley Hand ITC" pitchFamily="66" charset="0"/>
              </a:endParaRPr>
            </a:p>
          </p:txBody>
        </p:sp>
        <p:sp>
          <p:nvSpPr>
            <p:cNvPr id="48" name="TextBox 47"/>
            <p:cNvSpPr txBox="1"/>
            <p:nvPr/>
          </p:nvSpPr>
          <p:spPr>
            <a:xfrm>
              <a:off x="533400" y="4366736"/>
              <a:ext cx="1905000" cy="738664"/>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Other important information regarding this scenario</a:t>
              </a:r>
              <a:endParaRPr lang="en-US" sz="1400" b="1" dirty="0">
                <a:solidFill>
                  <a:srgbClr val="C00000"/>
                </a:solidFill>
                <a:latin typeface="Bradley Hand ITC" pitchFamily="66" charset="0"/>
              </a:endParaRPr>
            </a:p>
          </p:txBody>
        </p:sp>
        <p:sp>
          <p:nvSpPr>
            <p:cNvPr id="49" name="Freeform 48"/>
            <p:cNvSpPr/>
            <p:nvPr/>
          </p:nvSpPr>
          <p:spPr>
            <a:xfrm rot="5133044">
              <a:off x="2372014" y="4279702"/>
              <a:ext cx="141891" cy="456686"/>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TextBox 49"/>
            <p:cNvSpPr txBox="1"/>
            <p:nvPr/>
          </p:nvSpPr>
          <p:spPr>
            <a:xfrm>
              <a:off x="6734175" y="2148185"/>
              <a:ext cx="22098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Quality requirements are discovered using scenarios</a:t>
              </a:r>
              <a:endParaRPr lang="en-US" sz="1200" b="1" dirty="0">
                <a:solidFill>
                  <a:srgbClr val="C00000"/>
                </a:solidFill>
                <a:latin typeface="Bradley Hand ITC" pitchFamily="66" charset="0"/>
              </a:endParaRPr>
            </a:p>
          </p:txBody>
        </p:sp>
        <p:sp>
          <p:nvSpPr>
            <p:cNvPr id="51" name="Freeform 50"/>
            <p:cNvSpPr/>
            <p:nvPr/>
          </p:nvSpPr>
          <p:spPr>
            <a:xfrm>
              <a:off x="6400800" y="2286000"/>
              <a:ext cx="533400" cy="809625"/>
            </a:xfrm>
            <a:custGeom>
              <a:avLst/>
              <a:gdLst>
                <a:gd name="connsiteX0" fmla="*/ 2019300 w 2019300"/>
                <a:gd name="connsiteY0" fmla="*/ 0 h 809625"/>
                <a:gd name="connsiteX1" fmla="*/ 1285875 w 2019300"/>
                <a:gd name="connsiteY1" fmla="*/ 161925 h 809625"/>
                <a:gd name="connsiteX2" fmla="*/ 885825 w 2019300"/>
                <a:gd name="connsiteY2" fmla="*/ 685800 h 809625"/>
                <a:gd name="connsiteX3" fmla="*/ 0 w 2019300"/>
                <a:gd name="connsiteY3" fmla="*/ 809625 h 809625"/>
              </a:gdLst>
              <a:ahLst/>
              <a:cxnLst>
                <a:cxn ang="0">
                  <a:pos x="connsiteX0" y="connsiteY0"/>
                </a:cxn>
                <a:cxn ang="0">
                  <a:pos x="connsiteX1" y="connsiteY1"/>
                </a:cxn>
                <a:cxn ang="0">
                  <a:pos x="connsiteX2" y="connsiteY2"/>
                </a:cxn>
                <a:cxn ang="0">
                  <a:pos x="connsiteX3" y="connsiteY3"/>
                </a:cxn>
              </a:cxnLst>
              <a:rect l="l" t="t" r="r" b="b"/>
              <a:pathLst>
                <a:path w="2019300" h="809625">
                  <a:moveTo>
                    <a:pt x="2019300" y="0"/>
                  </a:moveTo>
                  <a:cubicBezTo>
                    <a:pt x="1747043" y="23812"/>
                    <a:pt x="1474787" y="47625"/>
                    <a:pt x="1285875" y="161925"/>
                  </a:cubicBezTo>
                  <a:cubicBezTo>
                    <a:pt x="1096963" y="276225"/>
                    <a:pt x="1100138" y="577850"/>
                    <a:pt x="885825" y="685800"/>
                  </a:cubicBezTo>
                  <a:cubicBezTo>
                    <a:pt x="671512" y="793750"/>
                    <a:pt x="335756" y="801687"/>
                    <a:pt x="0" y="809625"/>
                  </a:cubicBezTo>
                </a:path>
              </a:pathLst>
            </a:custGeom>
            <a:ln w="6350">
              <a:solidFill>
                <a:srgbClr val="C00000"/>
              </a:solidFill>
              <a:prstDash val="dash"/>
              <a:headEnd type="diamond"/>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Freeform 52"/>
            <p:cNvSpPr/>
            <p:nvPr/>
          </p:nvSpPr>
          <p:spPr>
            <a:xfrm rot="21249315">
              <a:off x="6640004" y="4596806"/>
              <a:ext cx="499118" cy="233737"/>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Understand and Evaluate Requirements</a:t>
            </a:r>
            <a:endParaRPr lang="en-US" dirty="0"/>
          </a:p>
        </p:txBody>
      </p:sp>
      <p:sp>
        <p:nvSpPr>
          <p:cNvPr id="3" name="Content Placeholder 2"/>
          <p:cNvSpPr>
            <a:spLocks noGrp="1"/>
          </p:cNvSpPr>
          <p:nvPr>
            <p:ph idx="1"/>
          </p:nvPr>
        </p:nvSpPr>
        <p:spPr>
          <a:xfrm>
            <a:off x="457200" y="1371601"/>
            <a:ext cx="8229600" cy="3428999"/>
          </a:xfrm>
        </p:spPr>
        <p:txBody>
          <a:bodyPr>
            <a:normAutofit fontScale="77500" lnSpcReduction="20000"/>
          </a:bodyPr>
          <a:lstStyle/>
          <a:p>
            <a:r>
              <a:rPr lang="en-US" dirty="0" smtClean="0"/>
              <a:t>Analysis</a:t>
            </a:r>
          </a:p>
          <a:p>
            <a:pPr lvl="1"/>
            <a:r>
              <a:rPr lang="en-US" dirty="0" smtClean="0"/>
              <a:t>Requirements are analyzed in their raw form to address issues such as requirements that are contradicting, incomplete, vague, or just wrong [1].</a:t>
            </a:r>
          </a:p>
          <a:p>
            <a:pPr lvl="1"/>
            <a:r>
              <a:rPr lang="en-US" dirty="0" smtClean="0"/>
              <a:t>Allows architects to clear the air in regard to what needs to be done before devising more detailed designs.</a:t>
            </a:r>
          </a:p>
          <a:p>
            <a:pPr lvl="1"/>
            <a:r>
              <a:rPr lang="en-US" dirty="0" smtClean="0"/>
              <a:t>The following tasks can be performed during analysis:</a:t>
            </a:r>
          </a:p>
          <a:p>
            <a:pPr lvl="2"/>
            <a:r>
              <a:rPr lang="en-US" dirty="0" smtClean="0"/>
              <a:t>Requirement classification</a:t>
            </a:r>
          </a:p>
          <a:p>
            <a:pPr lvl="2"/>
            <a:r>
              <a:rPr lang="en-US" dirty="0" smtClean="0"/>
              <a:t>Requirement prioritization</a:t>
            </a:r>
          </a:p>
          <a:p>
            <a:pPr lvl="2"/>
            <a:r>
              <a:rPr lang="en-US" dirty="0" smtClean="0"/>
              <a:t>Requirement negotiation</a:t>
            </a:r>
          </a:p>
          <a:p>
            <a:pPr lvl="2"/>
            <a:r>
              <a:rPr lang="en-US" dirty="0" smtClean="0"/>
              <a:t>Conceptual modeling</a:t>
            </a:r>
          </a:p>
          <a:p>
            <a:endParaRPr lang="en-US" dirty="0" smtClean="0"/>
          </a:p>
          <a:p>
            <a:r>
              <a:rPr lang="en-US" dirty="0" smtClean="0"/>
              <a:t>Requirement classification</a:t>
            </a:r>
          </a:p>
          <a:p>
            <a:pPr lvl="1"/>
            <a:r>
              <a:rPr lang="en-US" dirty="0" smtClean="0"/>
              <a:t>Performed for identifying the nature of each requirement</a:t>
            </a:r>
          </a:p>
          <a:p>
            <a:pPr lvl="2"/>
            <a:r>
              <a:rPr lang="en-US" dirty="0" smtClean="0"/>
              <a:t>Functional vs. non-functional</a:t>
            </a:r>
          </a:p>
          <a:p>
            <a:pPr lvl="2"/>
            <a:r>
              <a:rPr lang="en-US" dirty="0" smtClean="0"/>
              <a:t>Product vs. process</a:t>
            </a:r>
          </a:p>
          <a:p>
            <a:pPr lvl="2"/>
            <a:r>
              <a:rPr lang="en-US" dirty="0" smtClean="0"/>
              <a:t>Imposed vs. derived</a:t>
            </a:r>
          </a:p>
          <a:p>
            <a:pPr lvl="1"/>
            <a:endParaRPr lang="en-US" dirty="0" smtClean="0"/>
          </a:p>
          <a:p>
            <a:pPr>
              <a:buNone/>
            </a:pP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pic>
        <p:nvPicPr>
          <p:cNvPr id="2050" name="Picture 2"/>
          <p:cNvPicPr>
            <a:picLocks noChangeAspect="1" noChangeArrowheads="1"/>
          </p:cNvPicPr>
          <p:nvPr/>
        </p:nvPicPr>
        <p:blipFill>
          <a:blip r:embed="rId2" cstate="print"/>
          <a:srcRect/>
          <a:stretch>
            <a:fillRect/>
          </a:stretch>
        </p:blipFill>
        <p:spPr bwMode="auto">
          <a:xfrm>
            <a:off x="1524000" y="4800600"/>
            <a:ext cx="5943600" cy="14954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Understand and Evaluate Requirements</a:t>
            </a:r>
            <a:endParaRPr lang="en-US" dirty="0"/>
          </a:p>
        </p:txBody>
      </p:sp>
      <p:sp>
        <p:nvSpPr>
          <p:cNvPr id="3" name="Content Placeholder 2"/>
          <p:cNvSpPr>
            <a:spLocks noGrp="1"/>
          </p:cNvSpPr>
          <p:nvPr>
            <p:ph idx="1"/>
          </p:nvPr>
        </p:nvSpPr>
        <p:spPr/>
        <p:txBody>
          <a:bodyPr/>
          <a:lstStyle/>
          <a:p>
            <a:r>
              <a:rPr lang="en-US" dirty="0" smtClean="0"/>
              <a:t>Requirement prioritization and negotiation</a:t>
            </a:r>
          </a:p>
          <a:p>
            <a:pPr lvl="1"/>
            <a:r>
              <a:rPr lang="en-US" dirty="0" smtClean="0"/>
              <a:t>Helps identify the most important functions of the software system.</a:t>
            </a:r>
          </a:p>
          <a:p>
            <a:pPr lvl="1"/>
            <a:r>
              <a:rPr lang="en-US" dirty="0" smtClean="0"/>
              <a:t>When done properly, it can help refine the projected schedule by determining which requirements need to be processed first.</a:t>
            </a:r>
          </a:p>
          <a:p>
            <a:pPr lvl="1"/>
            <a:r>
              <a:rPr lang="en-US" dirty="0" smtClean="0"/>
              <a:t>Can be used to determine different builds of the software</a:t>
            </a:r>
          </a:p>
          <a:p>
            <a:pPr lvl="1"/>
            <a:r>
              <a:rPr lang="en-US" dirty="0" smtClean="0"/>
              <a:t>Can help during negotiation when conflicts between requirements are identified</a:t>
            </a:r>
          </a:p>
          <a:p>
            <a:pPr lvl="1"/>
            <a:endParaRPr lang="en-US" dirty="0" smtClean="0"/>
          </a:p>
          <a:p>
            <a:r>
              <a:rPr lang="en-US" dirty="0" smtClean="0"/>
              <a:t>Conceptual modeling</a:t>
            </a:r>
          </a:p>
          <a:p>
            <a:pPr lvl="1"/>
            <a:r>
              <a:rPr lang="en-US" dirty="0" smtClean="0"/>
              <a:t>Conceptual models are created to further identify the requirements by understanding  their context, discovering the bounds of the software system, and conceptualizing how the system interacts with its environment.</a:t>
            </a:r>
          </a:p>
          <a:p>
            <a:pPr lvl="1"/>
            <a:r>
              <a:rPr lang="en-US" dirty="0" smtClean="0"/>
              <a:t>In many projects, this is where architectural design begins, since system decomposition is essential to developing effective conceptual models.</a:t>
            </a:r>
          </a:p>
          <a:p>
            <a:pPr lvl="1"/>
            <a:endParaRPr lang="en-US" dirty="0" smtClean="0"/>
          </a:p>
          <a:p>
            <a:pPr lvl="1">
              <a:buNone/>
            </a:pP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Understand and Evaluate Requirements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Specification and validation</a:t>
            </a:r>
          </a:p>
          <a:p>
            <a:pPr lvl="1"/>
            <a:r>
              <a:rPr lang="en-US" dirty="0" smtClean="0"/>
              <a:t>Activity where the results of elicitation an analysis are formally captured and documented in an appropriate format for the use and review of all stakeholders.</a:t>
            </a:r>
          </a:p>
          <a:p>
            <a:pPr lvl="1"/>
            <a:r>
              <a:rPr lang="en-US" dirty="0" smtClean="0"/>
              <a:t>The format of the specification varies depending on the developing organization or project; however, it is typically produced as a document, or its electronic equivalent, and is referred as the software requirements specification.</a:t>
            </a:r>
          </a:p>
          <a:p>
            <a:pPr lvl="1"/>
            <a:endParaRPr lang="en-US" dirty="0" smtClean="0"/>
          </a:p>
          <a:p>
            <a:r>
              <a:rPr lang="en-US" dirty="0" smtClean="0"/>
              <a:t>When specifying requirements, it is important that each requirement exhibit certain characteristics desired for designing successful systems.  Requirements must be:</a:t>
            </a:r>
          </a:p>
          <a:p>
            <a:pPr lvl="1"/>
            <a:r>
              <a:rPr lang="en-US" dirty="0" smtClean="0"/>
              <a:t>Specific	</a:t>
            </a:r>
          </a:p>
          <a:p>
            <a:pPr lvl="1"/>
            <a:r>
              <a:rPr lang="en-US" dirty="0" smtClean="0"/>
              <a:t>Correct</a:t>
            </a:r>
          </a:p>
          <a:p>
            <a:pPr lvl="1"/>
            <a:r>
              <a:rPr lang="en-US" dirty="0" smtClean="0"/>
              <a:t>Complete</a:t>
            </a:r>
          </a:p>
          <a:p>
            <a:pPr lvl="1"/>
            <a:r>
              <a:rPr lang="en-US" dirty="0" smtClean="0"/>
              <a:t>Consistent</a:t>
            </a:r>
          </a:p>
          <a:p>
            <a:pPr lvl="1"/>
            <a:r>
              <a:rPr lang="en-US" dirty="0" smtClean="0"/>
              <a:t>Attainable</a:t>
            </a:r>
          </a:p>
          <a:p>
            <a:pPr lvl="1"/>
            <a:r>
              <a:rPr lang="en-US" dirty="0" smtClean="0"/>
              <a:t>Verifiable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Understand and Evaluate Requirements</a:t>
            </a:r>
            <a:endParaRPr lang="en-US" dirty="0"/>
          </a:p>
        </p:txBody>
      </p:sp>
      <p:sp>
        <p:nvSpPr>
          <p:cNvPr id="3" name="Content Placeholder 2"/>
          <p:cNvSpPr>
            <a:spLocks noGrp="1"/>
          </p:cNvSpPr>
          <p:nvPr>
            <p:ph idx="1"/>
          </p:nvPr>
        </p:nvSpPr>
        <p:spPr>
          <a:xfrm>
            <a:off x="457200" y="1371601"/>
            <a:ext cx="8229600" cy="2209799"/>
          </a:xfrm>
        </p:spPr>
        <p:txBody>
          <a:bodyPr>
            <a:normAutofit fontScale="92500" lnSpcReduction="20000"/>
          </a:bodyPr>
          <a:lstStyle/>
          <a:p>
            <a:r>
              <a:rPr lang="en-US" dirty="0" smtClean="0"/>
              <a:t>On being </a:t>
            </a:r>
            <a:r>
              <a:rPr lang="en-US" i="1" dirty="0" smtClean="0"/>
              <a:t>specific</a:t>
            </a:r>
            <a:r>
              <a:rPr lang="en-US" dirty="0" smtClean="0"/>
              <a:t>,</a:t>
            </a:r>
          </a:p>
          <a:p>
            <a:pPr lvl="1"/>
            <a:r>
              <a:rPr lang="en-US" dirty="0" smtClean="0"/>
              <a:t>Requirements need to be specified in a clear, concise, and exclusive manner.</a:t>
            </a:r>
          </a:p>
          <a:p>
            <a:pPr lvl="1"/>
            <a:r>
              <a:rPr lang="en-US" dirty="0" smtClean="0"/>
              <a:t>Clear requirements are not open to interpretation; unclear or ambiguous requirements lead to incorrect designs, incorrect implementations, and deceptive validation during test.</a:t>
            </a:r>
          </a:p>
          <a:p>
            <a:pPr lvl="1"/>
            <a:r>
              <a:rPr lang="en-US" dirty="0" smtClean="0"/>
              <a:t>Concise requirements are brief and to the point and are therefore easier to understand.</a:t>
            </a:r>
          </a:p>
          <a:p>
            <a:pPr lvl="1"/>
            <a:r>
              <a:rPr lang="en-US" dirty="0" smtClean="0"/>
              <a:t>Exclusive requirements specify one, and only one thing, making them easier to verify.</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
        <p:nvSpPr>
          <p:cNvPr id="7" name="TextBox 6"/>
          <p:cNvSpPr txBox="1"/>
          <p:nvPr/>
        </p:nvSpPr>
        <p:spPr>
          <a:xfrm>
            <a:off x="1600200" y="3657600"/>
            <a:ext cx="6781800" cy="523220"/>
          </a:xfrm>
          <a:prstGeom prst="rect">
            <a:avLst/>
          </a:prstGeom>
          <a:noFill/>
        </p:spPr>
        <p:txBody>
          <a:bodyPr wrap="square" rtlCol="0">
            <a:spAutoFit/>
          </a:bodyPr>
          <a:lstStyle/>
          <a:p>
            <a:r>
              <a:rPr lang="en-US" sz="1400" b="1" dirty="0" smtClean="0">
                <a:latin typeface="Bradley Hand ITC" pitchFamily="66" charset="0"/>
              </a:rPr>
              <a:t>For example, consider the following statement:</a:t>
            </a:r>
          </a:p>
          <a:p>
            <a:r>
              <a:rPr lang="en-US" sz="1400" b="1" u="sng" dirty="0" smtClean="0">
                <a:latin typeface="Bradley Hand ITC" pitchFamily="66" charset="0"/>
              </a:rPr>
              <a:t>The software needs to provide an easy-to-use interface; that is, it must be usable</a:t>
            </a:r>
            <a:r>
              <a:rPr lang="en-US" sz="1400" b="1" dirty="0" smtClean="0">
                <a:latin typeface="Bradley Hand ITC" pitchFamily="66" charset="0"/>
              </a:rPr>
              <a:t>.</a:t>
            </a:r>
            <a:endParaRPr lang="en-US" sz="1400" b="1" dirty="0">
              <a:latin typeface="Bradley Hand ITC" pitchFamily="66" charset="0"/>
            </a:endParaRPr>
          </a:p>
        </p:txBody>
      </p:sp>
      <p:sp>
        <p:nvSpPr>
          <p:cNvPr id="8" name="TextBox 7"/>
          <p:cNvSpPr txBox="1"/>
          <p:nvPr/>
        </p:nvSpPr>
        <p:spPr>
          <a:xfrm>
            <a:off x="381000" y="4419600"/>
            <a:ext cx="3124200" cy="954107"/>
          </a:xfrm>
          <a:prstGeom prst="rect">
            <a:avLst/>
          </a:prstGeom>
          <a:noFill/>
        </p:spPr>
        <p:txBody>
          <a:bodyPr wrap="square" rtlCol="0">
            <a:spAutoFit/>
          </a:bodyPr>
          <a:lstStyle/>
          <a:p>
            <a:r>
              <a:rPr lang="en-US" sz="1400" b="1" dirty="0" smtClean="0">
                <a:solidFill>
                  <a:srgbClr val="C00000"/>
                </a:solidFill>
                <a:latin typeface="Bradley Hand ITC" pitchFamily="66" charset="0"/>
              </a:rPr>
              <a:t>This statement provides important information to begin thinking about what the customer wants and expects from the software system.</a:t>
            </a:r>
            <a:endParaRPr lang="en-US" sz="1400" b="1" dirty="0">
              <a:solidFill>
                <a:srgbClr val="C00000"/>
              </a:solidFill>
              <a:latin typeface="Bradley Hand ITC" pitchFamily="66" charset="0"/>
            </a:endParaRPr>
          </a:p>
        </p:txBody>
      </p:sp>
      <p:sp>
        <p:nvSpPr>
          <p:cNvPr id="9" name="Freeform 8"/>
          <p:cNvSpPr/>
          <p:nvPr/>
        </p:nvSpPr>
        <p:spPr>
          <a:xfrm rot="4447010">
            <a:off x="2950814" y="4206558"/>
            <a:ext cx="367308" cy="233737"/>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Freeform 9"/>
          <p:cNvSpPr/>
          <p:nvPr/>
        </p:nvSpPr>
        <p:spPr>
          <a:xfrm rot="12000148">
            <a:off x="562298" y="5389772"/>
            <a:ext cx="367308" cy="233737"/>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p:cNvSpPr txBox="1"/>
          <p:nvPr/>
        </p:nvSpPr>
        <p:spPr>
          <a:xfrm>
            <a:off x="838200" y="5410200"/>
            <a:ext cx="3200400" cy="954107"/>
          </a:xfrm>
          <a:prstGeom prst="rect">
            <a:avLst/>
          </a:prstGeom>
          <a:noFill/>
        </p:spPr>
        <p:txBody>
          <a:bodyPr wrap="square" rtlCol="0">
            <a:spAutoFit/>
          </a:bodyPr>
          <a:lstStyle/>
          <a:p>
            <a:r>
              <a:rPr lang="en-US" sz="1400" b="1" dirty="0" smtClean="0">
                <a:solidFill>
                  <a:srgbClr val="C00000"/>
                </a:solidFill>
                <a:latin typeface="Bradley Hand ITC" pitchFamily="66" charset="0"/>
              </a:rPr>
              <a:t>However, in its current form, this statement is too generic to use as basis for design, construction, and verification of the software system.</a:t>
            </a:r>
            <a:endParaRPr lang="en-US" sz="1400" b="1" dirty="0">
              <a:solidFill>
                <a:srgbClr val="C00000"/>
              </a:solidFill>
              <a:latin typeface="Bradley Hand ITC" pitchFamily="66" charset="0"/>
            </a:endParaRPr>
          </a:p>
        </p:txBody>
      </p:sp>
      <p:sp>
        <p:nvSpPr>
          <p:cNvPr id="12" name="Freeform 11"/>
          <p:cNvSpPr/>
          <p:nvPr/>
        </p:nvSpPr>
        <p:spPr>
          <a:xfrm rot="6299216">
            <a:off x="3481931" y="5348561"/>
            <a:ext cx="367308" cy="233737"/>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p:cNvSpPr txBox="1"/>
          <p:nvPr/>
        </p:nvSpPr>
        <p:spPr>
          <a:xfrm>
            <a:off x="3810000" y="4419600"/>
            <a:ext cx="3200400" cy="954107"/>
          </a:xfrm>
          <a:prstGeom prst="rect">
            <a:avLst/>
          </a:prstGeom>
          <a:noFill/>
        </p:spPr>
        <p:txBody>
          <a:bodyPr wrap="square" rtlCol="0">
            <a:spAutoFit/>
          </a:bodyPr>
          <a:lstStyle/>
          <a:p>
            <a:r>
              <a:rPr lang="en-US" sz="1400" b="1" dirty="0" smtClean="0">
                <a:solidFill>
                  <a:srgbClr val="C00000"/>
                </a:solidFill>
                <a:latin typeface="Bradley Hand ITC" pitchFamily="66" charset="0"/>
              </a:rPr>
              <a:t>For example, a console-based interface may be highly usable for developers, but not for customers, which may prefer a graphical user interface!</a:t>
            </a:r>
            <a:endParaRPr lang="en-US" sz="1400" b="1" dirty="0">
              <a:solidFill>
                <a:srgbClr val="C00000"/>
              </a:solidFill>
              <a:latin typeface="Bradley Hand ITC" pitchFamily="66" charset="0"/>
            </a:endParaRPr>
          </a:p>
        </p:txBody>
      </p:sp>
      <p:sp>
        <p:nvSpPr>
          <p:cNvPr id="15" name="Freeform 14"/>
          <p:cNvSpPr/>
          <p:nvPr/>
        </p:nvSpPr>
        <p:spPr>
          <a:xfrm rot="11221668">
            <a:off x="5807031" y="5204473"/>
            <a:ext cx="391277" cy="282802"/>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p:cNvSpPr txBox="1"/>
          <p:nvPr/>
        </p:nvSpPr>
        <p:spPr>
          <a:xfrm>
            <a:off x="4572000" y="5486400"/>
            <a:ext cx="4191000" cy="738664"/>
          </a:xfrm>
          <a:prstGeom prst="rect">
            <a:avLst/>
          </a:prstGeom>
          <a:noFill/>
        </p:spPr>
        <p:txBody>
          <a:bodyPr wrap="square" rtlCol="0">
            <a:spAutoFit/>
          </a:bodyPr>
          <a:lstStyle/>
          <a:p>
            <a:r>
              <a:rPr lang="en-US" sz="1400" b="1" dirty="0" smtClean="0">
                <a:solidFill>
                  <a:srgbClr val="C00000"/>
                </a:solidFill>
                <a:latin typeface="Bradley Hand ITC" pitchFamily="66" charset="0"/>
              </a:rPr>
              <a:t>Designing based on different interpretations of this statement may entail sacrificing other functions that may be important to customers and users!</a:t>
            </a:r>
            <a:endParaRPr lang="en-US" sz="1400" b="1" dirty="0">
              <a:solidFill>
                <a:srgbClr val="C00000"/>
              </a:solidFill>
              <a:latin typeface="Bradley Hand ITC" pitchFamily="66"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Understand and Evaluate Requirements</a:t>
            </a:r>
            <a:endParaRPr lang="en-US" dirty="0"/>
          </a:p>
        </p:txBody>
      </p:sp>
      <p:sp>
        <p:nvSpPr>
          <p:cNvPr id="3" name="Content Placeholder 2"/>
          <p:cNvSpPr>
            <a:spLocks noGrp="1"/>
          </p:cNvSpPr>
          <p:nvPr>
            <p:ph idx="1"/>
          </p:nvPr>
        </p:nvSpPr>
        <p:spPr>
          <a:xfrm>
            <a:off x="457200" y="1371601"/>
            <a:ext cx="8229600" cy="533399"/>
          </a:xfrm>
        </p:spPr>
        <p:txBody>
          <a:bodyPr/>
          <a:lstStyle/>
          <a:p>
            <a:r>
              <a:rPr lang="en-US" dirty="0" smtClean="0"/>
              <a:t>Example of specific and nonspecific requirements:</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pic>
        <p:nvPicPr>
          <p:cNvPr id="3074" name="Picture 2"/>
          <p:cNvPicPr>
            <a:picLocks noChangeAspect="1" noChangeArrowheads="1"/>
          </p:cNvPicPr>
          <p:nvPr/>
        </p:nvPicPr>
        <p:blipFill>
          <a:blip r:embed="rId2" cstate="print"/>
          <a:srcRect/>
          <a:stretch>
            <a:fillRect/>
          </a:stretch>
        </p:blipFill>
        <p:spPr bwMode="auto">
          <a:xfrm>
            <a:off x="1614488" y="2581275"/>
            <a:ext cx="5915025" cy="1695450"/>
          </a:xfrm>
          <a:prstGeom prst="rect">
            <a:avLst/>
          </a:prstGeom>
          <a:noFill/>
          <a:ln w="9525">
            <a:noFill/>
            <a:miter lim="800000"/>
            <a:headEnd/>
            <a:tailEnd/>
          </a:ln>
        </p:spPr>
      </p:pic>
      <p:sp>
        <p:nvSpPr>
          <p:cNvPr id="9" name="TextBox 8"/>
          <p:cNvSpPr txBox="1"/>
          <p:nvPr/>
        </p:nvSpPr>
        <p:spPr>
          <a:xfrm>
            <a:off x="2819400" y="2209800"/>
            <a:ext cx="2514600" cy="307777"/>
          </a:xfrm>
          <a:prstGeom prst="rect">
            <a:avLst/>
          </a:prstGeom>
          <a:noFill/>
        </p:spPr>
        <p:txBody>
          <a:bodyPr wrap="square" rtlCol="0">
            <a:spAutoFit/>
          </a:bodyPr>
          <a:lstStyle/>
          <a:p>
            <a:r>
              <a:rPr lang="en-US" sz="1400" b="1" dirty="0" smtClean="0">
                <a:solidFill>
                  <a:srgbClr val="C00000"/>
                </a:solidFill>
                <a:latin typeface="Bradley Hand ITC" pitchFamily="66" charset="0"/>
              </a:rPr>
              <a:t>Search the database for what?</a:t>
            </a:r>
            <a:endParaRPr lang="en-US" sz="1400" b="1" dirty="0">
              <a:solidFill>
                <a:srgbClr val="C00000"/>
              </a:solidFill>
              <a:latin typeface="Bradley Hand ITC" pitchFamily="66" charset="0"/>
            </a:endParaRPr>
          </a:p>
        </p:txBody>
      </p:sp>
      <p:sp>
        <p:nvSpPr>
          <p:cNvPr id="10" name="Freeform 9"/>
          <p:cNvSpPr/>
          <p:nvPr/>
        </p:nvSpPr>
        <p:spPr>
          <a:xfrm rot="16200000">
            <a:off x="4708263" y="2530738"/>
            <a:ext cx="467478" cy="282802"/>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p:cNvSpPr txBox="1"/>
          <p:nvPr/>
        </p:nvSpPr>
        <p:spPr>
          <a:xfrm>
            <a:off x="7543800" y="2362200"/>
            <a:ext cx="1066800" cy="523220"/>
          </a:xfrm>
          <a:prstGeom prst="rect">
            <a:avLst/>
          </a:prstGeom>
          <a:noFill/>
        </p:spPr>
        <p:txBody>
          <a:bodyPr wrap="square" rtlCol="0">
            <a:spAutoFit/>
          </a:bodyPr>
          <a:lstStyle/>
          <a:p>
            <a:r>
              <a:rPr lang="en-US" sz="1400" b="1" dirty="0" smtClean="0">
                <a:solidFill>
                  <a:srgbClr val="C00000"/>
                </a:solidFill>
                <a:latin typeface="Bradley Hand ITC" pitchFamily="66" charset="0"/>
              </a:rPr>
              <a:t>What does this mean?</a:t>
            </a:r>
            <a:endParaRPr lang="en-US" sz="1400" b="1" dirty="0">
              <a:solidFill>
                <a:srgbClr val="C00000"/>
              </a:solidFill>
              <a:latin typeface="Bradley Hand ITC" pitchFamily="66" charset="0"/>
            </a:endParaRPr>
          </a:p>
        </p:txBody>
      </p:sp>
      <p:sp>
        <p:nvSpPr>
          <p:cNvPr id="12" name="Freeform 11"/>
          <p:cNvSpPr/>
          <p:nvPr/>
        </p:nvSpPr>
        <p:spPr>
          <a:xfrm rot="16200000">
            <a:off x="5747961" y="1262439"/>
            <a:ext cx="467478" cy="3581400"/>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p:cNvSpPr txBox="1"/>
          <p:nvPr/>
        </p:nvSpPr>
        <p:spPr>
          <a:xfrm>
            <a:off x="609600" y="3886200"/>
            <a:ext cx="990600" cy="523220"/>
          </a:xfrm>
          <a:prstGeom prst="rect">
            <a:avLst/>
          </a:prstGeom>
          <a:noFill/>
        </p:spPr>
        <p:txBody>
          <a:bodyPr wrap="square" rtlCol="0">
            <a:spAutoFit/>
          </a:bodyPr>
          <a:lstStyle/>
          <a:p>
            <a:r>
              <a:rPr lang="en-US" sz="1400" b="1" dirty="0" smtClean="0">
                <a:solidFill>
                  <a:srgbClr val="C00000"/>
                </a:solidFill>
                <a:latin typeface="Bradley Hand ITC" pitchFamily="66" charset="0"/>
              </a:rPr>
              <a:t>Secure and fast?</a:t>
            </a:r>
            <a:endParaRPr lang="en-US" sz="1400" b="1" dirty="0">
              <a:solidFill>
                <a:srgbClr val="C00000"/>
              </a:solidFill>
              <a:latin typeface="Bradley Hand ITC" pitchFamily="66" charset="0"/>
            </a:endParaRPr>
          </a:p>
        </p:txBody>
      </p:sp>
      <p:sp>
        <p:nvSpPr>
          <p:cNvPr id="14" name="Freeform 13"/>
          <p:cNvSpPr/>
          <p:nvPr/>
        </p:nvSpPr>
        <p:spPr>
          <a:xfrm rot="5133044">
            <a:off x="1286488" y="3603805"/>
            <a:ext cx="467478" cy="456686"/>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p:cNvSpPr txBox="1"/>
          <p:nvPr/>
        </p:nvSpPr>
        <p:spPr>
          <a:xfrm>
            <a:off x="2743200" y="4419600"/>
            <a:ext cx="4267200" cy="738664"/>
          </a:xfrm>
          <a:prstGeom prst="rect">
            <a:avLst/>
          </a:prstGeom>
          <a:noFill/>
        </p:spPr>
        <p:txBody>
          <a:bodyPr wrap="square" rtlCol="0">
            <a:spAutoFit/>
          </a:bodyPr>
          <a:lstStyle/>
          <a:p>
            <a:r>
              <a:rPr lang="en-US" sz="1400" b="1" dirty="0" smtClean="0">
                <a:solidFill>
                  <a:srgbClr val="C00000"/>
                </a:solidFill>
                <a:latin typeface="Bradley Hand ITC" pitchFamily="66" charset="0"/>
              </a:rPr>
              <a:t>These two requirements are specific and provide the information required to determine what secure and fast mean! </a:t>
            </a:r>
            <a:endParaRPr lang="en-US" sz="1400" b="1" dirty="0">
              <a:solidFill>
                <a:srgbClr val="C00000"/>
              </a:solidFill>
              <a:latin typeface="Bradley Hand ITC" pitchFamily="66" charset="0"/>
            </a:endParaRPr>
          </a:p>
        </p:txBody>
      </p:sp>
      <p:sp>
        <p:nvSpPr>
          <p:cNvPr id="16" name="Freeform 15"/>
          <p:cNvSpPr/>
          <p:nvPr/>
        </p:nvSpPr>
        <p:spPr>
          <a:xfrm rot="2736002">
            <a:off x="3447070" y="4177065"/>
            <a:ext cx="292981" cy="216525"/>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Understand and Evaluate Requirements</a:t>
            </a:r>
            <a:endParaRPr lang="en-US" dirty="0"/>
          </a:p>
        </p:txBody>
      </p:sp>
      <p:sp>
        <p:nvSpPr>
          <p:cNvPr id="3" name="Content Placeholder 2"/>
          <p:cNvSpPr>
            <a:spLocks noGrp="1"/>
          </p:cNvSpPr>
          <p:nvPr>
            <p:ph idx="1"/>
          </p:nvPr>
        </p:nvSpPr>
        <p:spPr>
          <a:xfrm>
            <a:off x="457200" y="1371601"/>
            <a:ext cx="8229600" cy="2666999"/>
          </a:xfrm>
        </p:spPr>
        <p:txBody>
          <a:bodyPr>
            <a:normAutofit fontScale="92500" lnSpcReduction="20000"/>
          </a:bodyPr>
          <a:lstStyle/>
          <a:p>
            <a:r>
              <a:rPr lang="en-US" dirty="0" smtClean="0"/>
              <a:t>On being </a:t>
            </a:r>
            <a:r>
              <a:rPr lang="en-US" i="1" dirty="0" smtClean="0"/>
              <a:t>correct</a:t>
            </a:r>
            <a:r>
              <a:rPr lang="en-US" dirty="0" smtClean="0"/>
              <a:t>,</a:t>
            </a:r>
          </a:p>
          <a:p>
            <a:pPr lvl="1"/>
            <a:r>
              <a:rPr lang="en-US" dirty="0" smtClean="0"/>
              <a:t>Requirements need to be correct in the sense that they must accurately describe a desired system function.</a:t>
            </a:r>
          </a:p>
          <a:p>
            <a:pPr lvl="1"/>
            <a:r>
              <a:rPr lang="en-US" dirty="0" smtClean="0"/>
              <a:t>In some cases, correctness of requirements is easily identified; in others, it is not.</a:t>
            </a:r>
          </a:p>
          <a:p>
            <a:pPr lvl="1"/>
            <a:r>
              <a:rPr lang="en-US" dirty="0" smtClean="0"/>
              <a:t>Laplante [1] presents an example based on requirements for a computer security system for which it requires users to </a:t>
            </a:r>
            <a:r>
              <a:rPr lang="en-US" i="1" dirty="0" smtClean="0">
                <a:solidFill>
                  <a:srgbClr val="C00000"/>
                </a:solidFill>
              </a:rPr>
              <a:t>log on using a unique combination of user ID and password</a:t>
            </a:r>
            <a:r>
              <a:rPr lang="en-US" dirty="0" smtClean="0"/>
              <a:t>.</a:t>
            </a:r>
          </a:p>
          <a:p>
            <a:pPr lvl="2"/>
            <a:r>
              <a:rPr lang="en-US" dirty="0" smtClean="0"/>
              <a:t>In this case, when users attempt to log on using an already existing user name or password, the system is required to reject the attempt, therefore giving insight into someone else’s logon information.</a:t>
            </a:r>
          </a:p>
          <a:p>
            <a:pPr lvl="1"/>
            <a:r>
              <a:rPr lang="en-US" dirty="0" smtClean="0"/>
              <a:t>Incorrect requirements can lead to incorrect or undesired behavior.</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grpSp>
        <p:nvGrpSpPr>
          <p:cNvPr id="46" name="Group 45"/>
          <p:cNvGrpSpPr/>
          <p:nvPr/>
        </p:nvGrpSpPr>
        <p:grpSpPr>
          <a:xfrm>
            <a:off x="1295400" y="4114800"/>
            <a:ext cx="7467600" cy="2199620"/>
            <a:chOff x="1295400" y="4114800"/>
            <a:chExt cx="7467600" cy="2199620"/>
          </a:xfrm>
        </p:grpSpPr>
        <p:grpSp>
          <p:nvGrpSpPr>
            <p:cNvPr id="43" name="Group 42"/>
            <p:cNvGrpSpPr/>
            <p:nvPr/>
          </p:nvGrpSpPr>
          <p:grpSpPr>
            <a:xfrm>
              <a:off x="1295400" y="4114800"/>
              <a:ext cx="6115050" cy="2047123"/>
              <a:chOff x="2419350" y="4356654"/>
              <a:chExt cx="6115050" cy="2047123"/>
            </a:xfrm>
          </p:grpSpPr>
          <p:pic>
            <p:nvPicPr>
              <p:cNvPr id="7" name="Picture 2" descr="C:\Users\cotero\AppData\Local\Microsoft\Windows\Temporary Internet Files\Content.IE5\ES8921MZ\MC900048773[1].wmf"/>
              <p:cNvPicPr>
                <a:picLocks noChangeAspect="1" noChangeArrowheads="1"/>
              </p:cNvPicPr>
              <p:nvPr/>
            </p:nvPicPr>
            <p:blipFill>
              <a:blip r:embed="rId2" cstate="print"/>
              <a:srcRect/>
              <a:stretch>
                <a:fillRect/>
              </a:stretch>
            </p:blipFill>
            <p:spPr bwMode="auto">
              <a:xfrm>
                <a:off x="5464639" y="5867400"/>
                <a:ext cx="478961" cy="533400"/>
              </a:xfrm>
              <a:prstGeom prst="rect">
                <a:avLst/>
              </a:prstGeom>
              <a:noFill/>
            </p:spPr>
          </p:pic>
          <p:sp>
            <p:nvSpPr>
              <p:cNvPr id="8" name="TextBox 7"/>
              <p:cNvSpPr txBox="1"/>
              <p:nvPr/>
            </p:nvSpPr>
            <p:spPr>
              <a:xfrm>
                <a:off x="3124200" y="6096000"/>
                <a:ext cx="20574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Attempt to register</a:t>
                </a:r>
                <a:endParaRPr lang="en-US" sz="1400" b="1" dirty="0">
                  <a:solidFill>
                    <a:srgbClr val="C00000"/>
                  </a:solidFill>
                  <a:latin typeface="Bradley Hand ITC" pitchFamily="66" charset="0"/>
                </a:endParaRPr>
              </a:p>
            </p:txBody>
          </p:sp>
          <p:grpSp>
            <p:nvGrpSpPr>
              <p:cNvPr id="30" name="Group 29"/>
              <p:cNvGrpSpPr/>
              <p:nvPr/>
            </p:nvGrpSpPr>
            <p:grpSpPr>
              <a:xfrm>
                <a:off x="2438400" y="4419600"/>
                <a:ext cx="1295400" cy="1295400"/>
                <a:chOff x="2743200" y="4648200"/>
                <a:chExt cx="1295400" cy="1295400"/>
              </a:xfrm>
            </p:grpSpPr>
            <p:grpSp>
              <p:nvGrpSpPr>
                <p:cNvPr id="18" name="Group 17"/>
                <p:cNvGrpSpPr/>
                <p:nvPr/>
              </p:nvGrpSpPr>
              <p:grpSpPr>
                <a:xfrm>
                  <a:off x="2743200" y="4648200"/>
                  <a:ext cx="1295400" cy="1295400"/>
                  <a:chOff x="2362200" y="4800600"/>
                  <a:chExt cx="1295400" cy="1295400"/>
                </a:xfrm>
              </p:grpSpPr>
              <p:sp>
                <p:nvSpPr>
                  <p:cNvPr id="10" name="Rectangle 9"/>
                  <p:cNvSpPr/>
                  <p:nvPr/>
                </p:nvSpPr>
                <p:spPr>
                  <a:xfrm>
                    <a:off x="2362200" y="4800600"/>
                    <a:ext cx="1295400" cy="1295400"/>
                  </a:xfrm>
                  <a:prstGeom prst="rect">
                    <a:avLst/>
                  </a:prstGeom>
                  <a:solidFill>
                    <a:schemeClr val="bg1">
                      <a:lumMod val="85000"/>
                    </a:schemeClr>
                  </a:solidFill>
                  <a:ln w="635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2438400" y="4953000"/>
                    <a:ext cx="1143000" cy="1066800"/>
                  </a:xfrm>
                  <a:prstGeom prst="rect">
                    <a:avLst/>
                  </a:prstGeom>
                  <a:solidFill>
                    <a:schemeClr val="bg1">
                      <a:lumMod val="85000"/>
                    </a:schemeClr>
                  </a:solidFill>
                  <a:ln w="6350">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2543175" y="5210175"/>
                    <a:ext cx="914400" cy="152400"/>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2457450" y="5029200"/>
                    <a:ext cx="641522" cy="215444"/>
                  </a:xfrm>
                  <a:prstGeom prst="rect">
                    <a:avLst/>
                  </a:prstGeom>
                  <a:noFill/>
                </p:spPr>
                <p:txBody>
                  <a:bodyPr wrap="none" rtlCol="0">
                    <a:spAutoFit/>
                  </a:bodyPr>
                  <a:lstStyle/>
                  <a:p>
                    <a:r>
                      <a:rPr lang="en-US" sz="800" dirty="0" smtClean="0"/>
                      <a:t>Username:</a:t>
                    </a:r>
                    <a:endParaRPr lang="en-US" sz="800" dirty="0"/>
                  </a:p>
                </p:txBody>
              </p:sp>
              <p:sp>
                <p:nvSpPr>
                  <p:cNvPr id="14" name="Rectangle 13"/>
                  <p:cNvSpPr/>
                  <p:nvPr/>
                </p:nvSpPr>
                <p:spPr>
                  <a:xfrm>
                    <a:off x="3152775" y="5753100"/>
                    <a:ext cx="304800" cy="152400"/>
                  </a:xfrm>
                  <a:prstGeom prst="rect">
                    <a:avLst/>
                  </a:prstGeom>
                  <a:solidFill>
                    <a:schemeClr val="bg1">
                      <a:lumMod val="65000"/>
                    </a:schemeClr>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3086100" y="5715000"/>
                    <a:ext cx="409086" cy="215444"/>
                  </a:xfrm>
                  <a:prstGeom prst="rect">
                    <a:avLst/>
                  </a:prstGeom>
                  <a:noFill/>
                </p:spPr>
                <p:txBody>
                  <a:bodyPr wrap="none" rtlCol="0">
                    <a:spAutoFit/>
                  </a:bodyPr>
                  <a:lstStyle/>
                  <a:p>
                    <a:r>
                      <a:rPr lang="en-US" sz="800" dirty="0" smtClean="0"/>
                      <a:t>Login</a:t>
                    </a:r>
                    <a:endParaRPr lang="en-US" sz="800" dirty="0"/>
                  </a:p>
                </p:txBody>
              </p:sp>
              <p:sp>
                <p:nvSpPr>
                  <p:cNvPr id="16" name="Rectangle 15"/>
                  <p:cNvSpPr/>
                  <p:nvPr/>
                </p:nvSpPr>
                <p:spPr>
                  <a:xfrm>
                    <a:off x="2543175" y="5524500"/>
                    <a:ext cx="914400" cy="152400"/>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2457450" y="5343525"/>
                    <a:ext cx="612668" cy="215444"/>
                  </a:xfrm>
                  <a:prstGeom prst="rect">
                    <a:avLst/>
                  </a:prstGeom>
                  <a:noFill/>
                </p:spPr>
                <p:txBody>
                  <a:bodyPr wrap="none" rtlCol="0">
                    <a:spAutoFit/>
                  </a:bodyPr>
                  <a:lstStyle/>
                  <a:p>
                    <a:r>
                      <a:rPr lang="en-US" sz="800" dirty="0" smtClean="0"/>
                      <a:t>Password:</a:t>
                    </a:r>
                    <a:endParaRPr lang="en-US" sz="800" dirty="0"/>
                  </a:p>
                </p:txBody>
              </p:sp>
            </p:grpSp>
            <p:sp>
              <p:nvSpPr>
                <p:cNvPr id="28" name="TextBox 27"/>
                <p:cNvSpPr txBox="1"/>
                <p:nvPr/>
              </p:nvSpPr>
              <p:spPr>
                <a:xfrm>
                  <a:off x="2895600" y="5029200"/>
                  <a:ext cx="519694" cy="215444"/>
                </a:xfrm>
                <a:prstGeom prst="rect">
                  <a:avLst/>
                </a:prstGeom>
                <a:noFill/>
              </p:spPr>
              <p:txBody>
                <a:bodyPr wrap="none" rtlCol="0">
                  <a:spAutoFit/>
                </a:bodyPr>
                <a:lstStyle/>
                <a:p>
                  <a:r>
                    <a:rPr lang="en-US" sz="800" dirty="0" smtClean="0"/>
                    <a:t>user123</a:t>
                  </a:r>
                  <a:endParaRPr lang="en-US" sz="800" dirty="0"/>
                </a:p>
              </p:txBody>
            </p:sp>
            <p:sp>
              <p:nvSpPr>
                <p:cNvPr id="29" name="TextBox 28"/>
                <p:cNvSpPr txBox="1"/>
                <p:nvPr/>
              </p:nvSpPr>
              <p:spPr>
                <a:xfrm>
                  <a:off x="2895600" y="5334000"/>
                  <a:ext cx="521297" cy="215444"/>
                </a:xfrm>
                <a:prstGeom prst="rect">
                  <a:avLst/>
                </a:prstGeom>
                <a:noFill/>
              </p:spPr>
              <p:txBody>
                <a:bodyPr wrap="none" rtlCol="0">
                  <a:spAutoFit/>
                </a:bodyPr>
                <a:lstStyle/>
                <a:p>
                  <a:r>
                    <a:rPr lang="en-US" sz="800" dirty="0" smtClean="0"/>
                    <a:t>pwd123</a:t>
                  </a:r>
                  <a:endParaRPr lang="en-US" sz="800" dirty="0"/>
                </a:p>
              </p:txBody>
            </p:sp>
          </p:grpSp>
          <p:grpSp>
            <p:nvGrpSpPr>
              <p:cNvPr id="33" name="Group 32"/>
              <p:cNvGrpSpPr/>
              <p:nvPr/>
            </p:nvGrpSpPr>
            <p:grpSpPr>
              <a:xfrm>
                <a:off x="4572000" y="4419600"/>
                <a:ext cx="1295400" cy="1095375"/>
                <a:chOff x="5029200" y="4772025"/>
                <a:chExt cx="1295400" cy="1095375"/>
              </a:xfrm>
            </p:grpSpPr>
            <p:sp>
              <p:nvSpPr>
                <p:cNvPr id="20" name="Rectangle 19"/>
                <p:cNvSpPr/>
                <p:nvPr/>
              </p:nvSpPr>
              <p:spPr>
                <a:xfrm>
                  <a:off x="5029200" y="4800600"/>
                  <a:ext cx="1295400" cy="1066800"/>
                </a:xfrm>
                <a:prstGeom prst="rect">
                  <a:avLst/>
                </a:prstGeom>
                <a:solidFill>
                  <a:schemeClr val="bg1">
                    <a:lumMod val="85000"/>
                  </a:schemeClr>
                </a:solidFill>
                <a:ln w="635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5105400" y="4953000"/>
                  <a:ext cx="1143000" cy="838200"/>
                </a:xfrm>
                <a:prstGeom prst="rect">
                  <a:avLst/>
                </a:prstGeom>
                <a:solidFill>
                  <a:schemeClr val="bg1">
                    <a:lumMod val="85000"/>
                  </a:schemeClr>
                </a:solidFill>
                <a:ln w="6350">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p:cNvSpPr txBox="1"/>
                <p:nvPr/>
              </p:nvSpPr>
              <p:spPr>
                <a:xfrm>
                  <a:off x="5124450" y="5029200"/>
                  <a:ext cx="1149674" cy="461665"/>
                </a:xfrm>
                <a:prstGeom prst="rect">
                  <a:avLst/>
                </a:prstGeom>
                <a:noFill/>
              </p:spPr>
              <p:txBody>
                <a:bodyPr wrap="none" rtlCol="0">
                  <a:spAutoFit/>
                </a:bodyPr>
                <a:lstStyle/>
                <a:p>
                  <a:r>
                    <a:rPr lang="en-US" sz="800" dirty="0" smtClean="0"/>
                    <a:t>Error: You must use a</a:t>
                  </a:r>
                </a:p>
                <a:p>
                  <a:r>
                    <a:rPr lang="en-US" sz="800" dirty="0" smtClean="0"/>
                    <a:t>unique combination of</a:t>
                  </a:r>
                </a:p>
                <a:p>
                  <a:r>
                    <a:rPr lang="en-US" sz="800" dirty="0" smtClean="0"/>
                    <a:t>user ID and password!</a:t>
                  </a:r>
                  <a:endParaRPr lang="en-US" sz="800" dirty="0"/>
                </a:p>
              </p:txBody>
            </p:sp>
            <p:grpSp>
              <p:nvGrpSpPr>
                <p:cNvPr id="32" name="Group 31"/>
                <p:cNvGrpSpPr/>
                <p:nvPr/>
              </p:nvGrpSpPr>
              <p:grpSpPr>
                <a:xfrm>
                  <a:off x="5857783" y="5486400"/>
                  <a:ext cx="314417" cy="215444"/>
                  <a:chOff x="5810158" y="5715000"/>
                  <a:chExt cx="314417" cy="215444"/>
                </a:xfrm>
              </p:grpSpPr>
              <p:sp>
                <p:nvSpPr>
                  <p:cNvPr id="24" name="Rectangle 23"/>
                  <p:cNvSpPr/>
                  <p:nvPr/>
                </p:nvSpPr>
                <p:spPr>
                  <a:xfrm>
                    <a:off x="5819775" y="5753100"/>
                    <a:ext cx="304800" cy="152400"/>
                  </a:xfrm>
                  <a:prstGeom prst="rect">
                    <a:avLst/>
                  </a:prstGeom>
                  <a:solidFill>
                    <a:schemeClr val="bg1">
                      <a:lumMod val="65000"/>
                    </a:schemeClr>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a:off x="5810158" y="5715000"/>
                    <a:ext cx="304892" cy="215444"/>
                  </a:xfrm>
                  <a:prstGeom prst="rect">
                    <a:avLst/>
                  </a:prstGeom>
                  <a:noFill/>
                </p:spPr>
                <p:txBody>
                  <a:bodyPr wrap="none" rtlCol="0">
                    <a:spAutoFit/>
                  </a:bodyPr>
                  <a:lstStyle/>
                  <a:p>
                    <a:r>
                      <a:rPr lang="en-US" sz="800" dirty="0" smtClean="0"/>
                      <a:t>OK</a:t>
                    </a:r>
                    <a:endParaRPr lang="en-US" sz="800" dirty="0"/>
                  </a:p>
                </p:txBody>
              </p:sp>
            </p:grpSp>
            <p:sp>
              <p:nvSpPr>
                <p:cNvPr id="31" name="TextBox 30"/>
                <p:cNvSpPr txBox="1"/>
                <p:nvPr/>
              </p:nvSpPr>
              <p:spPr>
                <a:xfrm>
                  <a:off x="5029200" y="4772025"/>
                  <a:ext cx="675185" cy="215444"/>
                </a:xfrm>
                <a:prstGeom prst="rect">
                  <a:avLst/>
                </a:prstGeom>
                <a:noFill/>
              </p:spPr>
              <p:txBody>
                <a:bodyPr wrap="none" rtlCol="0">
                  <a:spAutoFit/>
                </a:bodyPr>
                <a:lstStyle/>
                <a:p>
                  <a:r>
                    <a:rPr lang="en-US" sz="800" dirty="0" smtClean="0"/>
                    <a:t>Login Error!</a:t>
                  </a:r>
                  <a:endParaRPr lang="en-US" sz="800" dirty="0"/>
                </a:p>
              </p:txBody>
            </p:sp>
          </p:grpSp>
          <p:sp>
            <p:nvSpPr>
              <p:cNvPr id="34" name="Freeform 33"/>
              <p:cNvSpPr/>
              <p:nvPr/>
            </p:nvSpPr>
            <p:spPr>
              <a:xfrm>
                <a:off x="3562350" y="5457824"/>
                <a:ext cx="1924050" cy="638175"/>
              </a:xfrm>
              <a:custGeom>
                <a:avLst/>
                <a:gdLst>
                  <a:gd name="connsiteX0" fmla="*/ 1114425 w 1114425"/>
                  <a:gd name="connsiteY0" fmla="*/ 609600 h 609600"/>
                  <a:gd name="connsiteX1" fmla="*/ 723900 w 1114425"/>
                  <a:gd name="connsiteY1" fmla="*/ 571500 h 609600"/>
                  <a:gd name="connsiteX2" fmla="*/ 371475 w 1114425"/>
                  <a:gd name="connsiteY2" fmla="*/ 219075 h 609600"/>
                  <a:gd name="connsiteX3" fmla="*/ 0 w 1114425"/>
                  <a:gd name="connsiteY3" fmla="*/ 0 h 609600"/>
                </a:gdLst>
                <a:ahLst/>
                <a:cxnLst>
                  <a:cxn ang="0">
                    <a:pos x="connsiteX0" y="connsiteY0"/>
                  </a:cxn>
                  <a:cxn ang="0">
                    <a:pos x="connsiteX1" y="connsiteY1"/>
                  </a:cxn>
                  <a:cxn ang="0">
                    <a:pos x="connsiteX2" y="connsiteY2"/>
                  </a:cxn>
                  <a:cxn ang="0">
                    <a:pos x="connsiteX3" y="connsiteY3"/>
                  </a:cxn>
                </a:cxnLst>
                <a:rect l="l" t="t" r="r" b="b"/>
                <a:pathLst>
                  <a:path w="1114425" h="609600">
                    <a:moveTo>
                      <a:pt x="1114425" y="609600"/>
                    </a:moveTo>
                    <a:lnTo>
                      <a:pt x="723900" y="571500"/>
                    </a:lnTo>
                    <a:cubicBezTo>
                      <a:pt x="600075" y="506413"/>
                      <a:pt x="492125" y="314325"/>
                      <a:pt x="371475" y="219075"/>
                    </a:cubicBezTo>
                    <a:cubicBezTo>
                      <a:pt x="250825" y="123825"/>
                      <a:pt x="125412" y="61912"/>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6" name="Freeform 35"/>
              <p:cNvSpPr/>
              <p:nvPr/>
            </p:nvSpPr>
            <p:spPr>
              <a:xfrm>
                <a:off x="3552825" y="4752975"/>
                <a:ext cx="981075" cy="609600"/>
              </a:xfrm>
              <a:custGeom>
                <a:avLst/>
                <a:gdLst>
                  <a:gd name="connsiteX0" fmla="*/ 0 w 981075"/>
                  <a:gd name="connsiteY0" fmla="*/ 609600 h 609600"/>
                  <a:gd name="connsiteX1" fmla="*/ 323850 w 981075"/>
                  <a:gd name="connsiteY1" fmla="*/ 266700 h 609600"/>
                  <a:gd name="connsiteX2" fmla="*/ 609600 w 981075"/>
                  <a:gd name="connsiteY2" fmla="*/ 57150 h 609600"/>
                  <a:gd name="connsiteX3" fmla="*/ 981075 w 981075"/>
                  <a:gd name="connsiteY3" fmla="*/ 0 h 609600"/>
                </a:gdLst>
                <a:ahLst/>
                <a:cxnLst>
                  <a:cxn ang="0">
                    <a:pos x="connsiteX0" y="connsiteY0"/>
                  </a:cxn>
                  <a:cxn ang="0">
                    <a:pos x="connsiteX1" y="connsiteY1"/>
                  </a:cxn>
                  <a:cxn ang="0">
                    <a:pos x="connsiteX2" y="connsiteY2"/>
                  </a:cxn>
                  <a:cxn ang="0">
                    <a:pos x="connsiteX3" y="connsiteY3"/>
                  </a:cxn>
                </a:cxnLst>
                <a:rect l="l" t="t" r="r" b="b"/>
                <a:pathLst>
                  <a:path w="981075" h="609600">
                    <a:moveTo>
                      <a:pt x="0" y="609600"/>
                    </a:moveTo>
                    <a:cubicBezTo>
                      <a:pt x="111125" y="484187"/>
                      <a:pt x="222250" y="358775"/>
                      <a:pt x="323850" y="266700"/>
                    </a:cubicBezTo>
                    <a:cubicBezTo>
                      <a:pt x="425450" y="174625"/>
                      <a:pt x="500063" y="101600"/>
                      <a:pt x="609600" y="57150"/>
                    </a:cubicBezTo>
                    <a:cubicBezTo>
                      <a:pt x="719137" y="12700"/>
                      <a:pt x="850106" y="6350"/>
                      <a:pt x="98107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7" name="TextBox 36"/>
              <p:cNvSpPr txBox="1"/>
              <p:nvPr/>
            </p:nvSpPr>
            <p:spPr>
              <a:xfrm>
                <a:off x="2419350" y="4381500"/>
                <a:ext cx="524503" cy="215444"/>
              </a:xfrm>
              <a:prstGeom prst="rect">
                <a:avLst/>
              </a:prstGeom>
              <a:noFill/>
            </p:spPr>
            <p:txBody>
              <a:bodyPr wrap="none" rtlCol="0">
                <a:spAutoFit/>
              </a:bodyPr>
              <a:lstStyle/>
              <a:p>
                <a:r>
                  <a:rPr lang="en-US" sz="800" dirty="0" smtClean="0"/>
                  <a:t>Register</a:t>
                </a:r>
                <a:endParaRPr lang="en-US" sz="800" dirty="0"/>
              </a:p>
            </p:txBody>
          </p:sp>
          <p:sp>
            <p:nvSpPr>
              <p:cNvPr id="39" name="TextBox 38"/>
              <p:cNvSpPr txBox="1"/>
              <p:nvPr/>
            </p:nvSpPr>
            <p:spPr>
              <a:xfrm>
                <a:off x="6096000" y="4416623"/>
                <a:ext cx="24384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Display error, per specification</a:t>
                </a:r>
                <a:endParaRPr lang="en-US" sz="1400" b="1" dirty="0">
                  <a:solidFill>
                    <a:srgbClr val="C00000"/>
                  </a:solidFill>
                  <a:latin typeface="Bradley Hand ITC" pitchFamily="66" charset="0"/>
                </a:endParaRPr>
              </a:p>
            </p:txBody>
          </p:sp>
          <p:sp>
            <p:nvSpPr>
              <p:cNvPr id="40" name="Freeform 39"/>
              <p:cNvSpPr/>
              <p:nvPr/>
            </p:nvSpPr>
            <p:spPr>
              <a:xfrm rot="19263920">
                <a:off x="5976248" y="4356654"/>
                <a:ext cx="367308" cy="233737"/>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42" name="Group 41"/>
              <p:cNvGrpSpPr/>
              <p:nvPr/>
            </p:nvGrpSpPr>
            <p:grpSpPr>
              <a:xfrm>
                <a:off x="6019800" y="5029200"/>
                <a:ext cx="1828800" cy="762000"/>
                <a:chOff x="6248400" y="4953000"/>
                <a:chExt cx="1828800" cy="762000"/>
              </a:xfrm>
            </p:grpSpPr>
            <p:sp>
              <p:nvSpPr>
                <p:cNvPr id="38" name="Cloud Callout 37"/>
                <p:cNvSpPr/>
                <p:nvPr/>
              </p:nvSpPr>
              <p:spPr>
                <a:xfrm>
                  <a:off x="6248400" y="4953000"/>
                  <a:ext cx="1828800" cy="762000"/>
                </a:xfrm>
                <a:prstGeom prst="cloudCallout">
                  <a:avLst>
                    <a:gd name="adj1" fmla="val -53869"/>
                    <a:gd name="adj2" fmla="val 67778"/>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p:cNvSpPr txBox="1"/>
                <p:nvPr/>
              </p:nvSpPr>
              <p:spPr>
                <a:xfrm>
                  <a:off x="6400800" y="5105400"/>
                  <a:ext cx="1661032" cy="461665"/>
                </a:xfrm>
                <a:prstGeom prst="rect">
                  <a:avLst/>
                </a:prstGeom>
                <a:noFill/>
              </p:spPr>
              <p:txBody>
                <a:bodyPr wrap="none" rtlCol="0">
                  <a:spAutoFit/>
                </a:bodyPr>
                <a:lstStyle/>
                <a:p>
                  <a:r>
                    <a:rPr lang="en-US" sz="800" dirty="0" smtClean="0"/>
                    <a:t>user123 and pwd123 combination </a:t>
                  </a:r>
                </a:p>
                <a:p>
                  <a:r>
                    <a:rPr lang="en-US" sz="800" dirty="0" smtClean="0"/>
                    <a:t>is taken!  What happens if I try to </a:t>
                  </a:r>
                </a:p>
                <a:p>
                  <a:r>
                    <a:rPr lang="en-US" sz="800" dirty="0" smtClean="0"/>
                    <a:t>log in using this combination?</a:t>
                  </a:r>
                  <a:endParaRPr lang="en-US" sz="800" dirty="0"/>
                </a:p>
              </p:txBody>
            </p:sp>
          </p:grpSp>
        </p:grpSp>
        <p:sp>
          <p:nvSpPr>
            <p:cNvPr id="44" name="TextBox 43"/>
            <p:cNvSpPr txBox="1"/>
            <p:nvPr/>
          </p:nvSpPr>
          <p:spPr>
            <a:xfrm>
              <a:off x="5257800" y="5791200"/>
              <a:ext cx="35052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Yes, that is right.  The system has given away someone else’s logon information!</a:t>
              </a:r>
              <a:endParaRPr lang="en-US" sz="1400" b="1" dirty="0">
                <a:solidFill>
                  <a:srgbClr val="C00000"/>
                </a:solidFill>
                <a:latin typeface="Bradley Hand ITC" pitchFamily="66" charset="0"/>
              </a:endParaRPr>
            </a:p>
          </p:txBody>
        </p:sp>
        <p:sp>
          <p:nvSpPr>
            <p:cNvPr id="45" name="Freeform 44"/>
            <p:cNvSpPr/>
            <p:nvPr/>
          </p:nvSpPr>
          <p:spPr>
            <a:xfrm rot="2573766">
              <a:off x="5284789" y="5633631"/>
              <a:ext cx="283638" cy="190731"/>
            </a:xfrm>
            <a:custGeom>
              <a:avLst/>
              <a:gdLst>
                <a:gd name="connsiteX0" fmla="*/ 533400 w 533400"/>
                <a:gd name="connsiteY0" fmla="*/ 314325 h 314325"/>
                <a:gd name="connsiteX1" fmla="*/ 180975 w 533400"/>
                <a:gd name="connsiteY1" fmla="*/ 238125 h 314325"/>
                <a:gd name="connsiteX2" fmla="*/ 0 w 533400"/>
                <a:gd name="connsiteY2" fmla="*/ 0 h 314325"/>
              </a:gdLst>
              <a:ahLst/>
              <a:cxnLst>
                <a:cxn ang="0">
                  <a:pos x="connsiteX0" y="connsiteY0"/>
                </a:cxn>
                <a:cxn ang="0">
                  <a:pos x="connsiteX1" y="connsiteY1"/>
                </a:cxn>
                <a:cxn ang="0">
                  <a:pos x="connsiteX2" y="connsiteY2"/>
                </a:cxn>
              </a:cxnLst>
              <a:rect l="l" t="t" r="r" b="b"/>
              <a:pathLst>
                <a:path w="533400" h="314325">
                  <a:moveTo>
                    <a:pt x="533400" y="314325"/>
                  </a:moveTo>
                  <a:cubicBezTo>
                    <a:pt x="401637" y="302418"/>
                    <a:pt x="269875" y="290512"/>
                    <a:pt x="180975" y="238125"/>
                  </a:cubicBezTo>
                  <a:cubicBezTo>
                    <a:pt x="92075" y="185738"/>
                    <a:pt x="46037" y="92869"/>
                    <a:pt x="0" y="0"/>
                  </a:cubicBezTo>
                </a:path>
              </a:pathLst>
            </a:custGeom>
            <a:ln w="6350">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Understand and Evaluate Requirements</a:t>
            </a:r>
            <a:endParaRPr lang="en-US" dirty="0"/>
          </a:p>
        </p:txBody>
      </p:sp>
      <p:sp>
        <p:nvSpPr>
          <p:cNvPr id="3" name="Content Placeholder 2"/>
          <p:cNvSpPr>
            <a:spLocks noGrp="1"/>
          </p:cNvSpPr>
          <p:nvPr>
            <p:ph idx="1"/>
          </p:nvPr>
        </p:nvSpPr>
        <p:spPr>
          <a:xfrm>
            <a:off x="457200" y="1371601"/>
            <a:ext cx="8229600" cy="2971799"/>
          </a:xfrm>
        </p:spPr>
        <p:txBody>
          <a:bodyPr>
            <a:normAutofit fontScale="85000" lnSpcReduction="20000"/>
          </a:bodyPr>
          <a:lstStyle/>
          <a:p>
            <a:r>
              <a:rPr lang="en-US" dirty="0" smtClean="0"/>
              <a:t>On being </a:t>
            </a:r>
            <a:r>
              <a:rPr lang="en-US" i="1" dirty="0" smtClean="0"/>
              <a:t>complete</a:t>
            </a:r>
            <a:r>
              <a:rPr lang="en-US" dirty="0" smtClean="0"/>
              <a:t>,</a:t>
            </a:r>
          </a:p>
          <a:p>
            <a:pPr lvl="1"/>
            <a:r>
              <a:rPr lang="en-US" dirty="0" smtClean="0"/>
              <a:t>Requirements must be complete both individually and as collective set.</a:t>
            </a:r>
          </a:p>
          <a:p>
            <a:pPr lvl="2"/>
            <a:r>
              <a:rPr lang="en-US" dirty="0" smtClean="0"/>
              <a:t>This means that each requirement should be specified thoroughly so that it absolutely describes the functions required to meet some need.</a:t>
            </a:r>
          </a:p>
          <a:p>
            <a:pPr lvl="2"/>
            <a:r>
              <a:rPr lang="en-US" dirty="0" smtClean="0"/>
              <a:t>Collectively, requirements need to provide complete specification of the software’s required functionality in the software requirements specification (SRS).</a:t>
            </a:r>
          </a:p>
          <a:p>
            <a:pPr lvl="1"/>
            <a:r>
              <a:rPr lang="en-US" dirty="0" smtClean="0"/>
              <a:t>Incomplete requirements lead to incomplete designs, which in turn leads to incomplete construction of the software system.</a:t>
            </a:r>
          </a:p>
          <a:p>
            <a:pPr lvl="1"/>
            <a:r>
              <a:rPr lang="en-US" dirty="0" smtClean="0"/>
              <a:t>Requirements that are complete help clarify questions during construction and testing by providing information necessary to disambiguate or prevent misinterpretations of required functionality.</a:t>
            </a:r>
          </a:p>
          <a:p>
            <a:pPr lvl="1"/>
            <a:r>
              <a:rPr lang="en-US" dirty="0" smtClean="0"/>
              <a:t>Completeness is hard because it is not always obvious or it is sometimes too difficult to determine when information is missing [1].</a:t>
            </a:r>
          </a:p>
          <a:p>
            <a:pPr lvl="1"/>
            <a:endParaRPr lang="en-US" dirty="0" smtClean="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pic>
        <p:nvPicPr>
          <p:cNvPr id="4098" name="Picture 2"/>
          <p:cNvPicPr>
            <a:picLocks noChangeAspect="1" noChangeArrowheads="1"/>
          </p:cNvPicPr>
          <p:nvPr/>
        </p:nvPicPr>
        <p:blipFill>
          <a:blip r:embed="rId2" cstate="print"/>
          <a:srcRect/>
          <a:stretch>
            <a:fillRect/>
          </a:stretch>
        </p:blipFill>
        <p:spPr bwMode="auto">
          <a:xfrm>
            <a:off x="2209800" y="4545687"/>
            <a:ext cx="6010275" cy="981075"/>
          </a:xfrm>
          <a:prstGeom prst="rect">
            <a:avLst/>
          </a:prstGeom>
          <a:noFill/>
          <a:ln w="9525">
            <a:noFill/>
            <a:miter lim="800000"/>
            <a:headEnd/>
            <a:tailEnd/>
          </a:ln>
        </p:spPr>
      </p:pic>
      <p:sp>
        <p:nvSpPr>
          <p:cNvPr id="8" name="TextBox 7"/>
          <p:cNvSpPr txBox="1"/>
          <p:nvPr/>
        </p:nvSpPr>
        <p:spPr>
          <a:xfrm>
            <a:off x="457200" y="4519136"/>
            <a:ext cx="1524000" cy="1169551"/>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This is a good requirement in the sense that it is specific and correct.  </a:t>
            </a:r>
            <a:endParaRPr lang="en-US" sz="1400" b="1" dirty="0">
              <a:solidFill>
                <a:srgbClr val="C00000"/>
              </a:solidFill>
              <a:latin typeface="Bradley Hand ITC" pitchFamily="66" charset="0"/>
            </a:endParaRPr>
          </a:p>
        </p:txBody>
      </p:sp>
      <p:sp>
        <p:nvSpPr>
          <p:cNvPr id="9" name="Freeform 8"/>
          <p:cNvSpPr/>
          <p:nvPr/>
        </p:nvSpPr>
        <p:spPr>
          <a:xfrm rot="7962304">
            <a:off x="1869757" y="4796353"/>
            <a:ext cx="391277" cy="282802"/>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1828800" y="5585936"/>
            <a:ext cx="6029325" cy="738664"/>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However, if we know the requirements for product reports, then a complete version of this requirement specifies this information.  This help disambiguate the notion of a product report so that it can be implemented easily in code.</a:t>
            </a:r>
            <a:endParaRPr lang="en-US" sz="1400" b="1" dirty="0">
              <a:solidFill>
                <a:srgbClr val="C00000"/>
              </a:solidFill>
              <a:latin typeface="Bradley Hand ITC" pitchFamily="66" charset="0"/>
            </a:endParaRPr>
          </a:p>
        </p:txBody>
      </p:sp>
      <p:sp>
        <p:nvSpPr>
          <p:cNvPr id="11" name="Freeform 10"/>
          <p:cNvSpPr/>
          <p:nvPr/>
        </p:nvSpPr>
        <p:spPr>
          <a:xfrm rot="4556265">
            <a:off x="2017519" y="5396446"/>
            <a:ext cx="309957" cy="293847"/>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Rectangle 11"/>
          <p:cNvSpPr/>
          <p:nvPr/>
        </p:nvSpPr>
        <p:spPr>
          <a:xfrm>
            <a:off x="5715000" y="3962400"/>
            <a:ext cx="3048000" cy="461665"/>
          </a:xfrm>
          <a:prstGeom prst="rect">
            <a:avLst/>
          </a:prstGeom>
        </p:spPr>
        <p:txBody>
          <a:bodyPr wrap="square">
            <a:spAutoFit/>
          </a:bodyPr>
          <a:lstStyle/>
          <a:p>
            <a:r>
              <a:rPr lang="en-US" sz="1200" b="1" dirty="0" smtClean="0">
                <a:solidFill>
                  <a:srgbClr val="C00000"/>
                </a:solidFill>
                <a:latin typeface="Bradley Hand ITC" pitchFamily="66" charset="0"/>
              </a:rPr>
              <a:t>Notice how the original requirement is broken into two complete requirements!</a:t>
            </a:r>
            <a:endParaRPr lang="en-US" sz="1200" dirty="0"/>
          </a:p>
        </p:txBody>
      </p:sp>
      <p:sp>
        <p:nvSpPr>
          <p:cNvPr id="13" name="Freeform 12"/>
          <p:cNvSpPr/>
          <p:nvPr/>
        </p:nvSpPr>
        <p:spPr>
          <a:xfrm rot="13647526">
            <a:off x="7967714" y="4534720"/>
            <a:ext cx="579738" cy="607959"/>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Understand and Evaluate Requirements</a:t>
            </a:r>
            <a:endParaRPr lang="en-US" dirty="0"/>
          </a:p>
        </p:txBody>
      </p:sp>
      <p:sp>
        <p:nvSpPr>
          <p:cNvPr id="3" name="Content Placeholder 2"/>
          <p:cNvSpPr>
            <a:spLocks noGrp="1"/>
          </p:cNvSpPr>
          <p:nvPr>
            <p:ph idx="1"/>
          </p:nvPr>
        </p:nvSpPr>
        <p:spPr>
          <a:xfrm>
            <a:off x="457200" y="1371601"/>
            <a:ext cx="8229600" cy="4114799"/>
          </a:xfrm>
        </p:spPr>
        <p:txBody>
          <a:bodyPr>
            <a:normAutofit fontScale="85000" lnSpcReduction="10000"/>
          </a:bodyPr>
          <a:lstStyle/>
          <a:p>
            <a:r>
              <a:rPr lang="en-US" dirty="0" smtClean="0"/>
              <a:t>On being </a:t>
            </a:r>
            <a:r>
              <a:rPr lang="en-US" i="1" dirty="0" smtClean="0"/>
              <a:t>consistent</a:t>
            </a:r>
            <a:r>
              <a:rPr lang="en-US" dirty="0" smtClean="0"/>
              <a:t>,</a:t>
            </a:r>
          </a:p>
          <a:p>
            <a:pPr lvl="1"/>
            <a:r>
              <a:rPr lang="en-US" dirty="0" smtClean="0"/>
              <a:t>Requirements are consistent when they do not preclude the design or construction of other requirements.</a:t>
            </a:r>
          </a:p>
          <a:p>
            <a:pPr lvl="1"/>
            <a:endParaRPr lang="en-US" dirty="0" smtClean="0"/>
          </a:p>
          <a:p>
            <a:r>
              <a:rPr lang="en-US" dirty="0" smtClean="0"/>
              <a:t>On being </a:t>
            </a:r>
            <a:r>
              <a:rPr lang="en-US" i="1" dirty="0" smtClean="0"/>
              <a:t>attainable</a:t>
            </a:r>
            <a:r>
              <a:rPr lang="en-US" dirty="0" smtClean="0"/>
              <a:t>,</a:t>
            </a:r>
          </a:p>
          <a:p>
            <a:pPr lvl="1"/>
            <a:r>
              <a:rPr lang="en-US" dirty="0" smtClean="0"/>
              <a:t>Requirements that are unattainable serve no purpose. </a:t>
            </a:r>
          </a:p>
          <a:p>
            <a:pPr lvl="1"/>
            <a:r>
              <a:rPr lang="en-US" dirty="0" smtClean="0"/>
              <a:t>Attainability can be determined for both product and process.</a:t>
            </a:r>
          </a:p>
          <a:p>
            <a:endParaRPr lang="en-US" dirty="0" smtClean="0"/>
          </a:p>
          <a:p>
            <a:endParaRPr lang="en-US" dirty="0" smtClean="0"/>
          </a:p>
          <a:p>
            <a:endParaRPr lang="en-US" dirty="0" smtClean="0"/>
          </a:p>
          <a:p>
            <a:endParaRPr lang="en-US" dirty="0" smtClean="0"/>
          </a:p>
          <a:p>
            <a:r>
              <a:rPr lang="en-US" dirty="0" smtClean="0"/>
              <a:t>On being </a:t>
            </a:r>
            <a:r>
              <a:rPr lang="en-US" i="1" dirty="0" smtClean="0"/>
              <a:t>verifiable</a:t>
            </a:r>
            <a:r>
              <a:rPr lang="en-US" dirty="0" smtClean="0"/>
              <a:t>,</a:t>
            </a:r>
          </a:p>
          <a:p>
            <a:pPr lvl="1"/>
            <a:r>
              <a:rPr lang="en-US" dirty="0" smtClean="0"/>
              <a:t>Perhaps the most obvious desirable characteristic of requirements.</a:t>
            </a:r>
          </a:p>
          <a:p>
            <a:pPr lvl="1"/>
            <a:r>
              <a:rPr lang="en-US" dirty="0" smtClean="0"/>
              <a:t>Requirements that cannot be verified cannot be claimed as met.</a:t>
            </a:r>
          </a:p>
          <a:p>
            <a:pPr lvl="1"/>
            <a:r>
              <a:rPr lang="en-US" dirty="0" smtClean="0"/>
              <a:t>Inability to verify requirements point to a serious flaw early on in the development process</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grpSp>
        <p:nvGrpSpPr>
          <p:cNvPr id="10" name="Group 9"/>
          <p:cNvGrpSpPr/>
          <p:nvPr/>
        </p:nvGrpSpPr>
        <p:grpSpPr>
          <a:xfrm>
            <a:off x="1524000" y="3200400"/>
            <a:ext cx="6029325" cy="917306"/>
            <a:chOff x="1524000" y="3810000"/>
            <a:chExt cx="6029325" cy="917306"/>
          </a:xfrm>
        </p:grpSpPr>
        <p:pic>
          <p:nvPicPr>
            <p:cNvPr id="5122" name="Picture 2"/>
            <p:cNvPicPr>
              <a:picLocks noChangeAspect="1" noChangeArrowheads="1"/>
            </p:cNvPicPr>
            <p:nvPr/>
          </p:nvPicPr>
          <p:blipFill>
            <a:blip r:embed="rId2" cstate="print"/>
            <a:srcRect/>
            <a:stretch>
              <a:fillRect/>
            </a:stretch>
          </p:blipFill>
          <p:spPr bwMode="auto">
            <a:xfrm>
              <a:off x="1524000" y="4098656"/>
              <a:ext cx="6029325" cy="628650"/>
            </a:xfrm>
            <a:prstGeom prst="rect">
              <a:avLst/>
            </a:prstGeom>
            <a:noFill/>
            <a:ln w="9525">
              <a:noFill/>
              <a:miter lim="800000"/>
              <a:headEnd/>
              <a:tailEnd/>
            </a:ln>
          </p:spPr>
        </p:pic>
        <p:sp>
          <p:nvSpPr>
            <p:cNvPr id="8" name="TextBox 7"/>
            <p:cNvSpPr txBox="1"/>
            <p:nvPr/>
          </p:nvSpPr>
          <p:spPr>
            <a:xfrm>
              <a:off x="2514600" y="3810000"/>
              <a:ext cx="39624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Can you meet this requirement today?</a:t>
              </a:r>
              <a:endParaRPr lang="en-US" sz="1400" b="1" dirty="0">
                <a:solidFill>
                  <a:srgbClr val="C00000"/>
                </a:solidFill>
                <a:latin typeface="Bradley Hand ITC" pitchFamily="66" charset="0"/>
              </a:endParaRPr>
            </a:p>
          </p:txBody>
        </p:sp>
        <p:sp>
          <p:nvSpPr>
            <p:cNvPr id="9" name="Freeform 8"/>
            <p:cNvSpPr/>
            <p:nvPr/>
          </p:nvSpPr>
          <p:spPr>
            <a:xfrm rot="12608784">
              <a:off x="5911953" y="4041527"/>
              <a:ext cx="391277" cy="282802"/>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pic>
        <p:nvPicPr>
          <p:cNvPr id="5123" name="Picture 3"/>
          <p:cNvPicPr>
            <a:picLocks noChangeAspect="1" noChangeArrowheads="1"/>
          </p:cNvPicPr>
          <p:nvPr/>
        </p:nvPicPr>
        <p:blipFill>
          <a:blip r:embed="rId3" cstate="print"/>
          <a:srcRect/>
          <a:stretch>
            <a:fillRect/>
          </a:stretch>
        </p:blipFill>
        <p:spPr bwMode="auto">
          <a:xfrm>
            <a:off x="1524000" y="5562600"/>
            <a:ext cx="6029325" cy="609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What’s next…</a:t>
            </a:r>
            <a:endParaRPr lang="en-US" dirty="0"/>
          </a:p>
        </p:txBody>
      </p:sp>
      <p:sp>
        <p:nvSpPr>
          <p:cNvPr id="3" name="Content Placeholder 2"/>
          <p:cNvSpPr>
            <a:spLocks noGrp="1"/>
          </p:cNvSpPr>
          <p:nvPr>
            <p:ph idx="1"/>
          </p:nvPr>
        </p:nvSpPr>
        <p:spPr/>
        <p:txBody>
          <a:bodyPr/>
          <a:lstStyle/>
          <a:p>
            <a:r>
              <a:rPr lang="en-US" dirty="0" smtClean="0"/>
              <a:t>In this session, we presented fundamentals concepts of requirements engineering, and provided enough information to successfully create good requirements.</a:t>
            </a:r>
          </a:p>
          <a:p>
            <a:pPr lvl="1"/>
            <a:endParaRPr lang="en-US" dirty="0" smtClean="0"/>
          </a:p>
          <a:p>
            <a:r>
              <a:rPr lang="en-US" dirty="0" smtClean="0"/>
              <a:t>In the next session, we’ll discuss how to design the software architecture using the popular 4+1 View Model, which includes</a:t>
            </a:r>
          </a:p>
          <a:p>
            <a:pPr lvl="2"/>
            <a:r>
              <a:rPr lang="en-US" dirty="0" smtClean="0"/>
              <a:t>Logical view</a:t>
            </a:r>
          </a:p>
          <a:p>
            <a:pPr lvl="2"/>
            <a:r>
              <a:rPr lang="en-US" dirty="0" smtClean="0"/>
              <a:t>Development View</a:t>
            </a:r>
          </a:p>
          <a:p>
            <a:pPr lvl="2"/>
            <a:r>
              <a:rPr lang="en-US" dirty="0" smtClean="0"/>
              <a:t>Process View</a:t>
            </a:r>
          </a:p>
          <a:p>
            <a:pPr lvl="2"/>
            <a:r>
              <a:rPr lang="en-US" dirty="0" smtClean="0"/>
              <a:t>Physical View</a:t>
            </a:r>
          </a:p>
          <a:p>
            <a:pPr lvl="2"/>
            <a:r>
              <a:rPr lang="en-US" dirty="0" smtClean="0"/>
              <a:t>User View</a:t>
            </a:r>
          </a:p>
          <a:p>
            <a:pPr lvl="1">
              <a:buNone/>
            </a:pPr>
            <a:endParaRPr lang="en-US" dirty="0" smtClean="0"/>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lstStyle/>
          <a:p>
            <a:r>
              <a:rPr lang="en-US" dirty="0" smtClean="0"/>
              <a:t>[1] Laplante, Phillip A.  </a:t>
            </a:r>
            <a:r>
              <a:rPr lang="en-US" i="1" dirty="0" smtClean="0"/>
              <a:t>Requirements Engineering for Software and Systems</a:t>
            </a:r>
            <a:r>
              <a:rPr lang="en-US" dirty="0" smtClean="0"/>
              <a:t>.  Boca Raton, FL: </a:t>
            </a:r>
            <a:r>
              <a:rPr lang="en-US" dirty="0" err="1" smtClean="0"/>
              <a:t>Auerbach</a:t>
            </a:r>
            <a:r>
              <a:rPr lang="en-US" dirty="0" smtClean="0"/>
              <a:t> Publications, 2009.</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Tree>
  </p:cSld>
  <p:clrMapOvr>
    <a:masterClrMapping/>
  </p:clrMapOvr>
</p:sld>
</file>

<file path=ppt/theme/theme1.xml><?xml version="1.0" encoding="utf-8"?>
<a:theme xmlns:a="http://schemas.openxmlformats.org/drawingml/2006/main" name="UVa-Wise-Clean-BW">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UVa-Wise-Clean-BW</Template>
  <TotalTime>9578</TotalTime>
  <Words>1833</Words>
  <Application>Microsoft Office PowerPoint</Application>
  <PresentationFormat>On-screen Show (4:3)</PresentationFormat>
  <Paragraphs>264</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UVa-Wise-Clean-BW</vt:lpstr>
      <vt:lpstr>Chapter 3: Principles of Software Architecture </vt:lpstr>
      <vt:lpstr>Session’s Agenda</vt:lpstr>
      <vt:lpstr>Software Architecture Process</vt:lpstr>
      <vt:lpstr>Understand and Evaluate Requirements</vt:lpstr>
      <vt:lpstr>Understand and Evaluate Requirements</vt:lpstr>
      <vt:lpstr>Understand and Evaluate Requirements</vt:lpstr>
      <vt:lpstr>Slide 7</vt:lpstr>
      <vt:lpstr>Understand and Evaluate Requirements</vt:lpstr>
      <vt:lpstr>Understand and Evaluate Requirements</vt:lpstr>
      <vt:lpstr>Understand and Evaluate Requirements</vt:lpstr>
      <vt:lpstr>Understand and Evaluate Requirements</vt:lpstr>
      <vt:lpstr>Understand and Evaluate Requirements</vt:lpstr>
      <vt:lpstr>Understand and Evaluate Requirements</vt:lpstr>
      <vt:lpstr>Understand and Evaluate Requirements</vt:lpstr>
      <vt:lpstr>Understand and Evaluate Requirements</vt:lpstr>
      <vt:lpstr>What’s next…</vt:lpstr>
      <vt:lpstr>References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 Design: Theory and Practice</dc:title>
  <dc:creator>Carlos E. Otero, Ph.D.</dc:creator>
  <dc:description>This slides may be reproduced only for student use when used in conjunction with Software Engineering Design: Theory and Practice. Any other reproduction or use is prohibited without express written permission of the author.</dc:description>
  <cp:lastModifiedBy>cotero</cp:lastModifiedBy>
  <cp:revision>681</cp:revision>
  <dcterms:created xsi:type="dcterms:W3CDTF">2006-08-16T00:00:00Z</dcterms:created>
  <dcterms:modified xsi:type="dcterms:W3CDTF">2012-10-03T11:03:42Z</dcterms:modified>
</cp:coreProperties>
</file>
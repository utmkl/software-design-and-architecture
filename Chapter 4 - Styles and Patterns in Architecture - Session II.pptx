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348" r:id="rId4"/>
    <p:sldId id="349" r:id="rId5"/>
    <p:sldId id="350" r:id="rId6"/>
    <p:sldId id="351" r:id="rId7"/>
    <p:sldId id="355" r:id="rId8"/>
    <p:sldId id="353" r:id="rId9"/>
    <p:sldId id="354" r:id="rId10"/>
    <p:sldId id="356" r:id="rId11"/>
    <p:sldId id="365" r:id="rId12"/>
    <p:sldId id="367" r:id="rId13"/>
    <p:sldId id="368" r:id="rId14"/>
    <p:sldId id="364" r:id="rId15"/>
    <p:sldId id="357" r:id="rId16"/>
    <p:sldId id="366" r:id="rId17"/>
    <p:sldId id="358" r:id="rId18"/>
    <p:sldId id="360" r:id="rId19"/>
    <p:sldId id="361" r:id="rId20"/>
    <p:sldId id="362" r:id="rId21"/>
    <p:sldId id="363" r:id="rId22"/>
    <p:sldId id="336" r:id="rId2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72"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9/28/2014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9/28/2014</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9/28/2014</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9/28/2014</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9/28/2014</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9/28/2014</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9/28/2014</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9/28/2014</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9/28/2014</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9/28/2014</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9/28/2014</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9/28/2014</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9/28/2014</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image" Target="../media/image5.png"/><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msdn.microsoft.com/en-us/library/system.io.filesystemwatcher.aspx" TargetMode="External"/><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4: Patterns and Styles in</a:t>
            </a:r>
            <a:br>
              <a:rPr lang="en-US" dirty="0" smtClean="0"/>
            </a:br>
            <a:r>
              <a:rPr lang="en-US" dirty="0" smtClean="0"/>
              <a:t>Software Architecture</a:t>
            </a:r>
            <a:endParaRPr lang="en-US" dirty="0"/>
          </a:p>
        </p:txBody>
      </p:sp>
      <p:sp>
        <p:nvSpPr>
          <p:cNvPr id="3" name="Subtitle 2"/>
          <p:cNvSpPr>
            <a:spLocks noGrp="1"/>
          </p:cNvSpPr>
          <p:nvPr>
            <p:ph type="subTitle" idx="1"/>
          </p:nvPr>
        </p:nvSpPr>
        <p:spPr/>
        <p:txBody>
          <a:bodyPr>
            <a:normAutofit/>
          </a:bodyPr>
          <a:lstStyle/>
          <a:p>
            <a:r>
              <a:rPr lang="en-US" dirty="0" smtClean="0"/>
              <a:t>Session II: Data-Centered, Data-Flow, and Distributed Systems</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9/28/2014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fontScale="85000" lnSpcReduction="10000"/>
          </a:bodyPr>
          <a:lstStyle/>
          <a:p>
            <a:r>
              <a:rPr lang="en-US" dirty="0" smtClean="0"/>
              <a:t>Data-Centered Systems</a:t>
            </a:r>
          </a:p>
          <a:p>
            <a:pPr lvl="1"/>
            <a:r>
              <a:rPr lang="en-US" dirty="0" smtClean="0"/>
              <a:t>Overview</a:t>
            </a:r>
          </a:p>
          <a:p>
            <a:pPr lvl="1"/>
            <a:r>
              <a:rPr lang="en-US" dirty="0" smtClean="0"/>
              <a:t>Patterns</a:t>
            </a:r>
          </a:p>
          <a:p>
            <a:pPr lvl="2"/>
            <a:r>
              <a:rPr lang="en-US" dirty="0" smtClean="0"/>
              <a:t>Blackboard </a:t>
            </a:r>
          </a:p>
          <a:p>
            <a:pPr lvl="1">
              <a:buNone/>
            </a:pPr>
            <a:endParaRPr lang="en-US" dirty="0" smtClean="0"/>
          </a:p>
          <a:p>
            <a:r>
              <a:rPr lang="en-US" dirty="0" smtClean="0"/>
              <a:t>Data Flow Systems</a:t>
            </a:r>
          </a:p>
          <a:p>
            <a:pPr lvl="1"/>
            <a:r>
              <a:rPr lang="en-US" dirty="0" smtClean="0"/>
              <a:t>Overview</a:t>
            </a:r>
          </a:p>
          <a:p>
            <a:pPr lvl="1"/>
            <a:r>
              <a:rPr lang="en-US" dirty="0" smtClean="0"/>
              <a:t>Patterns</a:t>
            </a:r>
          </a:p>
          <a:p>
            <a:pPr lvl="2"/>
            <a:r>
              <a:rPr lang="en-US" dirty="0" smtClean="0"/>
              <a:t>Pipes-and-Filters</a:t>
            </a:r>
          </a:p>
          <a:p>
            <a:pPr lvl="2"/>
            <a:endParaRPr lang="en-US" dirty="0" smtClean="0"/>
          </a:p>
          <a:p>
            <a:r>
              <a:rPr lang="en-US" dirty="0" smtClean="0"/>
              <a:t>Distributed Systems</a:t>
            </a:r>
          </a:p>
          <a:p>
            <a:pPr lvl="1"/>
            <a:r>
              <a:rPr lang="en-US" dirty="0" smtClean="0"/>
              <a:t>Overview</a:t>
            </a:r>
          </a:p>
          <a:p>
            <a:pPr lvl="1"/>
            <a:r>
              <a:rPr lang="en-US" dirty="0" smtClean="0"/>
              <a:t>Patterns</a:t>
            </a:r>
          </a:p>
          <a:p>
            <a:pPr lvl="2"/>
            <a:r>
              <a:rPr lang="en-US" dirty="0" smtClean="0"/>
              <a:t>Client Server</a:t>
            </a:r>
          </a:p>
          <a:p>
            <a:pPr lvl="2"/>
            <a:endParaRPr lang="en-US" dirty="0" smtClean="0"/>
          </a:p>
          <a:p>
            <a:r>
              <a:rPr lang="en-US" dirty="0" smtClean="0"/>
              <a:t>What’s next…</a:t>
            </a:r>
          </a:p>
          <a:p>
            <a:pPr lvl="1"/>
            <a:r>
              <a:rPr lang="en-US" dirty="0" smtClean="0"/>
              <a:t>Distributed systems – Broker Pattern</a:t>
            </a:r>
          </a:p>
          <a:p>
            <a:pPr lvl="1"/>
            <a:r>
              <a:rPr lang="en-US" dirty="0" smtClean="0"/>
              <a:t>Interactive Systems</a:t>
            </a:r>
          </a:p>
          <a:p>
            <a:pPr lvl="1"/>
            <a:r>
              <a:rPr lang="en-US" dirty="0" smtClean="0"/>
              <a:t>Hierarchical Systems</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9/28/2014</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Data-Centered Systems</a:t>
            </a:r>
            <a:endParaRPr lang="en-US" dirty="0"/>
          </a:p>
        </p:txBody>
      </p:sp>
      <p:sp>
        <p:nvSpPr>
          <p:cNvPr id="3" name="Content Placeholder 2"/>
          <p:cNvSpPr>
            <a:spLocks noGrp="1"/>
          </p:cNvSpPr>
          <p:nvPr>
            <p:ph idx="1"/>
          </p:nvPr>
        </p:nvSpPr>
        <p:spPr>
          <a:xfrm>
            <a:off x="457200" y="1371601"/>
            <a:ext cx="8229600" cy="3124199"/>
          </a:xfrm>
        </p:spPr>
        <p:txBody>
          <a:bodyPr>
            <a:normAutofit fontScale="85000" lnSpcReduction="10000"/>
          </a:bodyPr>
          <a:lstStyle/>
          <a:p>
            <a:r>
              <a:rPr lang="en-US" dirty="0" smtClean="0"/>
              <a:t>Data-centered systems are systems primarily decomposed around a main central repository of data.  These include:</a:t>
            </a:r>
          </a:p>
          <a:p>
            <a:pPr lvl="1"/>
            <a:r>
              <a:rPr lang="en-US" dirty="0" smtClean="0"/>
              <a:t>Data management component</a:t>
            </a:r>
          </a:p>
          <a:p>
            <a:pPr lvl="2"/>
            <a:r>
              <a:rPr lang="en-US" dirty="0" smtClean="0"/>
              <a:t>The data management component controls, provides, and manages access to the system’s data.</a:t>
            </a:r>
          </a:p>
          <a:p>
            <a:pPr lvl="1"/>
            <a:r>
              <a:rPr lang="en-US" dirty="0" smtClean="0"/>
              <a:t>Worker components</a:t>
            </a:r>
          </a:p>
          <a:p>
            <a:pPr lvl="2"/>
            <a:r>
              <a:rPr lang="en-US" dirty="0" smtClean="0"/>
              <a:t>Worker components execute operations and perform work based on the data.</a:t>
            </a:r>
          </a:p>
          <a:p>
            <a:endParaRPr lang="en-US" dirty="0" smtClean="0"/>
          </a:p>
          <a:p>
            <a:r>
              <a:rPr lang="en-US" dirty="0" smtClean="0"/>
              <a:t>Communication in data-centered systems is characterized by a one-to-one bidirectional communication between a worker component and the data management component.</a:t>
            </a:r>
          </a:p>
          <a:p>
            <a:pPr lvl="1"/>
            <a:r>
              <a:rPr lang="en-US" dirty="0" smtClean="0"/>
              <a:t>Worker components do not interact with each other directly; all communication goes through the data management component.</a:t>
            </a:r>
          </a:p>
          <a:p>
            <a:pPr lvl="1"/>
            <a:endParaRPr lang="en-US" dirty="0" smtClean="0"/>
          </a:p>
          <a:p>
            <a:endParaRPr lang="en-US" dirty="0" smtClean="0"/>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grpSp>
        <p:nvGrpSpPr>
          <p:cNvPr id="41" name="Group 40"/>
          <p:cNvGrpSpPr/>
          <p:nvPr/>
        </p:nvGrpSpPr>
        <p:grpSpPr>
          <a:xfrm>
            <a:off x="2438400" y="4343400"/>
            <a:ext cx="5791200" cy="1984177"/>
            <a:chOff x="2438400" y="4495800"/>
            <a:chExt cx="5791200" cy="1984177"/>
          </a:xfrm>
        </p:grpSpPr>
        <p:grpSp>
          <p:nvGrpSpPr>
            <p:cNvPr id="13" name="Group 12"/>
            <p:cNvGrpSpPr/>
            <p:nvPr/>
          </p:nvGrpSpPr>
          <p:grpSpPr>
            <a:xfrm>
              <a:off x="2438400" y="4572000"/>
              <a:ext cx="685800" cy="228600"/>
              <a:chOff x="2133600" y="5334000"/>
              <a:chExt cx="685800" cy="228600"/>
            </a:xfrm>
          </p:grpSpPr>
          <p:sp>
            <p:nvSpPr>
              <p:cNvPr id="7" name="Rectangle 6"/>
              <p:cNvSpPr/>
              <p:nvPr/>
            </p:nvSpPr>
            <p:spPr>
              <a:xfrm>
                <a:off x="2133600" y="53340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133600" y="5334000"/>
                <a:ext cx="685800" cy="215444"/>
              </a:xfrm>
              <a:prstGeom prst="rect">
                <a:avLst/>
              </a:prstGeom>
              <a:noFill/>
            </p:spPr>
            <p:txBody>
              <a:bodyPr wrap="square" rtlCol="0">
                <a:spAutoFit/>
              </a:bodyPr>
              <a:lstStyle/>
              <a:p>
                <a:pPr algn="ctr"/>
                <a:r>
                  <a:rPr lang="en-US" sz="800" dirty="0" smtClean="0"/>
                  <a:t>Worker 1</a:t>
                </a:r>
                <a:endParaRPr lang="en-US" sz="800" dirty="0"/>
              </a:p>
            </p:txBody>
          </p:sp>
        </p:grpSp>
        <p:grpSp>
          <p:nvGrpSpPr>
            <p:cNvPr id="12" name="Group 11"/>
            <p:cNvGrpSpPr/>
            <p:nvPr/>
          </p:nvGrpSpPr>
          <p:grpSpPr>
            <a:xfrm>
              <a:off x="5715000" y="4572000"/>
              <a:ext cx="685800" cy="228600"/>
              <a:chOff x="6477000" y="5410200"/>
              <a:chExt cx="685800" cy="228600"/>
            </a:xfrm>
          </p:grpSpPr>
          <p:sp>
            <p:nvSpPr>
              <p:cNvPr id="9" name="Rectangle 8"/>
              <p:cNvSpPr/>
              <p:nvPr/>
            </p:nvSpPr>
            <p:spPr>
              <a:xfrm>
                <a:off x="6477000" y="54102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477000" y="5410200"/>
                <a:ext cx="685800" cy="215444"/>
              </a:xfrm>
              <a:prstGeom prst="rect">
                <a:avLst/>
              </a:prstGeom>
              <a:noFill/>
            </p:spPr>
            <p:txBody>
              <a:bodyPr wrap="square" rtlCol="0">
                <a:spAutoFit/>
              </a:bodyPr>
              <a:lstStyle/>
              <a:p>
                <a:pPr algn="ctr"/>
                <a:r>
                  <a:rPr lang="en-US" sz="800" dirty="0" smtClean="0"/>
                  <a:t>Worker 2</a:t>
                </a:r>
                <a:endParaRPr lang="en-US" sz="800" dirty="0"/>
              </a:p>
            </p:txBody>
          </p:sp>
        </p:grpSp>
        <p:sp>
          <p:nvSpPr>
            <p:cNvPr id="11" name="Flowchart: Magnetic Disk 10"/>
            <p:cNvSpPr/>
            <p:nvPr/>
          </p:nvSpPr>
          <p:spPr>
            <a:xfrm>
              <a:off x="5791200" y="5486400"/>
              <a:ext cx="609600" cy="460248"/>
            </a:xfrm>
            <a:prstGeom prst="flowChartMagneticDisk">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4105275" y="5638800"/>
              <a:ext cx="838200" cy="228600"/>
              <a:chOff x="3724275" y="5638800"/>
              <a:chExt cx="838200" cy="228600"/>
            </a:xfrm>
          </p:grpSpPr>
          <p:sp>
            <p:nvSpPr>
              <p:cNvPr id="15" name="Rectangle 14"/>
              <p:cNvSpPr/>
              <p:nvPr/>
            </p:nvSpPr>
            <p:spPr>
              <a:xfrm>
                <a:off x="3810000" y="56388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3724275" y="5638800"/>
                <a:ext cx="838200" cy="215444"/>
              </a:xfrm>
              <a:prstGeom prst="rect">
                <a:avLst/>
              </a:prstGeom>
              <a:noFill/>
            </p:spPr>
            <p:txBody>
              <a:bodyPr wrap="square" rtlCol="0">
                <a:spAutoFit/>
              </a:bodyPr>
              <a:lstStyle/>
              <a:p>
                <a:pPr algn="ctr"/>
                <a:r>
                  <a:rPr lang="en-US" sz="800" dirty="0" smtClean="0"/>
                  <a:t>Data Manager</a:t>
                </a:r>
                <a:endParaRPr lang="en-US" sz="800" dirty="0"/>
              </a:p>
            </p:txBody>
          </p:sp>
        </p:grpSp>
        <p:cxnSp>
          <p:nvCxnSpPr>
            <p:cNvPr id="19" name="Straight Connector 18"/>
            <p:cNvCxnSpPr/>
            <p:nvPr/>
          </p:nvCxnSpPr>
          <p:spPr>
            <a:xfrm>
              <a:off x="4876800" y="5753100"/>
              <a:ext cx="914400" cy="0"/>
            </a:xfrm>
            <a:prstGeom prst="line">
              <a:avLst/>
            </a:pr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 name="Freeform 27"/>
            <p:cNvSpPr/>
            <p:nvPr/>
          </p:nvSpPr>
          <p:spPr>
            <a:xfrm>
              <a:off x="2819400" y="4800600"/>
              <a:ext cx="1562100" cy="819150"/>
            </a:xfrm>
            <a:custGeom>
              <a:avLst/>
              <a:gdLst>
                <a:gd name="connsiteX0" fmla="*/ 0 w 1562100"/>
                <a:gd name="connsiteY0" fmla="*/ 0 h 819150"/>
                <a:gd name="connsiteX1" fmla="*/ 504825 w 1562100"/>
                <a:gd name="connsiteY1" fmla="*/ 400050 h 819150"/>
                <a:gd name="connsiteX2" fmla="*/ 1276350 w 1562100"/>
                <a:gd name="connsiteY2" fmla="*/ 504825 h 819150"/>
                <a:gd name="connsiteX3" fmla="*/ 1562100 w 1562100"/>
                <a:gd name="connsiteY3" fmla="*/ 819150 h 819150"/>
              </a:gdLst>
              <a:ahLst/>
              <a:cxnLst>
                <a:cxn ang="0">
                  <a:pos x="connsiteX0" y="connsiteY0"/>
                </a:cxn>
                <a:cxn ang="0">
                  <a:pos x="connsiteX1" y="connsiteY1"/>
                </a:cxn>
                <a:cxn ang="0">
                  <a:pos x="connsiteX2" y="connsiteY2"/>
                </a:cxn>
                <a:cxn ang="0">
                  <a:pos x="connsiteX3" y="connsiteY3"/>
                </a:cxn>
              </a:cxnLst>
              <a:rect l="l" t="t" r="r" b="b"/>
              <a:pathLst>
                <a:path w="1562100" h="819150">
                  <a:moveTo>
                    <a:pt x="0" y="0"/>
                  </a:moveTo>
                  <a:cubicBezTo>
                    <a:pt x="146050" y="157956"/>
                    <a:pt x="292100" y="315913"/>
                    <a:pt x="504825" y="400050"/>
                  </a:cubicBezTo>
                  <a:cubicBezTo>
                    <a:pt x="717550" y="484188"/>
                    <a:pt x="1100138" y="434975"/>
                    <a:pt x="1276350" y="504825"/>
                  </a:cubicBezTo>
                  <a:cubicBezTo>
                    <a:pt x="1452563" y="574675"/>
                    <a:pt x="1507331" y="696912"/>
                    <a:pt x="1562100" y="819150"/>
                  </a:cubicBezTo>
                </a:path>
              </a:pathLst>
            </a:cu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flipH="1">
              <a:off x="4648200" y="4800600"/>
              <a:ext cx="1447800" cy="819150"/>
            </a:xfrm>
            <a:custGeom>
              <a:avLst/>
              <a:gdLst>
                <a:gd name="connsiteX0" fmla="*/ 0 w 1562100"/>
                <a:gd name="connsiteY0" fmla="*/ 0 h 819150"/>
                <a:gd name="connsiteX1" fmla="*/ 504825 w 1562100"/>
                <a:gd name="connsiteY1" fmla="*/ 400050 h 819150"/>
                <a:gd name="connsiteX2" fmla="*/ 1276350 w 1562100"/>
                <a:gd name="connsiteY2" fmla="*/ 504825 h 819150"/>
                <a:gd name="connsiteX3" fmla="*/ 1562100 w 1562100"/>
                <a:gd name="connsiteY3" fmla="*/ 819150 h 819150"/>
              </a:gdLst>
              <a:ahLst/>
              <a:cxnLst>
                <a:cxn ang="0">
                  <a:pos x="connsiteX0" y="connsiteY0"/>
                </a:cxn>
                <a:cxn ang="0">
                  <a:pos x="connsiteX1" y="connsiteY1"/>
                </a:cxn>
                <a:cxn ang="0">
                  <a:pos x="connsiteX2" y="connsiteY2"/>
                </a:cxn>
                <a:cxn ang="0">
                  <a:pos x="connsiteX3" y="connsiteY3"/>
                </a:cxn>
              </a:cxnLst>
              <a:rect l="l" t="t" r="r" b="b"/>
              <a:pathLst>
                <a:path w="1562100" h="819150">
                  <a:moveTo>
                    <a:pt x="0" y="0"/>
                  </a:moveTo>
                  <a:cubicBezTo>
                    <a:pt x="146050" y="157956"/>
                    <a:pt x="292100" y="315913"/>
                    <a:pt x="504825" y="400050"/>
                  </a:cubicBezTo>
                  <a:cubicBezTo>
                    <a:pt x="717550" y="484188"/>
                    <a:pt x="1100138" y="434975"/>
                    <a:pt x="1276350" y="504825"/>
                  </a:cubicBezTo>
                  <a:cubicBezTo>
                    <a:pt x="1452563" y="574675"/>
                    <a:pt x="1507331" y="696912"/>
                    <a:pt x="1562100" y="819150"/>
                  </a:cubicBezTo>
                </a:path>
              </a:pathLst>
            </a:cu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3810000" y="4495800"/>
              <a:ext cx="1447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Two way communication</a:t>
              </a:r>
              <a:endParaRPr lang="en-US" sz="1200" b="1" dirty="0">
                <a:solidFill>
                  <a:srgbClr val="C00000"/>
                </a:solidFill>
                <a:latin typeface="Bradley Hand ITC" pitchFamily="66" charset="0"/>
              </a:endParaRPr>
            </a:p>
          </p:txBody>
        </p:sp>
        <p:sp>
          <p:nvSpPr>
            <p:cNvPr id="32" name="TextBox 31"/>
            <p:cNvSpPr txBox="1"/>
            <p:nvPr/>
          </p:nvSpPr>
          <p:spPr>
            <a:xfrm>
              <a:off x="6629400" y="59436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Data repository</a:t>
              </a:r>
              <a:endParaRPr lang="en-US" sz="1400" b="1" dirty="0">
                <a:solidFill>
                  <a:srgbClr val="C00000"/>
                </a:solidFill>
                <a:latin typeface="Bradley Hand ITC" pitchFamily="66" charset="0"/>
              </a:endParaRPr>
            </a:p>
          </p:txBody>
        </p:sp>
        <p:sp>
          <p:nvSpPr>
            <p:cNvPr id="34" name="Freeform 33"/>
            <p:cNvSpPr/>
            <p:nvPr/>
          </p:nvSpPr>
          <p:spPr>
            <a:xfrm>
              <a:off x="6162675" y="6038850"/>
              <a:ext cx="657225" cy="19208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3048000" y="61722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Manages data</a:t>
              </a:r>
              <a:endParaRPr lang="en-US" sz="1400" b="1" dirty="0">
                <a:solidFill>
                  <a:srgbClr val="C00000"/>
                </a:solidFill>
                <a:latin typeface="Bradley Hand ITC" pitchFamily="66" charset="0"/>
              </a:endParaRPr>
            </a:p>
          </p:txBody>
        </p:sp>
        <p:sp>
          <p:nvSpPr>
            <p:cNvPr id="36" name="Freeform 35"/>
            <p:cNvSpPr/>
            <p:nvPr/>
          </p:nvSpPr>
          <p:spPr>
            <a:xfrm>
              <a:off x="4467225" y="5915025"/>
              <a:ext cx="331788" cy="390525"/>
            </a:xfrm>
            <a:custGeom>
              <a:avLst/>
              <a:gdLst>
                <a:gd name="connsiteX0" fmla="*/ 0 w 331788"/>
                <a:gd name="connsiteY0" fmla="*/ 390525 h 390525"/>
                <a:gd name="connsiteX1" fmla="*/ 295275 w 331788"/>
                <a:gd name="connsiteY1" fmla="*/ 276225 h 390525"/>
                <a:gd name="connsiteX2" fmla="*/ 219075 w 331788"/>
                <a:gd name="connsiteY2" fmla="*/ 0 h 390525"/>
              </a:gdLst>
              <a:ahLst/>
              <a:cxnLst>
                <a:cxn ang="0">
                  <a:pos x="connsiteX0" y="connsiteY0"/>
                </a:cxn>
                <a:cxn ang="0">
                  <a:pos x="connsiteX1" y="connsiteY1"/>
                </a:cxn>
                <a:cxn ang="0">
                  <a:pos x="connsiteX2" y="connsiteY2"/>
                </a:cxn>
              </a:cxnLst>
              <a:rect l="l" t="t" r="r" b="b"/>
              <a:pathLst>
                <a:path w="331788" h="390525">
                  <a:moveTo>
                    <a:pt x="0" y="390525"/>
                  </a:moveTo>
                  <a:cubicBezTo>
                    <a:pt x="129381" y="365919"/>
                    <a:pt x="258762" y="341313"/>
                    <a:pt x="295275" y="276225"/>
                  </a:cubicBezTo>
                  <a:cubicBezTo>
                    <a:pt x="331788" y="211137"/>
                    <a:pt x="275431" y="105568"/>
                    <a:pt x="2190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p:cNvSpPr/>
            <p:nvPr/>
          </p:nvSpPr>
          <p:spPr>
            <a:xfrm>
              <a:off x="3276600" y="4602163"/>
              <a:ext cx="857250" cy="579437"/>
            </a:xfrm>
            <a:custGeom>
              <a:avLst/>
              <a:gdLst>
                <a:gd name="connsiteX0" fmla="*/ 857250 w 857250"/>
                <a:gd name="connsiteY0" fmla="*/ 36512 h 579437"/>
                <a:gd name="connsiteX1" fmla="*/ 504825 w 857250"/>
                <a:gd name="connsiteY1" fmla="*/ 65087 h 579437"/>
                <a:gd name="connsiteX2" fmla="*/ 314325 w 857250"/>
                <a:gd name="connsiteY2" fmla="*/ 427037 h 579437"/>
                <a:gd name="connsiteX3" fmla="*/ 0 w 857250"/>
                <a:gd name="connsiteY3" fmla="*/ 579437 h 579437"/>
              </a:gdLst>
              <a:ahLst/>
              <a:cxnLst>
                <a:cxn ang="0">
                  <a:pos x="connsiteX0" y="connsiteY0"/>
                </a:cxn>
                <a:cxn ang="0">
                  <a:pos x="connsiteX1" y="connsiteY1"/>
                </a:cxn>
                <a:cxn ang="0">
                  <a:pos x="connsiteX2" y="connsiteY2"/>
                </a:cxn>
                <a:cxn ang="0">
                  <a:pos x="connsiteX3" y="connsiteY3"/>
                </a:cxn>
              </a:cxnLst>
              <a:rect l="l" t="t" r="r" b="b"/>
              <a:pathLst>
                <a:path w="857250" h="579437">
                  <a:moveTo>
                    <a:pt x="857250" y="36512"/>
                  </a:moveTo>
                  <a:cubicBezTo>
                    <a:pt x="726281" y="18256"/>
                    <a:pt x="595312" y="0"/>
                    <a:pt x="504825" y="65087"/>
                  </a:cubicBezTo>
                  <a:cubicBezTo>
                    <a:pt x="414338" y="130174"/>
                    <a:pt x="398463" y="341312"/>
                    <a:pt x="314325" y="427037"/>
                  </a:cubicBezTo>
                  <a:cubicBezTo>
                    <a:pt x="230188" y="512762"/>
                    <a:pt x="115094" y="546099"/>
                    <a:pt x="0" y="579437"/>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Freeform 39"/>
            <p:cNvSpPr/>
            <p:nvPr/>
          </p:nvSpPr>
          <p:spPr>
            <a:xfrm>
              <a:off x="4943475" y="4638675"/>
              <a:ext cx="828675" cy="476250"/>
            </a:xfrm>
            <a:custGeom>
              <a:avLst/>
              <a:gdLst>
                <a:gd name="connsiteX0" fmla="*/ 0 w 828675"/>
                <a:gd name="connsiteY0" fmla="*/ 0 h 476250"/>
                <a:gd name="connsiteX1" fmla="*/ 333375 w 828675"/>
                <a:gd name="connsiteY1" fmla="*/ 57150 h 476250"/>
                <a:gd name="connsiteX2" fmla="*/ 514350 w 828675"/>
                <a:gd name="connsiteY2" fmla="*/ 323850 h 476250"/>
                <a:gd name="connsiteX3" fmla="*/ 828675 w 828675"/>
                <a:gd name="connsiteY3" fmla="*/ 476250 h 476250"/>
              </a:gdLst>
              <a:ahLst/>
              <a:cxnLst>
                <a:cxn ang="0">
                  <a:pos x="connsiteX0" y="connsiteY0"/>
                </a:cxn>
                <a:cxn ang="0">
                  <a:pos x="connsiteX1" y="connsiteY1"/>
                </a:cxn>
                <a:cxn ang="0">
                  <a:pos x="connsiteX2" y="connsiteY2"/>
                </a:cxn>
                <a:cxn ang="0">
                  <a:pos x="connsiteX3" y="connsiteY3"/>
                </a:cxn>
              </a:cxnLst>
              <a:rect l="l" t="t" r="r" b="b"/>
              <a:pathLst>
                <a:path w="828675" h="476250">
                  <a:moveTo>
                    <a:pt x="0" y="0"/>
                  </a:moveTo>
                  <a:cubicBezTo>
                    <a:pt x="123825" y="1587"/>
                    <a:pt x="247650" y="3175"/>
                    <a:pt x="333375" y="57150"/>
                  </a:cubicBezTo>
                  <a:cubicBezTo>
                    <a:pt x="419100" y="111125"/>
                    <a:pt x="431800" y="254000"/>
                    <a:pt x="514350" y="323850"/>
                  </a:cubicBezTo>
                  <a:cubicBezTo>
                    <a:pt x="596900" y="393700"/>
                    <a:pt x="712787" y="434975"/>
                    <a:pt x="828675" y="476250"/>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Data-Centered Systems</a:t>
            </a:r>
            <a:endParaRPr lang="en-US" dirty="0"/>
          </a:p>
        </p:txBody>
      </p:sp>
      <p:sp>
        <p:nvSpPr>
          <p:cNvPr id="3" name="Content Placeholder 2"/>
          <p:cNvSpPr>
            <a:spLocks noGrp="1"/>
          </p:cNvSpPr>
          <p:nvPr>
            <p:ph idx="1"/>
          </p:nvPr>
        </p:nvSpPr>
        <p:spPr/>
        <p:txBody>
          <a:bodyPr>
            <a:normAutofit fontScale="92500"/>
          </a:bodyPr>
          <a:lstStyle/>
          <a:p>
            <a:r>
              <a:rPr lang="en-US" dirty="0" smtClean="0"/>
              <a:t>Because of the architecture of these systems, they must consider issues with:</a:t>
            </a:r>
          </a:p>
          <a:p>
            <a:pPr lvl="1"/>
            <a:r>
              <a:rPr lang="en-US" dirty="0" smtClean="0"/>
              <a:t>Data integrity</a:t>
            </a:r>
          </a:p>
          <a:p>
            <a:pPr lvl="1"/>
            <a:r>
              <a:rPr lang="en-US" dirty="0" smtClean="0"/>
              <a:t>Communication protocols between worker and data management</a:t>
            </a:r>
          </a:p>
          <a:p>
            <a:pPr lvl="1"/>
            <a:r>
              <a:rPr lang="en-US" dirty="0" smtClean="0"/>
              <a:t>Transactions and recovery (also known as roll-back)</a:t>
            </a:r>
          </a:p>
          <a:p>
            <a:pPr lvl="1"/>
            <a:r>
              <a:rPr lang="en-US" dirty="0" smtClean="0"/>
              <a:t>Security</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A common architectural pattern for data-centered systems is the </a:t>
            </a:r>
            <a:r>
              <a:rPr lang="en-US" i="1" dirty="0" smtClean="0"/>
              <a:t>Blackboard Pattern</a:t>
            </a:r>
            <a:r>
              <a:rPr lang="en-US" dirty="0" smtClean="0"/>
              <a:t>.</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pSp>
        <p:nvGrpSpPr>
          <p:cNvPr id="29" name="Group 28"/>
          <p:cNvGrpSpPr/>
          <p:nvPr/>
        </p:nvGrpSpPr>
        <p:grpSpPr>
          <a:xfrm>
            <a:off x="762000" y="3200400"/>
            <a:ext cx="7972425" cy="1833265"/>
            <a:chOff x="762000" y="3276600"/>
            <a:chExt cx="7972425" cy="1833265"/>
          </a:xfrm>
        </p:grpSpPr>
        <p:grpSp>
          <p:nvGrpSpPr>
            <p:cNvPr id="8" name="Group 12"/>
            <p:cNvGrpSpPr/>
            <p:nvPr/>
          </p:nvGrpSpPr>
          <p:grpSpPr>
            <a:xfrm>
              <a:off x="2209800" y="3276600"/>
              <a:ext cx="685800" cy="228600"/>
              <a:chOff x="2133600" y="5334000"/>
              <a:chExt cx="685800" cy="228600"/>
            </a:xfrm>
          </p:grpSpPr>
          <p:sp>
            <p:nvSpPr>
              <p:cNvPr id="26" name="Rectangle 25"/>
              <p:cNvSpPr/>
              <p:nvPr/>
            </p:nvSpPr>
            <p:spPr>
              <a:xfrm>
                <a:off x="2133600" y="53340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2133600" y="5334000"/>
                <a:ext cx="685800" cy="215444"/>
              </a:xfrm>
              <a:prstGeom prst="rect">
                <a:avLst/>
              </a:prstGeom>
              <a:noFill/>
            </p:spPr>
            <p:txBody>
              <a:bodyPr wrap="square" rtlCol="0">
                <a:spAutoFit/>
              </a:bodyPr>
              <a:lstStyle/>
              <a:p>
                <a:pPr algn="ctr"/>
                <a:r>
                  <a:rPr lang="en-US" sz="800" dirty="0" smtClean="0"/>
                  <a:t>Worker 1</a:t>
                </a:r>
                <a:endParaRPr lang="en-US" sz="800" dirty="0"/>
              </a:p>
            </p:txBody>
          </p:sp>
        </p:grpSp>
        <p:grpSp>
          <p:nvGrpSpPr>
            <p:cNvPr id="9" name="Group 11"/>
            <p:cNvGrpSpPr/>
            <p:nvPr/>
          </p:nvGrpSpPr>
          <p:grpSpPr>
            <a:xfrm>
              <a:off x="5486400" y="3276600"/>
              <a:ext cx="685800" cy="228600"/>
              <a:chOff x="6477000" y="5410200"/>
              <a:chExt cx="685800" cy="228600"/>
            </a:xfrm>
          </p:grpSpPr>
          <p:sp>
            <p:nvSpPr>
              <p:cNvPr id="24" name="Rectangle 23"/>
              <p:cNvSpPr/>
              <p:nvPr/>
            </p:nvSpPr>
            <p:spPr>
              <a:xfrm>
                <a:off x="6477000" y="54102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6477000" y="5410200"/>
                <a:ext cx="685800" cy="215444"/>
              </a:xfrm>
              <a:prstGeom prst="rect">
                <a:avLst/>
              </a:prstGeom>
              <a:noFill/>
            </p:spPr>
            <p:txBody>
              <a:bodyPr wrap="square" rtlCol="0">
                <a:spAutoFit/>
              </a:bodyPr>
              <a:lstStyle/>
              <a:p>
                <a:pPr algn="ctr"/>
                <a:r>
                  <a:rPr lang="en-US" sz="800" dirty="0" smtClean="0"/>
                  <a:t>Worker 2</a:t>
                </a:r>
                <a:endParaRPr lang="en-US" sz="800" dirty="0"/>
              </a:p>
            </p:txBody>
          </p:sp>
        </p:grpSp>
        <p:sp>
          <p:nvSpPr>
            <p:cNvPr id="10" name="Flowchart: Magnetic Disk 9"/>
            <p:cNvSpPr/>
            <p:nvPr/>
          </p:nvSpPr>
          <p:spPr>
            <a:xfrm>
              <a:off x="5562600" y="4191000"/>
              <a:ext cx="609600" cy="460248"/>
            </a:xfrm>
            <a:prstGeom prst="flowChartMagneticDisk">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6"/>
            <p:cNvGrpSpPr/>
            <p:nvPr/>
          </p:nvGrpSpPr>
          <p:grpSpPr>
            <a:xfrm>
              <a:off x="3876675" y="4343400"/>
              <a:ext cx="838200" cy="228600"/>
              <a:chOff x="3724275" y="5638800"/>
              <a:chExt cx="838200" cy="228600"/>
            </a:xfrm>
          </p:grpSpPr>
          <p:sp>
            <p:nvSpPr>
              <p:cNvPr id="22" name="Rectangle 21"/>
              <p:cNvSpPr/>
              <p:nvPr/>
            </p:nvSpPr>
            <p:spPr>
              <a:xfrm>
                <a:off x="3810000" y="5638800"/>
                <a:ext cx="685800" cy="2286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3724275" y="5638800"/>
                <a:ext cx="838200" cy="215444"/>
              </a:xfrm>
              <a:prstGeom prst="rect">
                <a:avLst/>
              </a:prstGeom>
              <a:noFill/>
            </p:spPr>
            <p:txBody>
              <a:bodyPr wrap="square" rtlCol="0">
                <a:spAutoFit/>
              </a:bodyPr>
              <a:lstStyle/>
              <a:p>
                <a:pPr algn="ctr"/>
                <a:r>
                  <a:rPr lang="en-US" sz="800" dirty="0" smtClean="0"/>
                  <a:t>Data Manager</a:t>
                </a:r>
                <a:endParaRPr lang="en-US" sz="800" dirty="0"/>
              </a:p>
            </p:txBody>
          </p:sp>
        </p:grpSp>
        <p:cxnSp>
          <p:nvCxnSpPr>
            <p:cNvPr id="12" name="Straight Connector 11"/>
            <p:cNvCxnSpPr/>
            <p:nvPr/>
          </p:nvCxnSpPr>
          <p:spPr>
            <a:xfrm>
              <a:off x="4648200" y="4457700"/>
              <a:ext cx="914400" cy="0"/>
            </a:xfrm>
            <a:prstGeom prst="line">
              <a:avLst/>
            </a:pr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3" name="Freeform 12"/>
            <p:cNvSpPr/>
            <p:nvPr/>
          </p:nvSpPr>
          <p:spPr>
            <a:xfrm>
              <a:off x="2590800" y="3505200"/>
              <a:ext cx="1562100" cy="819150"/>
            </a:xfrm>
            <a:custGeom>
              <a:avLst/>
              <a:gdLst>
                <a:gd name="connsiteX0" fmla="*/ 0 w 1562100"/>
                <a:gd name="connsiteY0" fmla="*/ 0 h 819150"/>
                <a:gd name="connsiteX1" fmla="*/ 504825 w 1562100"/>
                <a:gd name="connsiteY1" fmla="*/ 400050 h 819150"/>
                <a:gd name="connsiteX2" fmla="*/ 1276350 w 1562100"/>
                <a:gd name="connsiteY2" fmla="*/ 504825 h 819150"/>
                <a:gd name="connsiteX3" fmla="*/ 1562100 w 1562100"/>
                <a:gd name="connsiteY3" fmla="*/ 819150 h 819150"/>
              </a:gdLst>
              <a:ahLst/>
              <a:cxnLst>
                <a:cxn ang="0">
                  <a:pos x="connsiteX0" y="connsiteY0"/>
                </a:cxn>
                <a:cxn ang="0">
                  <a:pos x="connsiteX1" y="connsiteY1"/>
                </a:cxn>
                <a:cxn ang="0">
                  <a:pos x="connsiteX2" y="connsiteY2"/>
                </a:cxn>
                <a:cxn ang="0">
                  <a:pos x="connsiteX3" y="connsiteY3"/>
                </a:cxn>
              </a:cxnLst>
              <a:rect l="l" t="t" r="r" b="b"/>
              <a:pathLst>
                <a:path w="1562100" h="819150">
                  <a:moveTo>
                    <a:pt x="0" y="0"/>
                  </a:moveTo>
                  <a:cubicBezTo>
                    <a:pt x="146050" y="157956"/>
                    <a:pt x="292100" y="315913"/>
                    <a:pt x="504825" y="400050"/>
                  </a:cubicBezTo>
                  <a:cubicBezTo>
                    <a:pt x="717550" y="484188"/>
                    <a:pt x="1100138" y="434975"/>
                    <a:pt x="1276350" y="504825"/>
                  </a:cubicBezTo>
                  <a:cubicBezTo>
                    <a:pt x="1452563" y="574675"/>
                    <a:pt x="1507331" y="696912"/>
                    <a:pt x="1562100" y="819150"/>
                  </a:cubicBezTo>
                </a:path>
              </a:pathLst>
            </a:cu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flipH="1">
              <a:off x="4419600" y="3505200"/>
              <a:ext cx="1447800" cy="819150"/>
            </a:xfrm>
            <a:custGeom>
              <a:avLst/>
              <a:gdLst>
                <a:gd name="connsiteX0" fmla="*/ 0 w 1562100"/>
                <a:gd name="connsiteY0" fmla="*/ 0 h 819150"/>
                <a:gd name="connsiteX1" fmla="*/ 504825 w 1562100"/>
                <a:gd name="connsiteY1" fmla="*/ 400050 h 819150"/>
                <a:gd name="connsiteX2" fmla="*/ 1276350 w 1562100"/>
                <a:gd name="connsiteY2" fmla="*/ 504825 h 819150"/>
                <a:gd name="connsiteX3" fmla="*/ 1562100 w 1562100"/>
                <a:gd name="connsiteY3" fmla="*/ 819150 h 819150"/>
              </a:gdLst>
              <a:ahLst/>
              <a:cxnLst>
                <a:cxn ang="0">
                  <a:pos x="connsiteX0" y="connsiteY0"/>
                </a:cxn>
                <a:cxn ang="0">
                  <a:pos x="connsiteX1" y="connsiteY1"/>
                </a:cxn>
                <a:cxn ang="0">
                  <a:pos x="connsiteX2" y="connsiteY2"/>
                </a:cxn>
                <a:cxn ang="0">
                  <a:pos x="connsiteX3" y="connsiteY3"/>
                </a:cxn>
              </a:cxnLst>
              <a:rect l="l" t="t" r="r" b="b"/>
              <a:pathLst>
                <a:path w="1562100" h="819150">
                  <a:moveTo>
                    <a:pt x="0" y="0"/>
                  </a:moveTo>
                  <a:cubicBezTo>
                    <a:pt x="146050" y="157956"/>
                    <a:pt x="292100" y="315913"/>
                    <a:pt x="504825" y="400050"/>
                  </a:cubicBezTo>
                  <a:cubicBezTo>
                    <a:pt x="717550" y="484188"/>
                    <a:pt x="1100138" y="434975"/>
                    <a:pt x="1276350" y="504825"/>
                  </a:cubicBezTo>
                  <a:cubicBezTo>
                    <a:pt x="1452563" y="574675"/>
                    <a:pt x="1507331" y="696912"/>
                    <a:pt x="1562100" y="819150"/>
                  </a:cubicBezTo>
                </a:path>
              </a:pathLst>
            </a:custGeom>
            <a:ln w="6350">
              <a:solidFill>
                <a:schemeClr val="bg1">
                  <a:lumMod val="50000"/>
                </a:schemeClr>
              </a:solidFill>
              <a:headEnd type="stealth"/>
              <a:tailEnd type="stealt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762000" y="3705225"/>
              <a:ext cx="2133600" cy="646331"/>
            </a:xfrm>
            <a:prstGeom prst="rect">
              <a:avLst/>
            </a:prstGeom>
            <a:noFill/>
          </p:spPr>
          <p:txBody>
            <a:bodyPr wrap="square" rtlCol="0">
              <a:spAutoFit/>
            </a:bodyPr>
            <a:lstStyle/>
            <a:p>
              <a:pPr marL="228600" indent="-228600">
                <a:buAutoNum type="arabicPeriod"/>
              </a:pPr>
              <a:r>
                <a:rPr lang="en-US" sz="1200" b="1" dirty="0" smtClean="0">
                  <a:solidFill>
                    <a:srgbClr val="C00000"/>
                  </a:solidFill>
                  <a:latin typeface="Bradley Hand ITC" pitchFamily="66" charset="0"/>
                </a:rPr>
                <a:t>Communication Protocol</a:t>
              </a:r>
            </a:p>
            <a:p>
              <a:pPr marL="228600" indent="-228600">
                <a:buAutoNum type="arabicPeriod"/>
              </a:pPr>
              <a:r>
                <a:rPr lang="en-US" sz="1200" b="1" dirty="0" smtClean="0">
                  <a:solidFill>
                    <a:srgbClr val="C00000"/>
                  </a:solidFill>
                  <a:latin typeface="Bradley Hand ITC" pitchFamily="66" charset="0"/>
                </a:rPr>
                <a:t>Security</a:t>
              </a:r>
            </a:p>
            <a:p>
              <a:pPr marL="228600" indent="-228600">
                <a:buAutoNum type="arabicPeriod"/>
              </a:pPr>
              <a:endParaRPr lang="en-US" sz="1200" b="1" dirty="0">
                <a:solidFill>
                  <a:srgbClr val="C00000"/>
                </a:solidFill>
                <a:latin typeface="Bradley Hand ITC" pitchFamily="66" charset="0"/>
              </a:endParaRPr>
            </a:p>
          </p:txBody>
        </p:sp>
        <p:sp>
          <p:nvSpPr>
            <p:cNvPr id="16" name="TextBox 15"/>
            <p:cNvSpPr txBox="1"/>
            <p:nvPr/>
          </p:nvSpPr>
          <p:spPr>
            <a:xfrm>
              <a:off x="6400800" y="46482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Data Integrity</a:t>
              </a:r>
              <a:endParaRPr lang="en-US" sz="1400" b="1" dirty="0">
                <a:solidFill>
                  <a:srgbClr val="C00000"/>
                </a:solidFill>
                <a:latin typeface="Bradley Hand ITC" pitchFamily="66" charset="0"/>
              </a:endParaRPr>
            </a:p>
          </p:txBody>
        </p:sp>
        <p:sp>
          <p:nvSpPr>
            <p:cNvPr id="17" name="Freeform 16"/>
            <p:cNvSpPr/>
            <p:nvPr/>
          </p:nvSpPr>
          <p:spPr>
            <a:xfrm>
              <a:off x="5934075" y="4648200"/>
              <a:ext cx="657225" cy="287338"/>
            </a:xfrm>
            <a:custGeom>
              <a:avLst/>
              <a:gdLst>
                <a:gd name="connsiteX0" fmla="*/ 657225 w 657225"/>
                <a:gd name="connsiteY0" fmla="*/ 66675 h 192088"/>
                <a:gd name="connsiteX1" fmla="*/ 190500 w 657225"/>
                <a:gd name="connsiteY1" fmla="*/ 180975 h 192088"/>
                <a:gd name="connsiteX2" fmla="*/ 0 w 657225"/>
                <a:gd name="connsiteY2" fmla="*/ 0 h 192088"/>
              </a:gdLst>
              <a:ahLst/>
              <a:cxnLst>
                <a:cxn ang="0">
                  <a:pos x="connsiteX0" y="connsiteY0"/>
                </a:cxn>
                <a:cxn ang="0">
                  <a:pos x="connsiteX1" y="connsiteY1"/>
                </a:cxn>
                <a:cxn ang="0">
                  <a:pos x="connsiteX2" y="connsiteY2"/>
                </a:cxn>
              </a:cxnLst>
              <a:rect l="l" t="t" r="r" b="b"/>
              <a:pathLst>
                <a:path w="657225" h="192088">
                  <a:moveTo>
                    <a:pt x="657225" y="66675"/>
                  </a:moveTo>
                  <a:cubicBezTo>
                    <a:pt x="478631" y="129381"/>
                    <a:pt x="300038" y="192088"/>
                    <a:pt x="190500" y="180975"/>
                  </a:cubicBezTo>
                  <a:cubicBezTo>
                    <a:pt x="80963" y="169863"/>
                    <a:pt x="40481" y="84931"/>
                    <a:pt x="0" y="0"/>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2819400" y="4648200"/>
              <a:ext cx="2667000" cy="461665"/>
            </a:xfrm>
            <a:prstGeom prst="rect">
              <a:avLst/>
            </a:prstGeom>
            <a:noFill/>
          </p:spPr>
          <p:txBody>
            <a:bodyPr wrap="square" rtlCol="0">
              <a:spAutoFit/>
            </a:bodyPr>
            <a:lstStyle/>
            <a:p>
              <a:pPr marL="342900" indent="-342900">
                <a:buAutoNum type="arabicPeriod"/>
              </a:pPr>
              <a:r>
                <a:rPr lang="en-US" sz="1200" b="1" dirty="0" smtClean="0">
                  <a:solidFill>
                    <a:srgbClr val="C00000"/>
                  </a:solidFill>
                  <a:latin typeface="Bradley Hand ITC" pitchFamily="66" charset="0"/>
                </a:rPr>
                <a:t>Transactions and Recovery</a:t>
              </a:r>
            </a:p>
            <a:p>
              <a:pPr marL="342900" indent="-342900">
                <a:buAutoNum type="arabicPeriod"/>
              </a:pPr>
              <a:r>
                <a:rPr lang="en-US" sz="1200" b="1" dirty="0" smtClean="0">
                  <a:solidFill>
                    <a:srgbClr val="C00000"/>
                  </a:solidFill>
                  <a:latin typeface="Bradley Hand ITC" pitchFamily="66" charset="0"/>
                </a:rPr>
                <a:t>Security</a:t>
              </a:r>
              <a:endParaRPr lang="en-US" sz="1200" b="1" dirty="0">
                <a:solidFill>
                  <a:srgbClr val="C00000"/>
                </a:solidFill>
                <a:latin typeface="Bradley Hand ITC" pitchFamily="66" charset="0"/>
              </a:endParaRPr>
            </a:p>
          </p:txBody>
        </p:sp>
        <p:sp>
          <p:nvSpPr>
            <p:cNvPr id="19" name="Freeform 18"/>
            <p:cNvSpPr/>
            <p:nvPr/>
          </p:nvSpPr>
          <p:spPr>
            <a:xfrm>
              <a:off x="3962400" y="4457701"/>
              <a:ext cx="1371599" cy="571500"/>
            </a:xfrm>
            <a:custGeom>
              <a:avLst/>
              <a:gdLst>
                <a:gd name="connsiteX0" fmla="*/ 0 w 331788"/>
                <a:gd name="connsiteY0" fmla="*/ 390525 h 390525"/>
                <a:gd name="connsiteX1" fmla="*/ 295275 w 331788"/>
                <a:gd name="connsiteY1" fmla="*/ 276225 h 390525"/>
                <a:gd name="connsiteX2" fmla="*/ 219075 w 331788"/>
                <a:gd name="connsiteY2" fmla="*/ 0 h 390525"/>
              </a:gdLst>
              <a:ahLst/>
              <a:cxnLst>
                <a:cxn ang="0">
                  <a:pos x="connsiteX0" y="connsiteY0"/>
                </a:cxn>
                <a:cxn ang="0">
                  <a:pos x="connsiteX1" y="connsiteY1"/>
                </a:cxn>
                <a:cxn ang="0">
                  <a:pos x="connsiteX2" y="connsiteY2"/>
                </a:cxn>
              </a:cxnLst>
              <a:rect l="l" t="t" r="r" b="b"/>
              <a:pathLst>
                <a:path w="331788" h="390525">
                  <a:moveTo>
                    <a:pt x="0" y="390525"/>
                  </a:moveTo>
                  <a:cubicBezTo>
                    <a:pt x="129381" y="365919"/>
                    <a:pt x="258762" y="341313"/>
                    <a:pt x="295275" y="276225"/>
                  </a:cubicBezTo>
                  <a:cubicBezTo>
                    <a:pt x="331788" y="211137"/>
                    <a:pt x="275431" y="105568"/>
                    <a:pt x="219075" y="0"/>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flipH="1" flipV="1">
              <a:off x="1752600" y="3886200"/>
              <a:ext cx="1295400" cy="228600"/>
            </a:xfrm>
            <a:custGeom>
              <a:avLst/>
              <a:gdLst>
                <a:gd name="connsiteX0" fmla="*/ 857250 w 857250"/>
                <a:gd name="connsiteY0" fmla="*/ 36512 h 579437"/>
                <a:gd name="connsiteX1" fmla="*/ 504825 w 857250"/>
                <a:gd name="connsiteY1" fmla="*/ 65087 h 579437"/>
                <a:gd name="connsiteX2" fmla="*/ 314325 w 857250"/>
                <a:gd name="connsiteY2" fmla="*/ 427037 h 579437"/>
                <a:gd name="connsiteX3" fmla="*/ 0 w 857250"/>
                <a:gd name="connsiteY3" fmla="*/ 579437 h 579437"/>
              </a:gdLst>
              <a:ahLst/>
              <a:cxnLst>
                <a:cxn ang="0">
                  <a:pos x="connsiteX0" y="connsiteY0"/>
                </a:cxn>
                <a:cxn ang="0">
                  <a:pos x="connsiteX1" y="connsiteY1"/>
                </a:cxn>
                <a:cxn ang="0">
                  <a:pos x="connsiteX2" y="connsiteY2"/>
                </a:cxn>
                <a:cxn ang="0">
                  <a:pos x="connsiteX3" y="connsiteY3"/>
                </a:cxn>
              </a:cxnLst>
              <a:rect l="l" t="t" r="r" b="b"/>
              <a:pathLst>
                <a:path w="857250" h="579437">
                  <a:moveTo>
                    <a:pt x="857250" y="36512"/>
                  </a:moveTo>
                  <a:cubicBezTo>
                    <a:pt x="726281" y="18256"/>
                    <a:pt x="595312" y="0"/>
                    <a:pt x="504825" y="65087"/>
                  </a:cubicBezTo>
                  <a:cubicBezTo>
                    <a:pt x="414338" y="130174"/>
                    <a:pt x="398463" y="341312"/>
                    <a:pt x="314325" y="427037"/>
                  </a:cubicBezTo>
                  <a:cubicBezTo>
                    <a:pt x="230188" y="512762"/>
                    <a:pt x="115094" y="546099"/>
                    <a:pt x="0" y="579437"/>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flipH="1">
              <a:off x="5543550" y="3505199"/>
              <a:ext cx="1085850" cy="314325"/>
            </a:xfrm>
            <a:custGeom>
              <a:avLst/>
              <a:gdLst>
                <a:gd name="connsiteX0" fmla="*/ 0 w 828675"/>
                <a:gd name="connsiteY0" fmla="*/ 0 h 476250"/>
                <a:gd name="connsiteX1" fmla="*/ 333375 w 828675"/>
                <a:gd name="connsiteY1" fmla="*/ 57150 h 476250"/>
                <a:gd name="connsiteX2" fmla="*/ 514350 w 828675"/>
                <a:gd name="connsiteY2" fmla="*/ 323850 h 476250"/>
                <a:gd name="connsiteX3" fmla="*/ 828675 w 828675"/>
                <a:gd name="connsiteY3" fmla="*/ 476250 h 476250"/>
              </a:gdLst>
              <a:ahLst/>
              <a:cxnLst>
                <a:cxn ang="0">
                  <a:pos x="connsiteX0" y="connsiteY0"/>
                </a:cxn>
                <a:cxn ang="0">
                  <a:pos x="connsiteX1" y="connsiteY1"/>
                </a:cxn>
                <a:cxn ang="0">
                  <a:pos x="connsiteX2" y="connsiteY2"/>
                </a:cxn>
                <a:cxn ang="0">
                  <a:pos x="connsiteX3" y="connsiteY3"/>
                </a:cxn>
              </a:cxnLst>
              <a:rect l="l" t="t" r="r" b="b"/>
              <a:pathLst>
                <a:path w="828675" h="476250">
                  <a:moveTo>
                    <a:pt x="0" y="0"/>
                  </a:moveTo>
                  <a:cubicBezTo>
                    <a:pt x="123825" y="1587"/>
                    <a:pt x="247650" y="3175"/>
                    <a:pt x="333375" y="57150"/>
                  </a:cubicBezTo>
                  <a:cubicBezTo>
                    <a:pt x="419100" y="111125"/>
                    <a:pt x="431800" y="254000"/>
                    <a:pt x="514350" y="323850"/>
                  </a:cubicBezTo>
                  <a:cubicBezTo>
                    <a:pt x="596900" y="393700"/>
                    <a:pt x="712787" y="434975"/>
                    <a:pt x="828675" y="476250"/>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600825" y="3286125"/>
              <a:ext cx="2133600" cy="646331"/>
            </a:xfrm>
            <a:prstGeom prst="rect">
              <a:avLst/>
            </a:prstGeom>
            <a:noFill/>
          </p:spPr>
          <p:txBody>
            <a:bodyPr wrap="square" rtlCol="0">
              <a:spAutoFit/>
            </a:bodyPr>
            <a:lstStyle/>
            <a:p>
              <a:pPr marL="228600" indent="-228600">
                <a:buAutoNum type="arabicPeriod"/>
              </a:pPr>
              <a:r>
                <a:rPr lang="en-US" sz="1200" b="1" dirty="0" smtClean="0">
                  <a:solidFill>
                    <a:srgbClr val="C00000"/>
                  </a:solidFill>
                  <a:latin typeface="Bradley Hand ITC" pitchFamily="66" charset="0"/>
                </a:rPr>
                <a:t>Communication Protocol</a:t>
              </a:r>
            </a:p>
            <a:p>
              <a:pPr marL="228600" indent="-228600">
                <a:buAutoNum type="arabicPeriod"/>
              </a:pPr>
              <a:r>
                <a:rPr lang="en-US" sz="1200" b="1" dirty="0" smtClean="0">
                  <a:solidFill>
                    <a:srgbClr val="C00000"/>
                  </a:solidFill>
                  <a:latin typeface="Bradley Hand ITC" pitchFamily="66" charset="0"/>
                </a:rPr>
                <a:t>Security</a:t>
              </a:r>
            </a:p>
            <a:p>
              <a:pPr marL="228600" indent="-228600">
                <a:buAutoNum type="arabicPeriod"/>
              </a:pPr>
              <a:endParaRPr lang="en-US" sz="1200" b="1" dirty="0">
                <a:solidFill>
                  <a:srgbClr val="C00000"/>
                </a:solidFill>
                <a:latin typeface="Bradley Hand ITC" pitchFamily="66" charset="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Blackboard Architectural Pattern</a:t>
            </a:r>
            <a:endParaRPr lang="en-US" dirty="0"/>
          </a:p>
        </p:txBody>
      </p:sp>
      <p:sp>
        <p:nvSpPr>
          <p:cNvPr id="3" name="Content Placeholder 2"/>
          <p:cNvSpPr>
            <a:spLocks noGrp="1"/>
          </p:cNvSpPr>
          <p:nvPr>
            <p:ph idx="1"/>
          </p:nvPr>
        </p:nvSpPr>
        <p:spPr>
          <a:xfrm>
            <a:off x="457200" y="1371601"/>
            <a:ext cx="8229600" cy="5105399"/>
          </a:xfrm>
        </p:spPr>
        <p:txBody>
          <a:bodyPr>
            <a:normAutofit fontScale="85000" lnSpcReduction="20000"/>
          </a:bodyPr>
          <a:lstStyle/>
          <a:p>
            <a:r>
              <a:rPr lang="en-US" dirty="0" smtClean="0"/>
              <a:t>Blackboard decomposes systems into components that work around a central data component to provide solutions to complex problems.  </a:t>
            </a:r>
          </a:p>
          <a:p>
            <a:pPr lvl="1"/>
            <a:r>
              <a:rPr lang="en-US" dirty="0" smtClean="0"/>
              <a:t>These components work independently from each other to provide partial solutions to problems using an opportunistic problem-solving approach.</a:t>
            </a:r>
          </a:p>
          <a:p>
            <a:pPr lvl="1"/>
            <a:r>
              <a:rPr lang="en-US" dirty="0" smtClean="0"/>
              <a:t>That is, there are no predetermined, or correct, sequences of operations for reaching the problem’s solution.</a:t>
            </a:r>
          </a:p>
          <a:p>
            <a:pPr lvl="1"/>
            <a:endParaRPr lang="en-US" dirty="0" smtClean="0"/>
          </a:p>
          <a:p>
            <a:r>
              <a:rPr lang="en-US" dirty="0" smtClean="0"/>
              <a:t>The Blackboard architectural pattern resembles the approach a group of scientists would employ to solve a complex problem.</a:t>
            </a:r>
          </a:p>
          <a:p>
            <a:pPr lvl="1"/>
            <a:r>
              <a:rPr lang="en-US" dirty="0" smtClean="0"/>
              <a:t>Consider a group of scientists at one location using a blackboard (chalkboard, whiteboard, or electronic blackboard) to solve a complex problem.</a:t>
            </a:r>
          </a:p>
          <a:p>
            <a:pPr lvl="1"/>
            <a:r>
              <a:rPr lang="en-US" dirty="0" smtClean="0"/>
              <a:t>Assume that to manage the problem-solving process, a mediator controls access to the blackboard.</a:t>
            </a:r>
          </a:p>
          <a:p>
            <a:pPr lvl="1"/>
            <a:r>
              <a:rPr lang="en-US" dirty="0" smtClean="0"/>
              <a:t>Once the mediator (or controller) assigns control to the blackboard, a scientist evaluates the current state of the problem and if possible, advances its solution before releasing control of the blackboard.</a:t>
            </a:r>
          </a:p>
          <a:p>
            <a:pPr lvl="1"/>
            <a:r>
              <a:rPr lang="en-US" dirty="0" smtClean="0"/>
              <a:t>With new knowledge obtained from the previous solution attempt, control is assigned to the next scientist who can further improve the problems’ state.</a:t>
            </a:r>
          </a:p>
          <a:p>
            <a:pPr lvl="1"/>
            <a:r>
              <a:rPr lang="en-US" dirty="0" smtClean="0"/>
              <a:t>This process continues until no more progress can be made, at which point the blackboard system reaches a solution.</a:t>
            </a:r>
          </a:p>
          <a:p>
            <a:pPr lvl="1">
              <a:buNone/>
            </a:pPr>
            <a:endParaRPr lang="en-US" dirty="0" smtClean="0"/>
          </a:p>
          <a:p>
            <a:r>
              <a:rPr lang="en-US" dirty="0" smtClean="0"/>
              <a:t>This behavior is prevalent in expert systems, therefore, the Blackboard architectural pattern is a good choice for depicting the logical architecture of expert systems.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Blackboard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grpSp>
        <p:nvGrpSpPr>
          <p:cNvPr id="33" name="Group 32"/>
          <p:cNvGrpSpPr/>
          <p:nvPr/>
        </p:nvGrpSpPr>
        <p:grpSpPr>
          <a:xfrm>
            <a:off x="671816" y="1524000"/>
            <a:ext cx="7786384" cy="4391799"/>
            <a:chOff x="671816" y="1524000"/>
            <a:chExt cx="7786384" cy="4391799"/>
          </a:xfrm>
        </p:grpSpPr>
        <p:pic>
          <p:nvPicPr>
            <p:cNvPr id="7" name="Picture 2" descr="C:\Users\cotero\AppData\Local\Microsoft\Windows\Temporary Internet Files\Content.IE5\MFZE6V1B\MP900439529[1].jpg"/>
            <p:cNvPicPr>
              <a:picLocks noChangeAspect="1" noChangeArrowheads="1"/>
            </p:cNvPicPr>
            <p:nvPr/>
          </p:nvPicPr>
          <p:blipFill>
            <a:blip r:embed="rId2" cstate="print"/>
            <a:srcRect/>
            <a:stretch>
              <a:fillRect/>
            </a:stretch>
          </p:blipFill>
          <p:spPr bwMode="auto">
            <a:xfrm>
              <a:off x="3810000" y="2819400"/>
              <a:ext cx="1752600" cy="1298593"/>
            </a:xfrm>
            <a:prstGeom prst="rect">
              <a:avLst/>
            </a:prstGeom>
            <a:noFill/>
          </p:spPr>
        </p:pic>
        <p:pic>
          <p:nvPicPr>
            <p:cNvPr id="8" name="Picture 3" descr="C:\Users\cotero\AppData\Local\Microsoft\Windows\Temporary Internet Files\Content.IE5\07RO37DR\MC900156061[1].wmf"/>
            <p:cNvPicPr>
              <a:picLocks noChangeAspect="1" noChangeArrowheads="1"/>
            </p:cNvPicPr>
            <p:nvPr/>
          </p:nvPicPr>
          <p:blipFill>
            <a:blip r:embed="rId3" cstate="print"/>
            <a:srcRect/>
            <a:stretch>
              <a:fillRect/>
            </a:stretch>
          </p:blipFill>
          <p:spPr bwMode="auto">
            <a:xfrm>
              <a:off x="4495800" y="3733800"/>
              <a:ext cx="533400" cy="551171"/>
            </a:xfrm>
            <a:prstGeom prst="rect">
              <a:avLst/>
            </a:prstGeom>
            <a:noFill/>
          </p:spPr>
        </p:pic>
        <p:pic>
          <p:nvPicPr>
            <p:cNvPr id="9" name="Picture 2" descr="C:\Users\cotero\AppData\Local\Microsoft\Windows\Temporary Internet Files\Content.IE5\ES8921MZ\MC900048773[1].wmf"/>
            <p:cNvPicPr>
              <a:picLocks noChangeAspect="1" noChangeArrowheads="1"/>
            </p:cNvPicPr>
            <p:nvPr/>
          </p:nvPicPr>
          <p:blipFill>
            <a:blip r:embed="rId4" cstate="print"/>
            <a:srcRect/>
            <a:stretch>
              <a:fillRect/>
            </a:stretch>
          </p:blipFill>
          <p:spPr bwMode="auto">
            <a:xfrm>
              <a:off x="3338816" y="4953000"/>
              <a:ext cx="547384" cy="609600"/>
            </a:xfrm>
            <a:prstGeom prst="rect">
              <a:avLst/>
            </a:prstGeom>
            <a:noFill/>
          </p:spPr>
        </p:pic>
        <p:pic>
          <p:nvPicPr>
            <p:cNvPr id="10" name="Picture 7"/>
            <p:cNvPicPr>
              <a:picLocks noChangeAspect="1" noChangeArrowheads="1"/>
            </p:cNvPicPr>
            <p:nvPr/>
          </p:nvPicPr>
          <p:blipFill>
            <a:blip r:embed="rId5" cstate="print"/>
            <a:srcRect/>
            <a:stretch>
              <a:fillRect/>
            </a:stretch>
          </p:blipFill>
          <p:spPr bwMode="auto">
            <a:xfrm>
              <a:off x="2729216" y="1828800"/>
              <a:ext cx="533400" cy="920261"/>
            </a:xfrm>
            <a:prstGeom prst="rect">
              <a:avLst/>
            </a:prstGeom>
            <a:noFill/>
            <a:ln w="9525">
              <a:noFill/>
              <a:miter lim="800000"/>
              <a:headEnd/>
              <a:tailEnd/>
            </a:ln>
          </p:spPr>
        </p:pic>
        <p:pic>
          <p:nvPicPr>
            <p:cNvPr id="11" name="Picture 2" descr="C:\Users\cotero\AppData\Local\Microsoft\Windows\Temporary Internet Files\Content.IE5\MFZE6V1B\MC900231557[1].wmf"/>
            <p:cNvPicPr>
              <a:picLocks noChangeAspect="1" noChangeArrowheads="1"/>
            </p:cNvPicPr>
            <p:nvPr/>
          </p:nvPicPr>
          <p:blipFill>
            <a:blip r:embed="rId6" cstate="print"/>
            <a:srcRect/>
            <a:stretch>
              <a:fillRect/>
            </a:stretch>
          </p:blipFill>
          <p:spPr bwMode="auto">
            <a:xfrm>
              <a:off x="2119616" y="3352800"/>
              <a:ext cx="743020" cy="938560"/>
            </a:xfrm>
            <a:prstGeom prst="rect">
              <a:avLst/>
            </a:prstGeom>
            <a:noFill/>
          </p:spPr>
        </p:pic>
        <p:pic>
          <p:nvPicPr>
            <p:cNvPr id="12" name="Picture 7"/>
            <p:cNvPicPr>
              <a:picLocks noChangeAspect="1" noChangeArrowheads="1"/>
            </p:cNvPicPr>
            <p:nvPr/>
          </p:nvPicPr>
          <p:blipFill>
            <a:blip r:embed="rId7" cstate="print"/>
            <a:srcRect/>
            <a:stretch>
              <a:fillRect/>
            </a:stretch>
          </p:blipFill>
          <p:spPr bwMode="auto">
            <a:xfrm flipH="1">
              <a:off x="6324600" y="3048000"/>
              <a:ext cx="609600" cy="838200"/>
            </a:xfrm>
            <a:prstGeom prst="rect">
              <a:avLst/>
            </a:prstGeom>
            <a:noFill/>
            <a:ln w="9525">
              <a:noFill/>
              <a:miter lim="800000"/>
              <a:headEnd/>
              <a:tailEnd/>
            </a:ln>
          </p:spPr>
        </p:pic>
        <p:sp>
          <p:nvSpPr>
            <p:cNvPr id="14" name="TextBox 13"/>
            <p:cNvSpPr txBox="1"/>
            <p:nvPr/>
          </p:nvSpPr>
          <p:spPr>
            <a:xfrm>
              <a:off x="6553200" y="21336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Controller</a:t>
              </a:r>
              <a:endParaRPr lang="en-US" sz="1400" b="1" dirty="0">
                <a:solidFill>
                  <a:srgbClr val="C00000"/>
                </a:solidFill>
                <a:latin typeface="Bradley Hand ITC" pitchFamily="66" charset="0"/>
              </a:endParaRPr>
            </a:p>
          </p:txBody>
        </p:sp>
        <p:sp>
          <p:nvSpPr>
            <p:cNvPr id="15" name="Freeform 14"/>
            <p:cNvSpPr/>
            <p:nvPr/>
          </p:nvSpPr>
          <p:spPr>
            <a:xfrm>
              <a:off x="6610350" y="2352675"/>
              <a:ext cx="352425" cy="723900"/>
            </a:xfrm>
            <a:custGeom>
              <a:avLst/>
              <a:gdLst>
                <a:gd name="connsiteX0" fmla="*/ 323850 w 352425"/>
                <a:gd name="connsiteY0" fmla="*/ 0 h 723900"/>
                <a:gd name="connsiteX1" fmla="*/ 0 w 352425"/>
                <a:gd name="connsiteY1" fmla="*/ 285750 h 723900"/>
                <a:gd name="connsiteX2" fmla="*/ 323850 w 352425"/>
                <a:gd name="connsiteY2" fmla="*/ 523875 h 723900"/>
                <a:gd name="connsiteX3" fmla="*/ 171450 w 352425"/>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352425" h="723900">
                  <a:moveTo>
                    <a:pt x="323850" y="0"/>
                  </a:moveTo>
                  <a:cubicBezTo>
                    <a:pt x="161925" y="99219"/>
                    <a:pt x="0" y="198438"/>
                    <a:pt x="0" y="285750"/>
                  </a:cubicBezTo>
                  <a:cubicBezTo>
                    <a:pt x="0" y="373062"/>
                    <a:pt x="295275" y="450850"/>
                    <a:pt x="323850" y="523875"/>
                  </a:cubicBezTo>
                  <a:cubicBezTo>
                    <a:pt x="352425" y="596900"/>
                    <a:pt x="261937" y="660400"/>
                    <a:pt x="171450" y="723900"/>
                  </a:cubicBezTo>
                </a:path>
              </a:pathLst>
            </a:custGeom>
            <a:ln w="6350">
              <a:solidFill>
                <a:srgbClr val="C00000"/>
              </a:solidFill>
              <a:prstDash val="dash"/>
              <a:tailEnd type="stealth"/>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038600" y="1676400"/>
              <a:ext cx="28194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 actual blackboard.  In this example, this is the data repository</a:t>
              </a:r>
              <a:endParaRPr lang="en-US" sz="1400" b="1" dirty="0">
                <a:solidFill>
                  <a:srgbClr val="C00000"/>
                </a:solidFill>
                <a:latin typeface="Bradley Hand ITC" pitchFamily="66" charset="0"/>
              </a:endParaRPr>
            </a:p>
          </p:txBody>
        </p:sp>
        <p:sp>
          <p:nvSpPr>
            <p:cNvPr id="17" name="Freeform 16"/>
            <p:cNvSpPr/>
            <p:nvPr/>
          </p:nvSpPr>
          <p:spPr>
            <a:xfrm>
              <a:off x="5334000" y="2133600"/>
              <a:ext cx="352425" cy="723900"/>
            </a:xfrm>
            <a:custGeom>
              <a:avLst/>
              <a:gdLst>
                <a:gd name="connsiteX0" fmla="*/ 323850 w 352425"/>
                <a:gd name="connsiteY0" fmla="*/ 0 h 723900"/>
                <a:gd name="connsiteX1" fmla="*/ 0 w 352425"/>
                <a:gd name="connsiteY1" fmla="*/ 285750 h 723900"/>
                <a:gd name="connsiteX2" fmla="*/ 323850 w 352425"/>
                <a:gd name="connsiteY2" fmla="*/ 523875 h 723900"/>
                <a:gd name="connsiteX3" fmla="*/ 171450 w 352425"/>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352425" h="723900">
                  <a:moveTo>
                    <a:pt x="323850" y="0"/>
                  </a:moveTo>
                  <a:cubicBezTo>
                    <a:pt x="161925" y="99219"/>
                    <a:pt x="0" y="198438"/>
                    <a:pt x="0" y="285750"/>
                  </a:cubicBezTo>
                  <a:cubicBezTo>
                    <a:pt x="0" y="373062"/>
                    <a:pt x="295275" y="450850"/>
                    <a:pt x="323850" y="523875"/>
                  </a:cubicBezTo>
                  <a:cubicBezTo>
                    <a:pt x="352425" y="596900"/>
                    <a:pt x="261937" y="660400"/>
                    <a:pt x="171450" y="723900"/>
                  </a:cubicBezTo>
                </a:path>
              </a:pathLst>
            </a:custGeom>
            <a:ln w="6350">
              <a:solidFill>
                <a:srgbClr val="C00000"/>
              </a:solidFill>
              <a:prstDash val="dash"/>
              <a:tailEnd type="stealth"/>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5114925" y="3962400"/>
              <a:ext cx="1571625" cy="561975"/>
            </a:xfrm>
            <a:custGeom>
              <a:avLst/>
              <a:gdLst>
                <a:gd name="connsiteX0" fmla="*/ 1571625 w 1571625"/>
                <a:gd name="connsiteY0" fmla="*/ 0 h 561975"/>
                <a:gd name="connsiteX1" fmla="*/ 990600 w 1571625"/>
                <a:gd name="connsiteY1" fmla="*/ 561975 h 561975"/>
                <a:gd name="connsiteX2" fmla="*/ 285750 w 1571625"/>
                <a:gd name="connsiteY2" fmla="*/ 361950 h 561975"/>
                <a:gd name="connsiteX3" fmla="*/ 0 w 1571625"/>
                <a:gd name="connsiteY3" fmla="*/ 295275 h 561975"/>
              </a:gdLst>
              <a:ahLst/>
              <a:cxnLst>
                <a:cxn ang="0">
                  <a:pos x="connsiteX0" y="connsiteY0"/>
                </a:cxn>
                <a:cxn ang="0">
                  <a:pos x="connsiteX1" y="connsiteY1"/>
                </a:cxn>
                <a:cxn ang="0">
                  <a:pos x="connsiteX2" y="connsiteY2"/>
                </a:cxn>
                <a:cxn ang="0">
                  <a:pos x="connsiteX3" y="connsiteY3"/>
                </a:cxn>
              </a:cxnLst>
              <a:rect l="l" t="t" r="r" b="b"/>
              <a:pathLst>
                <a:path w="1571625" h="561975">
                  <a:moveTo>
                    <a:pt x="1571625" y="0"/>
                  </a:moveTo>
                  <a:cubicBezTo>
                    <a:pt x="1388268" y="250825"/>
                    <a:pt x="1204912" y="501650"/>
                    <a:pt x="990600" y="561975"/>
                  </a:cubicBezTo>
                  <a:lnTo>
                    <a:pt x="285750" y="361950"/>
                  </a:lnTo>
                  <a:cubicBezTo>
                    <a:pt x="120650" y="317500"/>
                    <a:pt x="60325" y="306387"/>
                    <a:pt x="0" y="295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6115050" y="4533900"/>
              <a:ext cx="581025" cy="239712"/>
            </a:xfrm>
            <a:custGeom>
              <a:avLst/>
              <a:gdLst>
                <a:gd name="connsiteX0" fmla="*/ 0 w 581025"/>
                <a:gd name="connsiteY0" fmla="*/ 0 h 239712"/>
                <a:gd name="connsiteX1" fmla="*/ 238125 w 581025"/>
                <a:gd name="connsiteY1" fmla="*/ 200025 h 239712"/>
                <a:gd name="connsiteX2" fmla="*/ 581025 w 581025"/>
                <a:gd name="connsiteY2" fmla="*/ 238125 h 239712"/>
              </a:gdLst>
              <a:ahLst/>
              <a:cxnLst>
                <a:cxn ang="0">
                  <a:pos x="connsiteX0" y="connsiteY0"/>
                </a:cxn>
                <a:cxn ang="0">
                  <a:pos x="connsiteX1" y="connsiteY1"/>
                </a:cxn>
                <a:cxn ang="0">
                  <a:pos x="connsiteX2" y="connsiteY2"/>
                </a:cxn>
              </a:cxnLst>
              <a:rect l="l" t="t" r="r" b="b"/>
              <a:pathLst>
                <a:path w="581025" h="239712">
                  <a:moveTo>
                    <a:pt x="0" y="0"/>
                  </a:moveTo>
                  <a:cubicBezTo>
                    <a:pt x="70644" y="80169"/>
                    <a:pt x="141288" y="160338"/>
                    <a:pt x="238125" y="200025"/>
                  </a:cubicBezTo>
                  <a:cubicBezTo>
                    <a:pt x="334962" y="239712"/>
                    <a:pt x="457993" y="238918"/>
                    <a:pt x="581025" y="238125"/>
                  </a:cubicBezTo>
                </a:path>
              </a:pathLst>
            </a:custGeom>
            <a:ln w="6350">
              <a:solidFill>
                <a:srgbClr val="C00000"/>
              </a:solidFill>
              <a:head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6248400" y="4800600"/>
              <a:ext cx="2209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Access to the blackboard has been granted to Agent 1</a:t>
              </a:r>
              <a:endParaRPr lang="en-US" sz="1200" b="1" dirty="0">
                <a:solidFill>
                  <a:srgbClr val="C00000"/>
                </a:solidFill>
                <a:latin typeface="Bradley Hand ITC" pitchFamily="66" charset="0"/>
              </a:endParaRPr>
            </a:p>
          </p:txBody>
        </p:sp>
        <p:sp>
          <p:nvSpPr>
            <p:cNvPr id="21" name="TextBox 20"/>
            <p:cNvSpPr txBox="1"/>
            <p:nvPr/>
          </p:nvSpPr>
          <p:spPr>
            <a:xfrm>
              <a:off x="4495800" y="4267200"/>
              <a:ext cx="762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 1</a:t>
              </a:r>
              <a:endParaRPr lang="en-US" sz="1200" b="1" dirty="0">
                <a:solidFill>
                  <a:srgbClr val="C00000"/>
                </a:solidFill>
                <a:latin typeface="Bradley Hand ITC" pitchFamily="66" charset="0"/>
              </a:endParaRPr>
            </a:p>
          </p:txBody>
        </p:sp>
        <p:sp>
          <p:nvSpPr>
            <p:cNvPr id="22" name="TextBox 21"/>
            <p:cNvSpPr txBox="1"/>
            <p:nvPr/>
          </p:nvSpPr>
          <p:spPr>
            <a:xfrm>
              <a:off x="5562600" y="56388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 1 advances the solution!</a:t>
              </a:r>
              <a:endParaRPr lang="en-US" sz="1200" b="1" dirty="0">
                <a:solidFill>
                  <a:srgbClr val="C00000"/>
                </a:solidFill>
                <a:latin typeface="Bradley Hand ITC" pitchFamily="66" charset="0"/>
              </a:endParaRPr>
            </a:p>
          </p:txBody>
        </p:sp>
        <p:sp>
          <p:nvSpPr>
            <p:cNvPr id="23" name="Freeform 22"/>
            <p:cNvSpPr/>
            <p:nvPr/>
          </p:nvSpPr>
          <p:spPr>
            <a:xfrm>
              <a:off x="4875213" y="4505325"/>
              <a:ext cx="763587" cy="1238250"/>
            </a:xfrm>
            <a:custGeom>
              <a:avLst/>
              <a:gdLst>
                <a:gd name="connsiteX0" fmla="*/ 763587 w 763587"/>
                <a:gd name="connsiteY0" fmla="*/ 1238250 h 1238250"/>
                <a:gd name="connsiteX1" fmla="*/ 68262 w 763587"/>
                <a:gd name="connsiteY1" fmla="*/ 895350 h 1238250"/>
                <a:gd name="connsiteX2" fmla="*/ 354012 w 763587"/>
                <a:gd name="connsiteY2" fmla="*/ 381000 h 1238250"/>
                <a:gd name="connsiteX3" fmla="*/ 144462 w 763587"/>
                <a:gd name="connsiteY3" fmla="*/ 0 h 1238250"/>
              </a:gdLst>
              <a:ahLst/>
              <a:cxnLst>
                <a:cxn ang="0">
                  <a:pos x="connsiteX0" y="connsiteY0"/>
                </a:cxn>
                <a:cxn ang="0">
                  <a:pos x="connsiteX1" y="connsiteY1"/>
                </a:cxn>
                <a:cxn ang="0">
                  <a:pos x="connsiteX2" y="connsiteY2"/>
                </a:cxn>
                <a:cxn ang="0">
                  <a:pos x="connsiteX3" y="connsiteY3"/>
                </a:cxn>
              </a:cxnLst>
              <a:rect l="l" t="t" r="r" b="b"/>
              <a:pathLst>
                <a:path w="763587" h="1238250">
                  <a:moveTo>
                    <a:pt x="763587" y="1238250"/>
                  </a:moveTo>
                  <a:cubicBezTo>
                    <a:pt x="450055" y="1138237"/>
                    <a:pt x="136524" y="1038225"/>
                    <a:pt x="68262" y="895350"/>
                  </a:cubicBezTo>
                  <a:cubicBezTo>
                    <a:pt x="0" y="752475"/>
                    <a:pt x="341312" y="530225"/>
                    <a:pt x="354012" y="381000"/>
                  </a:cubicBezTo>
                  <a:cubicBezTo>
                    <a:pt x="366712" y="231775"/>
                    <a:pt x="255587" y="115887"/>
                    <a:pt x="144462"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1752600" y="56388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 2 waits for his turn</a:t>
              </a:r>
              <a:endParaRPr lang="en-US" sz="1200" b="1" dirty="0">
                <a:solidFill>
                  <a:srgbClr val="C00000"/>
                </a:solidFill>
                <a:latin typeface="Bradley Hand ITC" pitchFamily="66" charset="0"/>
              </a:endParaRPr>
            </a:p>
          </p:txBody>
        </p:sp>
        <p:sp>
          <p:nvSpPr>
            <p:cNvPr id="25" name="TextBox 24"/>
            <p:cNvSpPr txBox="1"/>
            <p:nvPr/>
          </p:nvSpPr>
          <p:spPr>
            <a:xfrm>
              <a:off x="1281416" y="43434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 3 waits for his turn</a:t>
              </a:r>
              <a:endParaRPr lang="en-US" sz="1200" b="1" dirty="0">
                <a:solidFill>
                  <a:srgbClr val="C00000"/>
                </a:solidFill>
                <a:latin typeface="Bradley Hand ITC" pitchFamily="66" charset="0"/>
              </a:endParaRPr>
            </a:p>
          </p:txBody>
        </p:sp>
        <p:sp>
          <p:nvSpPr>
            <p:cNvPr id="26" name="TextBox 25"/>
            <p:cNvSpPr txBox="1"/>
            <p:nvPr/>
          </p:nvSpPr>
          <p:spPr>
            <a:xfrm>
              <a:off x="1586216" y="2743200"/>
              <a:ext cx="2209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 4 waits for his turn</a:t>
              </a:r>
              <a:endParaRPr lang="en-US" sz="1200" b="1" dirty="0">
                <a:solidFill>
                  <a:srgbClr val="C00000"/>
                </a:solidFill>
                <a:latin typeface="Bradley Hand ITC" pitchFamily="66" charset="0"/>
              </a:endParaRPr>
            </a:p>
          </p:txBody>
        </p:sp>
        <p:sp>
          <p:nvSpPr>
            <p:cNvPr id="27" name="TextBox 26"/>
            <p:cNvSpPr txBox="1"/>
            <p:nvPr/>
          </p:nvSpPr>
          <p:spPr>
            <a:xfrm>
              <a:off x="671816" y="1524000"/>
              <a:ext cx="14478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Agents cannot access blackboard until access is granted by controller.</a:t>
              </a:r>
              <a:endParaRPr lang="en-US" sz="1200" b="1" dirty="0">
                <a:solidFill>
                  <a:srgbClr val="C00000"/>
                </a:solidFill>
                <a:latin typeface="Bradley Hand ITC" pitchFamily="66" charset="0"/>
              </a:endParaRPr>
            </a:p>
          </p:txBody>
        </p:sp>
        <p:sp>
          <p:nvSpPr>
            <p:cNvPr id="29" name="Freeform 28"/>
            <p:cNvSpPr/>
            <p:nvPr/>
          </p:nvSpPr>
          <p:spPr>
            <a:xfrm>
              <a:off x="1948166" y="2017713"/>
              <a:ext cx="885825" cy="319087"/>
            </a:xfrm>
            <a:custGeom>
              <a:avLst/>
              <a:gdLst>
                <a:gd name="connsiteX0" fmla="*/ 0 w 885825"/>
                <a:gd name="connsiteY0" fmla="*/ 153987 h 319087"/>
                <a:gd name="connsiteX1" fmla="*/ 428625 w 885825"/>
                <a:gd name="connsiteY1" fmla="*/ 20637 h 319087"/>
                <a:gd name="connsiteX2" fmla="*/ 600075 w 885825"/>
                <a:gd name="connsiteY2" fmla="*/ 277812 h 319087"/>
                <a:gd name="connsiteX3" fmla="*/ 885825 w 885825"/>
                <a:gd name="connsiteY3" fmla="*/ 268287 h 319087"/>
              </a:gdLst>
              <a:ahLst/>
              <a:cxnLst>
                <a:cxn ang="0">
                  <a:pos x="connsiteX0" y="connsiteY0"/>
                </a:cxn>
                <a:cxn ang="0">
                  <a:pos x="connsiteX1" y="connsiteY1"/>
                </a:cxn>
                <a:cxn ang="0">
                  <a:pos x="connsiteX2" y="connsiteY2"/>
                </a:cxn>
                <a:cxn ang="0">
                  <a:pos x="connsiteX3" y="connsiteY3"/>
                </a:cxn>
              </a:cxnLst>
              <a:rect l="l" t="t" r="r" b="b"/>
              <a:pathLst>
                <a:path w="885825" h="319087">
                  <a:moveTo>
                    <a:pt x="0" y="153987"/>
                  </a:moveTo>
                  <a:cubicBezTo>
                    <a:pt x="164306" y="76993"/>
                    <a:pt x="328613" y="0"/>
                    <a:pt x="428625" y="20637"/>
                  </a:cubicBezTo>
                  <a:cubicBezTo>
                    <a:pt x="528637" y="41274"/>
                    <a:pt x="523875" y="236537"/>
                    <a:pt x="600075" y="277812"/>
                  </a:cubicBezTo>
                  <a:cubicBezTo>
                    <a:pt x="676275" y="319087"/>
                    <a:pt x="781050" y="293687"/>
                    <a:pt x="885825" y="268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Freeform 29"/>
            <p:cNvSpPr/>
            <p:nvPr/>
          </p:nvSpPr>
          <p:spPr>
            <a:xfrm>
              <a:off x="1303641" y="2495550"/>
              <a:ext cx="987425" cy="847725"/>
            </a:xfrm>
            <a:custGeom>
              <a:avLst/>
              <a:gdLst>
                <a:gd name="connsiteX0" fmla="*/ 120650 w 987425"/>
                <a:gd name="connsiteY0" fmla="*/ 0 h 847725"/>
                <a:gd name="connsiteX1" fmla="*/ 92075 w 987425"/>
                <a:gd name="connsiteY1" fmla="*/ 647700 h 847725"/>
                <a:gd name="connsiteX2" fmla="*/ 673100 w 987425"/>
                <a:gd name="connsiteY2" fmla="*/ 733425 h 847725"/>
                <a:gd name="connsiteX3" fmla="*/ 987425 w 987425"/>
                <a:gd name="connsiteY3" fmla="*/ 847725 h 847725"/>
              </a:gdLst>
              <a:ahLst/>
              <a:cxnLst>
                <a:cxn ang="0">
                  <a:pos x="connsiteX0" y="connsiteY0"/>
                </a:cxn>
                <a:cxn ang="0">
                  <a:pos x="connsiteX1" y="connsiteY1"/>
                </a:cxn>
                <a:cxn ang="0">
                  <a:pos x="connsiteX2" y="connsiteY2"/>
                </a:cxn>
                <a:cxn ang="0">
                  <a:pos x="connsiteX3" y="connsiteY3"/>
                </a:cxn>
              </a:cxnLst>
              <a:rect l="l" t="t" r="r" b="b"/>
              <a:pathLst>
                <a:path w="987425" h="847725">
                  <a:moveTo>
                    <a:pt x="120650" y="0"/>
                  </a:moveTo>
                  <a:cubicBezTo>
                    <a:pt x="60325" y="262731"/>
                    <a:pt x="0" y="525463"/>
                    <a:pt x="92075" y="647700"/>
                  </a:cubicBezTo>
                  <a:cubicBezTo>
                    <a:pt x="184150" y="769937"/>
                    <a:pt x="523875" y="700088"/>
                    <a:pt x="673100" y="733425"/>
                  </a:cubicBezTo>
                  <a:cubicBezTo>
                    <a:pt x="822325" y="766762"/>
                    <a:pt x="904875" y="807243"/>
                    <a:pt x="987425" y="8477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a:off x="725791" y="2514599"/>
              <a:ext cx="2460625" cy="2886075"/>
            </a:xfrm>
            <a:custGeom>
              <a:avLst/>
              <a:gdLst>
                <a:gd name="connsiteX0" fmla="*/ 222250 w 1393825"/>
                <a:gd name="connsiteY0" fmla="*/ 0 h 3143250"/>
                <a:gd name="connsiteX1" fmla="*/ 3175 w 1393825"/>
                <a:gd name="connsiteY1" fmla="*/ 981075 h 3143250"/>
                <a:gd name="connsiteX2" fmla="*/ 241300 w 1393825"/>
                <a:gd name="connsiteY2" fmla="*/ 2514600 h 3143250"/>
                <a:gd name="connsiteX3" fmla="*/ 1393825 w 1393825"/>
                <a:gd name="connsiteY3" fmla="*/ 3143250 h 3143250"/>
              </a:gdLst>
              <a:ahLst/>
              <a:cxnLst>
                <a:cxn ang="0">
                  <a:pos x="connsiteX0" y="connsiteY0"/>
                </a:cxn>
                <a:cxn ang="0">
                  <a:pos x="connsiteX1" y="connsiteY1"/>
                </a:cxn>
                <a:cxn ang="0">
                  <a:pos x="connsiteX2" y="connsiteY2"/>
                </a:cxn>
                <a:cxn ang="0">
                  <a:pos x="connsiteX3" y="connsiteY3"/>
                </a:cxn>
              </a:cxnLst>
              <a:rect l="l" t="t" r="r" b="b"/>
              <a:pathLst>
                <a:path w="1393825" h="3143250">
                  <a:moveTo>
                    <a:pt x="222250" y="0"/>
                  </a:moveTo>
                  <a:cubicBezTo>
                    <a:pt x="111125" y="280987"/>
                    <a:pt x="0" y="561975"/>
                    <a:pt x="3175" y="981075"/>
                  </a:cubicBezTo>
                  <a:cubicBezTo>
                    <a:pt x="6350" y="1400175"/>
                    <a:pt x="9525" y="2154238"/>
                    <a:pt x="241300" y="2514600"/>
                  </a:cubicBezTo>
                  <a:cubicBezTo>
                    <a:pt x="473075" y="2874962"/>
                    <a:pt x="933450" y="3009106"/>
                    <a:pt x="1393825" y="31432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Blackboard Architectural Pattern</a:t>
            </a:r>
            <a:endParaRPr lang="en-US" dirty="0"/>
          </a:p>
        </p:txBody>
      </p:sp>
      <p:sp>
        <p:nvSpPr>
          <p:cNvPr id="3" name="Content Placeholder 2"/>
          <p:cNvSpPr>
            <a:spLocks noGrp="1"/>
          </p:cNvSpPr>
          <p:nvPr>
            <p:ph idx="1"/>
          </p:nvPr>
        </p:nvSpPr>
        <p:spPr>
          <a:xfrm>
            <a:off x="457200" y="1371601"/>
            <a:ext cx="8229600" cy="609599"/>
          </a:xfrm>
        </p:spPr>
        <p:txBody>
          <a:bodyPr/>
          <a:lstStyle/>
          <a:p>
            <a:r>
              <a:rPr lang="en-US" dirty="0" smtClean="0"/>
              <a:t>Consider the Students’ Scheduling System from Chapter 4.</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7" name="Group 6"/>
          <p:cNvGrpSpPr/>
          <p:nvPr/>
        </p:nvGrpSpPr>
        <p:grpSpPr>
          <a:xfrm>
            <a:off x="1752600" y="2286000"/>
            <a:ext cx="6657975" cy="2667000"/>
            <a:chOff x="2181225" y="3276600"/>
            <a:chExt cx="6657975" cy="2667000"/>
          </a:xfrm>
        </p:grpSpPr>
        <p:pic>
          <p:nvPicPr>
            <p:cNvPr id="8" name="Picture 3"/>
            <p:cNvPicPr>
              <a:picLocks noChangeAspect="1" noChangeArrowheads="1"/>
            </p:cNvPicPr>
            <p:nvPr/>
          </p:nvPicPr>
          <p:blipFill>
            <a:blip r:embed="rId2" cstate="print"/>
            <a:srcRect/>
            <a:stretch>
              <a:fillRect/>
            </a:stretch>
          </p:blipFill>
          <p:spPr bwMode="auto">
            <a:xfrm>
              <a:off x="2181225" y="3695700"/>
              <a:ext cx="4829175" cy="2247900"/>
            </a:xfrm>
            <a:prstGeom prst="rect">
              <a:avLst/>
            </a:prstGeom>
            <a:noFill/>
            <a:ln w="9525">
              <a:noFill/>
              <a:miter lim="800000"/>
              <a:headEnd/>
              <a:tailEnd/>
            </a:ln>
          </p:spPr>
        </p:pic>
        <p:sp>
          <p:nvSpPr>
            <p:cNvPr id="9" name="TextBox 8"/>
            <p:cNvSpPr txBox="1"/>
            <p:nvPr/>
          </p:nvSpPr>
          <p:spPr>
            <a:xfrm>
              <a:off x="7010400" y="32766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Controller</a:t>
              </a:r>
              <a:endParaRPr lang="en-US" sz="1400" b="1" dirty="0">
                <a:solidFill>
                  <a:srgbClr val="C00000"/>
                </a:solidFill>
                <a:latin typeface="Bradley Hand ITC" pitchFamily="66" charset="0"/>
              </a:endParaRPr>
            </a:p>
          </p:txBody>
        </p:sp>
        <p:sp>
          <p:nvSpPr>
            <p:cNvPr id="10" name="Freeform 9"/>
            <p:cNvSpPr/>
            <p:nvPr/>
          </p:nvSpPr>
          <p:spPr>
            <a:xfrm>
              <a:off x="5324475" y="3457575"/>
              <a:ext cx="2066925" cy="546100"/>
            </a:xfrm>
            <a:custGeom>
              <a:avLst/>
              <a:gdLst>
                <a:gd name="connsiteX0" fmla="*/ 2066925 w 2066925"/>
                <a:gd name="connsiteY0" fmla="*/ 0 h 546100"/>
                <a:gd name="connsiteX1" fmla="*/ 1857375 w 2066925"/>
                <a:gd name="connsiteY1" fmla="*/ 180975 h 546100"/>
                <a:gd name="connsiteX2" fmla="*/ 1285875 w 2066925"/>
                <a:gd name="connsiteY2" fmla="*/ 504825 h 546100"/>
                <a:gd name="connsiteX3" fmla="*/ 0 w 2066925"/>
                <a:gd name="connsiteY3" fmla="*/ 428625 h 546100"/>
              </a:gdLst>
              <a:ahLst/>
              <a:cxnLst>
                <a:cxn ang="0">
                  <a:pos x="connsiteX0" y="connsiteY0"/>
                </a:cxn>
                <a:cxn ang="0">
                  <a:pos x="connsiteX1" y="connsiteY1"/>
                </a:cxn>
                <a:cxn ang="0">
                  <a:pos x="connsiteX2" y="connsiteY2"/>
                </a:cxn>
                <a:cxn ang="0">
                  <a:pos x="connsiteX3" y="connsiteY3"/>
                </a:cxn>
              </a:cxnLst>
              <a:rect l="l" t="t" r="r" b="b"/>
              <a:pathLst>
                <a:path w="2066925" h="546100">
                  <a:moveTo>
                    <a:pt x="2066925" y="0"/>
                  </a:moveTo>
                  <a:cubicBezTo>
                    <a:pt x="2027237" y="48419"/>
                    <a:pt x="1987550" y="96838"/>
                    <a:pt x="1857375" y="180975"/>
                  </a:cubicBezTo>
                  <a:cubicBezTo>
                    <a:pt x="1727200" y="265112"/>
                    <a:pt x="1595437" y="463550"/>
                    <a:pt x="1285875" y="504825"/>
                  </a:cubicBezTo>
                  <a:cubicBezTo>
                    <a:pt x="976313" y="546100"/>
                    <a:pt x="488156" y="487362"/>
                    <a:pt x="0" y="4286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7239000" y="44958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Agents</a:t>
              </a:r>
              <a:endParaRPr lang="en-US" sz="1400" b="1" dirty="0">
                <a:solidFill>
                  <a:srgbClr val="C00000"/>
                </a:solidFill>
                <a:latin typeface="Bradley Hand ITC" pitchFamily="66" charset="0"/>
              </a:endParaRPr>
            </a:p>
          </p:txBody>
        </p:sp>
        <p:sp>
          <p:nvSpPr>
            <p:cNvPr id="12" name="Freeform 11"/>
            <p:cNvSpPr/>
            <p:nvPr/>
          </p:nvSpPr>
          <p:spPr>
            <a:xfrm>
              <a:off x="6591300" y="4619625"/>
              <a:ext cx="1095375" cy="285750"/>
            </a:xfrm>
            <a:custGeom>
              <a:avLst/>
              <a:gdLst>
                <a:gd name="connsiteX0" fmla="*/ 1095375 w 1095375"/>
                <a:gd name="connsiteY0" fmla="*/ 0 h 285750"/>
                <a:gd name="connsiteX1" fmla="*/ 581025 w 1095375"/>
                <a:gd name="connsiteY1" fmla="*/ 66675 h 285750"/>
                <a:gd name="connsiteX2" fmla="*/ 390525 w 1095375"/>
                <a:gd name="connsiteY2" fmla="*/ 238125 h 285750"/>
                <a:gd name="connsiteX3" fmla="*/ 0 w 1095375"/>
                <a:gd name="connsiteY3" fmla="*/ 285750 h 285750"/>
              </a:gdLst>
              <a:ahLst/>
              <a:cxnLst>
                <a:cxn ang="0">
                  <a:pos x="connsiteX0" y="connsiteY0"/>
                </a:cxn>
                <a:cxn ang="0">
                  <a:pos x="connsiteX1" y="connsiteY1"/>
                </a:cxn>
                <a:cxn ang="0">
                  <a:pos x="connsiteX2" y="connsiteY2"/>
                </a:cxn>
                <a:cxn ang="0">
                  <a:pos x="connsiteX3" y="connsiteY3"/>
                </a:cxn>
              </a:cxnLst>
              <a:rect l="l" t="t" r="r" b="b"/>
              <a:pathLst>
                <a:path w="1095375" h="285750">
                  <a:moveTo>
                    <a:pt x="1095375" y="0"/>
                  </a:moveTo>
                  <a:cubicBezTo>
                    <a:pt x="896937" y="13493"/>
                    <a:pt x="698500" y="26987"/>
                    <a:pt x="581025" y="66675"/>
                  </a:cubicBezTo>
                  <a:cubicBezTo>
                    <a:pt x="463550" y="106363"/>
                    <a:pt x="487362" y="201613"/>
                    <a:pt x="390525" y="238125"/>
                  </a:cubicBezTo>
                  <a:cubicBezTo>
                    <a:pt x="293688" y="274637"/>
                    <a:pt x="146844" y="280193"/>
                    <a:pt x="0" y="285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5019675" y="4724400"/>
              <a:ext cx="2695575" cy="488950"/>
            </a:xfrm>
            <a:custGeom>
              <a:avLst/>
              <a:gdLst>
                <a:gd name="connsiteX0" fmla="*/ 2695575 w 2695575"/>
                <a:gd name="connsiteY0" fmla="*/ 0 h 488950"/>
                <a:gd name="connsiteX1" fmla="*/ 2200275 w 2695575"/>
                <a:gd name="connsiteY1" fmla="*/ 190500 h 488950"/>
                <a:gd name="connsiteX2" fmla="*/ 1838325 w 2695575"/>
                <a:gd name="connsiteY2" fmla="*/ 457200 h 488950"/>
                <a:gd name="connsiteX3" fmla="*/ 1162050 w 2695575"/>
                <a:gd name="connsiteY3" fmla="*/ 381000 h 488950"/>
                <a:gd name="connsiteX4" fmla="*/ 314325 w 2695575"/>
                <a:gd name="connsiteY4" fmla="*/ 476250 h 488950"/>
                <a:gd name="connsiteX5" fmla="*/ 0 w 2695575"/>
                <a:gd name="connsiteY5" fmla="*/ 342900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575" h="488950">
                  <a:moveTo>
                    <a:pt x="2695575" y="0"/>
                  </a:moveTo>
                  <a:cubicBezTo>
                    <a:pt x="2519362" y="57150"/>
                    <a:pt x="2343150" y="114300"/>
                    <a:pt x="2200275" y="190500"/>
                  </a:cubicBezTo>
                  <a:cubicBezTo>
                    <a:pt x="2057400" y="266700"/>
                    <a:pt x="2011363" y="425450"/>
                    <a:pt x="1838325" y="457200"/>
                  </a:cubicBezTo>
                  <a:cubicBezTo>
                    <a:pt x="1665288" y="488950"/>
                    <a:pt x="1416050" y="377825"/>
                    <a:pt x="1162050" y="381000"/>
                  </a:cubicBezTo>
                  <a:cubicBezTo>
                    <a:pt x="908050" y="384175"/>
                    <a:pt x="508000" y="482600"/>
                    <a:pt x="314325" y="476250"/>
                  </a:cubicBezTo>
                  <a:cubicBezTo>
                    <a:pt x="120650" y="469900"/>
                    <a:pt x="60325" y="406400"/>
                    <a:pt x="0"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3400425" y="4772025"/>
              <a:ext cx="4391025" cy="588962"/>
            </a:xfrm>
            <a:custGeom>
              <a:avLst/>
              <a:gdLst>
                <a:gd name="connsiteX0" fmla="*/ 4391025 w 4391025"/>
                <a:gd name="connsiteY0" fmla="*/ 0 h 588962"/>
                <a:gd name="connsiteX1" fmla="*/ 3867150 w 4391025"/>
                <a:gd name="connsiteY1" fmla="*/ 504825 h 588962"/>
                <a:gd name="connsiteX2" fmla="*/ 3133725 w 4391025"/>
                <a:gd name="connsiteY2" fmla="*/ 504825 h 588962"/>
                <a:gd name="connsiteX3" fmla="*/ 2619375 w 4391025"/>
                <a:gd name="connsiteY3" fmla="*/ 390525 h 588962"/>
                <a:gd name="connsiteX4" fmla="*/ 2171700 w 4391025"/>
                <a:gd name="connsiteY4" fmla="*/ 457200 h 588962"/>
                <a:gd name="connsiteX5" fmla="*/ 1752600 w 4391025"/>
                <a:gd name="connsiteY5" fmla="*/ 485775 h 588962"/>
                <a:gd name="connsiteX6" fmla="*/ 1009650 w 4391025"/>
                <a:gd name="connsiteY6" fmla="*/ 333375 h 588962"/>
                <a:gd name="connsiteX7" fmla="*/ 314325 w 4391025"/>
                <a:gd name="connsiteY7" fmla="*/ 466725 h 588962"/>
                <a:gd name="connsiteX8" fmla="*/ 0 w 4391025"/>
                <a:gd name="connsiteY8" fmla="*/ 285750 h 588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1025" h="588962">
                  <a:moveTo>
                    <a:pt x="4391025" y="0"/>
                  </a:moveTo>
                  <a:cubicBezTo>
                    <a:pt x="4233862" y="210344"/>
                    <a:pt x="4076700" y="420688"/>
                    <a:pt x="3867150" y="504825"/>
                  </a:cubicBezTo>
                  <a:cubicBezTo>
                    <a:pt x="3657600" y="588962"/>
                    <a:pt x="3341687" y="523875"/>
                    <a:pt x="3133725" y="504825"/>
                  </a:cubicBezTo>
                  <a:cubicBezTo>
                    <a:pt x="2925763" y="485775"/>
                    <a:pt x="2779712" y="398462"/>
                    <a:pt x="2619375" y="390525"/>
                  </a:cubicBezTo>
                  <a:cubicBezTo>
                    <a:pt x="2459038" y="382588"/>
                    <a:pt x="2316162" y="441325"/>
                    <a:pt x="2171700" y="457200"/>
                  </a:cubicBezTo>
                  <a:cubicBezTo>
                    <a:pt x="2027238" y="473075"/>
                    <a:pt x="1946275" y="506412"/>
                    <a:pt x="1752600" y="485775"/>
                  </a:cubicBezTo>
                  <a:cubicBezTo>
                    <a:pt x="1558925" y="465138"/>
                    <a:pt x="1249362" y="336550"/>
                    <a:pt x="1009650" y="333375"/>
                  </a:cubicBezTo>
                  <a:cubicBezTo>
                    <a:pt x="769938" y="330200"/>
                    <a:pt x="482600" y="474662"/>
                    <a:pt x="314325" y="466725"/>
                  </a:cubicBezTo>
                  <a:cubicBezTo>
                    <a:pt x="146050" y="458788"/>
                    <a:pt x="73025" y="372269"/>
                    <a:pt x="0" y="2857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7239000" y="5334000"/>
              <a:ext cx="1600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Blackboard</a:t>
              </a:r>
              <a:endParaRPr lang="en-US" sz="1400" b="1" dirty="0">
                <a:solidFill>
                  <a:srgbClr val="C00000"/>
                </a:solidFill>
                <a:latin typeface="Bradley Hand ITC" pitchFamily="66" charset="0"/>
              </a:endParaRPr>
            </a:p>
          </p:txBody>
        </p:sp>
        <p:sp>
          <p:nvSpPr>
            <p:cNvPr id="16" name="Freeform 15"/>
            <p:cNvSpPr/>
            <p:nvPr/>
          </p:nvSpPr>
          <p:spPr>
            <a:xfrm>
              <a:off x="6934200" y="5457825"/>
              <a:ext cx="628650" cy="219075"/>
            </a:xfrm>
            <a:custGeom>
              <a:avLst/>
              <a:gdLst>
                <a:gd name="connsiteX0" fmla="*/ 628650 w 628650"/>
                <a:gd name="connsiteY0" fmla="*/ 0 h 219075"/>
                <a:gd name="connsiteX1" fmla="*/ 438150 w 628650"/>
                <a:gd name="connsiteY1" fmla="*/ 66675 h 219075"/>
                <a:gd name="connsiteX2" fmla="*/ 342900 w 628650"/>
                <a:gd name="connsiteY2" fmla="*/ 190500 h 219075"/>
                <a:gd name="connsiteX3" fmla="*/ 0 w 628650"/>
                <a:gd name="connsiteY3" fmla="*/ 219075 h 219075"/>
              </a:gdLst>
              <a:ahLst/>
              <a:cxnLst>
                <a:cxn ang="0">
                  <a:pos x="connsiteX0" y="connsiteY0"/>
                </a:cxn>
                <a:cxn ang="0">
                  <a:pos x="connsiteX1" y="connsiteY1"/>
                </a:cxn>
                <a:cxn ang="0">
                  <a:pos x="connsiteX2" y="connsiteY2"/>
                </a:cxn>
                <a:cxn ang="0">
                  <a:pos x="connsiteX3" y="connsiteY3"/>
                </a:cxn>
              </a:cxnLst>
              <a:rect l="l" t="t" r="r" b="b"/>
              <a:pathLst>
                <a:path w="628650" h="219075">
                  <a:moveTo>
                    <a:pt x="628650" y="0"/>
                  </a:moveTo>
                  <a:cubicBezTo>
                    <a:pt x="557212" y="17462"/>
                    <a:pt x="485775" y="34925"/>
                    <a:pt x="438150" y="66675"/>
                  </a:cubicBezTo>
                  <a:cubicBezTo>
                    <a:pt x="390525" y="98425"/>
                    <a:pt x="415925" y="165100"/>
                    <a:pt x="342900" y="190500"/>
                  </a:cubicBezTo>
                  <a:cubicBezTo>
                    <a:pt x="269875" y="215900"/>
                    <a:pt x="134937" y="217487"/>
                    <a:pt x="0" y="2190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Blackboard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pSp>
        <p:nvGrpSpPr>
          <p:cNvPr id="28" name="Group 27"/>
          <p:cNvGrpSpPr/>
          <p:nvPr/>
        </p:nvGrpSpPr>
        <p:grpSpPr>
          <a:xfrm>
            <a:off x="285750" y="1371600"/>
            <a:ext cx="8534400" cy="4876800"/>
            <a:chOff x="200025" y="1447800"/>
            <a:chExt cx="8534400" cy="4876800"/>
          </a:xfrm>
        </p:grpSpPr>
        <p:pic>
          <p:nvPicPr>
            <p:cNvPr id="3074" name="Picture 2"/>
            <p:cNvPicPr>
              <a:picLocks noChangeAspect="1" noChangeArrowheads="1"/>
            </p:cNvPicPr>
            <p:nvPr/>
          </p:nvPicPr>
          <p:blipFill>
            <a:blip r:embed="rId2" cstate="print"/>
            <a:srcRect/>
            <a:stretch>
              <a:fillRect/>
            </a:stretch>
          </p:blipFill>
          <p:spPr bwMode="auto">
            <a:xfrm>
              <a:off x="2207484" y="1447800"/>
              <a:ext cx="4650516" cy="4876800"/>
            </a:xfrm>
            <a:prstGeom prst="rect">
              <a:avLst/>
            </a:prstGeom>
            <a:noFill/>
            <a:ln w="9525">
              <a:noFill/>
              <a:miter lim="800000"/>
              <a:headEnd/>
              <a:tailEnd/>
            </a:ln>
          </p:spPr>
        </p:pic>
        <p:sp>
          <p:nvSpPr>
            <p:cNvPr id="8" name="TextBox 7"/>
            <p:cNvSpPr txBox="1"/>
            <p:nvPr/>
          </p:nvSpPr>
          <p:spPr>
            <a:xfrm>
              <a:off x="6581774" y="2286000"/>
              <a:ext cx="1952625"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a:t>
              </a:r>
              <a:r>
                <a:rPr lang="en-US" sz="1200" b="1" dirty="0" err="1" smtClean="0">
                  <a:solidFill>
                    <a:srgbClr val="C00000"/>
                  </a:solidFill>
                  <a:latin typeface="Bradley Hand ITC" pitchFamily="66" charset="0"/>
                </a:rPr>
                <a:t>StudentHistory</a:t>
              </a:r>
              <a:r>
                <a:rPr lang="en-US" sz="1200" b="1" dirty="0" smtClean="0">
                  <a:solidFill>
                    <a:srgbClr val="C00000"/>
                  </a:solidFill>
                  <a:latin typeface="Bradley Hand ITC" pitchFamily="66" charset="0"/>
                </a:rPr>
                <a:t> agent retrieves the data</a:t>
              </a:r>
              <a:endParaRPr lang="en-US" sz="1200" b="1" dirty="0">
                <a:solidFill>
                  <a:srgbClr val="C00000"/>
                </a:solidFill>
                <a:latin typeface="Bradley Hand ITC" pitchFamily="66" charset="0"/>
              </a:endParaRPr>
            </a:p>
          </p:txBody>
        </p:sp>
        <p:sp>
          <p:nvSpPr>
            <p:cNvPr id="9" name="Freeform 8"/>
            <p:cNvSpPr/>
            <p:nvPr/>
          </p:nvSpPr>
          <p:spPr>
            <a:xfrm>
              <a:off x="5105400" y="2413000"/>
              <a:ext cx="1695450" cy="454025"/>
            </a:xfrm>
            <a:custGeom>
              <a:avLst/>
              <a:gdLst>
                <a:gd name="connsiteX0" fmla="*/ 1695450 w 1695450"/>
                <a:gd name="connsiteY0" fmla="*/ 187325 h 454025"/>
                <a:gd name="connsiteX1" fmla="*/ 1066800 w 1695450"/>
                <a:gd name="connsiteY1" fmla="*/ 15875 h 454025"/>
                <a:gd name="connsiteX2" fmla="*/ 676275 w 1695450"/>
                <a:gd name="connsiteY2" fmla="*/ 282575 h 454025"/>
                <a:gd name="connsiteX3" fmla="*/ 180975 w 1695450"/>
                <a:gd name="connsiteY3" fmla="*/ 282575 h 454025"/>
                <a:gd name="connsiteX4" fmla="*/ 0 w 1695450"/>
                <a:gd name="connsiteY4" fmla="*/ 454025 h 454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50" h="454025">
                  <a:moveTo>
                    <a:pt x="1695450" y="187325"/>
                  </a:moveTo>
                  <a:cubicBezTo>
                    <a:pt x="1466056" y="93662"/>
                    <a:pt x="1236662" y="0"/>
                    <a:pt x="1066800" y="15875"/>
                  </a:cubicBezTo>
                  <a:cubicBezTo>
                    <a:pt x="896938" y="31750"/>
                    <a:pt x="823912" y="238125"/>
                    <a:pt x="676275" y="282575"/>
                  </a:cubicBezTo>
                  <a:cubicBezTo>
                    <a:pt x="528638" y="327025"/>
                    <a:pt x="293687" y="254000"/>
                    <a:pt x="180975" y="282575"/>
                  </a:cubicBezTo>
                  <a:cubicBezTo>
                    <a:pt x="68263" y="311150"/>
                    <a:pt x="34131" y="382587"/>
                    <a:pt x="0" y="4540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781800" y="3124200"/>
              <a:ext cx="1952625"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a:t>
              </a:r>
              <a:r>
                <a:rPr lang="en-US" sz="1200" b="1" dirty="0" err="1" smtClean="0">
                  <a:solidFill>
                    <a:srgbClr val="C00000"/>
                  </a:solidFill>
                  <a:latin typeface="Bradley Hand ITC" pitchFamily="66" charset="0"/>
                </a:rPr>
                <a:t>StudentHistory</a:t>
              </a:r>
              <a:r>
                <a:rPr lang="en-US" sz="1200" b="1" dirty="0" smtClean="0">
                  <a:solidFill>
                    <a:srgbClr val="C00000"/>
                  </a:solidFill>
                  <a:latin typeface="Bradley Hand ITC" pitchFamily="66" charset="0"/>
                </a:rPr>
                <a:t> agent modifies the schedule and stores the results back</a:t>
              </a:r>
              <a:endParaRPr lang="en-US" sz="1200" b="1" dirty="0">
                <a:solidFill>
                  <a:srgbClr val="C00000"/>
                </a:solidFill>
                <a:latin typeface="Bradley Hand ITC" pitchFamily="66" charset="0"/>
              </a:endParaRPr>
            </a:p>
          </p:txBody>
        </p:sp>
        <p:sp>
          <p:nvSpPr>
            <p:cNvPr id="11" name="Freeform 10"/>
            <p:cNvSpPr/>
            <p:nvPr/>
          </p:nvSpPr>
          <p:spPr>
            <a:xfrm>
              <a:off x="5657850" y="3219450"/>
              <a:ext cx="1285875" cy="361950"/>
            </a:xfrm>
            <a:custGeom>
              <a:avLst/>
              <a:gdLst>
                <a:gd name="connsiteX0" fmla="*/ 1285875 w 1285875"/>
                <a:gd name="connsiteY0" fmla="*/ 361950 h 361950"/>
                <a:gd name="connsiteX1" fmla="*/ 1000125 w 1285875"/>
                <a:gd name="connsiteY1" fmla="*/ 238125 h 361950"/>
                <a:gd name="connsiteX2" fmla="*/ 361950 w 1285875"/>
                <a:gd name="connsiteY2" fmla="*/ 314325 h 361950"/>
                <a:gd name="connsiteX3" fmla="*/ 0 w 1285875"/>
                <a:gd name="connsiteY3" fmla="*/ 0 h 361950"/>
              </a:gdLst>
              <a:ahLst/>
              <a:cxnLst>
                <a:cxn ang="0">
                  <a:pos x="connsiteX0" y="connsiteY0"/>
                </a:cxn>
                <a:cxn ang="0">
                  <a:pos x="connsiteX1" y="connsiteY1"/>
                </a:cxn>
                <a:cxn ang="0">
                  <a:pos x="connsiteX2" y="connsiteY2"/>
                </a:cxn>
                <a:cxn ang="0">
                  <a:pos x="connsiteX3" y="connsiteY3"/>
                </a:cxn>
              </a:cxnLst>
              <a:rect l="l" t="t" r="r" b="b"/>
              <a:pathLst>
                <a:path w="1285875" h="361950">
                  <a:moveTo>
                    <a:pt x="1285875" y="361950"/>
                  </a:moveTo>
                  <a:cubicBezTo>
                    <a:pt x="1219994" y="304006"/>
                    <a:pt x="1154113" y="246063"/>
                    <a:pt x="1000125" y="238125"/>
                  </a:cubicBezTo>
                  <a:cubicBezTo>
                    <a:pt x="846138" y="230188"/>
                    <a:pt x="528638" y="354013"/>
                    <a:pt x="361950" y="314325"/>
                  </a:cubicBezTo>
                  <a:cubicBezTo>
                    <a:pt x="195263" y="274638"/>
                    <a:pt x="97631" y="13731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209550" y="2198687"/>
              <a:ext cx="2362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Controller grants schedule access to the </a:t>
              </a:r>
              <a:r>
                <a:rPr lang="en-US" sz="1200" b="1" dirty="0" err="1" smtClean="0">
                  <a:solidFill>
                    <a:srgbClr val="C00000"/>
                  </a:solidFill>
                  <a:latin typeface="Bradley Hand ITC" pitchFamily="66" charset="0"/>
                </a:rPr>
                <a:t>StudentHistory</a:t>
              </a:r>
              <a:r>
                <a:rPr lang="en-US" sz="1200" b="1" dirty="0" smtClean="0">
                  <a:solidFill>
                    <a:srgbClr val="C00000"/>
                  </a:solidFill>
                  <a:latin typeface="Bradley Hand ITC" pitchFamily="66" charset="0"/>
                </a:rPr>
                <a:t> agent</a:t>
              </a:r>
              <a:endParaRPr lang="en-US" sz="1200" b="1" dirty="0">
                <a:solidFill>
                  <a:srgbClr val="C00000"/>
                </a:solidFill>
                <a:latin typeface="Bradley Hand ITC" pitchFamily="66" charset="0"/>
              </a:endParaRPr>
            </a:p>
          </p:txBody>
        </p:sp>
        <p:sp>
          <p:nvSpPr>
            <p:cNvPr id="13" name="Freeform 12"/>
            <p:cNvSpPr/>
            <p:nvPr/>
          </p:nvSpPr>
          <p:spPr>
            <a:xfrm>
              <a:off x="2247900" y="2528887"/>
              <a:ext cx="895350" cy="290513"/>
            </a:xfrm>
            <a:custGeom>
              <a:avLst/>
              <a:gdLst>
                <a:gd name="connsiteX0" fmla="*/ 0 w 895350"/>
                <a:gd name="connsiteY0" fmla="*/ 3175 h 290513"/>
                <a:gd name="connsiteX1" fmla="*/ 352425 w 895350"/>
                <a:gd name="connsiteY1" fmla="*/ 41275 h 290513"/>
                <a:gd name="connsiteX2" fmla="*/ 657225 w 895350"/>
                <a:gd name="connsiteY2" fmla="*/ 250825 h 290513"/>
                <a:gd name="connsiteX3" fmla="*/ 895350 w 895350"/>
                <a:gd name="connsiteY3" fmla="*/ 279400 h 290513"/>
              </a:gdLst>
              <a:ahLst/>
              <a:cxnLst>
                <a:cxn ang="0">
                  <a:pos x="connsiteX0" y="connsiteY0"/>
                </a:cxn>
                <a:cxn ang="0">
                  <a:pos x="connsiteX1" y="connsiteY1"/>
                </a:cxn>
                <a:cxn ang="0">
                  <a:pos x="connsiteX2" y="connsiteY2"/>
                </a:cxn>
                <a:cxn ang="0">
                  <a:pos x="connsiteX3" y="connsiteY3"/>
                </a:cxn>
              </a:cxnLst>
              <a:rect l="l" t="t" r="r" b="b"/>
              <a:pathLst>
                <a:path w="895350" h="290513">
                  <a:moveTo>
                    <a:pt x="0" y="3175"/>
                  </a:moveTo>
                  <a:cubicBezTo>
                    <a:pt x="121443" y="1587"/>
                    <a:pt x="242887" y="0"/>
                    <a:pt x="352425" y="41275"/>
                  </a:cubicBezTo>
                  <a:cubicBezTo>
                    <a:pt x="461963" y="82550"/>
                    <a:pt x="566737" y="211137"/>
                    <a:pt x="657225" y="250825"/>
                  </a:cubicBezTo>
                  <a:cubicBezTo>
                    <a:pt x="747713" y="290513"/>
                    <a:pt x="821531" y="284956"/>
                    <a:pt x="895350" y="279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428625" y="1524000"/>
              <a:ext cx="152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 requests a schedule</a:t>
              </a:r>
              <a:endParaRPr lang="en-US" sz="1200" b="1" dirty="0">
                <a:solidFill>
                  <a:srgbClr val="C00000"/>
                </a:solidFill>
                <a:latin typeface="Bradley Hand ITC" pitchFamily="66" charset="0"/>
              </a:endParaRPr>
            </a:p>
          </p:txBody>
        </p:sp>
        <p:sp>
          <p:nvSpPr>
            <p:cNvPr id="15" name="Freeform 14"/>
            <p:cNvSpPr/>
            <p:nvPr/>
          </p:nvSpPr>
          <p:spPr>
            <a:xfrm>
              <a:off x="1609725" y="1838325"/>
              <a:ext cx="819150" cy="239712"/>
            </a:xfrm>
            <a:custGeom>
              <a:avLst/>
              <a:gdLst>
                <a:gd name="connsiteX0" fmla="*/ 0 w 819150"/>
                <a:gd name="connsiteY0" fmla="*/ 0 h 239712"/>
                <a:gd name="connsiteX1" fmla="*/ 314325 w 819150"/>
                <a:gd name="connsiteY1" fmla="*/ 57150 h 239712"/>
                <a:gd name="connsiteX2" fmla="*/ 514350 w 819150"/>
                <a:gd name="connsiteY2" fmla="*/ 209550 h 239712"/>
                <a:gd name="connsiteX3" fmla="*/ 819150 w 819150"/>
                <a:gd name="connsiteY3" fmla="*/ 238125 h 239712"/>
              </a:gdLst>
              <a:ahLst/>
              <a:cxnLst>
                <a:cxn ang="0">
                  <a:pos x="connsiteX0" y="connsiteY0"/>
                </a:cxn>
                <a:cxn ang="0">
                  <a:pos x="connsiteX1" y="connsiteY1"/>
                </a:cxn>
                <a:cxn ang="0">
                  <a:pos x="connsiteX2" y="connsiteY2"/>
                </a:cxn>
                <a:cxn ang="0">
                  <a:pos x="connsiteX3" y="connsiteY3"/>
                </a:cxn>
              </a:cxnLst>
              <a:rect l="l" t="t" r="r" b="b"/>
              <a:pathLst>
                <a:path w="819150" h="239712">
                  <a:moveTo>
                    <a:pt x="0" y="0"/>
                  </a:moveTo>
                  <a:cubicBezTo>
                    <a:pt x="114300" y="11112"/>
                    <a:pt x="228600" y="22225"/>
                    <a:pt x="314325" y="57150"/>
                  </a:cubicBezTo>
                  <a:cubicBezTo>
                    <a:pt x="400050" y="92075"/>
                    <a:pt x="430213" y="179388"/>
                    <a:pt x="514350" y="209550"/>
                  </a:cubicBezTo>
                  <a:cubicBezTo>
                    <a:pt x="598487" y="239712"/>
                    <a:pt x="708818" y="238918"/>
                    <a:pt x="819150" y="238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200025" y="3313112"/>
              <a:ext cx="2362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Controller grants schedule access to the </a:t>
              </a:r>
              <a:r>
                <a:rPr lang="en-US" sz="1200" b="1" dirty="0" err="1" smtClean="0">
                  <a:solidFill>
                    <a:srgbClr val="C00000"/>
                  </a:solidFill>
                  <a:latin typeface="Bradley Hand ITC" pitchFamily="66" charset="0"/>
                </a:rPr>
                <a:t>CourseOfferings</a:t>
              </a:r>
              <a:r>
                <a:rPr lang="en-US" sz="1200" b="1" dirty="0" smtClean="0">
                  <a:solidFill>
                    <a:srgbClr val="C00000"/>
                  </a:solidFill>
                  <a:latin typeface="Bradley Hand ITC" pitchFamily="66" charset="0"/>
                </a:rPr>
                <a:t> agent</a:t>
              </a:r>
              <a:endParaRPr lang="en-US" sz="1200" b="1" dirty="0">
                <a:solidFill>
                  <a:srgbClr val="C00000"/>
                </a:solidFill>
                <a:latin typeface="Bradley Hand ITC" pitchFamily="66" charset="0"/>
              </a:endParaRPr>
            </a:p>
          </p:txBody>
        </p:sp>
        <p:sp>
          <p:nvSpPr>
            <p:cNvPr id="17" name="Freeform 16"/>
            <p:cNvSpPr/>
            <p:nvPr/>
          </p:nvSpPr>
          <p:spPr>
            <a:xfrm>
              <a:off x="2247900" y="3643312"/>
              <a:ext cx="895350" cy="290513"/>
            </a:xfrm>
            <a:custGeom>
              <a:avLst/>
              <a:gdLst>
                <a:gd name="connsiteX0" fmla="*/ 0 w 895350"/>
                <a:gd name="connsiteY0" fmla="*/ 3175 h 290513"/>
                <a:gd name="connsiteX1" fmla="*/ 352425 w 895350"/>
                <a:gd name="connsiteY1" fmla="*/ 41275 h 290513"/>
                <a:gd name="connsiteX2" fmla="*/ 657225 w 895350"/>
                <a:gd name="connsiteY2" fmla="*/ 250825 h 290513"/>
                <a:gd name="connsiteX3" fmla="*/ 895350 w 895350"/>
                <a:gd name="connsiteY3" fmla="*/ 279400 h 290513"/>
              </a:gdLst>
              <a:ahLst/>
              <a:cxnLst>
                <a:cxn ang="0">
                  <a:pos x="connsiteX0" y="connsiteY0"/>
                </a:cxn>
                <a:cxn ang="0">
                  <a:pos x="connsiteX1" y="connsiteY1"/>
                </a:cxn>
                <a:cxn ang="0">
                  <a:pos x="connsiteX2" y="connsiteY2"/>
                </a:cxn>
                <a:cxn ang="0">
                  <a:pos x="connsiteX3" y="connsiteY3"/>
                </a:cxn>
              </a:cxnLst>
              <a:rect l="l" t="t" r="r" b="b"/>
              <a:pathLst>
                <a:path w="895350" h="290513">
                  <a:moveTo>
                    <a:pt x="0" y="3175"/>
                  </a:moveTo>
                  <a:cubicBezTo>
                    <a:pt x="121443" y="1587"/>
                    <a:pt x="242887" y="0"/>
                    <a:pt x="352425" y="41275"/>
                  </a:cubicBezTo>
                  <a:cubicBezTo>
                    <a:pt x="461963" y="82550"/>
                    <a:pt x="566737" y="211137"/>
                    <a:pt x="657225" y="250825"/>
                  </a:cubicBezTo>
                  <a:cubicBezTo>
                    <a:pt x="747713" y="290513"/>
                    <a:pt x="821531" y="284956"/>
                    <a:pt x="895350" y="279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6781800" y="4267200"/>
              <a:ext cx="1952625"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a:t>
              </a:r>
              <a:r>
                <a:rPr lang="en-US" sz="1200" b="1" dirty="0" err="1" smtClean="0">
                  <a:solidFill>
                    <a:srgbClr val="C00000"/>
                  </a:solidFill>
                  <a:latin typeface="Bradley Hand ITC" pitchFamily="66" charset="0"/>
                </a:rPr>
                <a:t>CourseOfferings</a:t>
              </a:r>
              <a:r>
                <a:rPr lang="en-US" sz="1200" b="1" dirty="0" smtClean="0">
                  <a:solidFill>
                    <a:srgbClr val="C00000"/>
                  </a:solidFill>
                  <a:latin typeface="Bradley Hand ITC" pitchFamily="66" charset="0"/>
                </a:rPr>
                <a:t> agent retrieves, modifies, and stores the schedule back</a:t>
              </a:r>
              <a:endParaRPr lang="en-US" sz="1200" b="1" dirty="0">
                <a:solidFill>
                  <a:srgbClr val="C00000"/>
                </a:solidFill>
                <a:latin typeface="Bradley Hand ITC" pitchFamily="66" charset="0"/>
              </a:endParaRPr>
            </a:p>
          </p:txBody>
        </p:sp>
        <p:sp>
          <p:nvSpPr>
            <p:cNvPr id="21" name="Freeform 20"/>
            <p:cNvSpPr/>
            <p:nvPr/>
          </p:nvSpPr>
          <p:spPr>
            <a:xfrm>
              <a:off x="5657850" y="4362450"/>
              <a:ext cx="1285875" cy="361950"/>
            </a:xfrm>
            <a:custGeom>
              <a:avLst/>
              <a:gdLst>
                <a:gd name="connsiteX0" fmla="*/ 1285875 w 1285875"/>
                <a:gd name="connsiteY0" fmla="*/ 361950 h 361950"/>
                <a:gd name="connsiteX1" fmla="*/ 1000125 w 1285875"/>
                <a:gd name="connsiteY1" fmla="*/ 238125 h 361950"/>
                <a:gd name="connsiteX2" fmla="*/ 361950 w 1285875"/>
                <a:gd name="connsiteY2" fmla="*/ 314325 h 361950"/>
                <a:gd name="connsiteX3" fmla="*/ 0 w 1285875"/>
                <a:gd name="connsiteY3" fmla="*/ 0 h 361950"/>
              </a:gdLst>
              <a:ahLst/>
              <a:cxnLst>
                <a:cxn ang="0">
                  <a:pos x="connsiteX0" y="connsiteY0"/>
                </a:cxn>
                <a:cxn ang="0">
                  <a:pos x="connsiteX1" y="connsiteY1"/>
                </a:cxn>
                <a:cxn ang="0">
                  <a:pos x="connsiteX2" y="connsiteY2"/>
                </a:cxn>
                <a:cxn ang="0">
                  <a:pos x="connsiteX3" y="connsiteY3"/>
                </a:cxn>
              </a:cxnLst>
              <a:rect l="l" t="t" r="r" b="b"/>
              <a:pathLst>
                <a:path w="1285875" h="361950">
                  <a:moveTo>
                    <a:pt x="1285875" y="361950"/>
                  </a:moveTo>
                  <a:cubicBezTo>
                    <a:pt x="1219994" y="304006"/>
                    <a:pt x="1154113" y="246063"/>
                    <a:pt x="1000125" y="238125"/>
                  </a:cubicBezTo>
                  <a:cubicBezTo>
                    <a:pt x="846138" y="230188"/>
                    <a:pt x="528638" y="354013"/>
                    <a:pt x="361950" y="314325"/>
                  </a:cubicBezTo>
                  <a:cubicBezTo>
                    <a:pt x="195263" y="274638"/>
                    <a:pt x="97631" y="13731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228600" y="4408487"/>
              <a:ext cx="2314575"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Controller grants schedule access to the </a:t>
              </a:r>
              <a:r>
                <a:rPr lang="en-US" sz="1200" b="1" dirty="0" err="1" smtClean="0">
                  <a:solidFill>
                    <a:srgbClr val="C00000"/>
                  </a:solidFill>
                  <a:latin typeface="Bradley Hand ITC" pitchFamily="66" charset="0"/>
                </a:rPr>
                <a:t>WorkSchedule</a:t>
              </a:r>
              <a:r>
                <a:rPr lang="en-US" sz="1200" b="1" dirty="0" smtClean="0">
                  <a:solidFill>
                    <a:srgbClr val="C00000"/>
                  </a:solidFill>
                  <a:latin typeface="Bradley Hand ITC" pitchFamily="66" charset="0"/>
                </a:rPr>
                <a:t> agent</a:t>
              </a:r>
              <a:endParaRPr lang="en-US" sz="1200" b="1" dirty="0">
                <a:solidFill>
                  <a:srgbClr val="C00000"/>
                </a:solidFill>
                <a:latin typeface="Bradley Hand ITC" pitchFamily="66" charset="0"/>
              </a:endParaRPr>
            </a:p>
          </p:txBody>
        </p:sp>
        <p:sp>
          <p:nvSpPr>
            <p:cNvPr id="23" name="Freeform 22"/>
            <p:cNvSpPr/>
            <p:nvPr/>
          </p:nvSpPr>
          <p:spPr>
            <a:xfrm>
              <a:off x="2247900" y="4738687"/>
              <a:ext cx="895350" cy="290513"/>
            </a:xfrm>
            <a:custGeom>
              <a:avLst/>
              <a:gdLst>
                <a:gd name="connsiteX0" fmla="*/ 0 w 895350"/>
                <a:gd name="connsiteY0" fmla="*/ 3175 h 290513"/>
                <a:gd name="connsiteX1" fmla="*/ 352425 w 895350"/>
                <a:gd name="connsiteY1" fmla="*/ 41275 h 290513"/>
                <a:gd name="connsiteX2" fmla="*/ 657225 w 895350"/>
                <a:gd name="connsiteY2" fmla="*/ 250825 h 290513"/>
                <a:gd name="connsiteX3" fmla="*/ 895350 w 895350"/>
                <a:gd name="connsiteY3" fmla="*/ 279400 h 290513"/>
              </a:gdLst>
              <a:ahLst/>
              <a:cxnLst>
                <a:cxn ang="0">
                  <a:pos x="connsiteX0" y="connsiteY0"/>
                </a:cxn>
                <a:cxn ang="0">
                  <a:pos x="connsiteX1" y="connsiteY1"/>
                </a:cxn>
                <a:cxn ang="0">
                  <a:pos x="connsiteX2" y="connsiteY2"/>
                </a:cxn>
                <a:cxn ang="0">
                  <a:pos x="connsiteX3" y="connsiteY3"/>
                </a:cxn>
              </a:cxnLst>
              <a:rect l="l" t="t" r="r" b="b"/>
              <a:pathLst>
                <a:path w="895350" h="290513">
                  <a:moveTo>
                    <a:pt x="0" y="3175"/>
                  </a:moveTo>
                  <a:cubicBezTo>
                    <a:pt x="121443" y="1587"/>
                    <a:pt x="242887" y="0"/>
                    <a:pt x="352425" y="41275"/>
                  </a:cubicBezTo>
                  <a:cubicBezTo>
                    <a:pt x="461963" y="82550"/>
                    <a:pt x="566737" y="211137"/>
                    <a:pt x="657225" y="250825"/>
                  </a:cubicBezTo>
                  <a:cubicBezTo>
                    <a:pt x="747713" y="290513"/>
                    <a:pt x="821531" y="284956"/>
                    <a:pt x="895350" y="279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428625" y="5486400"/>
              <a:ext cx="152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 receives an optimized schedule</a:t>
              </a:r>
              <a:endParaRPr lang="en-US" sz="1200" b="1" dirty="0">
                <a:solidFill>
                  <a:srgbClr val="C00000"/>
                </a:solidFill>
                <a:latin typeface="Bradley Hand ITC" pitchFamily="66" charset="0"/>
              </a:endParaRPr>
            </a:p>
          </p:txBody>
        </p:sp>
        <p:sp>
          <p:nvSpPr>
            <p:cNvPr id="25" name="Freeform 24"/>
            <p:cNvSpPr/>
            <p:nvPr/>
          </p:nvSpPr>
          <p:spPr>
            <a:xfrm>
              <a:off x="1609725" y="5932488"/>
              <a:ext cx="819150" cy="239712"/>
            </a:xfrm>
            <a:custGeom>
              <a:avLst/>
              <a:gdLst>
                <a:gd name="connsiteX0" fmla="*/ 0 w 819150"/>
                <a:gd name="connsiteY0" fmla="*/ 0 h 239712"/>
                <a:gd name="connsiteX1" fmla="*/ 314325 w 819150"/>
                <a:gd name="connsiteY1" fmla="*/ 57150 h 239712"/>
                <a:gd name="connsiteX2" fmla="*/ 514350 w 819150"/>
                <a:gd name="connsiteY2" fmla="*/ 209550 h 239712"/>
                <a:gd name="connsiteX3" fmla="*/ 819150 w 819150"/>
                <a:gd name="connsiteY3" fmla="*/ 238125 h 239712"/>
              </a:gdLst>
              <a:ahLst/>
              <a:cxnLst>
                <a:cxn ang="0">
                  <a:pos x="connsiteX0" y="connsiteY0"/>
                </a:cxn>
                <a:cxn ang="0">
                  <a:pos x="connsiteX1" y="connsiteY1"/>
                </a:cxn>
                <a:cxn ang="0">
                  <a:pos x="connsiteX2" y="connsiteY2"/>
                </a:cxn>
                <a:cxn ang="0">
                  <a:pos x="connsiteX3" y="connsiteY3"/>
                </a:cxn>
              </a:cxnLst>
              <a:rect l="l" t="t" r="r" b="b"/>
              <a:pathLst>
                <a:path w="819150" h="239712">
                  <a:moveTo>
                    <a:pt x="0" y="0"/>
                  </a:moveTo>
                  <a:cubicBezTo>
                    <a:pt x="114300" y="11112"/>
                    <a:pt x="228600" y="22225"/>
                    <a:pt x="314325" y="57150"/>
                  </a:cubicBezTo>
                  <a:cubicBezTo>
                    <a:pt x="400050" y="92075"/>
                    <a:pt x="430213" y="179388"/>
                    <a:pt x="514350" y="209550"/>
                  </a:cubicBezTo>
                  <a:cubicBezTo>
                    <a:pt x="598487" y="239712"/>
                    <a:pt x="708818" y="238918"/>
                    <a:pt x="819150" y="238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304800" y="38862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note provides important information!</a:t>
              </a:r>
              <a:endParaRPr lang="en-US" sz="1200" b="1" dirty="0">
                <a:solidFill>
                  <a:srgbClr val="C00000"/>
                </a:solidFill>
                <a:latin typeface="Bradley Hand ITC" pitchFamily="66" charset="0"/>
              </a:endParaRPr>
            </a:p>
          </p:txBody>
        </p:sp>
        <p:sp>
          <p:nvSpPr>
            <p:cNvPr id="27" name="Freeform 26"/>
            <p:cNvSpPr/>
            <p:nvPr/>
          </p:nvSpPr>
          <p:spPr>
            <a:xfrm>
              <a:off x="1885950" y="3998913"/>
              <a:ext cx="676275" cy="163512"/>
            </a:xfrm>
            <a:custGeom>
              <a:avLst/>
              <a:gdLst>
                <a:gd name="connsiteX0" fmla="*/ 0 w 676275"/>
                <a:gd name="connsiteY0" fmla="*/ 11112 h 163512"/>
                <a:gd name="connsiteX1" fmla="*/ 304800 w 676275"/>
                <a:gd name="connsiteY1" fmla="*/ 20637 h 163512"/>
                <a:gd name="connsiteX2" fmla="*/ 485775 w 676275"/>
                <a:gd name="connsiteY2" fmla="*/ 134937 h 163512"/>
                <a:gd name="connsiteX3" fmla="*/ 676275 w 676275"/>
                <a:gd name="connsiteY3" fmla="*/ 163512 h 163512"/>
              </a:gdLst>
              <a:ahLst/>
              <a:cxnLst>
                <a:cxn ang="0">
                  <a:pos x="connsiteX0" y="connsiteY0"/>
                </a:cxn>
                <a:cxn ang="0">
                  <a:pos x="connsiteX1" y="connsiteY1"/>
                </a:cxn>
                <a:cxn ang="0">
                  <a:pos x="connsiteX2" y="connsiteY2"/>
                </a:cxn>
                <a:cxn ang="0">
                  <a:pos x="connsiteX3" y="connsiteY3"/>
                </a:cxn>
              </a:cxnLst>
              <a:rect l="l" t="t" r="r" b="b"/>
              <a:pathLst>
                <a:path w="676275" h="163512">
                  <a:moveTo>
                    <a:pt x="0" y="11112"/>
                  </a:moveTo>
                  <a:cubicBezTo>
                    <a:pt x="111919" y="5556"/>
                    <a:pt x="223838" y="0"/>
                    <a:pt x="304800" y="20637"/>
                  </a:cubicBezTo>
                  <a:cubicBezTo>
                    <a:pt x="385762" y="41274"/>
                    <a:pt x="423863" y="111125"/>
                    <a:pt x="485775" y="134937"/>
                  </a:cubicBezTo>
                  <a:cubicBezTo>
                    <a:pt x="547687" y="158749"/>
                    <a:pt x="611981" y="161130"/>
                    <a:pt x="676275" y="16351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Blackboard Architectural Pattern</a:t>
            </a:r>
            <a:endParaRPr lang="en-US" dirty="0"/>
          </a:p>
        </p:txBody>
      </p:sp>
      <p:sp>
        <p:nvSpPr>
          <p:cNvPr id="3" name="Content Placeholder 2"/>
          <p:cNvSpPr>
            <a:spLocks noGrp="1"/>
          </p:cNvSpPr>
          <p:nvPr>
            <p:ph idx="1"/>
          </p:nvPr>
        </p:nvSpPr>
        <p:spPr>
          <a:xfrm>
            <a:off x="457200" y="1371601"/>
            <a:ext cx="8229600" cy="5105399"/>
          </a:xfrm>
        </p:spPr>
        <p:txBody>
          <a:bodyPr/>
          <a:lstStyle/>
          <a:p>
            <a:r>
              <a:rPr lang="en-US" dirty="0" smtClean="0"/>
              <a:t>Quality properties of the Blackboard architectural pattern include the ones specified below.</a:t>
            </a:r>
          </a:p>
          <a:p>
            <a:endParaRPr lang="en-US" dirty="0" smtClean="0"/>
          </a:p>
          <a:p>
            <a:endParaRPr lang="en-US" dirty="0" smtClean="0"/>
          </a:p>
          <a:p>
            <a:endParaRPr lang="en-US" dirty="0" smtClean="0"/>
          </a:p>
          <a:p>
            <a:endParaRPr lang="en-US" dirty="0" smtClean="0"/>
          </a:p>
          <a:p>
            <a:endParaRPr lang="en-US" dirty="0" smtClean="0"/>
          </a:p>
          <a:p>
            <a:r>
              <a:rPr lang="en-US" dirty="0" smtClean="0"/>
              <a:t>An important aspect of the Blackboard and any other architectural pattern is their deployment aspect (i.e., the deployment view).  For example, It is not easily determined from the logical view where each agent or blackboard component reside.</a:t>
            </a:r>
          </a:p>
          <a:p>
            <a:pPr lvl="1"/>
            <a:r>
              <a:rPr lang="en-US" dirty="0" smtClean="0"/>
              <a:t>Depending on their location, Blackboard can have increased complexity when managing communication between agents, controller, and blackboard.</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1619250" y="2286000"/>
            <a:ext cx="5905500" cy="1133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Flow Systems</a:t>
            </a:r>
            <a:endParaRPr lang="en-US" dirty="0"/>
          </a:p>
        </p:txBody>
      </p:sp>
      <p:sp>
        <p:nvSpPr>
          <p:cNvPr id="3" name="Content Placeholder 2"/>
          <p:cNvSpPr>
            <a:spLocks noGrp="1"/>
          </p:cNvSpPr>
          <p:nvPr>
            <p:ph idx="1"/>
          </p:nvPr>
        </p:nvSpPr>
        <p:spPr>
          <a:xfrm>
            <a:off x="457200" y="1371601"/>
            <a:ext cx="8229600" cy="5105399"/>
          </a:xfrm>
        </p:spPr>
        <p:txBody>
          <a:bodyPr>
            <a:normAutofit fontScale="85000" lnSpcReduction="20000"/>
          </a:bodyPr>
          <a:lstStyle/>
          <a:p>
            <a:r>
              <a:rPr lang="en-US" dirty="0" smtClean="0"/>
              <a:t>Data flow systems are decomposed around the central theme of transporting data (or data streams) and transforming the data along the way to meet application-specific requirements.</a:t>
            </a:r>
          </a:p>
          <a:p>
            <a:pPr lvl="1"/>
            <a:r>
              <a:rPr lang="en-US" dirty="0" smtClean="0"/>
              <a:t>Typical responsibilities found in components of data-flow systems include:</a:t>
            </a:r>
          </a:p>
          <a:p>
            <a:pPr lvl="2"/>
            <a:r>
              <a:rPr lang="en-US" dirty="0" smtClean="0"/>
              <a:t>Worker components, those that perform work on data</a:t>
            </a:r>
          </a:p>
          <a:p>
            <a:pPr lvl="2"/>
            <a:r>
              <a:rPr lang="en-US" dirty="0" smtClean="0"/>
              <a:t>Transport components, those that transporting data</a:t>
            </a:r>
          </a:p>
          <a:p>
            <a:pPr lvl="2"/>
            <a:endParaRPr lang="en-US" dirty="0" smtClean="0"/>
          </a:p>
          <a:p>
            <a:r>
              <a:rPr lang="en-US" dirty="0" smtClean="0"/>
              <a:t>Worker components abstract data transformations and processing that need to take place before forwarding data streams in the system, e.g., </a:t>
            </a:r>
          </a:p>
          <a:p>
            <a:pPr lvl="1"/>
            <a:r>
              <a:rPr lang="en-US" dirty="0" smtClean="0"/>
              <a:t>Encryption and decryption</a:t>
            </a:r>
          </a:p>
          <a:p>
            <a:pPr lvl="1"/>
            <a:r>
              <a:rPr lang="en-US" dirty="0" smtClean="0"/>
              <a:t>Compression and decompression</a:t>
            </a:r>
          </a:p>
          <a:p>
            <a:pPr lvl="1"/>
            <a:r>
              <a:rPr lang="en-US" dirty="0" smtClean="0"/>
              <a:t>Changing data format, e.g. ,from binary to XML, from raw data to information, etc.</a:t>
            </a:r>
          </a:p>
          <a:p>
            <a:pPr lvl="1"/>
            <a:r>
              <a:rPr lang="en-US" dirty="0" smtClean="0"/>
              <a:t>Enhancing, modifying, storing, etc. of the data</a:t>
            </a:r>
          </a:p>
          <a:p>
            <a:pPr lvl="1"/>
            <a:endParaRPr lang="en-US" dirty="0" smtClean="0"/>
          </a:p>
          <a:p>
            <a:r>
              <a:rPr lang="en-US" dirty="0" smtClean="0"/>
              <a:t>Transport components abstract the management and control of the data transport mechanisms, which could include:</a:t>
            </a:r>
          </a:p>
          <a:p>
            <a:pPr lvl="1"/>
            <a:r>
              <a:rPr lang="en-US" dirty="0" smtClean="0"/>
              <a:t>Inter-process communication</a:t>
            </a:r>
          </a:p>
          <a:p>
            <a:pPr lvl="2"/>
            <a:r>
              <a:rPr lang="en-US" dirty="0" smtClean="0"/>
              <a:t>Sockets, serial, pipes, etc.</a:t>
            </a:r>
          </a:p>
          <a:p>
            <a:pPr lvl="1"/>
            <a:r>
              <a:rPr lang="en-US" dirty="0" smtClean="0"/>
              <a:t>Intra-process communication</a:t>
            </a:r>
          </a:p>
          <a:p>
            <a:pPr lvl="2"/>
            <a:r>
              <a:rPr lang="en-US" dirty="0" smtClean="0"/>
              <a:t>Direct function call, etc.</a:t>
            </a:r>
          </a:p>
          <a:p>
            <a:pPr lvl="2"/>
            <a:endParaRPr lang="en-US" dirty="0" smtClean="0"/>
          </a:p>
          <a:p>
            <a:r>
              <a:rPr lang="en-US" dirty="0" smtClean="0"/>
              <a:t>An example of an architectural pattern for data flow systems is the </a:t>
            </a:r>
            <a:r>
              <a:rPr lang="en-US" i="1" dirty="0" smtClean="0"/>
              <a:t>Pipes-and-Filters</a:t>
            </a:r>
            <a:r>
              <a:rPr lang="en-US" dirty="0" smtClean="0"/>
              <a:t>.</a:t>
            </a:r>
          </a:p>
          <a:p>
            <a:pPr lvl="1">
              <a:buNone/>
            </a:pPr>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3" name="Content Placeholder 2"/>
          <p:cNvSpPr>
            <a:spLocks noGrp="1"/>
          </p:cNvSpPr>
          <p:nvPr>
            <p:ph idx="1"/>
          </p:nvPr>
        </p:nvSpPr>
        <p:spPr>
          <a:xfrm>
            <a:off x="457200" y="1371601"/>
            <a:ext cx="8229600" cy="2209799"/>
          </a:xfrm>
        </p:spPr>
        <p:txBody>
          <a:bodyPr>
            <a:normAutofit fontScale="85000" lnSpcReduction="20000"/>
          </a:bodyPr>
          <a:lstStyle/>
          <a:p>
            <a:r>
              <a:rPr lang="en-US" dirty="0" smtClean="0"/>
              <a:t>Pipes-and-Filters is composed of the following components:</a:t>
            </a:r>
          </a:p>
          <a:p>
            <a:pPr lvl="1"/>
            <a:r>
              <a:rPr lang="en-US" dirty="0" smtClean="0"/>
              <a:t>Data source</a:t>
            </a:r>
          </a:p>
          <a:p>
            <a:pPr lvl="2"/>
            <a:r>
              <a:rPr lang="en-US" dirty="0" smtClean="0"/>
              <a:t>Produces the data</a:t>
            </a:r>
          </a:p>
          <a:p>
            <a:pPr lvl="1"/>
            <a:r>
              <a:rPr lang="en-US" dirty="0" smtClean="0"/>
              <a:t>Filter</a:t>
            </a:r>
          </a:p>
          <a:p>
            <a:pPr lvl="2"/>
            <a:r>
              <a:rPr lang="en-US" dirty="0" smtClean="0"/>
              <a:t>Processes, enhances, modifies, etc. the data</a:t>
            </a:r>
          </a:p>
          <a:p>
            <a:pPr lvl="1"/>
            <a:r>
              <a:rPr lang="en-US" dirty="0" smtClean="0"/>
              <a:t>Pipes</a:t>
            </a:r>
          </a:p>
          <a:p>
            <a:pPr lvl="2"/>
            <a:r>
              <a:rPr lang="en-US" dirty="0" smtClean="0"/>
              <a:t>Provide connections between data source and filter, filter to filter, and filter to data sink.</a:t>
            </a:r>
          </a:p>
          <a:p>
            <a:pPr lvl="1"/>
            <a:r>
              <a:rPr lang="en-US" dirty="0" smtClean="0"/>
              <a:t>Data Sink</a:t>
            </a:r>
          </a:p>
          <a:p>
            <a:pPr lvl="2"/>
            <a:r>
              <a:rPr lang="en-US" dirty="0" smtClean="0"/>
              <a:t>Data consumer</a:t>
            </a:r>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pSp>
        <p:nvGrpSpPr>
          <p:cNvPr id="20" name="Group 19"/>
          <p:cNvGrpSpPr/>
          <p:nvPr/>
        </p:nvGrpSpPr>
        <p:grpSpPr>
          <a:xfrm>
            <a:off x="561975" y="3124200"/>
            <a:ext cx="8277225" cy="3181529"/>
            <a:chOff x="561975" y="3124200"/>
            <a:chExt cx="8277225" cy="3181529"/>
          </a:xfrm>
        </p:grpSpPr>
        <p:grpSp>
          <p:nvGrpSpPr>
            <p:cNvPr id="14" name="Group 13"/>
            <p:cNvGrpSpPr/>
            <p:nvPr/>
          </p:nvGrpSpPr>
          <p:grpSpPr>
            <a:xfrm>
              <a:off x="561975" y="3124200"/>
              <a:ext cx="6524625" cy="2295525"/>
              <a:chOff x="457200" y="3657600"/>
              <a:chExt cx="6524625" cy="2295525"/>
            </a:xfrm>
          </p:grpSpPr>
          <p:pic>
            <p:nvPicPr>
              <p:cNvPr id="7" name="Picture 2"/>
              <p:cNvPicPr>
                <a:picLocks noChangeAspect="1" noChangeArrowheads="1"/>
              </p:cNvPicPr>
              <p:nvPr/>
            </p:nvPicPr>
            <p:blipFill>
              <a:blip r:embed="rId2" cstate="print"/>
              <a:srcRect/>
              <a:stretch>
                <a:fillRect/>
              </a:stretch>
            </p:blipFill>
            <p:spPr bwMode="auto">
              <a:xfrm>
                <a:off x="2133600" y="4267200"/>
                <a:ext cx="4848225" cy="1685925"/>
              </a:xfrm>
              <a:prstGeom prst="rect">
                <a:avLst/>
              </a:prstGeom>
              <a:noFill/>
              <a:ln w="9525">
                <a:noFill/>
                <a:miter lim="800000"/>
                <a:headEnd/>
                <a:tailEnd/>
              </a:ln>
            </p:spPr>
          </p:pic>
          <p:sp>
            <p:nvSpPr>
              <p:cNvPr id="8" name="TextBox 7"/>
              <p:cNvSpPr txBox="1"/>
              <p:nvPr/>
            </p:nvSpPr>
            <p:spPr>
              <a:xfrm>
                <a:off x="3581400" y="36576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 an UML diagram!</a:t>
                </a:r>
                <a:endParaRPr lang="en-US" sz="1200" b="1" dirty="0">
                  <a:solidFill>
                    <a:srgbClr val="C00000"/>
                  </a:solidFill>
                  <a:latin typeface="Bradley Hand ITC" pitchFamily="66" charset="0"/>
                </a:endParaRPr>
              </a:p>
            </p:txBody>
          </p:sp>
          <p:sp>
            <p:nvSpPr>
              <p:cNvPr id="9" name="Freeform 8"/>
              <p:cNvSpPr/>
              <p:nvPr/>
            </p:nvSpPr>
            <p:spPr>
              <a:xfrm>
                <a:off x="5534025" y="3800475"/>
                <a:ext cx="246062" cy="48577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09600" y="55626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Data source produces the data</a:t>
                </a:r>
                <a:endParaRPr lang="en-US" sz="1200" b="1" dirty="0">
                  <a:solidFill>
                    <a:srgbClr val="C00000"/>
                  </a:solidFill>
                  <a:latin typeface="Bradley Hand ITC" pitchFamily="66" charset="0"/>
                </a:endParaRPr>
              </a:p>
            </p:txBody>
          </p:sp>
          <p:sp>
            <p:nvSpPr>
              <p:cNvPr id="11" name="Freeform 10"/>
              <p:cNvSpPr/>
              <p:nvPr/>
            </p:nvSpPr>
            <p:spPr>
              <a:xfrm rot="15252305">
                <a:off x="1726035" y="5086422"/>
                <a:ext cx="291963" cy="647554"/>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457200" y="45720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Pipes used to move the data!</a:t>
                </a:r>
                <a:endParaRPr lang="en-US" sz="1200" b="1" dirty="0">
                  <a:solidFill>
                    <a:srgbClr val="C00000"/>
                  </a:solidFill>
                  <a:latin typeface="Bradley Hand ITC" pitchFamily="66" charset="0"/>
                </a:endParaRPr>
              </a:p>
            </p:txBody>
          </p:sp>
          <p:sp>
            <p:nvSpPr>
              <p:cNvPr id="13" name="Freeform 12"/>
              <p:cNvSpPr/>
              <p:nvPr/>
            </p:nvSpPr>
            <p:spPr>
              <a:xfrm rot="19390184">
                <a:off x="2611458" y="4628594"/>
                <a:ext cx="272080" cy="63187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5" name="TextBox 14"/>
            <p:cNvSpPr txBox="1"/>
            <p:nvPr/>
          </p:nvSpPr>
          <p:spPr>
            <a:xfrm>
              <a:off x="5486400" y="5105400"/>
              <a:ext cx="2667000" cy="1200329"/>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p>
            <a:p>
              <a:r>
                <a:rPr lang="en-US" sz="1200" b="1" dirty="0" smtClean="0">
                  <a:solidFill>
                    <a:srgbClr val="C00000"/>
                  </a:solidFill>
                  <a:latin typeface="Bradley Hand ITC" pitchFamily="66" charset="0"/>
                </a:rPr>
                <a:t>The abstractions used in the box-and-line diagram above for Pipes can be deceiving, since they really do not convey the real identity of these mechanisms!</a:t>
              </a:r>
              <a:endParaRPr lang="en-US" sz="1200" b="1" dirty="0">
                <a:solidFill>
                  <a:srgbClr val="C00000"/>
                </a:solidFill>
                <a:latin typeface="Bradley Hand ITC" pitchFamily="66" charset="0"/>
              </a:endParaRPr>
            </a:p>
          </p:txBody>
        </p:sp>
        <p:sp>
          <p:nvSpPr>
            <p:cNvPr id="16" name="TextBox 15"/>
            <p:cNvSpPr txBox="1"/>
            <p:nvPr/>
          </p:nvSpPr>
          <p:spPr>
            <a:xfrm>
              <a:off x="2133600" y="58674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Filters work on  the data!</a:t>
              </a:r>
              <a:endParaRPr lang="en-US" sz="1200" b="1" dirty="0">
                <a:solidFill>
                  <a:srgbClr val="C00000"/>
                </a:solidFill>
                <a:latin typeface="Bradley Hand ITC" pitchFamily="66" charset="0"/>
              </a:endParaRPr>
            </a:p>
          </p:txBody>
        </p:sp>
        <p:sp>
          <p:nvSpPr>
            <p:cNvPr id="17" name="Freeform 16"/>
            <p:cNvSpPr/>
            <p:nvPr/>
          </p:nvSpPr>
          <p:spPr>
            <a:xfrm>
              <a:off x="2990850" y="4924425"/>
              <a:ext cx="666750" cy="962025"/>
            </a:xfrm>
            <a:custGeom>
              <a:avLst/>
              <a:gdLst>
                <a:gd name="connsiteX0" fmla="*/ 0 w 666750"/>
                <a:gd name="connsiteY0" fmla="*/ 962025 h 962025"/>
                <a:gd name="connsiteX1" fmla="*/ 476250 w 666750"/>
                <a:gd name="connsiteY1" fmla="*/ 666750 h 962025"/>
                <a:gd name="connsiteX2" fmla="*/ 381000 w 666750"/>
                <a:gd name="connsiteY2" fmla="*/ 342900 h 962025"/>
                <a:gd name="connsiteX3" fmla="*/ 638175 w 666750"/>
                <a:gd name="connsiteY3" fmla="*/ 219075 h 962025"/>
                <a:gd name="connsiteX4" fmla="*/ 552450 w 666750"/>
                <a:gd name="connsiteY4" fmla="*/ 0 h 962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750" h="962025">
                  <a:moveTo>
                    <a:pt x="0" y="962025"/>
                  </a:moveTo>
                  <a:cubicBezTo>
                    <a:pt x="206375" y="865981"/>
                    <a:pt x="412750" y="769937"/>
                    <a:pt x="476250" y="666750"/>
                  </a:cubicBezTo>
                  <a:cubicBezTo>
                    <a:pt x="539750" y="563563"/>
                    <a:pt x="354013" y="417513"/>
                    <a:pt x="381000" y="342900"/>
                  </a:cubicBezTo>
                  <a:cubicBezTo>
                    <a:pt x="407988" y="268288"/>
                    <a:pt x="609600" y="276225"/>
                    <a:pt x="638175" y="219075"/>
                  </a:cubicBezTo>
                  <a:cubicBezTo>
                    <a:pt x="666750" y="161925"/>
                    <a:pt x="609600" y="80962"/>
                    <a:pt x="552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6629400" y="3810000"/>
              <a:ext cx="2209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Data is moved and processed along the way until it reaches its destination, the Data Sink.</a:t>
              </a:r>
              <a:endParaRPr lang="en-US" sz="1200" b="1" dirty="0">
                <a:solidFill>
                  <a:srgbClr val="C00000"/>
                </a:solidFill>
                <a:latin typeface="Bradley Hand ITC" pitchFamily="66" charset="0"/>
              </a:endParaRPr>
            </a:p>
          </p:txBody>
        </p:sp>
        <p:sp>
          <p:nvSpPr>
            <p:cNvPr id="19" name="Freeform 18"/>
            <p:cNvSpPr/>
            <p:nvPr/>
          </p:nvSpPr>
          <p:spPr>
            <a:xfrm rot="1851278">
              <a:off x="7084364" y="4426334"/>
              <a:ext cx="114580" cy="32005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3" name="Content Placeholder 2"/>
          <p:cNvSpPr>
            <a:spLocks noGrp="1"/>
          </p:cNvSpPr>
          <p:nvPr>
            <p:ph idx="1"/>
          </p:nvPr>
        </p:nvSpPr>
        <p:spPr>
          <a:xfrm>
            <a:off x="457200" y="1371601"/>
            <a:ext cx="8229600" cy="685799"/>
          </a:xfrm>
        </p:spPr>
        <p:txBody>
          <a:bodyPr>
            <a:normAutofit lnSpcReduction="10000"/>
          </a:bodyPr>
          <a:lstStyle/>
          <a:p>
            <a:r>
              <a:rPr lang="en-US" dirty="0" smtClean="0"/>
              <a:t>A common example for the Pipes-and-Filters pattern:</a:t>
            </a:r>
          </a:p>
          <a:p>
            <a:pPr lvl="1"/>
            <a:r>
              <a:rPr lang="en-US" dirty="0" smtClean="0"/>
              <a:t>Architecture of a Language Processor (e.g., compiler, interpreter)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grpSp>
        <p:nvGrpSpPr>
          <p:cNvPr id="80" name="Group 79"/>
          <p:cNvGrpSpPr/>
          <p:nvPr/>
        </p:nvGrpSpPr>
        <p:grpSpPr>
          <a:xfrm>
            <a:off x="914400" y="2249269"/>
            <a:ext cx="7620000" cy="3846731"/>
            <a:chOff x="609600" y="2438400"/>
            <a:chExt cx="7620000" cy="3846731"/>
          </a:xfrm>
        </p:grpSpPr>
        <p:grpSp>
          <p:nvGrpSpPr>
            <p:cNvPr id="10" name="Group 20"/>
            <p:cNvGrpSpPr/>
            <p:nvPr/>
          </p:nvGrpSpPr>
          <p:grpSpPr>
            <a:xfrm>
              <a:off x="2514600" y="2895600"/>
              <a:ext cx="4953000" cy="304800"/>
              <a:chOff x="1828800" y="4953000"/>
              <a:chExt cx="4953000" cy="304800"/>
            </a:xfrm>
          </p:grpSpPr>
          <p:sp>
            <p:nvSpPr>
              <p:cNvPr id="20" name="Rectangle 19"/>
              <p:cNvSpPr/>
              <p:nvPr/>
            </p:nvSpPr>
            <p:spPr>
              <a:xfrm>
                <a:off x="18288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1828800" y="4991100"/>
                <a:ext cx="848309" cy="215444"/>
              </a:xfrm>
              <a:prstGeom prst="rect">
                <a:avLst/>
              </a:prstGeom>
              <a:noFill/>
            </p:spPr>
            <p:txBody>
              <a:bodyPr wrap="none" rtlCol="0">
                <a:spAutoFit/>
              </a:bodyPr>
              <a:lstStyle/>
              <a:p>
                <a:r>
                  <a:rPr lang="en-US" sz="800" dirty="0" smtClean="0"/>
                  <a:t>Lexical Analyzer</a:t>
                </a:r>
                <a:endParaRPr lang="en-US" sz="800" dirty="0"/>
              </a:p>
            </p:txBody>
          </p:sp>
          <p:sp>
            <p:nvSpPr>
              <p:cNvPr id="22" name="Rectangle 21"/>
              <p:cNvSpPr/>
              <p:nvPr/>
            </p:nvSpPr>
            <p:spPr>
              <a:xfrm>
                <a:off x="3200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720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5867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stCxn id="22" idx="3"/>
                <a:endCxn id="23" idx="1"/>
              </p:cNvCxnSpPr>
              <p:nvPr/>
            </p:nvCxnSpPr>
            <p:spPr>
              <a:xfrm>
                <a:off x="41148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3" idx="3"/>
                <a:endCxn id="24" idx="1"/>
              </p:cNvCxnSpPr>
              <p:nvPr/>
            </p:nvCxnSpPr>
            <p:spPr>
              <a:xfrm>
                <a:off x="5486400" y="5105400"/>
                <a:ext cx="3810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3228975" y="4991100"/>
                <a:ext cx="885825" cy="215444"/>
              </a:xfrm>
              <a:prstGeom prst="rect">
                <a:avLst/>
              </a:prstGeom>
              <a:noFill/>
            </p:spPr>
            <p:txBody>
              <a:bodyPr wrap="square" rtlCol="0">
                <a:spAutoFit/>
              </a:bodyPr>
              <a:lstStyle/>
              <a:p>
                <a:pPr algn="ctr"/>
                <a:r>
                  <a:rPr lang="en-US" sz="800" dirty="0" smtClean="0"/>
                  <a:t>Parser</a:t>
                </a:r>
                <a:endParaRPr lang="en-US" sz="800" dirty="0"/>
              </a:p>
            </p:txBody>
          </p:sp>
          <p:sp>
            <p:nvSpPr>
              <p:cNvPr id="28" name="TextBox 27"/>
              <p:cNvSpPr txBox="1"/>
              <p:nvPr/>
            </p:nvSpPr>
            <p:spPr>
              <a:xfrm>
                <a:off x="4572000" y="5000625"/>
                <a:ext cx="851515" cy="215444"/>
              </a:xfrm>
              <a:prstGeom prst="rect">
                <a:avLst/>
              </a:prstGeom>
              <a:noFill/>
            </p:spPr>
            <p:txBody>
              <a:bodyPr wrap="none" rtlCol="0">
                <a:spAutoFit/>
              </a:bodyPr>
              <a:lstStyle/>
              <a:p>
                <a:r>
                  <a:rPr lang="en-US" sz="800" dirty="0" smtClean="0"/>
                  <a:t>Code Generator</a:t>
                </a:r>
                <a:endParaRPr lang="en-US" sz="800" dirty="0"/>
              </a:p>
            </p:txBody>
          </p:sp>
          <p:sp>
            <p:nvSpPr>
              <p:cNvPr id="29" name="TextBox 28"/>
              <p:cNvSpPr txBox="1"/>
              <p:nvPr/>
            </p:nvSpPr>
            <p:spPr>
              <a:xfrm>
                <a:off x="5867400" y="5000625"/>
                <a:ext cx="914400" cy="215444"/>
              </a:xfrm>
              <a:prstGeom prst="rect">
                <a:avLst/>
              </a:prstGeom>
              <a:noFill/>
            </p:spPr>
            <p:txBody>
              <a:bodyPr wrap="square" rtlCol="0">
                <a:spAutoFit/>
              </a:bodyPr>
              <a:lstStyle/>
              <a:p>
                <a:pPr algn="ctr"/>
                <a:r>
                  <a:rPr lang="en-US" sz="800" dirty="0" smtClean="0"/>
                  <a:t>Optimizer</a:t>
                </a:r>
                <a:endParaRPr lang="en-US" sz="800" dirty="0"/>
              </a:p>
            </p:txBody>
          </p:sp>
          <p:cxnSp>
            <p:nvCxnSpPr>
              <p:cNvPr id="30" name="Straight Arrow Connector 29"/>
              <p:cNvCxnSpPr/>
              <p:nvPr/>
            </p:nvCxnSpPr>
            <p:spPr>
              <a:xfrm>
                <a:off x="27432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1295400" y="3352800"/>
              <a:ext cx="1447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Lexical analyzer produces tokens</a:t>
              </a:r>
              <a:endParaRPr lang="en-US" sz="1200" b="1" dirty="0">
                <a:solidFill>
                  <a:srgbClr val="C00000"/>
                </a:solidFill>
                <a:latin typeface="Bradley Hand ITC" pitchFamily="66" charset="0"/>
              </a:endParaRPr>
            </a:p>
          </p:txBody>
        </p:sp>
        <p:sp>
          <p:nvSpPr>
            <p:cNvPr id="15" name="Freeform 14"/>
            <p:cNvSpPr/>
            <p:nvPr/>
          </p:nvSpPr>
          <p:spPr>
            <a:xfrm rot="1585401" flipV="1">
              <a:off x="2743200" y="3276600"/>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Folded Corner 30"/>
            <p:cNvSpPr/>
            <p:nvPr/>
          </p:nvSpPr>
          <p:spPr>
            <a:xfrm>
              <a:off x="1981200" y="24384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p:nvPr/>
          </p:nvCxnSpPr>
          <p:spPr>
            <a:xfrm>
              <a:off x="2057400" y="30480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3" name="Folded Corner 32"/>
            <p:cNvSpPr/>
            <p:nvPr/>
          </p:nvSpPr>
          <p:spPr>
            <a:xfrm>
              <a:off x="3505200" y="24384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3276600" y="32766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Parser produces parse trees</a:t>
              </a:r>
              <a:endParaRPr lang="en-US" sz="1200" b="1" dirty="0">
                <a:solidFill>
                  <a:srgbClr val="C00000"/>
                </a:solidFill>
                <a:latin typeface="Bradley Hand ITC" pitchFamily="66" charset="0"/>
              </a:endParaRPr>
            </a:p>
          </p:txBody>
        </p:sp>
        <p:sp>
          <p:nvSpPr>
            <p:cNvPr id="35" name="Freeform 34"/>
            <p:cNvSpPr/>
            <p:nvPr/>
          </p:nvSpPr>
          <p:spPr>
            <a:xfrm rot="1585401" flipV="1">
              <a:off x="4411081" y="3236242"/>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4724400" y="3505200"/>
              <a:ext cx="152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Generates code, e.g., machine language</a:t>
              </a:r>
              <a:endParaRPr lang="en-US" sz="1200" b="1" dirty="0">
                <a:solidFill>
                  <a:srgbClr val="C00000"/>
                </a:solidFill>
                <a:latin typeface="Bradley Hand ITC" pitchFamily="66" charset="0"/>
              </a:endParaRPr>
            </a:p>
          </p:txBody>
        </p:sp>
        <p:sp>
          <p:nvSpPr>
            <p:cNvPr id="37" name="Freeform 36"/>
            <p:cNvSpPr/>
            <p:nvPr/>
          </p:nvSpPr>
          <p:spPr>
            <a:xfrm rot="1199680" flipV="1">
              <a:off x="5782681" y="3236243"/>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rot="1585401" flipV="1">
              <a:off x="7078081" y="3236242"/>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TextBox 38"/>
            <p:cNvSpPr txBox="1"/>
            <p:nvPr/>
          </p:nvSpPr>
          <p:spPr>
            <a:xfrm>
              <a:off x="6324600" y="3581400"/>
              <a:ext cx="1219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Optimizes code</a:t>
              </a:r>
              <a:endParaRPr lang="en-US" sz="1200" b="1" dirty="0">
                <a:solidFill>
                  <a:srgbClr val="C00000"/>
                </a:solidFill>
                <a:latin typeface="Bradley Hand ITC" pitchFamily="66" charset="0"/>
              </a:endParaRPr>
            </a:p>
          </p:txBody>
        </p:sp>
        <p:sp>
          <p:nvSpPr>
            <p:cNvPr id="40" name="Folded Corner 39"/>
            <p:cNvSpPr/>
            <p:nvPr/>
          </p:nvSpPr>
          <p:spPr>
            <a:xfrm>
              <a:off x="4876800" y="24384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olded Corner 40"/>
            <p:cNvSpPr/>
            <p:nvPr/>
          </p:nvSpPr>
          <p:spPr>
            <a:xfrm>
              <a:off x="6248400" y="24384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p:cNvGrpSpPr/>
            <p:nvPr/>
          </p:nvGrpSpPr>
          <p:grpSpPr>
            <a:xfrm>
              <a:off x="609600" y="4038600"/>
              <a:ext cx="1828800" cy="1981200"/>
              <a:chOff x="609600" y="4038600"/>
              <a:chExt cx="1828800" cy="1981200"/>
            </a:xfrm>
          </p:grpSpPr>
          <p:pic>
            <p:nvPicPr>
              <p:cNvPr id="42"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609600" y="5410200"/>
                <a:ext cx="547384" cy="609600"/>
              </a:xfrm>
              <a:prstGeom prst="rect">
                <a:avLst/>
              </a:prstGeom>
              <a:noFill/>
            </p:spPr>
          </p:pic>
          <p:sp>
            <p:nvSpPr>
              <p:cNvPr id="43" name="Cloud Callout 42"/>
              <p:cNvSpPr/>
              <p:nvPr/>
            </p:nvSpPr>
            <p:spPr>
              <a:xfrm>
                <a:off x="914400" y="4038600"/>
                <a:ext cx="1524000" cy="914400"/>
              </a:xfrm>
              <a:prstGeom prst="cloudCallout">
                <a:avLst>
                  <a:gd name="adj1" fmla="val -42083"/>
                  <a:gd name="adj2" fmla="val 91029"/>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1133475" y="4152900"/>
                <a:ext cx="1295400" cy="707886"/>
              </a:xfrm>
              <a:prstGeom prst="rect">
                <a:avLst/>
              </a:prstGeom>
              <a:noFill/>
            </p:spPr>
            <p:txBody>
              <a:bodyPr wrap="square" rtlCol="0">
                <a:spAutoFit/>
              </a:bodyPr>
              <a:lstStyle/>
              <a:p>
                <a:r>
                  <a:rPr lang="en-US" sz="800" dirty="0" smtClean="0"/>
                  <a:t>It would be cool to build an interpreter… I know, let’s reuse the components that we already have!</a:t>
                </a:r>
                <a:endParaRPr lang="en-US" sz="800" dirty="0"/>
              </a:p>
            </p:txBody>
          </p:sp>
        </p:grpSp>
        <p:grpSp>
          <p:nvGrpSpPr>
            <p:cNvPr id="45" name="Group 20"/>
            <p:cNvGrpSpPr/>
            <p:nvPr/>
          </p:nvGrpSpPr>
          <p:grpSpPr>
            <a:xfrm>
              <a:off x="3200400" y="5029200"/>
              <a:ext cx="4953000" cy="304800"/>
              <a:chOff x="1828800" y="4953000"/>
              <a:chExt cx="4953000" cy="304800"/>
            </a:xfrm>
          </p:grpSpPr>
          <p:sp>
            <p:nvSpPr>
              <p:cNvPr id="46" name="Rectangle 45"/>
              <p:cNvSpPr/>
              <p:nvPr/>
            </p:nvSpPr>
            <p:spPr>
              <a:xfrm>
                <a:off x="18288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1828800" y="4991100"/>
                <a:ext cx="848309" cy="215444"/>
              </a:xfrm>
              <a:prstGeom prst="rect">
                <a:avLst/>
              </a:prstGeom>
              <a:noFill/>
            </p:spPr>
            <p:txBody>
              <a:bodyPr wrap="none" rtlCol="0">
                <a:spAutoFit/>
              </a:bodyPr>
              <a:lstStyle/>
              <a:p>
                <a:r>
                  <a:rPr lang="en-US" sz="800" dirty="0" smtClean="0"/>
                  <a:t>Lexical Analyzer</a:t>
                </a:r>
                <a:endParaRPr lang="en-US" sz="800" dirty="0"/>
              </a:p>
            </p:txBody>
          </p:sp>
          <p:sp>
            <p:nvSpPr>
              <p:cNvPr id="48" name="Rectangle 47"/>
              <p:cNvSpPr/>
              <p:nvPr/>
            </p:nvSpPr>
            <p:spPr>
              <a:xfrm>
                <a:off x="3200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45720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5867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Arrow Connector 50"/>
              <p:cNvCxnSpPr>
                <a:stCxn id="48" idx="3"/>
                <a:endCxn id="49" idx="1"/>
              </p:cNvCxnSpPr>
              <p:nvPr/>
            </p:nvCxnSpPr>
            <p:spPr>
              <a:xfrm>
                <a:off x="41148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9" idx="3"/>
                <a:endCxn id="50" idx="1"/>
              </p:cNvCxnSpPr>
              <p:nvPr/>
            </p:nvCxnSpPr>
            <p:spPr>
              <a:xfrm>
                <a:off x="5486400" y="5105400"/>
                <a:ext cx="3810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3228975" y="4991100"/>
                <a:ext cx="885825" cy="215444"/>
              </a:xfrm>
              <a:prstGeom prst="rect">
                <a:avLst/>
              </a:prstGeom>
              <a:noFill/>
            </p:spPr>
            <p:txBody>
              <a:bodyPr wrap="square" rtlCol="0">
                <a:spAutoFit/>
              </a:bodyPr>
              <a:lstStyle/>
              <a:p>
                <a:pPr algn="ctr"/>
                <a:r>
                  <a:rPr lang="en-US" sz="800" dirty="0" smtClean="0"/>
                  <a:t>Parser</a:t>
                </a:r>
                <a:endParaRPr lang="en-US" sz="800" dirty="0"/>
              </a:p>
            </p:txBody>
          </p:sp>
          <p:sp>
            <p:nvSpPr>
              <p:cNvPr id="54" name="TextBox 53"/>
              <p:cNvSpPr txBox="1"/>
              <p:nvPr/>
            </p:nvSpPr>
            <p:spPr>
              <a:xfrm>
                <a:off x="4572000" y="5000625"/>
                <a:ext cx="838200" cy="215444"/>
              </a:xfrm>
              <a:prstGeom prst="rect">
                <a:avLst/>
              </a:prstGeom>
              <a:noFill/>
            </p:spPr>
            <p:txBody>
              <a:bodyPr wrap="square" rtlCol="0">
                <a:spAutoFit/>
              </a:bodyPr>
              <a:lstStyle/>
              <a:p>
                <a:pPr algn="ctr"/>
                <a:r>
                  <a:rPr lang="en-US" sz="800" dirty="0" smtClean="0"/>
                  <a:t>Optimizer</a:t>
                </a:r>
                <a:endParaRPr lang="en-US" sz="800" dirty="0"/>
              </a:p>
            </p:txBody>
          </p:sp>
          <p:sp>
            <p:nvSpPr>
              <p:cNvPr id="55" name="TextBox 54"/>
              <p:cNvSpPr txBox="1"/>
              <p:nvPr/>
            </p:nvSpPr>
            <p:spPr>
              <a:xfrm>
                <a:off x="5867400" y="5000625"/>
                <a:ext cx="914400" cy="215444"/>
              </a:xfrm>
              <a:prstGeom prst="rect">
                <a:avLst/>
              </a:prstGeom>
              <a:noFill/>
            </p:spPr>
            <p:txBody>
              <a:bodyPr wrap="square" rtlCol="0">
                <a:spAutoFit/>
              </a:bodyPr>
              <a:lstStyle/>
              <a:p>
                <a:pPr algn="ctr"/>
                <a:r>
                  <a:rPr lang="en-US" sz="800" dirty="0" smtClean="0"/>
                  <a:t>Interpreter</a:t>
                </a:r>
                <a:endParaRPr lang="en-US" sz="800" dirty="0"/>
              </a:p>
            </p:txBody>
          </p:sp>
          <p:cxnSp>
            <p:nvCxnSpPr>
              <p:cNvPr id="56" name="Straight Arrow Connector 55"/>
              <p:cNvCxnSpPr/>
              <p:nvPr/>
            </p:nvCxnSpPr>
            <p:spPr>
              <a:xfrm>
                <a:off x="27432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57" name="TextBox 56"/>
            <p:cNvSpPr txBox="1"/>
            <p:nvPr/>
          </p:nvSpPr>
          <p:spPr>
            <a:xfrm>
              <a:off x="1981200" y="5486400"/>
              <a:ext cx="1447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Lexical analyzer produces tokens</a:t>
              </a:r>
              <a:endParaRPr lang="en-US" sz="1200" b="1" dirty="0">
                <a:solidFill>
                  <a:srgbClr val="C00000"/>
                </a:solidFill>
                <a:latin typeface="Bradley Hand ITC" pitchFamily="66" charset="0"/>
              </a:endParaRPr>
            </a:p>
          </p:txBody>
        </p:sp>
        <p:sp>
          <p:nvSpPr>
            <p:cNvPr id="58" name="Freeform 57"/>
            <p:cNvSpPr/>
            <p:nvPr/>
          </p:nvSpPr>
          <p:spPr>
            <a:xfrm rot="1585401" flipV="1">
              <a:off x="3429000" y="5410200"/>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Folded Corner 58"/>
            <p:cNvSpPr/>
            <p:nvPr/>
          </p:nvSpPr>
          <p:spPr>
            <a:xfrm>
              <a:off x="2667000" y="45720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p:cNvCxnSpPr/>
            <p:nvPr/>
          </p:nvCxnSpPr>
          <p:spPr>
            <a:xfrm>
              <a:off x="2743200" y="51816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61" name="Folded Corner 60"/>
            <p:cNvSpPr/>
            <p:nvPr/>
          </p:nvSpPr>
          <p:spPr>
            <a:xfrm>
              <a:off x="4191000" y="45720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p:cNvSpPr txBox="1"/>
            <p:nvPr/>
          </p:nvSpPr>
          <p:spPr>
            <a:xfrm>
              <a:off x="3962400" y="54102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Parser produces parse trees</a:t>
              </a:r>
              <a:endParaRPr lang="en-US" sz="1200" b="1" dirty="0">
                <a:solidFill>
                  <a:srgbClr val="C00000"/>
                </a:solidFill>
                <a:latin typeface="Bradley Hand ITC" pitchFamily="66" charset="0"/>
              </a:endParaRPr>
            </a:p>
          </p:txBody>
        </p:sp>
        <p:sp>
          <p:nvSpPr>
            <p:cNvPr id="63" name="Freeform 62"/>
            <p:cNvSpPr/>
            <p:nvPr/>
          </p:nvSpPr>
          <p:spPr>
            <a:xfrm rot="1585401" flipV="1">
              <a:off x="5096881" y="5369842"/>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Freeform 63"/>
            <p:cNvSpPr/>
            <p:nvPr/>
          </p:nvSpPr>
          <p:spPr>
            <a:xfrm rot="1199680" flipV="1">
              <a:off x="6468481" y="5369843"/>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Freeform 64"/>
            <p:cNvSpPr/>
            <p:nvPr/>
          </p:nvSpPr>
          <p:spPr>
            <a:xfrm rot="1585401" flipV="1">
              <a:off x="7763881" y="5369842"/>
              <a:ext cx="246062" cy="361950"/>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p:cNvSpPr txBox="1"/>
            <p:nvPr/>
          </p:nvSpPr>
          <p:spPr>
            <a:xfrm>
              <a:off x="7010400" y="57150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Run the program</a:t>
              </a:r>
              <a:endParaRPr lang="en-US" sz="1200" b="1" dirty="0">
                <a:solidFill>
                  <a:srgbClr val="C00000"/>
                </a:solidFill>
                <a:latin typeface="Bradley Hand ITC" pitchFamily="66" charset="0"/>
              </a:endParaRPr>
            </a:p>
          </p:txBody>
        </p:sp>
        <p:sp>
          <p:nvSpPr>
            <p:cNvPr id="67" name="Folded Corner 66"/>
            <p:cNvSpPr/>
            <p:nvPr/>
          </p:nvSpPr>
          <p:spPr>
            <a:xfrm>
              <a:off x="5562600" y="45720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olded Corner 67"/>
            <p:cNvSpPr/>
            <p:nvPr/>
          </p:nvSpPr>
          <p:spPr>
            <a:xfrm>
              <a:off x="6934200" y="4572000"/>
              <a:ext cx="3048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5486400" y="5638800"/>
              <a:ext cx="1219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Optimizes interpreted form of the program</a:t>
              </a:r>
              <a:endParaRPr lang="en-US" sz="1200" b="1" dirty="0">
                <a:solidFill>
                  <a:srgbClr val="C00000"/>
                </a:solidFill>
                <a:latin typeface="Bradley Hand ITC" pitchFamily="66" charset="0"/>
              </a:endParaRPr>
            </a:p>
          </p:txBody>
        </p:sp>
        <p:sp>
          <p:nvSpPr>
            <p:cNvPr id="73" name="Freeform 72"/>
            <p:cNvSpPr/>
            <p:nvPr/>
          </p:nvSpPr>
          <p:spPr>
            <a:xfrm>
              <a:off x="2941637" y="3248025"/>
              <a:ext cx="1020763" cy="1762125"/>
            </a:xfrm>
            <a:custGeom>
              <a:avLst/>
              <a:gdLst>
                <a:gd name="connsiteX0" fmla="*/ 317500 w 1020763"/>
                <a:gd name="connsiteY0" fmla="*/ 0 h 1762125"/>
                <a:gd name="connsiteX1" fmla="*/ 98425 w 1020763"/>
                <a:gd name="connsiteY1" fmla="*/ 561975 h 1762125"/>
                <a:gd name="connsiteX2" fmla="*/ 908050 w 1020763"/>
                <a:gd name="connsiteY2" fmla="*/ 1257300 h 1762125"/>
                <a:gd name="connsiteX3" fmla="*/ 774700 w 1020763"/>
                <a:gd name="connsiteY3" fmla="*/ 1762125 h 1762125"/>
              </a:gdLst>
              <a:ahLst/>
              <a:cxnLst>
                <a:cxn ang="0">
                  <a:pos x="connsiteX0" y="connsiteY0"/>
                </a:cxn>
                <a:cxn ang="0">
                  <a:pos x="connsiteX1" y="connsiteY1"/>
                </a:cxn>
                <a:cxn ang="0">
                  <a:pos x="connsiteX2" y="connsiteY2"/>
                </a:cxn>
                <a:cxn ang="0">
                  <a:pos x="connsiteX3" y="connsiteY3"/>
                </a:cxn>
              </a:cxnLst>
              <a:rect l="l" t="t" r="r" b="b"/>
              <a:pathLst>
                <a:path w="1020763" h="1762125">
                  <a:moveTo>
                    <a:pt x="317500" y="0"/>
                  </a:moveTo>
                  <a:cubicBezTo>
                    <a:pt x="158750" y="176212"/>
                    <a:pt x="0" y="352425"/>
                    <a:pt x="98425" y="561975"/>
                  </a:cubicBezTo>
                  <a:cubicBezTo>
                    <a:pt x="196850" y="771525"/>
                    <a:pt x="795337" y="1057275"/>
                    <a:pt x="908050" y="1257300"/>
                  </a:cubicBezTo>
                  <a:cubicBezTo>
                    <a:pt x="1020763" y="1457325"/>
                    <a:pt x="897731" y="1609725"/>
                    <a:pt x="774700" y="1762125"/>
                  </a:cubicBezTo>
                </a:path>
              </a:pathLst>
            </a:custGeom>
            <a:ln w="6350">
              <a:solidFill>
                <a:schemeClr val="bg1">
                  <a:lumMod val="50000"/>
                </a:schemeClr>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TextBox 73"/>
            <p:cNvSpPr txBox="1"/>
            <p:nvPr/>
          </p:nvSpPr>
          <p:spPr>
            <a:xfrm>
              <a:off x="3429000" y="3810000"/>
              <a:ext cx="1143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Reused component</a:t>
              </a:r>
              <a:endParaRPr lang="en-US" sz="1200" b="1" dirty="0">
                <a:solidFill>
                  <a:srgbClr val="C00000"/>
                </a:solidFill>
                <a:latin typeface="Bradley Hand ITC" pitchFamily="66" charset="0"/>
              </a:endParaRPr>
            </a:p>
          </p:txBody>
        </p:sp>
        <p:sp>
          <p:nvSpPr>
            <p:cNvPr id="75" name="Freeform 74"/>
            <p:cNvSpPr/>
            <p:nvPr/>
          </p:nvSpPr>
          <p:spPr>
            <a:xfrm>
              <a:off x="4464050" y="3228975"/>
              <a:ext cx="636587" cy="1781175"/>
            </a:xfrm>
            <a:custGeom>
              <a:avLst/>
              <a:gdLst>
                <a:gd name="connsiteX0" fmla="*/ 241300 w 636587"/>
                <a:gd name="connsiteY0" fmla="*/ 0 h 1781175"/>
                <a:gd name="connsiteX1" fmla="*/ 422275 w 636587"/>
                <a:gd name="connsiteY1" fmla="*/ 171450 h 1781175"/>
                <a:gd name="connsiteX2" fmla="*/ 22225 w 636587"/>
                <a:gd name="connsiteY2" fmla="*/ 723900 h 1781175"/>
                <a:gd name="connsiteX3" fmla="*/ 555625 w 636587"/>
                <a:gd name="connsiteY3" fmla="*/ 1362075 h 1781175"/>
                <a:gd name="connsiteX4" fmla="*/ 508000 w 636587"/>
                <a:gd name="connsiteY4" fmla="*/ 1781175 h 178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587" h="1781175">
                  <a:moveTo>
                    <a:pt x="241300" y="0"/>
                  </a:moveTo>
                  <a:cubicBezTo>
                    <a:pt x="350043" y="25400"/>
                    <a:pt x="458787" y="50800"/>
                    <a:pt x="422275" y="171450"/>
                  </a:cubicBezTo>
                  <a:cubicBezTo>
                    <a:pt x="385763" y="292100"/>
                    <a:pt x="0" y="525463"/>
                    <a:pt x="22225" y="723900"/>
                  </a:cubicBezTo>
                  <a:cubicBezTo>
                    <a:pt x="44450" y="922338"/>
                    <a:pt x="474663" y="1185863"/>
                    <a:pt x="555625" y="1362075"/>
                  </a:cubicBezTo>
                  <a:cubicBezTo>
                    <a:pt x="636587" y="1538287"/>
                    <a:pt x="572293" y="1659731"/>
                    <a:pt x="508000" y="1781175"/>
                  </a:cubicBezTo>
                </a:path>
              </a:pathLst>
            </a:custGeom>
            <a:ln w="6350">
              <a:solidFill>
                <a:schemeClr val="bg1">
                  <a:lumMod val="50000"/>
                </a:schemeClr>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Freeform 76"/>
            <p:cNvSpPr/>
            <p:nvPr/>
          </p:nvSpPr>
          <p:spPr>
            <a:xfrm>
              <a:off x="3390900" y="3919538"/>
              <a:ext cx="333375" cy="214312"/>
            </a:xfrm>
            <a:custGeom>
              <a:avLst/>
              <a:gdLst>
                <a:gd name="connsiteX0" fmla="*/ 333375 w 333375"/>
                <a:gd name="connsiteY0" fmla="*/ 14287 h 214312"/>
                <a:gd name="connsiteX1" fmla="*/ 200025 w 333375"/>
                <a:gd name="connsiteY1" fmla="*/ 23812 h 214312"/>
                <a:gd name="connsiteX2" fmla="*/ 133350 w 333375"/>
                <a:gd name="connsiteY2" fmla="*/ 157162 h 214312"/>
                <a:gd name="connsiteX3" fmla="*/ 0 w 333375"/>
                <a:gd name="connsiteY3" fmla="*/ 214312 h 214312"/>
              </a:gdLst>
              <a:ahLst/>
              <a:cxnLst>
                <a:cxn ang="0">
                  <a:pos x="connsiteX0" y="connsiteY0"/>
                </a:cxn>
                <a:cxn ang="0">
                  <a:pos x="connsiteX1" y="connsiteY1"/>
                </a:cxn>
                <a:cxn ang="0">
                  <a:pos x="connsiteX2" y="connsiteY2"/>
                </a:cxn>
                <a:cxn ang="0">
                  <a:pos x="connsiteX3" y="connsiteY3"/>
                </a:cxn>
              </a:cxnLst>
              <a:rect l="l" t="t" r="r" b="b"/>
              <a:pathLst>
                <a:path w="333375" h="214312">
                  <a:moveTo>
                    <a:pt x="333375" y="14287"/>
                  </a:moveTo>
                  <a:cubicBezTo>
                    <a:pt x="283368" y="7143"/>
                    <a:pt x="233362" y="0"/>
                    <a:pt x="200025" y="23812"/>
                  </a:cubicBezTo>
                  <a:cubicBezTo>
                    <a:pt x="166688" y="47624"/>
                    <a:pt x="166687" y="125412"/>
                    <a:pt x="133350" y="157162"/>
                  </a:cubicBezTo>
                  <a:cubicBezTo>
                    <a:pt x="100013" y="188912"/>
                    <a:pt x="50006" y="201612"/>
                    <a:pt x="0" y="214312"/>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Freeform 77"/>
            <p:cNvSpPr/>
            <p:nvPr/>
          </p:nvSpPr>
          <p:spPr>
            <a:xfrm>
              <a:off x="4305300" y="3940175"/>
              <a:ext cx="323850" cy="231775"/>
            </a:xfrm>
            <a:custGeom>
              <a:avLst/>
              <a:gdLst>
                <a:gd name="connsiteX0" fmla="*/ 0 w 323850"/>
                <a:gd name="connsiteY0" fmla="*/ 3175 h 231775"/>
                <a:gd name="connsiteX1" fmla="*/ 95250 w 323850"/>
                <a:gd name="connsiteY1" fmla="*/ 31750 h 231775"/>
                <a:gd name="connsiteX2" fmla="*/ 152400 w 323850"/>
                <a:gd name="connsiteY2" fmla="*/ 193675 h 231775"/>
                <a:gd name="connsiteX3" fmla="*/ 323850 w 323850"/>
                <a:gd name="connsiteY3" fmla="*/ 231775 h 231775"/>
              </a:gdLst>
              <a:ahLst/>
              <a:cxnLst>
                <a:cxn ang="0">
                  <a:pos x="connsiteX0" y="connsiteY0"/>
                </a:cxn>
                <a:cxn ang="0">
                  <a:pos x="connsiteX1" y="connsiteY1"/>
                </a:cxn>
                <a:cxn ang="0">
                  <a:pos x="connsiteX2" y="connsiteY2"/>
                </a:cxn>
                <a:cxn ang="0">
                  <a:pos x="connsiteX3" y="connsiteY3"/>
                </a:cxn>
              </a:cxnLst>
              <a:rect l="l" t="t" r="r" b="b"/>
              <a:pathLst>
                <a:path w="323850" h="231775">
                  <a:moveTo>
                    <a:pt x="0" y="3175"/>
                  </a:moveTo>
                  <a:cubicBezTo>
                    <a:pt x="34925" y="1587"/>
                    <a:pt x="69850" y="0"/>
                    <a:pt x="95250" y="31750"/>
                  </a:cubicBezTo>
                  <a:cubicBezTo>
                    <a:pt x="120650" y="63500"/>
                    <a:pt x="114300" y="160338"/>
                    <a:pt x="152400" y="193675"/>
                  </a:cubicBezTo>
                  <a:cubicBezTo>
                    <a:pt x="190500" y="227012"/>
                    <a:pt x="257175" y="229393"/>
                    <a:pt x="323850" y="231775"/>
                  </a:cubicBezTo>
                </a:path>
              </a:pathLst>
            </a:custGeom>
            <a:ln w="6350">
              <a:solidFill>
                <a:srgbClr val="C00000"/>
              </a:solidFill>
              <a:prstDash val="dash"/>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9" name="TextBox 78"/>
          <p:cNvSpPr txBox="1"/>
          <p:nvPr/>
        </p:nvSpPr>
        <p:spPr>
          <a:xfrm>
            <a:off x="428625" y="2209800"/>
            <a:ext cx="16002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Not a UML Diagram!</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2" name="TextBox 11"/>
          <p:cNvSpPr txBox="1"/>
          <p:nvPr/>
        </p:nvSpPr>
        <p:spPr>
          <a:xfrm>
            <a:off x="762000" y="1524000"/>
            <a:ext cx="16002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A UML Diagram!</a:t>
            </a:r>
            <a:endParaRPr lang="en-US" sz="1200" b="1" dirty="0">
              <a:solidFill>
                <a:srgbClr val="C00000"/>
              </a:solidFill>
              <a:latin typeface="Bradley Hand ITC" pitchFamily="66" charset="0"/>
            </a:endParaRPr>
          </a:p>
        </p:txBody>
      </p:sp>
      <p:grpSp>
        <p:nvGrpSpPr>
          <p:cNvPr id="26" name="Group 25"/>
          <p:cNvGrpSpPr/>
          <p:nvPr/>
        </p:nvGrpSpPr>
        <p:grpSpPr>
          <a:xfrm>
            <a:off x="1447800" y="1247001"/>
            <a:ext cx="5334000" cy="4591824"/>
            <a:chOff x="1295400" y="1247001"/>
            <a:chExt cx="5334000" cy="4591824"/>
          </a:xfrm>
        </p:grpSpPr>
        <p:pic>
          <p:nvPicPr>
            <p:cNvPr id="1026" name="Picture 2"/>
            <p:cNvPicPr>
              <a:picLocks noChangeAspect="1" noChangeArrowheads="1"/>
            </p:cNvPicPr>
            <p:nvPr/>
          </p:nvPicPr>
          <p:blipFill>
            <a:blip r:embed="rId2" cstate="print"/>
            <a:srcRect/>
            <a:stretch>
              <a:fillRect/>
            </a:stretch>
          </p:blipFill>
          <p:spPr bwMode="auto">
            <a:xfrm>
              <a:off x="2514600" y="2133600"/>
              <a:ext cx="4114800" cy="3705225"/>
            </a:xfrm>
            <a:prstGeom prst="rect">
              <a:avLst/>
            </a:prstGeom>
            <a:noFill/>
            <a:ln w="9525">
              <a:noFill/>
              <a:miter lim="800000"/>
              <a:headEnd/>
              <a:tailEnd/>
            </a:ln>
          </p:spPr>
        </p:pic>
        <p:sp>
          <p:nvSpPr>
            <p:cNvPr id="8" name="TextBox 7"/>
            <p:cNvSpPr txBox="1"/>
            <p:nvPr/>
          </p:nvSpPr>
          <p:spPr>
            <a:xfrm>
              <a:off x="2724150" y="2333625"/>
              <a:ext cx="609599" cy="338554"/>
            </a:xfrm>
            <a:prstGeom prst="rect">
              <a:avLst/>
            </a:prstGeom>
            <a:noFill/>
          </p:spPr>
          <p:txBody>
            <a:bodyPr wrap="square" rtlCol="0">
              <a:spAutoFit/>
            </a:bodyPr>
            <a:lstStyle/>
            <a:p>
              <a:pPr algn="ctr"/>
              <a:r>
                <a:rPr lang="en-US" sz="800" dirty="0" smtClean="0"/>
                <a:t>Lexical Analyzer</a:t>
              </a:r>
              <a:endParaRPr lang="en-US" sz="800" dirty="0"/>
            </a:p>
          </p:txBody>
        </p:sp>
        <p:sp>
          <p:nvSpPr>
            <p:cNvPr id="9" name="TextBox 8"/>
            <p:cNvSpPr txBox="1"/>
            <p:nvPr/>
          </p:nvSpPr>
          <p:spPr>
            <a:xfrm>
              <a:off x="3467100" y="2390775"/>
              <a:ext cx="885825" cy="215444"/>
            </a:xfrm>
            <a:prstGeom prst="rect">
              <a:avLst/>
            </a:prstGeom>
            <a:noFill/>
          </p:spPr>
          <p:txBody>
            <a:bodyPr wrap="square" rtlCol="0">
              <a:spAutoFit/>
            </a:bodyPr>
            <a:lstStyle/>
            <a:p>
              <a:pPr algn="ctr"/>
              <a:r>
                <a:rPr lang="en-US" sz="800" dirty="0" smtClean="0"/>
                <a:t>Parser</a:t>
              </a:r>
              <a:endParaRPr lang="en-US" sz="800" dirty="0"/>
            </a:p>
          </p:txBody>
        </p:sp>
        <p:sp>
          <p:nvSpPr>
            <p:cNvPr id="10" name="TextBox 9"/>
            <p:cNvSpPr txBox="1"/>
            <p:nvPr/>
          </p:nvSpPr>
          <p:spPr>
            <a:xfrm>
              <a:off x="4400550" y="2333625"/>
              <a:ext cx="762000" cy="338554"/>
            </a:xfrm>
            <a:prstGeom prst="rect">
              <a:avLst/>
            </a:prstGeom>
            <a:noFill/>
          </p:spPr>
          <p:txBody>
            <a:bodyPr wrap="square" rtlCol="0">
              <a:spAutoFit/>
            </a:bodyPr>
            <a:lstStyle/>
            <a:p>
              <a:pPr algn="ctr"/>
              <a:r>
                <a:rPr lang="en-US" sz="800" dirty="0" smtClean="0"/>
                <a:t>Code Generator</a:t>
              </a:r>
              <a:endParaRPr lang="en-US" sz="800" dirty="0"/>
            </a:p>
          </p:txBody>
        </p:sp>
        <p:sp>
          <p:nvSpPr>
            <p:cNvPr id="11" name="TextBox 10"/>
            <p:cNvSpPr txBox="1"/>
            <p:nvPr/>
          </p:nvSpPr>
          <p:spPr>
            <a:xfrm>
              <a:off x="5324475" y="2381250"/>
              <a:ext cx="914400" cy="215444"/>
            </a:xfrm>
            <a:prstGeom prst="rect">
              <a:avLst/>
            </a:prstGeom>
            <a:noFill/>
          </p:spPr>
          <p:txBody>
            <a:bodyPr wrap="square" rtlCol="0">
              <a:spAutoFit/>
            </a:bodyPr>
            <a:lstStyle/>
            <a:p>
              <a:pPr algn="ctr"/>
              <a:r>
                <a:rPr lang="en-US" sz="800" dirty="0" smtClean="0"/>
                <a:t>Optimizer</a:t>
              </a:r>
              <a:endParaRPr lang="en-US" sz="800" dirty="0"/>
            </a:p>
          </p:txBody>
        </p:sp>
        <p:sp>
          <p:nvSpPr>
            <p:cNvPr id="13" name="TextBox 12"/>
            <p:cNvSpPr txBox="1"/>
            <p:nvPr/>
          </p:nvSpPr>
          <p:spPr>
            <a:xfrm>
              <a:off x="3810000" y="1247001"/>
              <a:ext cx="1447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Filters</a:t>
              </a:r>
              <a:endParaRPr lang="en-US" sz="1200" b="1" dirty="0">
                <a:solidFill>
                  <a:srgbClr val="C00000"/>
                </a:solidFill>
                <a:latin typeface="Bradley Hand ITC" pitchFamily="66" charset="0"/>
              </a:endParaRPr>
            </a:p>
          </p:txBody>
        </p:sp>
        <p:sp>
          <p:nvSpPr>
            <p:cNvPr id="15" name="Freeform 14"/>
            <p:cNvSpPr/>
            <p:nvPr/>
          </p:nvSpPr>
          <p:spPr>
            <a:xfrm>
              <a:off x="3286125" y="1457325"/>
              <a:ext cx="1133475" cy="781050"/>
            </a:xfrm>
            <a:custGeom>
              <a:avLst/>
              <a:gdLst>
                <a:gd name="connsiteX0" fmla="*/ 981075 w 981075"/>
                <a:gd name="connsiteY0" fmla="*/ 0 h 781050"/>
                <a:gd name="connsiteX1" fmla="*/ 847725 w 981075"/>
                <a:gd name="connsiteY1" fmla="*/ 285750 h 781050"/>
                <a:gd name="connsiteX2" fmla="*/ 228600 w 981075"/>
                <a:gd name="connsiteY2" fmla="*/ 409575 h 781050"/>
                <a:gd name="connsiteX3" fmla="*/ 0 w 981075"/>
                <a:gd name="connsiteY3" fmla="*/ 781050 h 781050"/>
              </a:gdLst>
              <a:ahLst/>
              <a:cxnLst>
                <a:cxn ang="0">
                  <a:pos x="connsiteX0" y="connsiteY0"/>
                </a:cxn>
                <a:cxn ang="0">
                  <a:pos x="connsiteX1" y="connsiteY1"/>
                </a:cxn>
                <a:cxn ang="0">
                  <a:pos x="connsiteX2" y="connsiteY2"/>
                </a:cxn>
                <a:cxn ang="0">
                  <a:pos x="connsiteX3" y="connsiteY3"/>
                </a:cxn>
              </a:cxnLst>
              <a:rect l="l" t="t" r="r" b="b"/>
              <a:pathLst>
                <a:path w="981075" h="781050">
                  <a:moveTo>
                    <a:pt x="981075" y="0"/>
                  </a:moveTo>
                  <a:cubicBezTo>
                    <a:pt x="977106" y="108744"/>
                    <a:pt x="973137" y="217488"/>
                    <a:pt x="847725" y="285750"/>
                  </a:cubicBezTo>
                  <a:cubicBezTo>
                    <a:pt x="722313" y="354012"/>
                    <a:pt x="369888" y="327025"/>
                    <a:pt x="228600" y="409575"/>
                  </a:cubicBezTo>
                  <a:cubicBezTo>
                    <a:pt x="87313" y="492125"/>
                    <a:pt x="43656" y="636587"/>
                    <a:pt x="0" y="781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3990975" y="1485900"/>
              <a:ext cx="485775" cy="781050"/>
            </a:xfrm>
            <a:custGeom>
              <a:avLst/>
              <a:gdLst>
                <a:gd name="connsiteX0" fmla="*/ 485775 w 485775"/>
                <a:gd name="connsiteY0" fmla="*/ 0 h 781050"/>
                <a:gd name="connsiteX1" fmla="*/ 419100 w 485775"/>
                <a:gd name="connsiteY1" fmla="*/ 304800 h 781050"/>
                <a:gd name="connsiteX2" fmla="*/ 104775 w 485775"/>
                <a:gd name="connsiteY2" fmla="*/ 476250 h 781050"/>
                <a:gd name="connsiteX3" fmla="*/ 0 w 485775"/>
                <a:gd name="connsiteY3" fmla="*/ 781050 h 781050"/>
              </a:gdLst>
              <a:ahLst/>
              <a:cxnLst>
                <a:cxn ang="0">
                  <a:pos x="connsiteX0" y="connsiteY0"/>
                </a:cxn>
                <a:cxn ang="0">
                  <a:pos x="connsiteX1" y="connsiteY1"/>
                </a:cxn>
                <a:cxn ang="0">
                  <a:pos x="connsiteX2" y="connsiteY2"/>
                </a:cxn>
                <a:cxn ang="0">
                  <a:pos x="connsiteX3" y="connsiteY3"/>
                </a:cxn>
              </a:cxnLst>
              <a:rect l="l" t="t" r="r" b="b"/>
              <a:pathLst>
                <a:path w="485775" h="781050">
                  <a:moveTo>
                    <a:pt x="485775" y="0"/>
                  </a:moveTo>
                  <a:cubicBezTo>
                    <a:pt x="484187" y="112712"/>
                    <a:pt x="482600" y="225425"/>
                    <a:pt x="419100" y="304800"/>
                  </a:cubicBezTo>
                  <a:cubicBezTo>
                    <a:pt x="355600" y="384175"/>
                    <a:pt x="174625" y="396875"/>
                    <a:pt x="104775" y="476250"/>
                  </a:cubicBezTo>
                  <a:cubicBezTo>
                    <a:pt x="34925" y="555625"/>
                    <a:pt x="17462" y="668337"/>
                    <a:pt x="0" y="781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4527550" y="1485900"/>
              <a:ext cx="274637" cy="809625"/>
            </a:xfrm>
            <a:custGeom>
              <a:avLst/>
              <a:gdLst>
                <a:gd name="connsiteX0" fmla="*/ 25400 w 274637"/>
                <a:gd name="connsiteY0" fmla="*/ 0 h 809625"/>
                <a:gd name="connsiteX1" fmla="*/ 34925 w 274637"/>
                <a:gd name="connsiteY1" fmla="*/ 219075 h 809625"/>
                <a:gd name="connsiteX2" fmla="*/ 234950 w 274637"/>
                <a:gd name="connsiteY2" fmla="*/ 533400 h 809625"/>
                <a:gd name="connsiteX3" fmla="*/ 273050 w 274637"/>
                <a:gd name="connsiteY3" fmla="*/ 809625 h 809625"/>
              </a:gdLst>
              <a:ahLst/>
              <a:cxnLst>
                <a:cxn ang="0">
                  <a:pos x="connsiteX0" y="connsiteY0"/>
                </a:cxn>
                <a:cxn ang="0">
                  <a:pos x="connsiteX1" y="connsiteY1"/>
                </a:cxn>
                <a:cxn ang="0">
                  <a:pos x="connsiteX2" y="connsiteY2"/>
                </a:cxn>
                <a:cxn ang="0">
                  <a:pos x="connsiteX3" y="connsiteY3"/>
                </a:cxn>
              </a:cxnLst>
              <a:rect l="l" t="t" r="r" b="b"/>
              <a:pathLst>
                <a:path w="274637" h="809625">
                  <a:moveTo>
                    <a:pt x="25400" y="0"/>
                  </a:moveTo>
                  <a:cubicBezTo>
                    <a:pt x="12700" y="65087"/>
                    <a:pt x="0" y="130175"/>
                    <a:pt x="34925" y="219075"/>
                  </a:cubicBezTo>
                  <a:cubicBezTo>
                    <a:pt x="69850" y="307975"/>
                    <a:pt x="195263" y="434975"/>
                    <a:pt x="234950" y="533400"/>
                  </a:cubicBezTo>
                  <a:cubicBezTo>
                    <a:pt x="274637" y="631825"/>
                    <a:pt x="273843" y="720725"/>
                    <a:pt x="273050" y="8096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4648200" y="1514475"/>
              <a:ext cx="1133475" cy="781050"/>
            </a:xfrm>
            <a:custGeom>
              <a:avLst/>
              <a:gdLst>
                <a:gd name="connsiteX0" fmla="*/ 3175 w 1060450"/>
                <a:gd name="connsiteY0" fmla="*/ 0 h 781050"/>
                <a:gd name="connsiteX1" fmla="*/ 146050 w 1060450"/>
                <a:gd name="connsiteY1" fmla="*/ 200025 h 781050"/>
                <a:gd name="connsiteX2" fmla="*/ 879475 w 1060450"/>
                <a:gd name="connsiteY2" fmla="*/ 400050 h 781050"/>
                <a:gd name="connsiteX3" fmla="*/ 1060450 w 1060450"/>
                <a:gd name="connsiteY3" fmla="*/ 781050 h 781050"/>
              </a:gdLst>
              <a:ahLst/>
              <a:cxnLst>
                <a:cxn ang="0">
                  <a:pos x="connsiteX0" y="connsiteY0"/>
                </a:cxn>
                <a:cxn ang="0">
                  <a:pos x="connsiteX1" y="connsiteY1"/>
                </a:cxn>
                <a:cxn ang="0">
                  <a:pos x="connsiteX2" y="connsiteY2"/>
                </a:cxn>
                <a:cxn ang="0">
                  <a:pos x="connsiteX3" y="connsiteY3"/>
                </a:cxn>
              </a:cxnLst>
              <a:rect l="l" t="t" r="r" b="b"/>
              <a:pathLst>
                <a:path w="1060450" h="781050">
                  <a:moveTo>
                    <a:pt x="3175" y="0"/>
                  </a:moveTo>
                  <a:cubicBezTo>
                    <a:pt x="1587" y="66675"/>
                    <a:pt x="0" y="133350"/>
                    <a:pt x="146050" y="200025"/>
                  </a:cubicBezTo>
                  <a:cubicBezTo>
                    <a:pt x="292100" y="266700"/>
                    <a:pt x="727075" y="303213"/>
                    <a:pt x="879475" y="400050"/>
                  </a:cubicBezTo>
                  <a:cubicBezTo>
                    <a:pt x="1031875" y="496888"/>
                    <a:pt x="1046162" y="638969"/>
                    <a:pt x="1060450" y="781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1295400" y="3657600"/>
              <a:ext cx="14478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this example, the Pipes are simply function calls!</a:t>
              </a:r>
              <a:endParaRPr lang="en-US" sz="1200" b="1" dirty="0">
                <a:solidFill>
                  <a:srgbClr val="C00000"/>
                </a:solidFill>
                <a:latin typeface="Bradley Hand ITC" pitchFamily="66" charset="0"/>
              </a:endParaRPr>
            </a:p>
          </p:txBody>
        </p:sp>
        <p:sp>
          <p:nvSpPr>
            <p:cNvPr id="22" name="Freeform 21"/>
            <p:cNvSpPr/>
            <p:nvPr/>
          </p:nvSpPr>
          <p:spPr>
            <a:xfrm>
              <a:off x="2743200" y="3190875"/>
              <a:ext cx="771525" cy="685800"/>
            </a:xfrm>
            <a:custGeom>
              <a:avLst/>
              <a:gdLst>
                <a:gd name="connsiteX0" fmla="*/ 0 w 771525"/>
                <a:gd name="connsiteY0" fmla="*/ 685800 h 685800"/>
                <a:gd name="connsiteX1" fmla="*/ 438150 w 771525"/>
                <a:gd name="connsiteY1" fmla="*/ 619125 h 685800"/>
                <a:gd name="connsiteX2" fmla="*/ 552450 w 771525"/>
                <a:gd name="connsiteY2" fmla="*/ 342900 h 685800"/>
                <a:gd name="connsiteX3" fmla="*/ 771525 w 771525"/>
                <a:gd name="connsiteY3" fmla="*/ 0 h 685800"/>
              </a:gdLst>
              <a:ahLst/>
              <a:cxnLst>
                <a:cxn ang="0">
                  <a:pos x="connsiteX0" y="connsiteY0"/>
                </a:cxn>
                <a:cxn ang="0">
                  <a:pos x="connsiteX1" y="connsiteY1"/>
                </a:cxn>
                <a:cxn ang="0">
                  <a:pos x="connsiteX2" y="connsiteY2"/>
                </a:cxn>
                <a:cxn ang="0">
                  <a:pos x="connsiteX3" y="connsiteY3"/>
                </a:cxn>
              </a:cxnLst>
              <a:rect l="l" t="t" r="r" b="b"/>
              <a:pathLst>
                <a:path w="771525" h="685800">
                  <a:moveTo>
                    <a:pt x="0" y="685800"/>
                  </a:moveTo>
                  <a:cubicBezTo>
                    <a:pt x="173037" y="681037"/>
                    <a:pt x="346075" y="676275"/>
                    <a:pt x="438150" y="619125"/>
                  </a:cubicBezTo>
                  <a:cubicBezTo>
                    <a:pt x="530225" y="561975"/>
                    <a:pt x="496888" y="446087"/>
                    <a:pt x="552450" y="342900"/>
                  </a:cubicBezTo>
                  <a:cubicBezTo>
                    <a:pt x="608012" y="239713"/>
                    <a:pt x="689768" y="119856"/>
                    <a:pt x="7715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2771775" y="3800475"/>
              <a:ext cx="1647825" cy="427037"/>
            </a:xfrm>
            <a:custGeom>
              <a:avLst/>
              <a:gdLst>
                <a:gd name="connsiteX0" fmla="*/ 0 w 1647825"/>
                <a:gd name="connsiteY0" fmla="*/ 180975 h 427037"/>
                <a:gd name="connsiteX1" fmla="*/ 495300 w 1647825"/>
                <a:gd name="connsiteY1" fmla="*/ 276225 h 427037"/>
                <a:gd name="connsiteX2" fmla="*/ 1333500 w 1647825"/>
                <a:gd name="connsiteY2" fmla="*/ 381000 h 427037"/>
                <a:gd name="connsiteX3" fmla="*/ 1647825 w 1647825"/>
                <a:gd name="connsiteY3" fmla="*/ 0 h 427037"/>
              </a:gdLst>
              <a:ahLst/>
              <a:cxnLst>
                <a:cxn ang="0">
                  <a:pos x="connsiteX0" y="connsiteY0"/>
                </a:cxn>
                <a:cxn ang="0">
                  <a:pos x="connsiteX1" y="connsiteY1"/>
                </a:cxn>
                <a:cxn ang="0">
                  <a:pos x="connsiteX2" y="connsiteY2"/>
                </a:cxn>
                <a:cxn ang="0">
                  <a:pos x="connsiteX3" y="connsiteY3"/>
                </a:cxn>
              </a:cxnLst>
              <a:rect l="l" t="t" r="r" b="b"/>
              <a:pathLst>
                <a:path w="1647825" h="427037">
                  <a:moveTo>
                    <a:pt x="0" y="180975"/>
                  </a:moveTo>
                  <a:cubicBezTo>
                    <a:pt x="136525" y="211931"/>
                    <a:pt x="273050" y="242888"/>
                    <a:pt x="495300" y="276225"/>
                  </a:cubicBezTo>
                  <a:cubicBezTo>
                    <a:pt x="717550" y="309562"/>
                    <a:pt x="1141413" y="427037"/>
                    <a:pt x="1333500" y="381000"/>
                  </a:cubicBezTo>
                  <a:cubicBezTo>
                    <a:pt x="1525587" y="334963"/>
                    <a:pt x="1586706" y="167481"/>
                    <a:pt x="16478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2752725" y="4105275"/>
              <a:ext cx="2447925" cy="931862"/>
            </a:xfrm>
            <a:custGeom>
              <a:avLst/>
              <a:gdLst>
                <a:gd name="connsiteX0" fmla="*/ 0 w 2447925"/>
                <a:gd name="connsiteY0" fmla="*/ 0 h 931862"/>
                <a:gd name="connsiteX1" fmla="*/ 1581150 w 2447925"/>
                <a:gd name="connsiteY1" fmla="*/ 866775 h 931862"/>
                <a:gd name="connsiteX2" fmla="*/ 2447925 w 2447925"/>
                <a:gd name="connsiteY2" fmla="*/ 390525 h 931862"/>
              </a:gdLst>
              <a:ahLst/>
              <a:cxnLst>
                <a:cxn ang="0">
                  <a:pos x="connsiteX0" y="connsiteY0"/>
                </a:cxn>
                <a:cxn ang="0">
                  <a:pos x="connsiteX1" y="connsiteY1"/>
                </a:cxn>
                <a:cxn ang="0">
                  <a:pos x="connsiteX2" y="connsiteY2"/>
                </a:cxn>
              </a:cxnLst>
              <a:rect l="l" t="t" r="r" b="b"/>
              <a:pathLst>
                <a:path w="2447925" h="931862">
                  <a:moveTo>
                    <a:pt x="0" y="0"/>
                  </a:moveTo>
                  <a:cubicBezTo>
                    <a:pt x="586581" y="400844"/>
                    <a:pt x="1173163" y="801688"/>
                    <a:pt x="1581150" y="866775"/>
                  </a:cubicBezTo>
                  <a:cubicBezTo>
                    <a:pt x="1989137" y="931862"/>
                    <a:pt x="2218531" y="661193"/>
                    <a:pt x="2447925" y="390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3" name="Content Placeholder 2"/>
          <p:cNvSpPr>
            <a:spLocks noGrp="1"/>
          </p:cNvSpPr>
          <p:nvPr>
            <p:ph idx="1"/>
          </p:nvPr>
        </p:nvSpPr>
        <p:spPr>
          <a:xfrm>
            <a:off x="457200" y="1371601"/>
            <a:ext cx="8229600" cy="2514599"/>
          </a:xfrm>
        </p:spPr>
        <p:txBody>
          <a:bodyPr>
            <a:normAutofit fontScale="77500" lnSpcReduction="20000"/>
          </a:bodyPr>
          <a:lstStyle/>
          <a:p>
            <a:r>
              <a:rPr lang="en-US" dirty="0" smtClean="0"/>
              <a:t>Consider software that houses algorithms for automatically determining the identity of an individual:</a:t>
            </a:r>
          </a:p>
          <a:p>
            <a:pPr lvl="1"/>
            <a:r>
              <a:rPr lang="en-US" dirty="0" smtClean="0"/>
              <a:t>The software access  videos (with audio) from You Tube</a:t>
            </a:r>
          </a:p>
          <a:p>
            <a:pPr lvl="1"/>
            <a:r>
              <a:rPr lang="en-US" dirty="0" smtClean="0"/>
              <a:t>The software detects faces of individuals in the video</a:t>
            </a:r>
          </a:p>
          <a:p>
            <a:pPr lvl="2"/>
            <a:r>
              <a:rPr lang="en-US" dirty="0" smtClean="0"/>
              <a:t>Face detection is used to determine if a face is in the video</a:t>
            </a:r>
          </a:p>
          <a:p>
            <a:pPr lvl="1"/>
            <a:r>
              <a:rPr lang="en-US" dirty="0" smtClean="0"/>
              <a:t>The software recognizes faces speech from the video</a:t>
            </a:r>
          </a:p>
          <a:p>
            <a:pPr lvl="2"/>
            <a:r>
              <a:rPr lang="en-US" dirty="0" smtClean="0"/>
              <a:t>Face recognition is used to determine the identity of the person from the detected face.</a:t>
            </a:r>
          </a:p>
          <a:p>
            <a:pPr lvl="1"/>
            <a:r>
              <a:rPr lang="en-US" dirty="0" smtClean="0"/>
              <a:t>Based on detection and recognition, the software predicts the identity of individuals in the video</a:t>
            </a:r>
          </a:p>
          <a:p>
            <a:pPr lvl="1"/>
            <a:endParaRPr lang="en-US" dirty="0" smtClean="0"/>
          </a:p>
          <a:p>
            <a:r>
              <a:rPr lang="en-US" dirty="0" smtClean="0"/>
              <a:t>Using the pipes and filters architecture, the logical structure of the system can be modeled as follows: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37" name="Group 36"/>
          <p:cNvGrpSpPr/>
          <p:nvPr/>
        </p:nvGrpSpPr>
        <p:grpSpPr>
          <a:xfrm>
            <a:off x="1676400" y="3657600"/>
            <a:ext cx="6019800" cy="2362200"/>
            <a:chOff x="1676400" y="3657600"/>
            <a:chExt cx="6019800" cy="2362200"/>
          </a:xfrm>
        </p:grpSpPr>
        <p:grpSp>
          <p:nvGrpSpPr>
            <p:cNvPr id="35" name="Group 34"/>
            <p:cNvGrpSpPr/>
            <p:nvPr/>
          </p:nvGrpSpPr>
          <p:grpSpPr>
            <a:xfrm>
              <a:off x="1676400" y="4191000"/>
              <a:ext cx="6019800" cy="1828800"/>
              <a:chOff x="1752600" y="4191000"/>
              <a:chExt cx="6019800" cy="1828800"/>
            </a:xfrm>
          </p:grpSpPr>
          <p:grpSp>
            <p:nvGrpSpPr>
              <p:cNvPr id="21" name="Group 20"/>
              <p:cNvGrpSpPr/>
              <p:nvPr/>
            </p:nvGrpSpPr>
            <p:grpSpPr>
              <a:xfrm>
                <a:off x="1981200" y="5715000"/>
                <a:ext cx="4953000" cy="304800"/>
                <a:chOff x="1828800" y="4953000"/>
                <a:chExt cx="4953000" cy="304800"/>
              </a:xfrm>
            </p:grpSpPr>
            <p:sp>
              <p:nvSpPr>
                <p:cNvPr id="7" name="Rectangle 6"/>
                <p:cNvSpPr/>
                <p:nvPr/>
              </p:nvSpPr>
              <p:spPr>
                <a:xfrm>
                  <a:off x="18288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828800" y="4991100"/>
                  <a:ext cx="936475" cy="215444"/>
                </a:xfrm>
                <a:prstGeom prst="rect">
                  <a:avLst/>
                </a:prstGeom>
                <a:noFill/>
              </p:spPr>
              <p:txBody>
                <a:bodyPr wrap="none" rtlCol="0">
                  <a:spAutoFit/>
                </a:bodyPr>
                <a:lstStyle/>
                <a:p>
                  <a:r>
                    <a:rPr lang="en-US" sz="800" dirty="0" smtClean="0"/>
                    <a:t>Youtube Manager</a:t>
                  </a:r>
                  <a:endParaRPr lang="en-US" sz="800" dirty="0"/>
                </a:p>
              </p:txBody>
            </p:sp>
            <p:sp>
              <p:nvSpPr>
                <p:cNvPr id="9" name="Rectangle 8"/>
                <p:cNvSpPr/>
                <p:nvPr/>
              </p:nvSpPr>
              <p:spPr>
                <a:xfrm>
                  <a:off x="3200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720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867400" y="4953000"/>
                  <a:ext cx="914400" cy="304800"/>
                </a:xfrm>
                <a:prstGeom prst="rect">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a:stCxn id="9" idx="3"/>
                  <a:endCxn id="10" idx="1"/>
                </p:cNvCxnSpPr>
                <p:nvPr/>
              </p:nvCxnSpPr>
              <p:spPr>
                <a:xfrm>
                  <a:off x="41148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10" idx="3"/>
                  <a:endCxn id="11" idx="1"/>
                </p:cNvCxnSpPr>
                <p:nvPr/>
              </p:nvCxnSpPr>
              <p:spPr>
                <a:xfrm>
                  <a:off x="5486400" y="5105400"/>
                  <a:ext cx="3810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228975" y="4991100"/>
                  <a:ext cx="885825" cy="215444"/>
                </a:xfrm>
                <a:prstGeom prst="rect">
                  <a:avLst/>
                </a:prstGeom>
                <a:noFill/>
              </p:spPr>
              <p:txBody>
                <a:bodyPr wrap="square" rtlCol="0">
                  <a:spAutoFit/>
                </a:bodyPr>
                <a:lstStyle/>
                <a:p>
                  <a:pPr algn="ctr"/>
                  <a:r>
                    <a:rPr lang="en-US" sz="800" dirty="0" smtClean="0"/>
                    <a:t>Face Detection</a:t>
                  </a:r>
                  <a:endParaRPr lang="en-US" sz="800" dirty="0"/>
                </a:p>
              </p:txBody>
            </p:sp>
            <p:sp>
              <p:nvSpPr>
                <p:cNvPr id="16" name="TextBox 15"/>
                <p:cNvSpPr txBox="1"/>
                <p:nvPr/>
              </p:nvSpPr>
              <p:spPr>
                <a:xfrm>
                  <a:off x="4572000" y="5000625"/>
                  <a:ext cx="896399" cy="215444"/>
                </a:xfrm>
                <a:prstGeom prst="rect">
                  <a:avLst/>
                </a:prstGeom>
                <a:noFill/>
              </p:spPr>
              <p:txBody>
                <a:bodyPr wrap="none" rtlCol="0">
                  <a:spAutoFit/>
                </a:bodyPr>
                <a:lstStyle/>
                <a:p>
                  <a:r>
                    <a:rPr lang="en-US" sz="800" dirty="0" smtClean="0"/>
                    <a:t>Face Recognition</a:t>
                  </a:r>
                  <a:endParaRPr lang="en-US" sz="800" dirty="0"/>
                </a:p>
              </p:txBody>
            </p:sp>
            <p:sp>
              <p:nvSpPr>
                <p:cNvPr id="19" name="TextBox 18"/>
                <p:cNvSpPr txBox="1"/>
                <p:nvPr/>
              </p:nvSpPr>
              <p:spPr>
                <a:xfrm>
                  <a:off x="5867400" y="5000625"/>
                  <a:ext cx="907621" cy="215444"/>
                </a:xfrm>
                <a:prstGeom prst="rect">
                  <a:avLst/>
                </a:prstGeom>
                <a:noFill/>
              </p:spPr>
              <p:txBody>
                <a:bodyPr wrap="none" rtlCol="0">
                  <a:spAutoFit/>
                </a:bodyPr>
                <a:lstStyle/>
                <a:p>
                  <a:r>
                    <a:rPr lang="en-US" sz="800" dirty="0" smtClean="0"/>
                    <a:t>Identity Manager</a:t>
                  </a:r>
                  <a:endParaRPr lang="en-US" sz="800" dirty="0"/>
                </a:p>
              </p:txBody>
            </p:sp>
            <p:cxnSp>
              <p:nvCxnSpPr>
                <p:cNvPr id="20" name="Straight Arrow Connector 19"/>
                <p:cNvCxnSpPr/>
                <p:nvPr/>
              </p:nvCxnSpPr>
              <p:spPr>
                <a:xfrm>
                  <a:off x="2743200" y="5105400"/>
                  <a:ext cx="4572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sp>
            <p:nvSpPr>
              <p:cNvPr id="25" name="Folded Corner 24"/>
              <p:cNvSpPr/>
              <p:nvPr/>
            </p:nvSpPr>
            <p:spPr>
              <a:xfrm>
                <a:off x="2895600" y="5029200"/>
                <a:ext cx="457200" cy="6096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olded Corner 25"/>
              <p:cNvSpPr/>
              <p:nvPr/>
            </p:nvSpPr>
            <p:spPr>
              <a:xfrm>
                <a:off x="4267200" y="5257800"/>
                <a:ext cx="457200" cy="3810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olded Corner 26"/>
              <p:cNvSpPr/>
              <p:nvPr/>
            </p:nvSpPr>
            <p:spPr>
              <a:xfrm>
                <a:off x="5562600" y="5410200"/>
                <a:ext cx="457200" cy="2286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1752600" y="4267200"/>
                <a:ext cx="1143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Big video file!</a:t>
                </a:r>
                <a:endParaRPr lang="en-US" sz="1200" b="1" dirty="0">
                  <a:solidFill>
                    <a:srgbClr val="C00000"/>
                  </a:solidFill>
                  <a:latin typeface="Bradley Hand ITC" pitchFamily="66" charset="0"/>
                </a:endParaRPr>
              </a:p>
            </p:txBody>
          </p:sp>
          <p:sp>
            <p:nvSpPr>
              <p:cNvPr id="29" name="Freeform 28"/>
              <p:cNvSpPr/>
              <p:nvPr/>
            </p:nvSpPr>
            <p:spPr>
              <a:xfrm>
                <a:off x="2867025" y="4486275"/>
                <a:ext cx="246062" cy="48577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2819400" y="4191000"/>
                <a:ext cx="2667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Transformed data containing only the information from detected faces!</a:t>
                </a:r>
                <a:endParaRPr lang="en-US" sz="1200" b="1" dirty="0">
                  <a:solidFill>
                    <a:srgbClr val="C00000"/>
                  </a:solidFill>
                  <a:latin typeface="Bradley Hand ITC" pitchFamily="66" charset="0"/>
                </a:endParaRPr>
              </a:p>
            </p:txBody>
          </p:sp>
          <p:sp>
            <p:nvSpPr>
              <p:cNvPr id="31" name="Freeform 30"/>
              <p:cNvSpPr/>
              <p:nvPr/>
            </p:nvSpPr>
            <p:spPr>
              <a:xfrm>
                <a:off x="4402138" y="4695825"/>
                <a:ext cx="246062" cy="48577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5105400" y="4572000"/>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Transformed data containing only the results from the recognition process, e.g., a report of identity!</a:t>
                </a:r>
                <a:endParaRPr lang="en-US" sz="1200" b="1" dirty="0">
                  <a:solidFill>
                    <a:srgbClr val="C00000"/>
                  </a:solidFill>
                  <a:latin typeface="Bradley Hand ITC" pitchFamily="66" charset="0"/>
                </a:endParaRPr>
              </a:p>
            </p:txBody>
          </p:sp>
          <p:sp>
            <p:nvSpPr>
              <p:cNvPr id="33" name="Freeform 32"/>
              <p:cNvSpPr/>
              <p:nvPr/>
            </p:nvSpPr>
            <p:spPr>
              <a:xfrm>
                <a:off x="6019800" y="5181600"/>
                <a:ext cx="228600" cy="33337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6" name="TextBox 35"/>
            <p:cNvSpPr txBox="1"/>
            <p:nvPr/>
          </p:nvSpPr>
          <p:spPr>
            <a:xfrm>
              <a:off x="5410200" y="3657600"/>
              <a:ext cx="20574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p>
            <a:p>
              <a:r>
                <a:rPr lang="en-US" sz="1200" b="1" dirty="0" smtClean="0">
                  <a:solidFill>
                    <a:srgbClr val="C00000"/>
                  </a:solidFill>
                  <a:latin typeface="Bradley Hand ITC" pitchFamily="66" charset="0"/>
                </a:rPr>
                <a:t>Consider what would happen if a better algorithm for recognition is discovered?</a:t>
              </a:r>
              <a:endParaRPr lang="en-US" sz="1200" b="1" dirty="0">
                <a:solidFill>
                  <a:srgbClr val="C00000"/>
                </a:solidFill>
                <a:latin typeface="Bradley Hand ITC" pitchFamily="66" charset="0"/>
              </a:endParaRPr>
            </a:p>
          </p:txBody>
        </p:sp>
      </p:grpSp>
      <p:cxnSp>
        <p:nvCxnSpPr>
          <p:cNvPr id="39" name="Straight Arrow Connector 38"/>
          <p:cNvCxnSpPr/>
          <p:nvPr/>
        </p:nvCxnSpPr>
        <p:spPr>
          <a:xfrm>
            <a:off x="6858000" y="5867400"/>
            <a:ext cx="381000" cy="0"/>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a:xfrm>
            <a:off x="7315200" y="5309056"/>
            <a:ext cx="781050" cy="1034594"/>
            <a:chOff x="7315200" y="5309056"/>
            <a:chExt cx="781050" cy="1034594"/>
          </a:xfrm>
        </p:grpSpPr>
        <p:sp>
          <p:nvSpPr>
            <p:cNvPr id="40" name="Folded Corner 39"/>
            <p:cNvSpPr/>
            <p:nvPr/>
          </p:nvSpPr>
          <p:spPr>
            <a:xfrm>
              <a:off x="7334250" y="5334000"/>
              <a:ext cx="762000" cy="990600"/>
            </a:xfrm>
            <a:prstGeom prst="foldedCorner">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7562850" y="5575756"/>
              <a:ext cx="342115" cy="381000"/>
            </a:xfrm>
            <a:prstGeom prst="rect">
              <a:avLst/>
            </a:prstGeom>
            <a:noFill/>
          </p:spPr>
        </p:pic>
        <p:sp>
          <p:nvSpPr>
            <p:cNvPr id="38" name="TextBox 37"/>
            <p:cNvSpPr txBox="1"/>
            <p:nvPr/>
          </p:nvSpPr>
          <p:spPr>
            <a:xfrm>
              <a:off x="7315200" y="5918656"/>
              <a:ext cx="776175" cy="215444"/>
            </a:xfrm>
            <a:prstGeom prst="rect">
              <a:avLst/>
            </a:prstGeom>
            <a:noFill/>
          </p:spPr>
          <p:txBody>
            <a:bodyPr wrap="none" rtlCol="0">
              <a:spAutoFit/>
            </a:bodyPr>
            <a:lstStyle/>
            <a:p>
              <a:r>
                <a:rPr lang="en-US" sz="800" dirty="0" smtClean="0"/>
                <a:t>Joe Developer</a:t>
              </a:r>
              <a:endParaRPr lang="en-US" sz="800" dirty="0"/>
            </a:p>
          </p:txBody>
        </p:sp>
        <p:sp>
          <p:nvSpPr>
            <p:cNvPr id="41" name="TextBox 40"/>
            <p:cNvSpPr txBox="1"/>
            <p:nvPr/>
          </p:nvSpPr>
          <p:spPr>
            <a:xfrm>
              <a:off x="7429500" y="5309056"/>
              <a:ext cx="553357" cy="215444"/>
            </a:xfrm>
            <a:prstGeom prst="rect">
              <a:avLst/>
            </a:prstGeom>
            <a:noFill/>
          </p:spPr>
          <p:txBody>
            <a:bodyPr wrap="none" rtlCol="0">
              <a:spAutoFit/>
            </a:bodyPr>
            <a:lstStyle/>
            <a:p>
              <a:r>
                <a:rPr lang="en-US" sz="800" dirty="0" smtClean="0"/>
                <a:t>Wanted!</a:t>
              </a:r>
              <a:endParaRPr lang="en-US" sz="800" dirty="0"/>
            </a:p>
          </p:txBody>
        </p:sp>
        <p:sp>
          <p:nvSpPr>
            <p:cNvPr id="42" name="TextBox 41"/>
            <p:cNvSpPr txBox="1"/>
            <p:nvPr/>
          </p:nvSpPr>
          <p:spPr>
            <a:xfrm>
              <a:off x="7419068" y="6128206"/>
              <a:ext cx="553357" cy="215444"/>
            </a:xfrm>
            <a:prstGeom prst="rect">
              <a:avLst/>
            </a:prstGeom>
            <a:noFill/>
          </p:spPr>
          <p:txBody>
            <a:bodyPr wrap="none" rtlCol="0">
              <a:spAutoFit/>
            </a:bodyPr>
            <a:lstStyle/>
            <a:p>
              <a:r>
                <a:rPr lang="en-US" sz="800" dirty="0" smtClean="0"/>
                <a:t>Wanted!</a:t>
              </a:r>
              <a:endParaRPr lang="en-US" sz="800" dirty="0"/>
            </a:p>
          </p:txBody>
        </p:sp>
        <p:cxnSp>
          <p:nvCxnSpPr>
            <p:cNvPr id="44" name="Straight Connector 43"/>
            <p:cNvCxnSpPr/>
            <p:nvPr/>
          </p:nvCxnSpPr>
          <p:spPr>
            <a:xfrm>
              <a:off x="7334250" y="5486400"/>
              <a:ext cx="762000" cy="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7334250" y="6153150"/>
              <a:ext cx="762000" cy="0"/>
            </a:xfrm>
            <a:prstGeom prst="line">
              <a:avLst/>
            </a:prstGeom>
            <a:ln w="63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3" name="Content Placeholder 2"/>
          <p:cNvSpPr>
            <a:spLocks noGrp="1"/>
          </p:cNvSpPr>
          <p:nvPr>
            <p:ph idx="1"/>
          </p:nvPr>
        </p:nvSpPr>
        <p:spPr>
          <a:xfrm>
            <a:off x="457200" y="1371601"/>
            <a:ext cx="8229600" cy="1142999"/>
          </a:xfrm>
        </p:spPr>
        <p:txBody>
          <a:bodyPr>
            <a:normAutofit fontScale="92500" lnSpcReduction="20000"/>
          </a:bodyPr>
          <a:lstStyle/>
          <a:p>
            <a:r>
              <a:rPr lang="en-US" dirty="0" smtClean="0"/>
              <a:t>In the previous example, the box-and-line diagram was useful for visualizing the components in the system, however, it conveyed nothing about how data is transported from one Filter to the next, i.e., the Pipes.</a:t>
            </a:r>
          </a:p>
          <a:p>
            <a:pPr lvl="1"/>
            <a:r>
              <a:rPr lang="en-US" dirty="0" smtClean="0"/>
              <a:t>Consider the following UML component for the same system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1030" name="Picture 6"/>
          <p:cNvPicPr>
            <a:picLocks noChangeAspect="1" noChangeArrowheads="1"/>
          </p:cNvPicPr>
          <p:nvPr/>
        </p:nvPicPr>
        <p:blipFill>
          <a:blip r:embed="rId2" cstate="print"/>
          <a:srcRect/>
          <a:stretch>
            <a:fillRect/>
          </a:stretch>
        </p:blipFill>
        <p:spPr bwMode="auto">
          <a:xfrm>
            <a:off x="1676400" y="2971800"/>
            <a:ext cx="5905500" cy="1876425"/>
          </a:xfrm>
          <a:prstGeom prst="rect">
            <a:avLst/>
          </a:prstGeom>
          <a:noFill/>
          <a:ln w="9525">
            <a:noFill/>
            <a:miter lim="800000"/>
            <a:headEnd/>
            <a:tailEnd/>
          </a:ln>
          <a:effectLst/>
        </p:spPr>
      </p:pic>
      <p:sp>
        <p:nvSpPr>
          <p:cNvPr id="8" name="TextBox 7"/>
          <p:cNvSpPr txBox="1"/>
          <p:nvPr/>
        </p:nvSpPr>
        <p:spPr>
          <a:xfrm>
            <a:off x="762000" y="3040797"/>
            <a:ext cx="2667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 this system, data is moved through the File System using a mechanism that relies on monitoring of new files!</a:t>
            </a:r>
            <a:endParaRPr lang="en-US" sz="1200" b="1" dirty="0">
              <a:solidFill>
                <a:srgbClr val="C00000"/>
              </a:solidFill>
              <a:latin typeface="Bradley Hand ITC" pitchFamily="66" charset="0"/>
            </a:endParaRPr>
          </a:p>
        </p:txBody>
      </p:sp>
      <p:sp>
        <p:nvSpPr>
          <p:cNvPr id="9" name="Freeform 8"/>
          <p:cNvSpPr/>
          <p:nvPr/>
        </p:nvSpPr>
        <p:spPr>
          <a:xfrm>
            <a:off x="5353050" y="2971800"/>
            <a:ext cx="666750" cy="361950"/>
          </a:xfrm>
          <a:custGeom>
            <a:avLst/>
            <a:gdLst>
              <a:gd name="connsiteX0" fmla="*/ 1047750 w 1047750"/>
              <a:gd name="connsiteY0" fmla="*/ 6350 h 520700"/>
              <a:gd name="connsiteX1" fmla="*/ 561975 w 1047750"/>
              <a:gd name="connsiteY1" fmla="*/ 73025 h 520700"/>
              <a:gd name="connsiteX2" fmla="*/ 371475 w 1047750"/>
              <a:gd name="connsiteY2" fmla="*/ 444500 h 520700"/>
              <a:gd name="connsiteX3" fmla="*/ 0 w 1047750"/>
              <a:gd name="connsiteY3" fmla="*/ 520700 h 520700"/>
            </a:gdLst>
            <a:ahLst/>
            <a:cxnLst>
              <a:cxn ang="0">
                <a:pos x="connsiteX0" y="connsiteY0"/>
              </a:cxn>
              <a:cxn ang="0">
                <a:pos x="connsiteX1" y="connsiteY1"/>
              </a:cxn>
              <a:cxn ang="0">
                <a:pos x="connsiteX2" y="connsiteY2"/>
              </a:cxn>
              <a:cxn ang="0">
                <a:pos x="connsiteX3" y="connsiteY3"/>
              </a:cxn>
            </a:cxnLst>
            <a:rect l="l" t="t" r="r" b="b"/>
            <a:pathLst>
              <a:path w="1047750" h="520700">
                <a:moveTo>
                  <a:pt x="1047750" y="6350"/>
                </a:moveTo>
                <a:cubicBezTo>
                  <a:pt x="861218" y="3175"/>
                  <a:pt x="674687" y="0"/>
                  <a:pt x="561975" y="73025"/>
                </a:cubicBezTo>
                <a:cubicBezTo>
                  <a:pt x="449263" y="146050"/>
                  <a:pt x="465138" y="369888"/>
                  <a:pt x="371475" y="444500"/>
                </a:cubicBezTo>
                <a:cubicBezTo>
                  <a:pt x="277813" y="519113"/>
                  <a:pt x="138906" y="519906"/>
                  <a:pt x="0" y="5207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5972175" y="2438400"/>
            <a:ext cx="3019425"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component may reuse existing mechanisms to facilitate data movement, for example, the </a:t>
            </a:r>
            <a:r>
              <a:rPr lang="en-US" sz="1200" b="1" dirty="0" smtClean="0">
                <a:solidFill>
                  <a:srgbClr val="C00000"/>
                </a:solidFill>
                <a:latin typeface="Bradley Hand ITC" pitchFamily="66" charset="0"/>
                <a:hlinkClick r:id="rId3"/>
              </a:rPr>
              <a:t>.NET FileSystemWatcher</a:t>
            </a:r>
            <a:r>
              <a:rPr lang="en-US" sz="1200" b="1" dirty="0" smtClean="0">
                <a:solidFill>
                  <a:srgbClr val="C00000"/>
                </a:solidFill>
                <a:latin typeface="Bradley Hand ITC" pitchFamily="66" charset="0"/>
              </a:rPr>
              <a:t>.</a:t>
            </a:r>
            <a:endParaRPr lang="en-US" sz="1200" b="1" dirty="0">
              <a:solidFill>
                <a:srgbClr val="C00000"/>
              </a:solidFill>
              <a:latin typeface="Bradley Hand ITC" pitchFamily="66" charset="0"/>
            </a:endParaRPr>
          </a:p>
        </p:txBody>
      </p:sp>
      <p:sp>
        <p:nvSpPr>
          <p:cNvPr id="11" name="TextBox 10"/>
          <p:cNvSpPr txBox="1"/>
          <p:nvPr/>
        </p:nvSpPr>
        <p:spPr>
          <a:xfrm>
            <a:off x="4267200" y="5105400"/>
            <a:ext cx="4419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components require monitoring of directories from the File System Manager.  When a new file is detected, the File System Manger fires an event, indicating that a new file has been received, which triggers some processing by the Filter components.</a:t>
            </a:r>
            <a:endParaRPr lang="en-US" sz="1200" b="1" dirty="0">
              <a:solidFill>
                <a:srgbClr val="C00000"/>
              </a:solidFill>
              <a:latin typeface="Bradley Hand ITC" pitchFamily="66" charset="0"/>
            </a:endParaRPr>
          </a:p>
        </p:txBody>
      </p:sp>
      <p:sp>
        <p:nvSpPr>
          <p:cNvPr id="12" name="Freeform 11"/>
          <p:cNvSpPr/>
          <p:nvPr/>
        </p:nvSpPr>
        <p:spPr>
          <a:xfrm>
            <a:off x="3876675" y="4705351"/>
            <a:ext cx="781050" cy="476249"/>
          </a:xfrm>
          <a:custGeom>
            <a:avLst/>
            <a:gdLst>
              <a:gd name="connsiteX0" fmla="*/ 781050 w 781050"/>
              <a:gd name="connsiteY0" fmla="*/ 638175 h 638175"/>
              <a:gd name="connsiteX1" fmla="*/ 619125 w 781050"/>
              <a:gd name="connsiteY1" fmla="*/ 390525 h 638175"/>
              <a:gd name="connsiteX2" fmla="*/ 161925 w 781050"/>
              <a:gd name="connsiteY2" fmla="*/ 314325 h 638175"/>
              <a:gd name="connsiteX3" fmla="*/ 0 w 781050"/>
              <a:gd name="connsiteY3" fmla="*/ 0 h 638175"/>
            </a:gdLst>
            <a:ahLst/>
            <a:cxnLst>
              <a:cxn ang="0">
                <a:pos x="connsiteX0" y="connsiteY0"/>
              </a:cxn>
              <a:cxn ang="0">
                <a:pos x="connsiteX1" y="connsiteY1"/>
              </a:cxn>
              <a:cxn ang="0">
                <a:pos x="connsiteX2" y="connsiteY2"/>
              </a:cxn>
              <a:cxn ang="0">
                <a:pos x="connsiteX3" y="connsiteY3"/>
              </a:cxn>
            </a:cxnLst>
            <a:rect l="l" t="t" r="r" b="b"/>
            <a:pathLst>
              <a:path w="781050" h="638175">
                <a:moveTo>
                  <a:pt x="781050" y="638175"/>
                </a:moveTo>
                <a:cubicBezTo>
                  <a:pt x="751681" y="541337"/>
                  <a:pt x="722312" y="444500"/>
                  <a:pt x="619125" y="390525"/>
                </a:cubicBezTo>
                <a:cubicBezTo>
                  <a:pt x="515938" y="336550"/>
                  <a:pt x="265112" y="379412"/>
                  <a:pt x="161925" y="314325"/>
                </a:cubicBezTo>
                <a:cubicBezTo>
                  <a:pt x="58738" y="249238"/>
                  <a:pt x="29369" y="124619"/>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4867275" y="4686300"/>
            <a:ext cx="552450" cy="419100"/>
          </a:xfrm>
          <a:custGeom>
            <a:avLst/>
            <a:gdLst>
              <a:gd name="connsiteX0" fmla="*/ 0 w 552450"/>
              <a:gd name="connsiteY0" fmla="*/ 666750 h 666750"/>
              <a:gd name="connsiteX1" fmla="*/ 95250 w 552450"/>
              <a:gd name="connsiteY1" fmla="*/ 466725 h 666750"/>
              <a:gd name="connsiteX2" fmla="*/ 447675 w 552450"/>
              <a:gd name="connsiteY2" fmla="*/ 314325 h 666750"/>
              <a:gd name="connsiteX3" fmla="*/ 552450 w 552450"/>
              <a:gd name="connsiteY3" fmla="*/ 0 h 666750"/>
            </a:gdLst>
            <a:ahLst/>
            <a:cxnLst>
              <a:cxn ang="0">
                <a:pos x="connsiteX0" y="connsiteY0"/>
              </a:cxn>
              <a:cxn ang="0">
                <a:pos x="connsiteX1" y="connsiteY1"/>
              </a:cxn>
              <a:cxn ang="0">
                <a:pos x="connsiteX2" y="connsiteY2"/>
              </a:cxn>
              <a:cxn ang="0">
                <a:pos x="connsiteX3" y="connsiteY3"/>
              </a:cxn>
            </a:cxnLst>
            <a:rect l="l" t="t" r="r" b="b"/>
            <a:pathLst>
              <a:path w="552450" h="666750">
                <a:moveTo>
                  <a:pt x="0" y="666750"/>
                </a:moveTo>
                <a:cubicBezTo>
                  <a:pt x="10319" y="596106"/>
                  <a:pt x="20638" y="525463"/>
                  <a:pt x="95250" y="466725"/>
                </a:cubicBezTo>
                <a:cubicBezTo>
                  <a:pt x="169863" y="407988"/>
                  <a:pt x="371475" y="392113"/>
                  <a:pt x="447675" y="314325"/>
                </a:cubicBezTo>
                <a:cubicBezTo>
                  <a:pt x="523875" y="236537"/>
                  <a:pt x="538162" y="118268"/>
                  <a:pt x="552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5486400" y="4724401"/>
            <a:ext cx="1209675" cy="457200"/>
          </a:xfrm>
          <a:custGeom>
            <a:avLst/>
            <a:gdLst>
              <a:gd name="connsiteX0" fmla="*/ 0 w 1209675"/>
              <a:gd name="connsiteY0" fmla="*/ 657225 h 657225"/>
              <a:gd name="connsiteX1" fmla="*/ 238125 w 1209675"/>
              <a:gd name="connsiteY1" fmla="*/ 419100 h 657225"/>
              <a:gd name="connsiteX2" fmla="*/ 914400 w 1209675"/>
              <a:gd name="connsiteY2" fmla="*/ 304800 h 657225"/>
              <a:gd name="connsiteX3" fmla="*/ 1209675 w 1209675"/>
              <a:gd name="connsiteY3" fmla="*/ 0 h 657225"/>
            </a:gdLst>
            <a:ahLst/>
            <a:cxnLst>
              <a:cxn ang="0">
                <a:pos x="connsiteX0" y="connsiteY0"/>
              </a:cxn>
              <a:cxn ang="0">
                <a:pos x="connsiteX1" y="connsiteY1"/>
              </a:cxn>
              <a:cxn ang="0">
                <a:pos x="connsiteX2" y="connsiteY2"/>
              </a:cxn>
              <a:cxn ang="0">
                <a:pos x="connsiteX3" y="connsiteY3"/>
              </a:cxn>
            </a:cxnLst>
            <a:rect l="l" t="t" r="r" b="b"/>
            <a:pathLst>
              <a:path w="1209675" h="657225">
                <a:moveTo>
                  <a:pt x="0" y="657225"/>
                </a:moveTo>
                <a:cubicBezTo>
                  <a:pt x="42862" y="567531"/>
                  <a:pt x="85725" y="477837"/>
                  <a:pt x="238125" y="419100"/>
                </a:cubicBezTo>
                <a:cubicBezTo>
                  <a:pt x="390525" y="360363"/>
                  <a:pt x="752475" y="374650"/>
                  <a:pt x="914400" y="304800"/>
                </a:cubicBezTo>
                <a:cubicBezTo>
                  <a:pt x="1076325" y="234950"/>
                  <a:pt x="1143000" y="117475"/>
                  <a:pt x="12096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6858000" y="3200400"/>
            <a:ext cx="20574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interface encapsulates the FileSystemWatcher and provides other services for creating, deleting, reading and writing files. </a:t>
            </a:r>
            <a:endParaRPr lang="en-US" sz="1200" b="1" dirty="0">
              <a:solidFill>
                <a:srgbClr val="C00000"/>
              </a:solidFill>
              <a:latin typeface="Bradley Hand ITC" pitchFamily="66" charset="0"/>
            </a:endParaRPr>
          </a:p>
        </p:txBody>
      </p:sp>
      <p:sp>
        <p:nvSpPr>
          <p:cNvPr id="16" name="Freeform 15"/>
          <p:cNvSpPr/>
          <p:nvPr/>
        </p:nvSpPr>
        <p:spPr>
          <a:xfrm>
            <a:off x="6751638" y="3381375"/>
            <a:ext cx="195262" cy="590550"/>
          </a:xfrm>
          <a:custGeom>
            <a:avLst/>
            <a:gdLst>
              <a:gd name="connsiteX0" fmla="*/ 192087 w 195262"/>
              <a:gd name="connsiteY0" fmla="*/ 0 h 590550"/>
              <a:gd name="connsiteX1" fmla="*/ 1587 w 195262"/>
              <a:gd name="connsiteY1" fmla="*/ 161925 h 590550"/>
              <a:gd name="connsiteX2" fmla="*/ 182562 w 195262"/>
              <a:gd name="connsiteY2" fmla="*/ 390525 h 590550"/>
              <a:gd name="connsiteX3" fmla="*/ 77787 w 195262"/>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195262" h="590550">
                <a:moveTo>
                  <a:pt x="192087" y="0"/>
                </a:moveTo>
                <a:cubicBezTo>
                  <a:pt x="97630" y="48419"/>
                  <a:pt x="3174" y="96838"/>
                  <a:pt x="1587" y="161925"/>
                </a:cubicBezTo>
                <a:cubicBezTo>
                  <a:pt x="0" y="227012"/>
                  <a:pt x="169862" y="319088"/>
                  <a:pt x="182562" y="390525"/>
                </a:cubicBezTo>
                <a:cubicBezTo>
                  <a:pt x="195262" y="461962"/>
                  <a:pt x="136524" y="526256"/>
                  <a:pt x="77787"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685800" y="5029200"/>
            <a:ext cx="2971800" cy="1015663"/>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Warning:</a:t>
            </a:r>
          </a:p>
          <a:p>
            <a:r>
              <a:rPr lang="en-US" sz="1200" b="1" dirty="0" smtClean="0">
                <a:solidFill>
                  <a:srgbClr val="C00000"/>
                </a:solidFill>
                <a:latin typeface="Bradley Hand ITC" pitchFamily="66" charset="0"/>
              </a:rPr>
              <a:t>This is </a:t>
            </a:r>
            <a:r>
              <a:rPr lang="en-US" sz="1200" b="1" u="sng" dirty="0" smtClean="0">
                <a:solidFill>
                  <a:srgbClr val="C00000"/>
                </a:solidFill>
                <a:latin typeface="Bradley Hand ITC" pitchFamily="66" charset="0"/>
              </a:rPr>
              <a:t>not</a:t>
            </a:r>
            <a:r>
              <a:rPr lang="en-US" sz="1200" b="1" dirty="0" smtClean="0">
                <a:solidFill>
                  <a:srgbClr val="C00000"/>
                </a:solidFill>
                <a:latin typeface="Bradley Hand ITC" pitchFamily="66" charset="0"/>
              </a:rPr>
              <a:t> the typical example that you would find for Pipes-and-Filters.  However, it displays the inherent flexibility present when employing architectural patterns.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5123" name="Picture 3"/>
          <p:cNvPicPr>
            <a:picLocks noChangeAspect="1" noChangeArrowheads="1"/>
          </p:cNvPicPr>
          <p:nvPr/>
        </p:nvPicPr>
        <p:blipFill>
          <a:blip r:embed="rId2" cstate="print"/>
          <a:srcRect/>
          <a:stretch>
            <a:fillRect/>
          </a:stretch>
        </p:blipFill>
        <p:spPr bwMode="auto">
          <a:xfrm>
            <a:off x="2667000" y="1219200"/>
            <a:ext cx="4962525" cy="5000625"/>
          </a:xfrm>
          <a:prstGeom prst="rect">
            <a:avLst/>
          </a:prstGeom>
          <a:noFill/>
          <a:ln w="9525">
            <a:noFill/>
            <a:miter lim="800000"/>
            <a:headEnd/>
            <a:tailEnd/>
          </a:ln>
        </p:spPr>
      </p:pic>
      <p:sp>
        <p:nvSpPr>
          <p:cNvPr id="7" name="TextBox 6"/>
          <p:cNvSpPr txBox="1"/>
          <p:nvPr/>
        </p:nvSpPr>
        <p:spPr>
          <a:xfrm>
            <a:off x="3200400" y="533400"/>
            <a:ext cx="2667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more detailed example of the message exchanges in the example</a:t>
            </a:r>
            <a:endParaRPr lang="en-US" sz="1200" b="1" dirty="0">
              <a:solidFill>
                <a:srgbClr val="C00000"/>
              </a:solidFill>
              <a:latin typeface="Bradley Hand ITC" pitchFamily="66" charset="0"/>
            </a:endParaRPr>
          </a:p>
        </p:txBody>
      </p:sp>
      <p:sp>
        <p:nvSpPr>
          <p:cNvPr id="8" name="TextBox 7"/>
          <p:cNvSpPr txBox="1"/>
          <p:nvPr/>
        </p:nvSpPr>
        <p:spPr>
          <a:xfrm>
            <a:off x="457200" y="1828800"/>
            <a:ext cx="2667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Register with the file system manager</a:t>
            </a:r>
            <a:endParaRPr lang="en-US" sz="1200" b="1" dirty="0">
              <a:solidFill>
                <a:srgbClr val="C00000"/>
              </a:solidFill>
              <a:latin typeface="Bradley Hand ITC" pitchFamily="66" charset="0"/>
            </a:endParaRPr>
          </a:p>
        </p:txBody>
      </p:sp>
      <p:sp>
        <p:nvSpPr>
          <p:cNvPr id="9" name="Freeform 8"/>
          <p:cNvSpPr/>
          <p:nvPr/>
        </p:nvSpPr>
        <p:spPr>
          <a:xfrm>
            <a:off x="3152775" y="1962150"/>
            <a:ext cx="1657350" cy="585788"/>
          </a:xfrm>
          <a:custGeom>
            <a:avLst/>
            <a:gdLst>
              <a:gd name="connsiteX0" fmla="*/ 0 w 1657350"/>
              <a:gd name="connsiteY0" fmla="*/ 0 h 585788"/>
              <a:gd name="connsiteX1" fmla="*/ 628650 w 1657350"/>
              <a:gd name="connsiteY1" fmla="*/ 123825 h 585788"/>
              <a:gd name="connsiteX2" fmla="*/ 1085850 w 1657350"/>
              <a:gd name="connsiteY2" fmla="*/ 533400 h 585788"/>
              <a:gd name="connsiteX3" fmla="*/ 1657350 w 1657350"/>
              <a:gd name="connsiteY3" fmla="*/ 438150 h 585788"/>
            </a:gdLst>
            <a:ahLst/>
            <a:cxnLst>
              <a:cxn ang="0">
                <a:pos x="connsiteX0" y="connsiteY0"/>
              </a:cxn>
              <a:cxn ang="0">
                <a:pos x="connsiteX1" y="connsiteY1"/>
              </a:cxn>
              <a:cxn ang="0">
                <a:pos x="connsiteX2" y="connsiteY2"/>
              </a:cxn>
              <a:cxn ang="0">
                <a:pos x="connsiteX3" y="connsiteY3"/>
              </a:cxn>
            </a:cxnLst>
            <a:rect l="l" t="t" r="r" b="b"/>
            <a:pathLst>
              <a:path w="1657350" h="585788">
                <a:moveTo>
                  <a:pt x="0" y="0"/>
                </a:moveTo>
                <a:cubicBezTo>
                  <a:pt x="223837" y="17462"/>
                  <a:pt x="447675" y="34925"/>
                  <a:pt x="628650" y="123825"/>
                </a:cubicBezTo>
                <a:cubicBezTo>
                  <a:pt x="809625" y="212725"/>
                  <a:pt x="914400" y="481013"/>
                  <a:pt x="1085850" y="533400"/>
                </a:cubicBezTo>
                <a:cubicBezTo>
                  <a:pt x="1257300" y="585788"/>
                  <a:pt x="1457325" y="511969"/>
                  <a:pt x="1657350" y="4381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685800" y="2438400"/>
            <a:ext cx="2133600" cy="646331"/>
          </a:xfrm>
          <a:prstGeom prst="rect">
            <a:avLst/>
          </a:prstGeom>
          <a:noFill/>
        </p:spPr>
        <p:txBody>
          <a:bodyPr wrap="square" rtlCol="0">
            <a:spAutoFit/>
          </a:bodyPr>
          <a:lstStyle/>
          <a:p>
            <a:pPr algn="ctr"/>
            <a:r>
              <a:rPr lang="en-US" sz="1200" b="1" dirty="0" err="1" smtClean="0">
                <a:solidFill>
                  <a:srgbClr val="C00000"/>
                </a:solidFill>
                <a:latin typeface="Bradley Hand ITC" pitchFamily="66" charset="0"/>
              </a:rPr>
              <a:t>Youtube</a:t>
            </a:r>
            <a:r>
              <a:rPr lang="en-US" sz="1200" b="1" dirty="0" smtClean="0">
                <a:solidFill>
                  <a:srgbClr val="C00000"/>
                </a:solidFill>
                <a:latin typeface="Bradley Hand ITC" pitchFamily="66" charset="0"/>
              </a:rPr>
              <a:t> video file found! Transport the file to the next component via the file system.</a:t>
            </a:r>
            <a:endParaRPr lang="en-US" sz="1200" b="1" dirty="0">
              <a:solidFill>
                <a:srgbClr val="C00000"/>
              </a:solidFill>
              <a:latin typeface="Bradley Hand ITC" pitchFamily="66" charset="0"/>
            </a:endParaRPr>
          </a:p>
        </p:txBody>
      </p:sp>
      <p:sp>
        <p:nvSpPr>
          <p:cNvPr id="11" name="TextBox 10"/>
          <p:cNvSpPr txBox="1"/>
          <p:nvPr/>
        </p:nvSpPr>
        <p:spPr>
          <a:xfrm>
            <a:off x="7391400" y="2362200"/>
            <a:ext cx="1295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triggers and event!</a:t>
            </a:r>
            <a:endParaRPr lang="en-US" sz="1200" b="1" dirty="0">
              <a:solidFill>
                <a:srgbClr val="C00000"/>
              </a:solidFill>
              <a:latin typeface="Bradley Hand ITC" pitchFamily="66" charset="0"/>
            </a:endParaRPr>
          </a:p>
        </p:txBody>
      </p:sp>
      <p:sp>
        <p:nvSpPr>
          <p:cNvPr id="12" name="Freeform 11"/>
          <p:cNvSpPr/>
          <p:nvPr/>
        </p:nvSpPr>
        <p:spPr>
          <a:xfrm>
            <a:off x="7153275" y="2714625"/>
            <a:ext cx="485775" cy="533400"/>
          </a:xfrm>
          <a:custGeom>
            <a:avLst/>
            <a:gdLst>
              <a:gd name="connsiteX0" fmla="*/ 485775 w 485775"/>
              <a:gd name="connsiteY0" fmla="*/ 0 h 533400"/>
              <a:gd name="connsiteX1" fmla="*/ 314325 w 485775"/>
              <a:gd name="connsiteY1" fmla="*/ 123825 h 533400"/>
              <a:gd name="connsiteX2" fmla="*/ 266700 w 485775"/>
              <a:gd name="connsiteY2" fmla="*/ 390525 h 533400"/>
              <a:gd name="connsiteX3" fmla="*/ 0 w 485775"/>
              <a:gd name="connsiteY3" fmla="*/ 533400 h 533400"/>
            </a:gdLst>
            <a:ahLst/>
            <a:cxnLst>
              <a:cxn ang="0">
                <a:pos x="connsiteX0" y="connsiteY0"/>
              </a:cxn>
              <a:cxn ang="0">
                <a:pos x="connsiteX1" y="connsiteY1"/>
              </a:cxn>
              <a:cxn ang="0">
                <a:pos x="connsiteX2" y="connsiteY2"/>
              </a:cxn>
              <a:cxn ang="0">
                <a:pos x="connsiteX3" y="connsiteY3"/>
              </a:cxn>
            </a:cxnLst>
            <a:rect l="l" t="t" r="r" b="b"/>
            <a:pathLst>
              <a:path w="485775" h="533400">
                <a:moveTo>
                  <a:pt x="485775" y="0"/>
                </a:moveTo>
                <a:cubicBezTo>
                  <a:pt x="418306" y="29368"/>
                  <a:pt x="350838" y="58737"/>
                  <a:pt x="314325" y="123825"/>
                </a:cubicBezTo>
                <a:cubicBezTo>
                  <a:pt x="277812" y="188913"/>
                  <a:pt x="319087" y="322263"/>
                  <a:pt x="266700" y="390525"/>
                </a:cubicBezTo>
                <a:cubicBezTo>
                  <a:pt x="214313" y="458787"/>
                  <a:pt x="107156" y="496093"/>
                  <a:pt x="0" y="533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2752725" y="2743200"/>
            <a:ext cx="314325" cy="342900"/>
          </a:xfrm>
          <a:custGeom>
            <a:avLst/>
            <a:gdLst>
              <a:gd name="connsiteX0" fmla="*/ 0 w 314325"/>
              <a:gd name="connsiteY0" fmla="*/ 0 h 342900"/>
              <a:gd name="connsiteX1" fmla="*/ 133350 w 314325"/>
              <a:gd name="connsiteY1" fmla="*/ 57150 h 342900"/>
              <a:gd name="connsiteX2" fmla="*/ 152400 w 314325"/>
              <a:gd name="connsiteY2" fmla="*/ 257175 h 342900"/>
              <a:gd name="connsiteX3" fmla="*/ 314325 w 314325"/>
              <a:gd name="connsiteY3" fmla="*/ 342900 h 342900"/>
            </a:gdLst>
            <a:ahLst/>
            <a:cxnLst>
              <a:cxn ang="0">
                <a:pos x="connsiteX0" y="connsiteY0"/>
              </a:cxn>
              <a:cxn ang="0">
                <a:pos x="connsiteX1" y="connsiteY1"/>
              </a:cxn>
              <a:cxn ang="0">
                <a:pos x="connsiteX2" y="connsiteY2"/>
              </a:cxn>
              <a:cxn ang="0">
                <a:pos x="connsiteX3" y="connsiteY3"/>
              </a:cxn>
            </a:cxnLst>
            <a:rect l="l" t="t" r="r" b="b"/>
            <a:pathLst>
              <a:path w="314325" h="342900">
                <a:moveTo>
                  <a:pt x="0" y="0"/>
                </a:moveTo>
                <a:cubicBezTo>
                  <a:pt x="53975" y="7144"/>
                  <a:pt x="107950" y="14288"/>
                  <a:pt x="133350" y="57150"/>
                </a:cubicBezTo>
                <a:cubicBezTo>
                  <a:pt x="158750" y="100012"/>
                  <a:pt x="122238" y="209550"/>
                  <a:pt x="152400" y="257175"/>
                </a:cubicBezTo>
                <a:cubicBezTo>
                  <a:pt x="182562" y="304800"/>
                  <a:pt x="248443" y="323850"/>
                  <a:pt x="314325"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543800" y="3733800"/>
            <a:ext cx="1295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Notify anyone registered for monitoring of this directory</a:t>
            </a:r>
            <a:endParaRPr lang="en-US" sz="1200" b="1" dirty="0">
              <a:solidFill>
                <a:srgbClr val="C00000"/>
              </a:solidFill>
              <a:latin typeface="Bradley Hand ITC" pitchFamily="66" charset="0"/>
            </a:endParaRPr>
          </a:p>
        </p:txBody>
      </p:sp>
      <p:sp>
        <p:nvSpPr>
          <p:cNvPr id="15" name="Freeform 14"/>
          <p:cNvSpPr/>
          <p:nvPr/>
        </p:nvSpPr>
        <p:spPr>
          <a:xfrm>
            <a:off x="7143750" y="3490913"/>
            <a:ext cx="533400" cy="376237"/>
          </a:xfrm>
          <a:custGeom>
            <a:avLst/>
            <a:gdLst>
              <a:gd name="connsiteX0" fmla="*/ 533400 w 533400"/>
              <a:gd name="connsiteY0" fmla="*/ 376237 h 376237"/>
              <a:gd name="connsiteX1" fmla="*/ 314325 w 533400"/>
              <a:gd name="connsiteY1" fmla="*/ 271462 h 376237"/>
              <a:gd name="connsiteX2" fmla="*/ 238125 w 533400"/>
              <a:gd name="connsiteY2" fmla="*/ 42862 h 376237"/>
              <a:gd name="connsiteX3" fmla="*/ 0 w 533400"/>
              <a:gd name="connsiteY3" fmla="*/ 14287 h 376237"/>
            </a:gdLst>
            <a:ahLst/>
            <a:cxnLst>
              <a:cxn ang="0">
                <a:pos x="connsiteX0" y="connsiteY0"/>
              </a:cxn>
              <a:cxn ang="0">
                <a:pos x="connsiteX1" y="connsiteY1"/>
              </a:cxn>
              <a:cxn ang="0">
                <a:pos x="connsiteX2" y="connsiteY2"/>
              </a:cxn>
              <a:cxn ang="0">
                <a:pos x="connsiteX3" y="connsiteY3"/>
              </a:cxn>
            </a:cxnLst>
            <a:rect l="l" t="t" r="r" b="b"/>
            <a:pathLst>
              <a:path w="533400" h="376237">
                <a:moveTo>
                  <a:pt x="533400" y="376237"/>
                </a:moveTo>
                <a:cubicBezTo>
                  <a:pt x="448469" y="351631"/>
                  <a:pt x="363538" y="327025"/>
                  <a:pt x="314325" y="271462"/>
                </a:cubicBezTo>
                <a:cubicBezTo>
                  <a:pt x="265112" y="215899"/>
                  <a:pt x="290512" y="85724"/>
                  <a:pt x="238125" y="42862"/>
                </a:cubicBezTo>
                <a:cubicBezTo>
                  <a:pt x="185738" y="0"/>
                  <a:pt x="92869" y="7143"/>
                  <a:pt x="0" y="14287"/>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762000" y="4191000"/>
            <a:ext cx="21336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Do work using the data from the file, save the results on the file system so that the process can repeat again with the next component / filter.</a:t>
            </a:r>
            <a:endParaRPr lang="en-US" sz="1200" b="1" dirty="0">
              <a:solidFill>
                <a:srgbClr val="C00000"/>
              </a:solidFill>
              <a:latin typeface="Bradley Hand ITC" pitchFamily="66" charset="0"/>
            </a:endParaRPr>
          </a:p>
        </p:txBody>
      </p:sp>
      <p:sp>
        <p:nvSpPr>
          <p:cNvPr id="17" name="Freeform 16"/>
          <p:cNvSpPr/>
          <p:nvPr/>
        </p:nvSpPr>
        <p:spPr>
          <a:xfrm>
            <a:off x="2895600" y="3914775"/>
            <a:ext cx="1057275" cy="409575"/>
          </a:xfrm>
          <a:custGeom>
            <a:avLst/>
            <a:gdLst>
              <a:gd name="connsiteX0" fmla="*/ 0 w 1057275"/>
              <a:gd name="connsiteY0" fmla="*/ 409575 h 409575"/>
              <a:gd name="connsiteX1" fmla="*/ 428625 w 1057275"/>
              <a:gd name="connsiteY1" fmla="*/ 333375 h 409575"/>
              <a:gd name="connsiteX2" fmla="*/ 676275 w 1057275"/>
              <a:gd name="connsiteY2" fmla="*/ 85725 h 409575"/>
              <a:gd name="connsiteX3" fmla="*/ 1057275 w 1057275"/>
              <a:gd name="connsiteY3" fmla="*/ 0 h 409575"/>
            </a:gdLst>
            <a:ahLst/>
            <a:cxnLst>
              <a:cxn ang="0">
                <a:pos x="connsiteX0" y="connsiteY0"/>
              </a:cxn>
              <a:cxn ang="0">
                <a:pos x="connsiteX1" y="connsiteY1"/>
              </a:cxn>
              <a:cxn ang="0">
                <a:pos x="connsiteX2" y="connsiteY2"/>
              </a:cxn>
              <a:cxn ang="0">
                <a:pos x="connsiteX3" y="connsiteY3"/>
              </a:cxn>
            </a:cxnLst>
            <a:rect l="l" t="t" r="r" b="b"/>
            <a:pathLst>
              <a:path w="1057275" h="409575">
                <a:moveTo>
                  <a:pt x="0" y="409575"/>
                </a:moveTo>
                <a:cubicBezTo>
                  <a:pt x="157956" y="398462"/>
                  <a:pt x="315913" y="387350"/>
                  <a:pt x="428625" y="333375"/>
                </a:cubicBezTo>
                <a:cubicBezTo>
                  <a:pt x="541337" y="279400"/>
                  <a:pt x="571500" y="141288"/>
                  <a:pt x="676275" y="85725"/>
                </a:cubicBezTo>
                <a:cubicBezTo>
                  <a:pt x="781050" y="30163"/>
                  <a:pt x="919162" y="15081"/>
                  <a:pt x="105727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7010400" y="5638800"/>
            <a:ext cx="1447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Identity determined!</a:t>
            </a:r>
            <a:endParaRPr lang="en-US" sz="1200" b="1" dirty="0">
              <a:solidFill>
                <a:srgbClr val="C00000"/>
              </a:solidFill>
              <a:latin typeface="Bradley Hand ITC" pitchFamily="66" charset="0"/>
            </a:endParaRPr>
          </a:p>
        </p:txBody>
      </p:sp>
      <p:sp>
        <p:nvSpPr>
          <p:cNvPr id="19" name="Freeform 18"/>
          <p:cNvSpPr/>
          <p:nvPr/>
        </p:nvSpPr>
        <p:spPr>
          <a:xfrm>
            <a:off x="6172200" y="5781675"/>
            <a:ext cx="1152525" cy="266700"/>
          </a:xfrm>
          <a:custGeom>
            <a:avLst/>
            <a:gdLst>
              <a:gd name="connsiteX0" fmla="*/ 1152525 w 1152525"/>
              <a:gd name="connsiteY0" fmla="*/ 0 h 266700"/>
              <a:gd name="connsiteX1" fmla="*/ 714375 w 1152525"/>
              <a:gd name="connsiteY1" fmla="*/ 85725 h 266700"/>
              <a:gd name="connsiteX2" fmla="*/ 390525 w 1152525"/>
              <a:gd name="connsiteY2" fmla="*/ 238125 h 266700"/>
              <a:gd name="connsiteX3" fmla="*/ 0 w 1152525"/>
              <a:gd name="connsiteY3" fmla="*/ 257175 h 266700"/>
            </a:gdLst>
            <a:ahLst/>
            <a:cxnLst>
              <a:cxn ang="0">
                <a:pos x="connsiteX0" y="connsiteY0"/>
              </a:cxn>
              <a:cxn ang="0">
                <a:pos x="connsiteX1" y="connsiteY1"/>
              </a:cxn>
              <a:cxn ang="0">
                <a:pos x="connsiteX2" y="connsiteY2"/>
              </a:cxn>
              <a:cxn ang="0">
                <a:pos x="connsiteX3" y="connsiteY3"/>
              </a:cxn>
            </a:cxnLst>
            <a:rect l="l" t="t" r="r" b="b"/>
            <a:pathLst>
              <a:path w="1152525" h="266700">
                <a:moveTo>
                  <a:pt x="1152525" y="0"/>
                </a:moveTo>
                <a:cubicBezTo>
                  <a:pt x="996950" y="23019"/>
                  <a:pt x="841375" y="46038"/>
                  <a:pt x="714375" y="85725"/>
                </a:cubicBezTo>
                <a:cubicBezTo>
                  <a:pt x="587375" y="125412"/>
                  <a:pt x="509588" y="209550"/>
                  <a:pt x="390525" y="238125"/>
                </a:cubicBezTo>
                <a:cubicBezTo>
                  <a:pt x="271463" y="266700"/>
                  <a:pt x="135731" y="261937"/>
                  <a:pt x="0" y="2571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p:cNvSpPr/>
          <p:nvPr/>
        </p:nvSpPr>
        <p:spPr>
          <a:xfrm>
            <a:off x="2733675" y="1295400"/>
            <a:ext cx="76200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4562475" y="1295400"/>
            <a:ext cx="89535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5543550" y="1295400"/>
            <a:ext cx="91440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6581774" y="1295400"/>
            <a:ext cx="1019176"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2657475" y="1257300"/>
            <a:ext cx="853119" cy="215444"/>
          </a:xfrm>
          <a:prstGeom prst="rect">
            <a:avLst/>
          </a:prstGeom>
          <a:noFill/>
        </p:spPr>
        <p:txBody>
          <a:bodyPr wrap="none" rtlCol="0">
            <a:spAutoFit/>
          </a:bodyPr>
          <a:lstStyle/>
          <a:p>
            <a:r>
              <a:rPr lang="en-US" sz="800" dirty="0" smtClean="0">
                <a:cs typeface="Arial" pitchFamily="34" charset="0"/>
              </a:rPr>
              <a:t>: VideoManager</a:t>
            </a:r>
            <a:endParaRPr lang="en-US" sz="800" dirty="0">
              <a:cs typeface="Arial" pitchFamily="34" charset="0"/>
            </a:endParaRPr>
          </a:p>
        </p:txBody>
      </p:sp>
      <p:sp>
        <p:nvSpPr>
          <p:cNvPr id="28" name="Rectangle 27"/>
          <p:cNvSpPr/>
          <p:nvPr/>
        </p:nvSpPr>
        <p:spPr>
          <a:xfrm>
            <a:off x="3667125" y="1295400"/>
            <a:ext cx="76200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3633342" y="1266825"/>
            <a:ext cx="833883" cy="215444"/>
          </a:xfrm>
          <a:prstGeom prst="rect">
            <a:avLst/>
          </a:prstGeom>
          <a:noFill/>
        </p:spPr>
        <p:txBody>
          <a:bodyPr wrap="none" rtlCol="0">
            <a:spAutoFit/>
          </a:bodyPr>
          <a:lstStyle/>
          <a:p>
            <a:r>
              <a:rPr lang="en-US" sz="800" dirty="0" smtClean="0">
                <a:cs typeface="Arial" pitchFamily="34" charset="0"/>
              </a:rPr>
              <a:t>: FaceDetection</a:t>
            </a:r>
            <a:endParaRPr lang="en-US" sz="800" dirty="0">
              <a:cs typeface="Arial" pitchFamily="34" charset="0"/>
            </a:endParaRPr>
          </a:p>
        </p:txBody>
      </p:sp>
      <p:sp>
        <p:nvSpPr>
          <p:cNvPr id="30" name="TextBox 29"/>
          <p:cNvSpPr txBox="1"/>
          <p:nvPr/>
        </p:nvSpPr>
        <p:spPr>
          <a:xfrm>
            <a:off x="4543425" y="1276350"/>
            <a:ext cx="923651" cy="215444"/>
          </a:xfrm>
          <a:prstGeom prst="rect">
            <a:avLst/>
          </a:prstGeom>
          <a:noFill/>
        </p:spPr>
        <p:txBody>
          <a:bodyPr wrap="none" rtlCol="0">
            <a:spAutoFit/>
          </a:bodyPr>
          <a:lstStyle/>
          <a:p>
            <a:r>
              <a:rPr lang="en-US" sz="800" dirty="0" smtClean="0">
                <a:cs typeface="Arial" pitchFamily="34" charset="0"/>
              </a:rPr>
              <a:t>: FaceRecognition</a:t>
            </a:r>
            <a:endParaRPr lang="en-US" sz="800" dirty="0">
              <a:cs typeface="Arial" pitchFamily="34" charset="0"/>
            </a:endParaRPr>
          </a:p>
        </p:txBody>
      </p:sp>
      <p:sp>
        <p:nvSpPr>
          <p:cNvPr id="31" name="TextBox 30"/>
          <p:cNvSpPr txBox="1"/>
          <p:nvPr/>
        </p:nvSpPr>
        <p:spPr>
          <a:xfrm>
            <a:off x="5505450" y="1276350"/>
            <a:ext cx="934871" cy="215444"/>
          </a:xfrm>
          <a:prstGeom prst="rect">
            <a:avLst/>
          </a:prstGeom>
          <a:noFill/>
        </p:spPr>
        <p:txBody>
          <a:bodyPr wrap="none" rtlCol="0">
            <a:spAutoFit/>
          </a:bodyPr>
          <a:lstStyle/>
          <a:p>
            <a:r>
              <a:rPr lang="en-US" sz="800" dirty="0" smtClean="0">
                <a:cs typeface="Arial" pitchFamily="34" charset="0"/>
              </a:rPr>
              <a:t>: IdentityManager</a:t>
            </a:r>
            <a:endParaRPr lang="en-US" sz="800" dirty="0">
              <a:cs typeface="Arial" pitchFamily="34" charset="0"/>
            </a:endParaRPr>
          </a:p>
        </p:txBody>
      </p:sp>
      <p:sp>
        <p:nvSpPr>
          <p:cNvPr id="32" name="TextBox 31"/>
          <p:cNvSpPr txBox="1"/>
          <p:nvPr/>
        </p:nvSpPr>
        <p:spPr>
          <a:xfrm>
            <a:off x="6572250" y="1295400"/>
            <a:ext cx="1056700" cy="215444"/>
          </a:xfrm>
          <a:prstGeom prst="rect">
            <a:avLst/>
          </a:prstGeom>
          <a:noFill/>
        </p:spPr>
        <p:txBody>
          <a:bodyPr wrap="none" rtlCol="0">
            <a:spAutoFit/>
          </a:bodyPr>
          <a:lstStyle/>
          <a:p>
            <a:r>
              <a:rPr lang="en-US" sz="800" dirty="0" smtClean="0">
                <a:cs typeface="Arial" pitchFamily="34" charset="0"/>
              </a:rPr>
              <a:t>: FileSystemManager</a:t>
            </a:r>
            <a:endParaRPr lang="en-US" sz="800" dirty="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457200" y="4191000"/>
            <a:ext cx="7153275" cy="2362200"/>
          </a:xfrm>
          <a:prstGeom prst="rect">
            <a:avLst/>
          </a:prstGeom>
          <a:noFill/>
          <a:ln w="9525">
            <a:noFill/>
            <a:miter lim="800000"/>
            <a:headEnd/>
            <a:tailEnd/>
          </a:ln>
          <a:effectLst/>
        </p:spPr>
      </p:pic>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cxnSp>
        <p:nvCxnSpPr>
          <p:cNvPr id="10" name="Straight Arrow Connector 9"/>
          <p:cNvCxnSpPr/>
          <p:nvPr/>
        </p:nvCxnSpPr>
        <p:spPr>
          <a:xfrm flipH="1" flipV="1">
            <a:off x="3124200" y="5109865"/>
            <a:ext cx="533400" cy="7620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6096000" y="5109865"/>
            <a:ext cx="438150" cy="19050"/>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124200" y="4881265"/>
            <a:ext cx="753732" cy="215444"/>
          </a:xfrm>
          <a:prstGeom prst="rect">
            <a:avLst/>
          </a:prstGeom>
          <a:noFill/>
        </p:spPr>
        <p:txBody>
          <a:bodyPr wrap="none" rtlCol="0">
            <a:spAutoFit/>
          </a:bodyPr>
          <a:lstStyle/>
          <a:p>
            <a:r>
              <a:rPr lang="en-US" sz="800" dirty="0" smtClean="0"/>
              <a:t>&lt;&lt;delegate&gt;&gt;</a:t>
            </a:r>
            <a:endParaRPr lang="en-US" sz="800" dirty="0"/>
          </a:p>
        </p:txBody>
      </p:sp>
      <p:sp>
        <p:nvSpPr>
          <p:cNvPr id="19" name="TextBox 18"/>
          <p:cNvSpPr txBox="1"/>
          <p:nvPr/>
        </p:nvSpPr>
        <p:spPr>
          <a:xfrm>
            <a:off x="5867400" y="4805065"/>
            <a:ext cx="753732" cy="215444"/>
          </a:xfrm>
          <a:prstGeom prst="rect">
            <a:avLst/>
          </a:prstGeom>
          <a:noFill/>
        </p:spPr>
        <p:txBody>
          <a:bodyPr wrap="none" rtlCol="0">
            <a:spAutoFit/>
          </a:bodyPr>
          <a:lstStyle/>
          <a:p>
            <a:r>
              <a:rPr lang="en-US" sz="800" dirty="0" smtClean="0"/>
              <a:t>&lt;&lt;delegate&gt;&gt;</a:t>
            </a:r>
            <a:endParaRPr lang="en-US" sz="800" dirty="0"/>
          </a:p>
        </p:txBody>
      </p:sp>
      <p:sp>
        <p:nvSpPr>
          <p:cNvPr id="20" name="TextBox 19"/>
          <p:cNvSpPr txBox="1"/>
          <p:nvPr/>
        </p:nvSpPr>
        <p:spPr>
          <a:xfrm>
            <a:off x="5943600" y="3886200"/>
            <a:ext cx="2409825"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Provided interface to transport the data stream to the next component</a:t>
            </a:r>
            <a:endParaRPr lang="en-US" sz="1200" b="1" dirty="0">
              <a:solidFill>
                <a:srgbClr val="C00000"/>
              </a:solidFill>
              <a:latin typeface="Bradley Hand ITC" pitchFamily="66" charset="0"/>
            </a:endParaRPr>
          </a:p>
        </p:txBody>
      </p:sp>
      <p:grpSp>
        <p:nvGrpSpPr>
          <p:cNvPr id="25" name="Group 24"/>
          <p:cNvGrpSpPr/>
          <p:nvPr/>
        </p:nvGrpSpPr>
        <p:grpSpPr>
          <a:xfrm>
            <a:off x="2133600" y="1257300"/>
            <a:ext cx="5105400" cy="1104900"/>
            <a:chOff x="2438400" y="1981200"/>
            <a:chExt cx="5105400" cy="1104900"/>
          </a:xfrm>
        </p:grpSpPr>
        <p:grpSp>
          <p:nvGrpSpPr>
            <p:cNvPr id="17" name="Group 16"/>
            <p:cNvGrpSpPr/>
            <p:nvPr/>
          </p:nvGrpSpPr>
          <p:grpSpPr>
            <a:xfrm>
              <a:off x="2438400" y="1981200"/>
              <a:ext cx="4200525" cy="1104900"/>
              <a:chOff x="2438400" y="1981200"/>
              <a:chExt cx="4200525" cy="1104900"/>
            </a:xfrm>
          </p:grpSpPr>
          <p:pic>
            <p:nvPicPr>
              <p:cNvPr id="2050" name="Picture 2"/>
              <p:cNvPicPr>
                <a:picLocks noChangeAspect="1" noChangeArrowheads="1"/>
              </p:cNvPicPr>
              <p:nvPr/>
            </p:nvPicPr>
            <p:blipFill>
              <a:blip r:embed="rId3" cstate="print"/>
              <a:srcRect/>
              <a:stretch>
                <a:fillRect/>
              </a:stretch>
            </p:blipFill>
            <p:spPr bwMode="auto">
              <a:xfrm>
                <a:off x="2590800" y="1981200"/>
                <a:ext cx="4048125" cy="1104900"/>
              </a:xfrm>
              <a:prstGeom prst="rect">
                <a:avLst/>
              </a:prstGeom>
              <a:noFill/>
              <a:ln w="9525">
                <a:noFill/>
                <a:miter lim="800000"/>
                <a:headEnd/>
                <a:tailEnd/>
              </a:ln>
              <a:effectLst/>
            </p:spPr>
          </p:pic>
          <p:sp>
            <p:nvSpPr>
              <p:cNvPr id="16" name="Rectangle 15"/>
              <p:cNvSpPr/>
              <p:nvPr/>
            </p:nvSpPr>
            <p:spPr>
              <a:xfrm>
                <a:off x="2438400" y="1981200"/>
                <a:ext cx="3810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p:cNvPicPr>
                <a:picLocks noChangeAspect="1" noChangeArrowheads="1"/>
              </p:cNvPicPr>
              <p:nvPr/>
            </p:nvPicPr>
            <p:blipFill>
              <a:blip r:embed="rId4" cstate="print"/>
              <a:srcRect/>
              <a:stretch>
                <a:fillRect/>
              </a:stretch>
            </p:blipFill>
            <p:spPr bwMode="auto">
              <a:xfrm>
                <a:off x="2600325" y="1981200"/>
                <a:ext cx="2143125" cy="923925"/>
              </a:xfrm>
              <a:prstGeom prst="rect">
                <a:avLst/>
              </a:prstGeom>
              <a:noFill/>
              <a:ln w="9525">
                <a:noFill/>
                <a:miter lim="800000"/>
                <a:headEnd/>
                <a:tailEnd/>
              </a:ln>
              <a:effectLst/>
            </p:spPr>
          </p:pic>
        </p:grpSp>
        <p:pic>
          <p:nvPicPr>
            <p:cNvPr id="2053" name="Picture 5"/>
            <p:cNvPicPr>
              <a:picLocks noChangeAspect="1" noChangeArrowheads="1"/>
            </p:cNvPicPr>
            <p:nvPr/>
          </p:nvPicPr>
          <p:blipFill>
            <a:blip r:embed="rId5" cstate="print"/>
            <a:srcRect/>
            <a:stretch>
              <a:fillRect/>
            </a:stretch>
          </p:blipFill>
          <p:spPr bwMode="auto">
            <a:xfrm>
              <a:off x="6343650" y="2505075"/>
              <a:ext cx="333375" cy="133350"/>
            </a:xfrm>
            <a:prstGeom prst="rect">
              <a:avLst/>
            </a:prstGeom>
            <a:noFill/>
            <a:ln w="9525">
              <a:noFill/>
              <a:miter lim="800000"/>
              <a:headEnd/>
              <a:tailEnd/>
            </a:ln>
          </p:spPr>
        </p:pic>
        <p:sp>
          <p:nvSpPr>
            <p:cNvPr id="23" name="Cloud 22"/>
            <p:cNvSpPr/>
            <p:nvPr/>
          </p:nvSpPr>
          <p:spPr>
            <a:xfrm>
              <a:off x="6629400" y="1990725"/>
              <a:ext cx="914400" cy="914400"/>
            </a:xfrm>
            <a:prstGeom prst="cloud">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Freeform 23"/>
          <p:cNvSpPr/>
          <p:nvPr/>
        </p:nvSpPr>
        <p:spPr>
          <a:xfrm>
            <a:off x="7038975" y="4347865"/>
            <a:ext cx="866775" cy="666750"/>
          </a:xfrm>
          <a:custGeom>
            <a:avLst/>
            <a:gdLst>
              <a:gd name="connsiteX0" fmla="*/ 723900 w 866775"/>
              <a:gd name="connsiteY0" fmla="*/ 0 h 828675"/>
              <a:gd name="connsiteX1" fmla="*/ 771525 w 866775"/>
              <a:gd name="connsiteY1" fmla="*/ 361950 h 828675"/>
              <a:gd name="connsiteX2" fmla="*/ 152400 w 866775"/>
              <a:gd name="connsiteY2" fmla="*/ 523875 h 828675"/>
              <a:gd name="connsiteX3" fmla="*/ 0 w 866775"/>
              <a:gd name="connsiteY3" fmla="*/ 828675 h 828675"/>
            </a:gdLst>
            <a:ahLst/>
            <a:cxnLst>
              <a:cxn ang="0">
                <a:pos x="connsiteX0" y="connsiteY0"/>
              </a:cxn>
              <a:cxn ang="0">
                <a:pos x="connsiteX1" y="connsiteY1"/>
              </a:cxn>
              <a:cxn ang="0">
                <a:pos x="connsiteX2" y="connsiteY2"/>
              </a:cxn>
              <a:cxn ang="0">
                <a:pos x="connsiteX3" y="connsiteY3"/>
              </a:cxn>
            </a:cxnLst>
            <a:rect l="l" t="t" r="r" b="b"/>
            <a:pathLst>
              <a:path w="866775" h="828675">
                <a:moveTo>
                  <a:pt x="723900" y="0"/>
                </a:moveTo>
                <a:cubicBezTo>
                  <a:pt x="795337" y="137319"/>
                  <a:pt x="866775" y="274638"/>
                  <a:pt x="771525" y="361950"/>
                </a:cubicBezTo>
                <a:cubicBezTo>
                  <a:pt x="676275" y="449262"/>
                  <a:pt x="280988" y="446088"/>
                  <a:pt x="152400" y="523875"/>
                </a:cubicBezTo>
                <a:cubicBezTo>
                  <a:pt x="23813" y="601663"/>
                  <a:pt x="11906" y="715169"/>
                  <a:pt x="0" y="8286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7" name="Straight Connector 26"/>
          <p:cNvCxnSpPr/>
          <p:nvPr/>
        </p:nvCxnSpPr>
        <p:spPr>
          <a:xfrm>
            <a:off x="228600" y="3505200"/>
            <a:ext cx="8686800" cy="0"/>
          </a:xfrm>
          <a:prstGeom prst="line">
            <a:avLst/>
          </a:prstGeom>
          <a:ln w="6350">
            <a:solidFill>
              <a:schemeClr val="tx1"/>
            </a:solidFill>
            <a:prstDash val="dash"/>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971800" y="533400"/>
            <a:ext cx="3657600" cy="646331"/>
          </a:xfrm>
          <a:prstGeom prst="rect">
            <a:avLst/>
          </a:prstGeom>
          <a:noFill/>
        </p:spPr>
        <p:txBody>
          <a:bodyPr wrap="square" rtlCol="0">
            <a:spAutoFit/>
          </a:bodyPr>
          <a:lstStyle/>
          <a:p>
            <a:pPr algn="ctr"/>
            <a:r>
              <a:rPr lang="en-US" b="1" u="sng" dirty="0" smtClean="0">
                <a:solidFill>
                  <a:srgbClr val="C00000"/>
                </a:solidFill>
                <a:latin typeface="Bradley Hand ITC" pitchFamily="66" charset="0"/>
              </a:rPr>
              <a:t>Consider the Pipes-and-Filters modeled this way</a:t>
            </a:r>
            <a:endParaRPr lang="en-US" b="1" u="sng" dirty="0">
              <a:solidFill>
                <a:srgbClr val="C00000"/>
              </a:solidFill>
              <a:latin typeface="Bradley Hand ITC" pitchFamily="66" charset="0"/>
            </a:endParaRPr>
          </a:p>
        </p:txBody>
      </p:sp>
      <p:sp>
        <p:nvSpPr>
          <p:cNvPr id="29" name="TextBox 28"/>
          <p:cNvSpPr txBox="1"/>
          <p:nvPr/>
        </p:nvSpPr>
        <p:spPr>
          <a:xfrm>
            <a:off x="533400" y="457200"/>
            <a:ext cx="2286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Assume now that unlike the previous example, the Video component now interfaces with a camera for real-time video feed!</a:t>
            </a:r>
            <a:endParaRPr lang="en-US" sz="1200" b="1" dirty="0">
              <a:solidFill>
                <a:srgbClr val="C00000"/>
              </a:solidFill>
              <a:latin typeface="Bradley Hand ITC" pitchFamily="66" charset="0"/>
            </a:endParaRPr>
          </a:p>
        </p:txBody>
      </p:sp>
      <p:sp>
        <p:nvSpPr>
          <p:cNvPr id="30" name="Freeform 29"/>
          <p:cNvSpPr/>
          <p:nvPr/>
        </p:nvSpPr>
        <p:spPr>
          <a:xfrm>
            <a:off x="1752600" y="1295400"/>
            <a:ext cx="695325" cy="504825"/>
          </a:xfrm>
          <a:custGeom>
            <a:avLst/>
            <a:gdLst>
              <a:gd name="connsiteX0" fmla="*/ 0 w 1171575"/>
              <a:gd name="connsiteY0" fmla="*/ 0 h 438150"/>
              <a:gd name="connsiteX1" fmla="*/ 571500 w 1171575"/>
              <a:gd name="connsiteY1" fmla="*/ 76200 h 438150"/>
              <a:gd name="connsiteX2" fmla="*/ 790575 w 1171575"/>
              <a:gd name="connsiteY2" fmla="*/ 371475 h 438150"/>
              <a:gd name="connsiteX3" fmla="*/ 1171575 w 1171575"/>
              <a:gd name="connsiteY3" fmla="*/ 438150 h 438150"/>
            </a:gdLst>
            <a:ahLst/>
            <a:cxnLst>
              <a:cxn ang="0">
                <a:pos x="connsiteX0" y="connsiteY0"/>
              </a:cxn>
              <a:cxn ang="0">
                <a:pos x="connsiteX1" y="connsiteY1"/>
              </a:cxn>
              <a:cxn ang="0">
                <a:pos x="connsiteX2" y="connsiteY2"/>
              </a:cxn>
              <a:cxn ang="0">
                <a:pos x="connsiteX3" y="connsiteY3"/>
              </a:cxn>
            </a:cxnLst>
            <a:rect l="l" t="t" r="r" b="b"/>
            <a:pathLst>
              <a:path w="1171575" h="438150">
                <a:moveTo>
                  <a:pt x="0" y="0"/>
                </a:moveTo>
                <a:cubicBezTo>
                  <a:pt x="219869" y="7144"/>
                  <a:pt x="439738" y="14288"/>
                  <a:pt x="571500" y="76200"/>
                </a:cubicBezTo>
                <a:cubicBezTo>
                  <a:pt x="703262" y="138112"/>
                  <a:pt x="690563" y="311150"/>
                  <a:pt x="790575" y="371475"/>
                </a:cubicBezTo>
                <a:cubicBezTo>
                  <a:pt x="890587" y="431800"/>
                  <a:pt x="1031081" y="434975"/>
                  <a:pt x="1171575" y="4381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609600" y="20574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Filter Component</a:t>
            </a:r>
            <a:endParaRPr lang="en-US" sz="1200" b="1" dirty="0">
              <a:solidFill>
                <a:srgbClr val="C00000"/>
              </a:solidFill>
              <a:latin typeface="Bradley Hand ITC" pitchFamily="66" charset="0"/>
            </a:endParaRPr>
          </a:p>
        </p:txBody>
      </p:sp>
      <p:sp>
        <p:nvSpPr>
          <p:cNvPr id="32" name="TextBox 31"/>
          <p:cNvSpPr txBox="1"/>
          <p:nvPr/>
        </p:nvSpPr>
        <p:spPr>
          <a:xfrm>
            <a:off x="5791200" y="22098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Filter Component</a:t>
            </a:r>
            <a:endParaRPr lang="en-US" sz="1200" b="1" dirty="0">
              <a:solidFill>
                <a:srgbClr val="C00000"/>
              </a:solidFill>
              <a:latin typeface="Bradley Hand ITC" pitchFamily="66" charset="0"/>
            </a:endParaRPr>
          </a:p>
        </p:txBody>
      </p:sp>
      <p:sp>
        <p:nvSpPr>
          <p:cNvPr id="33" name="Freeform 32"/>
          <p:cNvSpPr/>
          <p:nvPr/>
        </p:nvSpPr>
        <p:spPr>
          <a:xfrm>
            <a:off x="2371725" y="2009775"/>
            <a:ext cx="352425" cy="190500"/>
          </a:xfrm>
          <a:custGeom>
            <a:avLst/>
            <a:gdLst>
              <a:gd name="connsiteX0" fmla="*/ 0 w 352425"/>
              <a:gd name="connsiteY0" fmla="*/ 171450 h 190500"/>
              <a:gd name="connsiteX1" fmla="*/ 228600 w 352425"/>
              <a:gd name="connsiteY1" fmla="*/ 161925 h 190500"/>
              <a:gd name="connsiteX2" fmla="*/ 352425 w 352425"/>
              <a:gd name="connsiteY2" fmla="*/ 0 h 190500"/>
            </a:gdLst>
            <a:ahLst/>
            <a:cxnLst>
              <a:cxn ang="0">
                <a:pos x="connsiteX0" y="connsiteY0"/>
              </a:cxn>
              <a:cxn ang="0">
                <a:pos x="connsiteX1" y="connsiteY1"/>
              </a:cxn>
              <a:cxn ang="0">
                <a:pos x="connsiteX2" y="connsiteY2"/>
              </a:cxn>
            </a:cxnLst>
            <a:rect l="l" t="t" r="r" b="b"/>
            <a:pathLst>
              <a:path w="352425" h="190500">
                <a:moveTo>
                  <a:pt x="0" y="171450"/>
                </a:moveTo>
                <a:cubicBezTo>
                  <a:pt x="84931" y="180975"/>
                  <a:pt x="169863" y="190500"/>
                  <a:pt x="228600" y="161925"/>
                </a:cubicBezTo>
                <a:cubicBezTo>
                  <a:pt x="287337" y="133350"/>
                  <a:pt x="319881" y="66675"/>
                  <a:pt x="352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p:cNvSpPr/>
          <p:nvPr/>
        </p:nvSpPr>
        <p:spPr>
          <a:xfrm>
            <a:off x="5715000" y="2066925"/>
            <a:ext cx="619125" cy="250825"/>
          </a:xfrm>
          <a:custGeom>
            <a:avLst/>
            <a:gdLst>
              <a:gd name="connsiteX0" fmla="*/ 619125 w 619125"/>
              <a:gd name="connsiteY0" fmla="*/ 247650 h 250825"/>
              <a:gd name="connsiteX1" fmla="*/ 200025 w 619125"/>
              <a:gd name="connsiteY1" fmla="*/ 209550 h 250825"/>
              <a:gd name="connsiteX2" fmla="*/ 0 w 619125"/>
              <a:gd name="connsiteY2" fmla="*/ 0 h 250825"/>
            </a:gdLst>
            <a:ahLst/>
            <a:cxnLst>
              <a:cxn ang="0">
                <a:pos x="connsiteX0" y="connsiteY0"/>
              </a:cxn>
              <a:cxn ang="0">
                <a:pos x="connsiteX1" y="connsiteY1"/>
              </a:cxn>
              <a:cxn ang="0">
                <a:pos x="connsiteX2" y="connsiteY2"/>
              </a:cxn>
            </a:cxnLst>
            <a:rect l="l" t="t" r="r" b="b"/>
            <a:pathLst>
              <a:path w="619125" h="250825">
                <a:moveTo>
                  <a:pt x="619125" y="247650"/>
                </a:moveTo>
                <a:cubicBezTo>
                  <a:pt x="461168" y="249237"/>
                  <a:pt x="303212" y="250825"/>
                  <a:pt x="200025" y="209550"/>
                </a:cubicBezTo>
                <a:cubicBezTo>
                  <a:pt x="96838" y="168275"/>
                  <a:pt x="48419" y="8413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2667000" y="2190750"/>
            <a:ext cx="1066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Pipe Interface</a:t>
            </a:r>
            <a:endParaRPr lang="en-US" sz="1200" b="1" dirty="0">
              <a:solidFill>
                <a:srgbClr val="C00000"/>
              </a:solidFill>
              <a:latin typeface="Bradley Hand ITC" pitchFamily="66" charset="0"/>
            </a:endParaRPr>
          </a:p>
        </p:txBody>
      </p:sp>
      <p:sp>
        <p:nvSpPr>
          <p:cNvPr id="36" name="Freeform 35"/>
          <p:cNvSpPr/>
          <p:nvPr/>
        </p:nvSpPr>
        <p:spPr>
          <a:xfrm>
            <a:off x="3609975" y="1905000"/>
            <a:ext cx="381000" cy="447675"/>
          </a:xfrm>
          <a:custGeom>
            <a:avLst/>
            <a:gdLst>
              <a:gd name="connsiteX0" fmla="*/ 0 w 381000"/>
              <a:gd name="connsiteY0" fmla="*/ 447675 h 447675"/>
              <a:gd name="connsiteX1" fmla="*/ 285750 w 381000"/>
              <a:gd name="connsiteY1" fmla="*/ 371475 h 447675"/>
              <a:gd name="connsiteX2" fmla="*/ 247650 w 381000"/>
              <a:gd name="connsiteY2" fmla="*/ 161925 h 447675"/>
              <a:gd name="connsiteX3" fmla="*/ 381000 w 381000"/>
              <a:gd name="connsiteY3" fmla="*/ 0 h 447675"/>
            </a:gdLst>
            <a:ahLst/>
            <a:cxnLst>
              <a:cxn ang="0">
                <a:pos x="connsiteX0" y="connsiteY0"/>
              </a:cxn>
              <a:cxn ang="0">
                <a:pos x="connsiteX1" y="connsiteY1"/>
              </a:cxn>
              <a:cxn ang="0">
                <a:pos x="connsiteX2" y="connsiteY2"/>
              </a:cxn>
              <a:cxn ang="0">
                <a:pos x="connsiteX3" y="connsiteY3"/>
              </a:cxn>
            </a:cxnLst>
            <a:rect l="l" t="t" r="r" b="b"/>
            <a:pathLst>
              <a:path w="381000" h="447675">
                <a:moveTo>
                  <a:pt x="0" y="447675"/>
                </a:moveTo>
                <a:cubicBezTo>
                  <a:pt x="122237" y="433387"/>
                  <a:pt x="244475" y="419100"/>
                  <a:pt x="285750" y="371475"/>
                </a:cubicBezTo>
                <a:cubicBezTo>
                  <a:pt x="327025" y="323850"/>
                  <a:pt x="231775" y="223838"/>
                  <a:pt x="247650" y="161925"/>
                </a:cubicBezTo>
                <a:cubicBezTo>
                  <a:pt x="263525" y="100013"/>
                  <a:pt x="322262" y="50006"/>
                  <a:pt x="3810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TextBox 36"/>
          <p:cNvSpPr txBox="1"/>
          <p:nvPr/>
        </p:nvSpPr>
        <p:spPr>
          <a:xfrm>
            <a:off x="6400800" y="1447800"/>
            <a:ext cx="838200" cy="461665"/>
          </a:xfrm>
          <a:prstGeom prst="rect">
            <a:avLst/>
          </a:prstGeom>
          <a:noFill/>
        </p:spPr>
        <p:txBody>
          <a:bodyPr wrap="square" rtlCol="0">
            <a:spAutoFit/>
          </a:bodyPr>
          <a:lstStyle/>
          <a:p>
            <a:r>
              <a:rPr lang="en-US" sz="800" dirty="0" smtClean="0"/>
              <a:t>Other Pipes and Filters in the System</a:t>
            </a:r>
            <a:endParaRPr lang="en-US" sz="800" dirty="0"/>
          </a:p>
        </p:txBody>
      </p:sp>
      <p:sp>
        <p:nvSpPr>
          <p:cNvPr id="38" name="TextBox 37"/>
          <p:cNvSpPr txBox="1"/>
          <p:nvPr/>
        </p:nvSpPr>
        <p:spPr>
          <a:xfrm>
            <a:off x="3429000" y="2590800"/>
            <a:ext cx="2514600" cy="646331"/>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When modeled this way, there are implications about the internal structure of these components! </a:t>
            </a:r>
            <a:endParaRPr lang="en-US" sz="1200" b="1" dirty="0">
              <a:solidFill>
                <a:srgbClr val="C00000"/>
              </a:solidFill>
              <a:latin typeface="Bradley Hand ITC" pitchFamily="66" charset="0"/>
            </a:endParaRPr>
          </a:p>
        </p:txBody>
      </p:sp>
      <p:sp>
        <p:nvSpPr>
          <p:cNvPr id="39" name="TextBox 38"/>
          <p:cNvSpPr txBox="1"/>
          <p:nvPr/>
        </p:nvSpPr>
        <p:spPr>
          <a:xfrm>
            <a:off x="6096000" y="3048000"/>
            <a:ext cx="2286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For example, see below</a:t>
            </a:r>
            <a:endParaRPr lang="en-US" sz="1200" b="1" dirty="0">
              <a:solidFill>
                <a:srgbClr val="C00000"/>
              </a:solidFill>
              <a:latin typeface="Bradley Hand ITC" pitchFamily="66" charset="0"/>
            </a:endParaRPr>
          </a:p>
        </p:txBody>
      </p:sp>
      <p:sp>
        <p:nvSpPr>
          <p:cNvPr id="41" name="Freeform 40"/>
          <p:cNvSpPr/>
          <p:nvPr/>
        </p:nvSpPr>
        <p:spPr>
          <a:xfrm>
            <a:off x="6029325" y="2971800"/>
            <a:ext cx="466725" cy="198437"/>
          </a:xfrm>
          <a:custGeom>
            <a:avLst/>
            <a:gdLst>
              <a:gd name="connsiteX0" fmla="*/ 0 w 466725"/>
              <a:gd name="connsiteY0" fmla="*/ 0 h 198437"/>
              <a:gd name="connsiteX1" fmla="*/ 161925 w 466725"/>
              <a:gd name="connsiteY1" fmla="*/ 28575 h 198437"/>
              <a:gd name="connsiteX2" fmla="*/ 266700 w 466725"/>
              <a:gd name="connsiteY2" fmla="*/ 171450 h 198437"/>
              <a:gd name="connsiteX3" fmla="*/ 466725 w 466725"/>
              <a:gd name="connsiteY3" fmla="*/ 190500 h 198437"/>
            </a:gdLst>
            <a:ahLst/>
            <a:cxnLst>
              <a:cxn ang="0">
                <a:pos x="connsiteX0" y="connsiteY0"/>
              </a:cxn>
              <a:cxn ang="0">
                <a:pos x="connsiteX1" y="connsiteY1"/>
              </a:cxn>
              <a:cxn ang="0">
                <a:pos x="connsiteX2" y="connsiteY2"/>
              </a:cxn>
              <a:cxn ang="0">
                <a:pos x="connsiteX3" y="connsiteY3"/>
              </a:cxn>
            </a:cxnLst>
            <a:rect l="l" t="t" r="r" b="b"/>
            <a:pathLst>
              <a:path w="466725" h="198437">
                <a:moveTo>
                  <a:pt x="0" y="0"/>
                </a:moveTo>
                <a:cubicBezTo>
                  <a:pt x="58737" y="0"/>
                  <a:pt x="117475" y="0"/>
                  <a:pt x="161925" y="28575"/>
                </a:cubicBezTo>
                <a:cubicBezTo>
                  <a:pt x="206375" y="57150"/>
                  <a:pt x="215900" y="144463"/>
                  <a:pt x="266700" y="171450"/>
                </a:cubicBezTo>
                <a:cubicBezTo>
                  <a:pt x="317500" y="198437"/>
                  <a:pt x="392112" y="194468"/>
                  <a:pt x="466725" y="190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Freeform 42"/>
          <p:cNvSpPr/>
          <p:nvPr/>
        </p:nvSpPr>
        <p:spPr>
          <a:xfrm>
            <a:off x="8048625" y="3190875"/>
            <a:ext cx="246062" cy="485775"/>
          </a:xfrm>
          <a:custGeom>
            <a:avLst/>
            <a:gdLst>
              <a:gd name="connsiteX0" fmla="*/ 0 w 246062"/>
              <a:gd name="connsiteY0" fmla="*/ 0 h 485775"/>
              <a:gd name="connsiteX1" fmla="*/ 228600 w 246062"/>
              <a:gd name="connsiteY1" fmla="*/ 266700 h 485775"/>
              <a:gd name="connsiteX2" fmla="*/ 104775 w 246062"/>
              <a:gd name="connsiteY2" fmla="*/ 485775 h 485775"/>
            </a:gdLst>
            <a:ahLst/>
            <a:cxnLst>
              <a:cxn ang="0">
                <a:pos x="connsiteX0" y="connsiteY0"/>
              </a:cxn>
              <a:cxn ang="0">
                <a:pos x="connsiteX1" y="connsiteY1"/>
              </a:cxn>
              <a:cxn ang="0">
                <a:pos x="connsiteX2" y="connsiteY2"/>
              </a:cxn>
            </a:cxnLst>
            <a:rect l="l" t="t" r="r" b="b"/>
            <a:pathLst>
              <a:path w="246062" h="485775">
                <a:moveTo>
                  <a:pt x="0" y="0"/>
                </a:moveTo>
                <a:cubicBezTo>
                  <a:pt x="105569" y="92869"/>
                  <a:pt x="211138" y="185738"/>
                  <a:pt x="228600" y="266700"/>
                </a:cubicBezTo>
                <a:cubicBezTo>
                  <a:pt x="246062" y="347662"/>
                  <a:pt x="175418" y="416718"/>
                  <a:pt x="104775" y="4857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p:cNvSpPr txBox="1"/>
          <p:nvPr/>
        </p:nvSpPr>
        <p:spPr>
          <a:xfrm>
            <a:off x="3200400" y="5486400"/>
            <a:ext cx="838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Pipe</a:t>
            </a:r>
            <a:endParaRPr lang="en-US" sz="1200" b="1" dirty="0">
              <a:solidFill>
                <a:srgbClr val="C00000"/>
              </a:solidFill>
              <a:latin typeface="Bradley Hand ITC" pitchFamily="66" charset="0"/>
            </a:endParaRPr>
          </a:p>
        </p:txBody>
      </p:sp>
      <p:sp>
        <p:nvSpPr>
          <p:cNvPr id="45" name="TextBox 44"/>
          <p:cNvSpPr txBox="1"/>
          <p:nvPr/>
        </p:nvSpPr>
        <p:spPr>
          <a:xfrm>
            <a:off x="5791200" y="6019800"/>
            <a:ext cx="838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Filter</a:t>
            </a:r>
            <a:endParaRPr lang="en-US" sz="1200" b="1" dirty="0">
              <a:solidFill>
                <a:srgbClr val="C00000"/>
              </a:solidFill>
              <a:latin typeface="Bradley Hand ITC" pitchFamily="66" charset="0"/>
            </a:endParaRPr>
          </a:p>
        </p:txBody>
      </p:sp>
      <p:sp>
        <p:nvSpPr>
          <p:cNvPr id="46" name="Freeform 45"/>
          <p:cNvSpPr/>
          <p:nvPr/>
        </p:nvSpPr>
        <p:spPr>
          <a:xfrm>
            <a:off x="3810000" y="5305425"/>
            <a:ext cx="419100" cy="314325"/>
          </a:xfrm>
          <a:custGeom>
            <a:avLst/>
            <a:gdLst>
              <a:gd name="connsiteX0" fmla="*/ 0 w 419100"/>
              <a:gd name="connsiteY0" fmla="*/ 314325 h 314325"/>
              <a:gd name="connsiteX1" fmla="*/ 304800 w 419100"/>
              <a:gd name="connsiteY1" fmla="*/ 247650 h 314325"/>
              <a:gd name="connsiteX2" fmla="*/ 304800 w 419100"/>
              <a:gd name="connsiteY2" fmla="*/ 114300 h 314325"/>
              <a:gd name="connsiteX3" fmla="*/ 419100 w 419100"/>
              <a:gd name="connsiteY3" fmla="*/ 0 h 314325"/>
            </a:gdLst>
            <a:ahLst/>
            <a:cxnLst>
              <a:cxn ang="0">
                <a:pos x="connsiteX0" y="connsiteY0"/>
              </a:cxn>
              <a:cxn ang="0">
                <a:pos x="connsiteX1" y="connsiteY1"/>
              </a:cxn>
              <a:cxn ang="0">
                <a:pos x="connsiteX2" y="connsiteY2"/>
              </a:cxn>
              <a:cxn ang="0">
                <a:pos x="connsiteX3" y="connsiteY3"/>
              </a:cxn>
            </a:cxnLst>
            <a:rect l="l" t="t" r="r" b="b"/>
            <a:pathLst>
              <a:path w="419100" h="314325">
                <a:moveTo>
                  <a:pt x="0" y="314325"/>
                </a:moveTo>
                <a:cubicBezTo>
                  <a:pt x="127000" y="297656"/>
                  <a:pt x="254000" y="280987"/>
                  <a:pt x="304800" y="247650"/>
                </a:cubicBezTo>
                <a:cubicBezTo>
                  <a:pt x="355600" y="214313"/>
                  <a:pt x="285750" y="155575"/>
                  <a:pt x="304800" y="114300"/>
                </a:cubicBezTo>
                <a:cubicBezTo>
                  <a:pt x="323850" y="73025"/>
                  <a:pt x="371475" y="36512"/>
                  <a:pt x="4191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Freeform 46"/>
          <p:cNvSpPr/>
          <p:nvPr/>
        </p:nvSpPr>
        <p:spPr>
          <a:xfrm>
            <a:off x="5534025" y="5943600"/>
            <a:ext cx="438150" cy="209550"/>
          </a:xfrm>
          <a:custGeom>
            <a:avLst/>
            <a:gdLst>
              <a:gd name="connsiteX0" fmla="*/ 438150 w 438150"/>
              <a:gd name="connsiteY0" fmla="*/ 209550 h 209550"/>
              <a:gd name="connsiteX1" fmla="*/ 257175 w 438150"/>
              <a:gd name="connsiteY1" fmla="*/ 171450 h 209550"/>
              <a:gd name="connsiteX2" fmla="*/ 190500 w 438150"/>
              <a:gd name="connsiteY2" fmla="*/ 47625 h 209550"/>
              <a:gd name="connsiteX3" fmla="*/ 0 w 438150"/>
              <a:gd name="connsiteY3" fmla="*/ 0 h 209550"/>
            </a:gdLst>
            <a:ahLst/>
            <a:cxnLst>
              <a:cxn ang="0">
                <a:pos x="connsiteX0" y="connsiteY0"/>
              </a:cxn>
              <a:cxn ang="0">
                <a:pos x="connsiteX1" y="connsiteY1"/>
              </a:cxn>
              <a:cxn ang="0">
                <a:pos x="connsiteX2" y="connsiteY2"/>
              </a:cxn>
              <a:cxn ang="0">
                <a:pos x="connsiteX3" y="connsiteY3"/>
              </a:cxn>
            </a:cxnLst>
            <a:rect l="l" t="t" r="r" b="b"/>
            <a:pathLst>
              <a:path w="438150" h="209550">
                <a:moveTo>
                  <a:pt x="438150" y="209550"/>
                </a:moveTo>
                <a:cubicBezTo>
                  <a:pt x="368300" y="203993"/>
                  <a:pt x="298450" y="198437"/>
                  <a:pt x="257175" y="171450"/>
                </a:cubicBezTo>
                <a:cubicBezTo>
                  <a:pt x="215900" y="144463"/>
                  <a:pt x="233362" y="76200"/>
                  <a:pt x="190500" y="47625"/>
                </a:cubicBezTo>
                <a:cubicBezTo>
                  <a:pt x="147638" y="19050"/>
                  <a:pt x="73819" y="9525"/>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TextBox 47"/>
          <p:cNvSpPr txBox="1"/>
          <p:nvPr/>
        </p:nvSpPr>
        <p:spPr>
          <a:xfrm>
            <a:off x="457200" y="3657600"/>
            <a:ext cx="4343400" cy="646331"/>
          </a:xfrm>
          <a:prstGeom prst="rect">
            <a:avLst/>
          </a:prstGeom>
          <a:noFill/>
        </p:spPr>
        <p:txBody>
          <a:bodyPr wrap="square" rtlCol="0">
            <a:spAutoFit/>
          </a:bodyPr>
          <a:lstStyle/>
          <a:p>
            <a:r>
              <a:rPr lang="en-US" sz="1200" b="1" dirty="0" smtClean="0">
                <a:solidFill>
                  <a:srgbClr val="C00000"/>
                </a:solidFill>
                <a:latin typeface="Bradley Hand ITC" pitchFamily="66" charset="0"/>
              </a:rPr>
              <a:t>Similarly, since Pipes-and-Filters specify the separation between pipes and filters, there is an implication about the existence of both pipe and Filter component inside the Video Manager</a:t>
            </a:r>
            <a:endParaRPr lang="en-US" sz="1200" b="1" dirty="0">
              <a:solidFill>
                <a:srgbClr val="C00000"/>
              </a:solidFill>
              <a:latin typeface="Bradley Hand ITC" pitchFamily="66" charset="0"/>
            </a:endParaRPr>
          </a:p>
        </p:txBody>
      </p:sp>
      <p:sp>
        <p:nvSpPr>
          <p:cNvPr id="50" name="Freeform 49"/>
          <p:cNvSpPr/>
          <p:nvPr/>
        </p:nvSpPr>
        <p:spPr>
          <a:xfrm>
            <a:off x="344488" y="4219575"/>
            <a:ext cx="398462" cy="914400"/>
          </a:xfrm>
          <a:custGeom>
            <a:avLst/>
            <a:gdLst>
              <a:gd name="connsiteX0" fmla="*/ 179387 w 398462"/>
              <a:gd name="connsiteY0" fmla="*/ 0 h 914400"/>
              <a:gd name="connsiteX1" fmla="*/ 36512 w 398462"/>
              <a:gd name="connsiteY1" fmla="*/ 495300 h 914400"/>
              <a:gd name="connsiteX2" fmla="*/ 398462 w 398462"/>
              <a:gd name="connsiteY2" fmla="*/ 914400 h 914400"/>
            </a:gdLst>
            <a:ahLst/>
            <a:cxnLst>
              <a:cxn ang="0">
                <a:pos x="connsiteX0" y="connsiteY0"/>
              </a:cxn>
              <a:cxn ang="0">
                <a:pos x="connsiteX1" y="connsiteY1"/>
              </a:cxn>
              <a:cxn ang="0">
                <a:pos x="connsiteX2" y="connsiteY2"/>
              </a:cxn>
            </a:cxnLst>
            <a:rect l="l" t="t" r="r" b="b"/>
            <a:pathLst>
              <a:path w="398462" h="914400">
                <a:moveTo>
                  <a:pt x="179387" y="0"/>
                </a:moveTo>
                <a:cubicBezTo>
                  <a:pt x="89693" y="171450"/>
                  <a:pt x="0" y="342900"/>
                  <a:pt x="36512" y="495300"/>
                </a:cubicBezTo>
                <a:cubicBezTo>
                  <a:pt x="73024" y="647700"/>
                  <a:pt x="235743" y="781050"/>
                  <a:pt x="398462" y="914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30" name="Picture 6"/>
          <p:cNvPicPr>
            <a:picLocks noChangeAspect="1" noChangeArrowheads="1"/>
          </p:cNvPicPr>
          <p:nvPr/>
        </p:nvPicPr>
        <p:blipFill>
          <a:blip r:embed="rId6" cstate="print"/>
          <a:srcRect/>
          <a:stretch>
            <a:fillRect/>
          </a:stretch>
        </p:blipFill>
        <p:spPr bwMode="auto">
          <a:xfrm>
            <a:off x="4914900" y="1476375"/>
            <a:ext cx="885825" cy="276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Pipes-and-Filters Architectural Pattern</a:t>
            </a:r>
            <a:endParaRPr lang="en-US" dirty="0"/>
          </a:p>
        </p:txBody>
      </p:sp>
      <p:sp>
        <p:nvSpPr>
          <p:cNvPr id="3" name="Content Placeholder 2"/>
          <p:cNvSpPr>
            <a:spLocks noGrp="1"/>
          </p:cNvSpPr>
          <p:nvPr>
            <p:ph idx="1"/>
          </p:nvPr>
        </p:nvSpPr>
        <p:spPr>
          <a:xfrm>
            <a:off x="457200" y="1371601"/>
            <a:ext cx="8229600" cy="914399"/>
          </a:xfrm>
        </p:spPr>
        <p:txBody>
          <a:bodyPr/>
          <a:lstStyle/>
          <a:p>
            <a:r>
              <a:rPr lang="en-US" dirty="0" smtClean="0"/>
              <a:t>Quality properties of </a:t>
            </a:r>
            <a:r>
              <a:rPr lang="en-US" smtClean="0"/>
              <a:t>the Pipes-and-Filters architectural </a:t>
            </a:r>
            <a:r>
              <a:rPr lang="en-US" dirty="0" smtClean="0"/>
              <a:t>pattern include the ones specified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1676400" y="2590800"/>
            <a:ext cx="5876925" cy="2219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Systems</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10000"/>
          </a:bodyPr>
          <a:lstStyle/>
          <a:p>
            <a:r>
              <a:rPr lang="en-US" dirty="0" smtClean="0"/>
              <a:t>Distributed systems are decomposed into multiple processes that (typically) collaborate through the network.</a:t>
            </a:r>
          </a:p>
          <a:p>
            <a:pPr lvl="1"/>
            <a:r>
              <a:rPr lang="en-US" dirty="0" smtClean="0"/>
              <a:t>These systems are ubiquitous in today’s modern systems thanks to wireless, mobile, and internet technology.</a:t>
            </a:r>
          </a:p>
          <a:p>
            <a:pPr lvl="2"/>
            <a:r>
              <a:rPr lang="en-US" dirty="0" smtClean="0"/>
              <a:t>In some distributed systems, one or more distributed processes perform work on behalf of client users and provide a bridge to some server computer, typically located remotely and performing work delegated to it by the client part of the system.</a:t>
            </a:r>
          </a:p>
          <a:p>
            <a:pPr lvl="2"/>
            <a:r>
              <a:rPr lang="en-US" dirty="0" smtClean="0"/>
              <a:t>Other distributed systems may be composed of peer nodes, each with similar capabilities and collaborating together to provide enhanced services, such as music-sharing distributed applications.</a:t>
            </a:r>
          </a:p>
          <a:p>
            <a:pPr lvl="1"/>
            <a:r>
              <a:rPr lang="en-US" dirty="0" smtClean="0"/>
              <a:t>These types of distributed systems are easy to spot, since their deployment architecture entails multiple physical nodes.</a:t>
            </a:r>
          </a:p>
          <a:p>
            <a:pPr lvl="1"/>
            <a:r>
              <a:rPr lang="en-US" dirty="0" smtClean="0"/>
              <a:t>However, with the advent of multi-core processors, distributed architectures are also relevant to software that executes on a single node with multiprocessor capability.</a:t>
            </a:r>
          </a:p>
          <a:p>
            <a:endParaRPr lang="en-US" dirty="0" smtClean="0"/>
          </a:p>
          <a:p>
            <a:r>
              <a:rPr lang="en-US" dirty="0" smtClean="0"/>
              <a:t>Some examples of distributed systems include:</a:t>
            </a:r>
          </a:p>
          <a:p>
            <a:pPr lvl="1"/>
            <a:r>
              <a:rPr lang="en-US" dirty="0" smtClean="0"/>
              <a:t>Internet systems, web services, file- or music-sharing systems, high-performance systems, etc.</a:t>
            </a:r>
          </a:p>
          <a:p>
            <a:pPr lvl="1">
              <a:buNone/>
            </a:pPr>
            <a:endParaRPr lang="en-US" dirty="0" smtClean="0"/>
          </a:p>
          <a:p>
            <a:r>
              <a:rPr lang="en-US" dirty="0" smtClean="0"/>
              <a:t>Common architectural patterns for distributed systems include:</a:t>
            </a:r>
          </a:p>
          <a:p>
            <a:pPr lvl="1"/>
            <a:r>
              <a:rPr lang="en-US" dirty="0" smtClean="0"/>
              <a:t>Client-Server Pattern</a:t>
            </a:r>
          </a:p>
          <a:p>
            <a:pPr lvl="1"/>
            <a:r>
              <a:rPr lang="en-US" dirty="0" smtClean="0"/>
              <a:t>Broker Pattern</a:t>
            </a:r>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Client-Server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grpSp>
        <p:nvGrpSpPr>
          <p:cNvPr id="14" name="Group 13"/>
          <p:cNvGrpSpPr/>
          <p:nvPr/>
        </p:nvGrpSpPr>
        <p:grpSpPr>
          <a:xfrm>
            <a:off x="1895475" y="1905000"/>
            <a:ext cx="5191125" cy="3505200"/>
            <a:chOff x="1895475" y="1447800"/>
            <a:chExt cx="5191125" cy="3505200"/>
          </a:xfrm>
        </p:grpSpPr>
        <p:pic>
          <p:nvPicPr>
            <p:cNvPr id="8" name="Picture 5"/>
            <p:cNvPicPr>
              <a:picLocks noChangeAspect="1" noChangeArrowheads="1"/>
            </p:cNvPicPr>
            <p:nvPr/>
          </p:nvPicPr>
          <p:blipFill>
            <a:blip r:embed="rId2" cstate="print"/>
            <a:srcRect/>
            <a:stretch>
              <a:fillRect/>
            </a:stretch>
          </p:blipFill>
          <p:spPr bwMode="auto">
            <a:xfrm>
              <a:off x="1905000" y="2667000"/>
              <a:ext cx="5181600" cy="2286000"/>
            </a:xfrm>
            <a:prstGeom prst="rect">
              <a:avLst/>
            </a:prstGeom>
            <a:noFill/>
            <a:ln w="9525">
              <a:noFill/>
              <a:miter lim="800000"/>
              <a:headEnd/>
              <a:tailEnd/>
            </a:ln>
          </p:spPr>
        </p:pic>
        <p:pic>
          <p:nvPicPr>
            <p:cNvPr id="9" name="Picture 3"/>
            <p:cNvPicPr>
              <a:picLocks noChangeAspect="1" noChangeArrowheads="1"/>
            </p:cNvPicPr>
            <p:nvPr/>
          </p:nvPicPr>
          <p:blipFill>
            <a:blip r:embed="rId3" cstate="print"/>
            <a:srcRect/>
            <a:stretch>
              <a:fillRect/>
            </a:stretch>
          </p:blipFill>
          <p:spPr bwMode="auto">
            <a:xfrm>
              <a:off x="2895600" y="1524000"/>
              <a:ext cx="3248025" cy="990600"/>
            </a:xfrm>
            <a:prstGeom prst="rect">
              <a:avLst/>
            </a:prstGeom>
            <a:noFill/>
            <a:ln w="9525">
              <a:noFill/>
              <a:miter lim="800000"/>
              <a:headEnd/>
              <a:tailEnd/>
            </a:ln>
          </p:spPr>
        </p:pic>
        <p:sp>
          <p:nvSpPr>
            <p:cNvPr id="10" name="Rectangle 9"/>
            <p:cNvSpPr/>
            <p:nvPr/>
          </p:nvSpPr>
          <p:spPr>
            <a:xfrm>
              <a:off x="1895475" y="1447800"/>
              <a:ext cx="5181600" cy="350520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1905000" y="2590800"/>
              <a:ext cx="51816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2" name="Picture 14"/>
            <p:cNvPicPr>
              <a:picLocks noChangeAspect="1" noChangeArrowheads="1"/>
            </p:cNvPicPr>
            <p:nvPr/>
          </p:nvPicPr>
          <p:blipFill>
            <a:blip r:embed="rId4" cstate="print"/>
            <a:srcRect/>
            <a:stretch>
              <a:fillRect/>
            </a:stretch>
          </p:blipFill>
          <p:spPr bwMode="auto">
            <a:xfrm>
              <a:off x="5981700" y="1495425"/>
              <a:ext cx="1038225" cy="123825"/>
            </a:xfrm>
            <a:prstGeom prst="rect">
              <a:avLst/>
            </a:prstGeom>
            <a:noFill/>
            <a:ln w="9525">
              <a:noFill/>
              <a:miter lim="800000"/>
              <a:headEnd/>
              <a:tailEnd/>
            </a:ln>
          </p:spPr>
        </p:pic>
        <p:pic>
          <p:nvPicPr>
            <p:cNvPr id="13" name="Picture 16"/>
            <p:cNvPicPr>
              <a:picLocks noChangeAspect="1" noChangeArrowheads="1"/>
            </p:cNvPicPr>
            <p:nvPr/>
          </p:nvPicPr>
          <p:blipFill>
            <a:blip r:embed="rId5" cstate="print"/>
            <a:srcRect/>
            <a:stretch>
              <a:fillRect/>
            </a:stretch>
          </p:blipFill>
          <p:spPr bwMode="auto">
            <a:xfrm>
              <a:off x="5848350" y="2638425"/>
              <a:ext cx="1181100" cy="133350"/>
            </a:xfrm>
            <a:prstGeom prst="rect">
              <a:avLst/>
            </a:prstGeom>
            <a:noFill/>
            <a:ln w="9525">
              <a:noFill/>
              <a:miter lim="800000"/>
              <a:headEnd/>
              <a:tailEnd/>
            </a:ln>
          </p:spPr>
        </p:pic>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Client-Server Pattern</a:t>
            </a:r>
            <a:endParaRPr lang="en-US" dirty="0"/>
          </a:p>
        </p:txBody>
      </p:sp>
      <p:sp>
        <p:nvSpPr>
          <p:cNvPr id="3" name="Content Placeholder 2"/>
          <p:cNvSpPr>
            <a:spLocks noGrp="1"/>
          </p:cNvSpPr>
          <p:nvPr>
            <p:ph idx="1"/>
          </p:nvPr>
        </p:nvSpPr>
        <p:spPr/>
        <p:txBody>
          <a:bodyPr/>
          <a:lstStyle/>
          <a:p>
            <a:r>
              <a:rPr lang="en-US" dirty="0" smtClean="0"/>
              <a:t>Quality properties of </a:t>
            </a:r>
            <a:r>
              <a:rPr lang="en-US" smtClean="0"/>
              <a:t>the </a:t>
            </a:r>
            <a:r>
              <a:rPr lang="en-US" smtClean="0"/>
              <a:t>Client-Server</a:t>
            </a:r>
            <a:r>
              <a:rPr lang="en-US" smtClean="0"/>
              <a:t> </a:t>
            </a:r>
            <a:r>
              <a:rPr lang="en-US" dirty="0" smtClean="0"/>
              <a:t>architectural pattern include the ones specified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1619250" y="2595563"/>
            <a:ext cx="5905500" cy="1666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fundamentals concepts of data-centered , data flow, </a:t>
            </a:r>
            <a:r>
              <a:rPr lang="en-US" smtClean="0"/>
              <a:t>and distributed </a:t>
            </a:r>
            <a:r>
              <a:rPr lang="en-US" dirty="0" smtClean="0"/>
              <a:t>systems, together with essential architectural patterns for these systems, including:</a:t>
            </a:r>
          </a:p>
          <a:p>
            <a:pPr lvl="1"/>
            <a:r>
              <a:rPr lang="en-US" dirty="0" smtClean="0"/>
              <a:t>Blackboard</a:t>
            </a:r>
          </a:p>
          <a:p>
            <a:pPr lvl="1"/>
            <a:r>
              <a:rPr lang="en-US" dirty="0" smtClean="0"/>
              <a:t>Pipes-and-Filters</a:t>
            </a:r>
          </a:p>
          <a:p>
            <a:pPr lvl="1"/>
            <a:r>
              <a:rPr lang="en-US" dirty="0" smtClean="0"/>
              <a:t>Client-server</a:t>
            </a:r>
          </a:p>
          <a:p>
            <a:pPr lvl="1">
              <a:buNone/>
            </a:pPr>
            <a:endParaRPr lang="en-US" dirty="0" smtClean="0"/>
          </a:p>
          <a:p>
            <a:r>
              <a:rPr lang="en-US" dirty="0" smtClean="0"/>
              <a:t>In the next session, we will continue the discussion of distributed systems and present in depth two other types of systems (i.e., Interactive and Hierarchical) together with architectural patterns, including:</a:t>
            </a:r>
          </a:p>
          <a:p>
            <a:pPr lvl="1"/>
            <a:r>
              <a:rPr lang="en-US" dirty="0" smtClean="0"/>
              <a:t>Model-View-Controller</a:t>
            </a:r>
          </a:p>
          <a:p>
            <a:pPr lvl="1"/>
            <a:r>
              <a:rPr lang="en-US" dirty="0" smtClean="0"/>
              <a:t>Layered</a:t>
            </a:r>
          </a:p>
          <a:p>
            <a:pPr lvl="1"/>
            <a:r>
              <a:rPr lang="en-US" dirty="0" smtClean="0"/>
              <a:t>Main program and subroutine</a:t>
            </a:r>
          </a:p>
        </p:txBody>
      </p:sp>
      <p:sp>
        <p:nvSpPr>
          <p:cNvPr id="4" name="Date Placeholder 3"/>
          <p:cNvSpPr>
            <a:spLocks noGrp="1"/>
          </p:cNvSpPr>
          <p:nvPr>
            <p:ph type="dt" sz="half" idx="10"/>
          </p:nvPr>
        </p:nvSpPr>
        <p:spPr/>
        <p:txBody>
          <a:bodyPr/>
          <a:lstStyle/>
          <a:p>
            <a:fld id="{F3FBCFF5-EE4F-4FFF-A0F1-127D95D6DEF9}" type="datetime1">
              <a:rPr lang="en-US" smtClean="0"/>
              <a:pPr/>
              <a:t>9/28/2014</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10545</TotalTime>
  <Words>2140</Words>
  <Application>Microsoft Office PowerPoint</Application>
  <PresentationFormat>On-screen Show (4:3)</PresentationFormat>
  <Paragraphs>333</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UVa-Wise-Clean-BW</vt:lpstr>
      <vt:lpstr>Chapter 4: Patterns and Styles in Software Architecture</vt:lpstr>
      <vt:lpstr>Session’s Agenda</vt:lpstr>
      <vt:lpstr>Data-Centered Systems</vt:lpstr>
      <vt:lpstr>Data-Centered Systems</vt:lpstr>
      <vt:lpstr>Blackboard Architectural Pattern</vt:lpstr>
      <vt:lpstr>Blackboard Architectural Pattern</vt:lpstr>
      <vt:lpstr>Blackboard Architectural Pattern</vt:lpstr>
      <vt:lpstr>Blackboard Architectural Pattern</vt:lpstr>
      <vt:lpstr>Blackboard Architectural Pattern</vt:lpstr>
      <vt:lpstr>Data Flow Systems</vt:lpstr>
      <vt:lpstr>Pipes-and-Filters Architectural Pattern</vt:lpstr>
      <vt:lpstr>Pipes-and-Filters Architectural Pattern</vt:lpstr>
      <vt:lpstr>Pipes-and-Filters Architectural Pattern</vt:lpstr>
      <vt:lpstr>Pipes-and-Filters Architectural Pattern</vt:lpstr>
      <vt:lpstr>Pipes-and-Filters Architectural Pattern</vt:lpstr>
      <vt:lpstr>Slide 16</vt:lpstr>
      <vt:lpstr>Slide 17</vt:lpstr>
      <vt:lpstr>Pipes-and-Filters Architectural Pattern</vt:lpstr>
      <vt:lpstr>Distributed Systems</vt:lpstr>
      <vt:lpstr>Client-Server Pattern</vt:lpstr>
      <vt:lpstr>Client-Server Pattern</vt:lpstr>
      <vt:lpstr>What’s Next…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737</cp:revision>
  <dcterms:created xsi:type="dcterms:W3CDTF">2006-08-16T00:00:00Z</dcterms:created>
  <dcterms:modified xsi:type="dcterms:W3CDTF">2014-09-28T04:13:20Z</dcterms:modified>
</cp:coreProperties>
</file>
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Override PartName="/ppt/diagrams/quickStyle1.xml" ContentType="application/vnd.openxmlformats-officedocument.drawingml.diagramStyle+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389" r:id="rId4"/>
    <p:sldId id="390" r:id="rId5"/>
    <p:sldId id="391" r:id="rId6"/>
    <p:sldId id="392" r:id="rId7"/>
    <p:sldId id="393" r:id="rId8"/>
    <p:sldId id="394" r:id="rId9"/>
    <p:sldId id="396" r:id="rId10"/>
    <p:sldId id="400" r:id="rId11"/>
    <p:sldId id="401" r:id="rId12"/>
    <p:sldId id="402" r:id="rId13"/>
    <p:sldId id="397" r:id="rId14"/>
    <p:sldId id="398" r:id="rId15"/>
    <p:sldId id="403" r:id="rId16"/>
    <p:sldId id="399" r:id="rId17"/>
    <p:sldId id="336" r:id="rId18"/>
    <p:sldId id="404" r:id="rId1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1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CE9F4C-F1BC-47A2-BAEA-F688974E43E1}" type="doc">
      <dgm:prSet loTypeId="urn:microsoft.com/office/officeart/2005/8/layout/gear1" loCatId="process" qsTypeId="urn:microsoft.com/office/officeart/2005/8/quickstyle/simple1" qsCatId="simple" csTypeId="urn:microsoft.com/office/officeart/2005/8/colors/accent0_1" csCatId="mainScheme" phldr="1"/>
      <dgm:spPr/>
    </dgm:pt>
    <dgm:pt modelId="{919CAA4E-63D7-400B-8967-313E7839D02E}">
      <dgm:prSet phldrT="[Text]"/>
      <dgm:spPr>
        <a:ln w="6350"/>
      </dgm:spPr>
      <dgm:t>
        <a:bodyPr/>
        <a:lstStyle/>
        <a:p>
          <a:r>
            <a:rPr lang="en-US" dirty="0" smtClean="0"/>
            <a:t>Detailed</a:t>
          </a:r>
        </a:p>
        <a:p>
          <a:r>
            <a:rPr lang="en-US" dirty="0" smtClean="0"/>
            <a:t>Design</a:t>
          </a:r>
          <a:endParaRPr lang="en-US" dirty="0"/>
        </a:p>
      </dgm:t>
    </dgm:pt>
    <dgm:pt modelId="{EEDAB319-9095-4396-AA92-B5EA918BBA11}" type="parTrans" cxnId="{4709F192-1B95-444F-8C71-678AE8B1A392}">
      <dgm:prSet/>
      <dgm:spPr/>
      <dgm:t>
        <a:bodyPr/>
        <a:lstStyle/>
        <a:p>
          <a:endParaRPr lang="en-US"/>
        </a:p>
      </dgm:t>
    </dgm:pt>
    <dgm:pt modelId="{0E89A09F-7F24-4B95-B31C-809C716859B1}" type="sibTrans" cxnId="{4709F192-1B95-444F-8C71-678AE8B1A392}">
      <dgm:prSet/>
      <dgm:spPr/>
      <dgm:t>
        <a:bodyPr/>
        <a:lstStyle/>
        <a:p>
          <a:endParaRPr lang="en-US"/>
        </a:p>
      </dgm:t>
    </dgm:pt>
    <dgm:pt modelId="{C68C061A-A027-4659-AC8F-60A131893727}">
      <dgm:prSet phldrT="[Text]"/>
      <dgm:spPr>
        <a:ln w="6350"/>
      </dgm:spPr>
      <dgm:t>
        <a:bodyPr/>
        <a:lstStyle/>
        <a:p>
          <a:r>
            <a:rPr lang="en-US" dirty="0" smtClean="0"/>
            <a:t>Class</a:t>
          </a:r>
          <a:endParaRPr lang="en-US" dirty="0"/>
        </a:p>
      </dgm:t>
    </dgm:pt>
    <dgm:pt modelId="{90AA2D81-190B-46AD-BDFF-C2F5CEC8B451}" type="parTrans" cxnId="{3657F600-FB8E-49D0-A1F2-97C618514CD3}">
      <dgm:prSet/>
      <dgm:spPr/>
      <dgm:t>
        <a:bodyPr/>
        <a:lstStyle/>
        <a:p>
          <a:endParaRPr lang="en-US"/>
        </a:p>
      </dgm:t>
    </dgm:pt>
    <dgm:pt modelId="{3A62CEA5-9E50-4356-B21C-B8FDAF0C7122}" type="sibTrans" cxnId="{3657F600-FB8E-49D0-A1F2-97C618514CD3}">
      <dgm:prSet/>
      <dgm:spPr/>
      <dgm:t>
        <a:bodyPr/>
        <a:lstStyle/>
        <a:p>
          <a:endParaRPr lang="en-US"/>
        </a:p>
      </dgm:t>
    </dgm:pt>
    <dgm:pt modelId="{44E25586-B296-430F-9376-9805570EE4BA}">
      <dgm:prSet phldrT="[Text]"/>
      <dgm:spPr>
        <a:ln w="6350"/>
      </dgm:spPr>
      <dgm:t>
        <a:bodyPr/>
        <a:lstStyle/>
        <a:p>
          <a:r>
            <a:rPr lang="en-US" dirty="0" smtClean="0"/>
            <a:t>…</a:t>
          </a:r>
          <a:endParaRPr lang="en-US" dirty="0"/>
        </a:p>
      </dgm:t>
    </dgm:pt>
    <dgm:pt modelId="{CCBD4AAD-6E36-4C3C-98F7-4030A0953756}" type="parTrans" cxnId="{A2ED2562-903F-4914-948D-2FDB5433ED68}">
      <dgm:prSet/>
      <dgm:spPr/>
      <dgm:t>
        <a:bodyPr/>
        <a:lstStyle/>
        <a:p>
          <a:endParaRPr lang="en-US"/>
        </a:p>
      </dgm:t>
    </dgm:pt>
    <dgm:pt modelId="{020112C7-5F39-4F4B-9720-AF905FEB40EA}" type="sibTrans" cxnId="{A2ED2562-903F-4914-948D-2FDB5433ED68}">
      <dgm:prSet/>
      <dgm:spPr/>
      <dgm:t>
        <a:bodyPr/>
        <a:lstStyle/>
        <a:p>
          <a:endParaRPr lang="en-US"/>
        </a:p>
      </dgm:t>
    </dgm:pt>
    <dgm:pt modelId="{5FE689EB-B6FA-4B01-884E-42C2CF2923BB}" type="pres">
      <dgm:prSet presAssocID="{D2CE9F4C-F1BC-47A2-BAEA-F688974E43E1}" presName="composite" presStyleCnt="0">
        <dgm:presLayoutVars>
          <dgm:chMax val="3"/>
          <dgm:animLvl val="lvl"/>
          <dgm:resizeHandles val="exact"/>
        </dgm:presLayoutVars>
      </dgm:prSet>
      <dgm:spPr/>
    </dgm:pt>
    <dgm:pt modelId="{914ED104-3EA9-442D-83BB-73BDB619C473}" type="pres">
      <dgm:prSet presAssocID="{919CAA4E-63D7-400B-8967-313E7839D02E}" presName="gear1" presStyleLbl="node1" presStyleIdx="0" presStyleCnt="3">
        <dgm:presLayoutVars>
          <dgm:chMax val="1"/>
          <dgm:bulletEnabled val="1"/>
        </dgm:presLayoutVars>
      </dgm:prSet>
      <dgm:spPr/>
      <dgm:t>
        <a:bodyPr/>
        <a:lstStyle/>
        <a:p>
          <a:endParaRPr lang="en-US"/>
        </a:p>
      </dgm:t>
    </dgm:pt>
    <dgm:pt modelId="{18387023-6AF7-412A-95CA-A1199DA1D431}" type="pres">
      <dgm:prSet presAssocID="{919CAA4E-63D7-400B-8967-313E7839D02E}" presName="gear1srcNode" presStyleLbl="node1" presStyleIdx="0" presStyleCnt="3"/>
      <dgm:spPr/>
      <dgm:t>
        <a:bodyPr/>
        <a:lstStyle/>
        <a:p>
          <a:endParaRPr lang="en-US"/>
        </a:p>
      </dgm:t>
    </dgm:pt>
    <dgm:pt modelId="{08396CCB-65B4-40A0-90EC-2B71FAAB1463}" type="pres">
      <dgm:prSet presAssocID="{919CAA4E-63D7-400B-8967-313E7839D02E}" presName="gear1dstNode" presStyleLbl="node1" presStyleIdx="0" presStyleCnt="3"/>
      <dgm:spPr/>
      <dgm:t>
        <a:bodyPr/>
        <a:lstStyle/>
        <a:p>
          <a:endParaRPr lang="en-US"/>
        </a:p>
      </dgm:t>
    </dgm:pt>
    <dgm:pt modelId="{C6B1C1F7-BF8C-4327-AB5D-B6144A2C8CA0}" type="pres">
      <dgm:prSet presAssocID="{C68C061A-A027-4659-AC8F-60A131893727}" presName="gear2" presStyleLbl="node1" presStyleIdx="1" presStyleCnt="3">
        <dgm:presLayoutVars>
          <dgm:chMax val="1"/>
          <dgm:bulletEnabled val="1"/>
        </dgm:presLayoutVars>
      </dgm:prSet>
      <dgm:spPr/>
      <dgm:t>
        <a:bodyPr/>
        <a:lstStyle/>
        <a:p>
          <a:endParaRPr lang="en-US"/>
        </a:p>
      </dgm:t>
    </dgm:pt>
    <dgm:pt modelId="{4FBD5985-49DB-4241-9862-852B040C080C}" type="pres">
      <dgm:prSet presAssocID="{C68C061A-A027-4659-AC8F-60A131893727}" presName="gear2srcNode" presStyleLbl="node1" presStyleIdx="1" presStyleCnt="3"/>
      <dgm:spPr/>
      <dgm:t>
        <a:bodyPr/>
        <a:lstStyle/>
        <a:p>
          <a:endParaRPr lang="en-US"/>
        </a:p>
      </dgm:t>
    </dgm:pt>
    <dgm:pt modelId="{94B318EF-1BC1-4C4F-A4C0-A4CE398018FF}" type="pres">
      <dgm:prSet presAssocID="{C68C061A-A027-4659-AC8F-60A131893727}" presName="gear2dstNode" presStyleLbl="node1" presStyleIdx="1" presStyleCnt="3"/>
      <dgm:spPr/>
      <dgm:t>
        <a:bodyPr/>
        <a:lstStyle/>
        <a:p>
          <a:endParaRPr lang="en-US"/>
        </a:p>
      </dgm:t>
    </dgm:pt>
    <dgm:pt modelId="{F22CCAF6-4FC9-43FA-9EC9-CBB9415524D2}" type="pres">
      <dgm:prSet presAssocID="{44E25586-B296-430F-9376-9805570EE4BA}" presName="gear3" presStyleLbl="node1" presStyleIdx="2" presStyleCnt="3"/>
      <dgm:spPr/>
      <dgm:t>
        <a:bodyPr/>
        <a:lstStyle/>
        <a:p>
          <a:endParaRPr lang="en-US"/>
        </a:p>
      </dgm:t>
    </dgm:pt>
    <dgm:pt modelId="{43186FEA-D2E2-48A9-91DB-99E37FF3DA6B}" type="pres">
      <dgm:prSet presAssocID="{44E25586-B296-430F-9376-9805570EE4BA}" presName="gear3tx" presStyleLbl="node1" presStyleIdx="2" presStyleCnt="3">
        <dgm:presLayoutVars>
          <dgm:chMax val="1"/>
          <dgm:bulletEnabled val="1"/>
        </dgm:presLayoutVars>
      </dgm:prSet>
      <dgm:spPr/>
      <dgm:t>
        <a:bodyPr/>
        <a:lstStyle/>
        <a:p>
          <a:endParaRPr lang="en-US"/>
        </a:p>
      </dgm:t>
    </dgm:pt>
    <dgm:pt modelId="{B3CACF1E-1DE0-4CCC-844E-8160ED1D79FC}" type="pres">
      <dgm:prSet presAssocID="{44E25586-B296-430F-9376-9805570EE4BA}" presName="gear3srcNode" presStyleLbl="node1" presStyleIdx="2" presStyleCnt="3"/>
      <dgm:spPr/>
      <dgm:t>
        <a:bodyPr/>
        <a:lstStyle/>
        <a:p>
          <a:endParaRPr lang="en-US"/>
        </a:p>
      </dgm:t>
    </dgm:pt>
    <dgm:pt modelId="{19ED2F33-DC80-46DB-B461-AB4ADB6C38C1}" type="pres">
      <dgm:prSet presAssocID="{44E25586-B296-430F-9376-9805570EE4BA}" presName="gear3dstNode" presStyleLbl="node1" presStyleIdx="2" presStyleCnt="3"/>
      <dgm:spPr/>
      <dgm:t>
        <a:bodyPr/>
        <a:lstStyle/>
        <a:p>
          <a:endParaRPr lang="en-US"/>
        </a:p>
      </dgm:t>
    </dgm:pt>
    <dgm:pt modelId="{2E1215D3-6615-4069-8033-D973F9AFAEB0}" type="pres">
      <dgm:prSet presAssocID="{0E89A09F-7F24-4B95-B31C-809C716859B1}" presName="connector1" presStyleLbl="sibTrans2D1" presStyleIdx="0" presStyleCnt="3"/>
      <dgm:spPr/>
      <dgm:t>
        <a:bodyPr/>
        <a:lstStyle/>
        <a:p>
          <a:endParaRPr lang="en-US"/>
        </a:p>
      </dgm:t>
    </dgm:pt>
    <dgm:pt modelId="{4465D33A-DEC9-4707-BB4B-3F545C854EAC}" type="pres">
      <dgm:prSet presAssocID="{3A62CEA5-9E50-4356-B21C-B8FDAF0C7122}" presName="connector2" presStyleLbl="sibTrans2D1" presStyleIdx="1" presStyleCnt="3"/>
      <dgm:spPr/>
      <dgm:t>
        <a:bodyPr/>
        <a:lstStyle/>
        <a:p>
          <a:endParaRPr lang="en-US"/>
        </a:p>
      </dgm:t>
    </dgm:pt>
    <dgm:pt modelId="{0474347A-38AD-4A9B-9A32-240E67D1D2EC}" type="pres">
      <dgm:prSet presAssocID="{020112C7-5F39-4F4B-9720-AF905FEB40EA}" presName="connector3" presStyleLbl="sibTrans2D1" presStyleIdx="2" presStyleCnt="3"/>
      <dgm:spPr/>
      <dgm:t>
        <a:bodyPr/>
        <a:lstStyle/>
        <a:p>
          <a:endParaRPr lang="en-US"/>
        </a:p>
      </dgm:t>
    </dgm:pt>
  </dgm:ptLst>
  <dgm:cxnLst>
    <dgm:cxn modelId="{4709F192-1B95-444F-8C71-678AE8B1A392}" srcId="{D2CE9F4C-F1BC-47A2-BAEA-F688974E43E1}" destId="{919CAA4E-63D7-400B-8967-313E7839D02E}" srcOrd="0" destOrd="0" parTransId="{EEDAB319-9095-4396-AA92-B5EA918BBA11}" sibTransId="{0E89A09F-7F24-4B95-B31C-809C716859B1}"/>
    <dgm:cxn modelId="{B0EA2998-F84D-4914-B45D-31FDF54C637E}" type="presOf" srcId="{C68C061A-A027-4659-AC8F-60A131893727}" destId="{C6B1C1F7-BF8C-4327-AB5D-B6144A2C8CA0}" srcOrd="0" destOrd="0" presId="urn:microsoft.com/office/officeart/2005/8/layout/gear1"/>
    <dgm:cxn modelId="{CA32FEB5-CA74-4EF7-8242-FB8E00963C07}" type="presOf" srcId="{44E25586-B296-430F-9376-9805570EE4BA}" destId="{19ED2F33-DC80-46DB-B461-AB4ADB6C38C1}" srcOrd="3" destOrd="0" presId="urn:microsoft.com/office/officeart/2005/8/layout/gear1"/>
    <dgm:cxn modelId="{9A7285E5-283F-4AD3-B0BD-78553A8F425D}" type="presOf" srcId="{919CAA4E-63D7-400B-8967-313E7839D02E}" destId="{914ED104-3EA9-442D-83BB-73BDB619C473}" srcOrd="0" destOrd="0" presId="urn:microsoft.com/office/officeart/2005/8/layout/gear1"/>
    <dgm:cxn modelId="{1A11890A-BA87-472F-8C8C-BEF8C42D07D6}" type="presOf" srcId="{919CAA4E-63D7-400B-8967-313E7839D02E}" destId="{08396CCB-65B4-40A0-90EC-2B71FAAB1463}" srcOrd="2" destOrd="0" presId="urn:microsoft.com/office/officeart/2005/8/layout/gear1"/>
    <dgm:cxn modelId="{3657F600-FB8E-49D0-A1F2-97C618514CD3}" srcId="{D2CE9F4C-F1BC-47A2-BAEA-F688974E43E1}" destId="{C68C061A-A027-4659-AC8F-60A131893727}" srcOrd="1" destOrd="0" parTransId="{90AA2D81-190B-46AD-BDFF-C2F5CEC8B451}" sibTransId="{3A62CEA5-9E50-4356-B21C-B8FDAF0C7122}"/>
    <dgm:cxn modelId="{08AF2A04-0330-4534-B381-F33DEE4E4F9F}" type="presOf" srcId="{44E25586-B296-430F-9376-9805570EE4BA}" destId="{B3CACF1E-1DE0-4CCC-844E-8160ED1D79FC}" srcOrd="2" destOrd="0" presId="urn:microsoft.com/office/officeart/2005/8/layout/gear1"/>
    <dgm:cxn modelId="{BA48B765-C03E-4A83-9A74-B027061E34DD}" type="presOf" srcId="{D2CE9F4C-F1BC-47A2-BAEA-F688974E43E1}" destId="{5FE689EB-B6FA-4B01-884E-42C2CF2923BB}" srcOrd="0" destOrd="0" presId="urn:microsoft.com/office/officeart/2005/8/layout/gear1"/>
    <dgm:cxn modelId="{66DDEA17-EAA4-4B88-A9B3-2B32BB4B2A86}" type="presOf" srcId="{3A62CEA5-9E50-4356-B21C-B8FDAF0C7122}" destId="{4465D33A-DEC9-4707-BB4B-3F545C854EAC}" srcOrd="0" destOrd="0" presId="urn:microsoft.com/office/officeart/2005/8/layout/gear1"/>
    <dgm:cxn modelId="{C79848E8-C9F1-44EC-AC89-9D45BA80042D}" type="presOf" srcId="{020112C7-5F39-4F4B-9720-AF905FEB40EA}" destId="{0474347A-38AD-4A9B-9A32-240E67D1D2EC}" srcOrd="0" destOrd="0" presId="urn:microsoft.com/office/officeart/2005/8/layout/gear1"/>
    <dgm:cxn modelId="{A2ED2562-903F-4914-948D-2FDB5433ED68}" srcId="{D2CE9F4C-F1BC-47A2-BAEA-F688974E43E1}" destId="{44E25586-B296-430F-9376-9805570EE4BA}" srcOrd="2" destOrd="0" parTransId="{CCBD4AAD-6E36-4C3C-98F7-4030A0953756}" sibTransId="{020112C7-5F39-4F4B-9720-AF905FEB40EA}"/>
    <dgm:cxn modelId="{E37DEE59-CCC6-4DAA-A2B7-765BE934EF3B}" type="presOf" srcId="{C68C061A-A027-4659-AC8F-60A131893727}" destId="{4FBD5985-49DB-4241-9862-852B040C080C}" srcOrd="1" destOrd="0" presId="urn:microsoft.com/office/officeart/2005/8/layout/gear1"/>
    <dgm:cxn modelId="{36B72015-BA3C-4A6A-9812-7DB0C88B3E9C}" type="presOf" srcId="{C68C061A-A027-4659-AC8F-60A131893727}" destId="{94B318EF-1BC1-4C4F-A4C0-A4CE398018FF}" srcOrd="2" destOrd="0" presId="urn:microsoft.com/office/officeart/2005/8/layout/gear1"/>
    <dgm:cxn modelId="{24C71FC3-E40E-44C9-8EE1-BA734435BC3D}" type="presOf" srcId="{44E25586-B296-430F-9376-9805570EE4BA}" destId="{43186FEA-D2E2-48A9-91DB-99E37FF3DA6B}" srcOrd="1" destOrd="0" presId="urn:microsoft.com/office/officeart/2005/8/layout/gear1"/>
    <dgm:cxn modelId="{CFA101CF-ABDA-4E08-91A7-53CB875526F6}" type="presOf" srcId="{44E25586-B296-430F-9376-9805570EE4BA}" destId="{F22CCAF6-4FC9-43FA-9EC9-CBB9415524D2}" srcOrd="0" destOrd="0" presId="urn:microsoft.com/office/officeart/2005/8/layout/gear1"/>
    <dgm:cxn modelId="{D0CD3FB2-BE3E-4B08-8944-074AEB1B79C8}" type="presOf" srcId="{919CAA4E-63D7-400B-8967-313E7839D02E}" destId="{18387023-6AF7-412A-95CA-A1199DA1D431}" srcOrd="1" destOrd="0" presId="urn:microsoft.com/office/officeart/2005/8/layout/gear1"/>
    <dgm:cxn modelId="{361E4736-579F-458A-9027-8B162FF2640C}" type="presOf" srcId="{0E89A09F-7F24-4B95-B31C-809C716859B1}" destId="{2E1215D3-6615-4069-8033-D973F9AFAEB0}" srcOrd="0" destOrd="0" presId="urn:microsoft.com/office/officeart/2005/8/layout/gear1"/>
    <dgm:cxn modelId="{39104B93-7001-4B4D-85AD-F003AED782A2}" type="presParOf" srcId="{5FE689EB-B6FA-4B01-884E-42C2CF2923BB}" destId="{914ED104-3EA9-442D-83BB-73BDB619C473}" srcOrd="0" destOrd="0" presId="urn:microsoft.com/office/officeart/2005/8/layout/gear1"/>
    <dgm:cxn modelId="{216B75A3-861A-47B7-A4AC-2C62F8E22CC3}" type="presParOf" srcId="{5FE689EB-B6FA-4B01-884E-42C2CF2923BB}" destId="{18387023-6AF7-412A-95CA-A1199DA1D431}" srcOrd="1" destOrd="0" presId="urn:microsoft.com/office/officeart/2005/8/layout/gear1"/>
    <dgm:cxn modelId="{6FFF336B-0FFC-469A-B22E-B26A04E37F5E}" type="presParOf" srcId="{5FE689EB-B6FA-4B01-884E-42C2CF2923BB}" destId="{08396CCB-65B4-40A0-90EC-2B71FAAB1463}" srcOrd="2" destOrd="0" presId="urn:microsoft.com/office/officeart/2005/8/layout/gear1"/>
    <dgm:cxn modelId="{E933F7B4-F05E-43BC-8CDB-B73D61A351C0}" type="presParOf" srcId="{5FE689EB-B6FA-4B01-884E-42C2CF2923BB}" destId="{C6B1C1F7-BF8C-4327-AB5D-B6144A2C8CA0}" srcOrd="3" destOrd="0" presId="urn:microsoft.com/office/officeart/2005/8/layout/gear1"/>
    <dgm:cxn modelId="{71476C71-9B55-49D4-B337-CD1763F088B0}" type="presParOf" srcId="{5FE689EB-B6FA-4B01-884E-42C2CF2923BB}" destId="{4FBD5985-49DB-4241-9862-852B040C080C}" srcOrd="4" destOrd="0" presId="urn:microsoft.com/office/officeart/2005/8/layout/gear1"/>
    <dgm:cxn modelId="{5256A111-F5D1-401A-9132-78510D91D3C9}" type="presParOf" srcId="{5FE689EB-B6FA-4B01-884E-42C2CF2923BB}" destId="{94B318EF-1BC1-4C4F-A4C0-A4CE398018FF}" srcOrd="5" destOrd="0" presId="urn:microsoft.com/office/officeart/2005/8/layout/gear1"/>
    <dgm:cxn modelId="{F010C4CF-56A2-4BFF-A7BA-00B47FABA5BB}" type="presParOf" srcId="{5FE689EB-B6FA-4B01-884E-42C2CF2923BB}" destId="{F22CCAF6-4FC9-43FA-9EC9-CBB9415524D2}" srcOrd="6" destOrd="0" presId="urn:microsoft.com/office/officeart/2005/8/layout/gear1"/>
    <dgm:cxn modelId="{A9D8D6C7-F121-467D-B3FC-F2D724025C02}" type="presParOf" srcId="{5FE689EB-B6FA-4B01-884E-42C2CF2923BB}" destId="{43186FEA-D2E2-48A9-91DB-99E37FF3DA6B}" srcOrd="7" destOrd="0" presId="urn:microsoft.com/office/officeart/2005/8/layout/gear1"/>
    <dgm:cxn modelId="{AC221869-909C-4AAD-8093-0A89113220CF}" type="presParOf" srcId="{5FE689EB-B6FA-4B01-884E-42C2CF2923BB}" destId="{B3CACF1E-1DE0-4CCC-844E-8160ED1D79FC}" srcOrd="8" destOrd="0" presId="urn:microsoft.com/office/officeart/2005/8/layout/gear1"/>
    <dgm:cxn modelId="{C1B09AAA-BA97-48D0-BD77-7EC10F01F6E5}" type="presParOf" srcId="{5FE689EB-B6FA-4B01-884E-42C2CF2923BB}" destId="{19ED2F33-DC80-46DB-B461-AB4ADB6C38C1}" srcOrd="9" destOrd="0" presId="urn:microsoft.com/office/officeart/2005/8/layout/gear1"/>
    <dgm:cxn modelId="{DFDE2A71-787D-45FD-8234-6321559784FD}" type="presParOf" srcId="{5FE689EB-B6FA-4B01-884E-42C2CF2923BB}" destId="{2E1215D3-6615-4069-8033-D973F9AFAEB0}" srcOrd="10" destOrd="0" presId="urn:microsoft.com/office/officeart/2005/8/layout/gear1"/>
    <dgm:cxn modelId="{8140D5B9-6BC2-4F7B-9AE2-30A8126BE1BB}" type="presParOf" srcId="{5FE689EB-B6FA-4B01-884E-42C2CF2923BB}" destId="{4465D33A-DEC9-4707-BB4B-3F545C854EAC}" srcOrd="11" destOrd="0" presId="urn:microsoft.com/office/officeart/2005/8/layout/gear1"/>
    <dgm:cxn modelId="{0487D3EB-1BC3-49C2-99FB-3D5BFCA4E100}" type="presParOf" srcId="{5FE689EB-B6FA-4B01-884E-42C2CF2923BB}" destId="{0474347A-38AD-4A9B-9A32-240E67D1D2EC}" srcOrd="12" destOrd="0" presId="urn:microsoft.com/office/officeart/2005/8/layout/gear1"/>
  </dgm:cxnLst>
  <dgm:bg>
    <a:noFill/>
  </dgm:bg>
  <dgm:whole>
    <a:ln>
      <a:noFill/>
    </a:ln>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14ED104-3EA9-442D-83BB-73BDB619C473}">
      <dsp:nvSpPr>
        <dsp:cNvPr id="0" name=""/>
        <dsp:cNvSpPr/>
      </dsp:nvSpPr>
      <dsp:spPr>
        <a:xfrm>
          <a:off x="758190" y="377189"/>
          <a:ext cx="461010" cy="461010"/>
        </a:xfrm>
        <a:prstGeom prst="gear9">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Detailed</a:t>
          </a:r>
        </a:p>
        <a:p>
          <a:pPr lvl="0" algn="ctr" defTabSz="222250">
            <a:lnSpc>
              <a:spcPct val="90000"/>
            </a:lnSpc>
            <a:spcBef>
              <a:spcPct val="0"/>
            </a:spcBef>
            <a:spcAft>
              <a:spcPct val="35000"/>
            </a:spcAft>
          </a:pPr>
          <a:r>
            <a:rPr lang="en-US" sz="500" kern="1200" dirty="0" smtClean="0"/>
            <a:t>Design</a:t>
          </a:r>
          <a:endParaRPr lang="en-US" sz="500" kern="1200" dirty="0"/>
        </a:p>
      </dsp:txBody>
      <dsp:txXfrm>
        <a:off x="758190" y="377189"/>
        <a:ext cx="461010" cy="461010"/>
      </dsp:txXfrm>
    </dsp:sp>
    <dsp:sp modelId="{C6B1C1F7-BF8C-4327-AB5D-B6144A2C8CA0}">
      <dsp:nvSpPr>
        <dsp:cNvPr id="0" name=""/>
        <dsp:cNvSpPr/>
      </dsp:nvSpPr>
      <dsp:spPr>
        <a:xfrm>
          <a:off x="489966" y="268224"/>
          <a:ext cx="335280" cy="335280"/>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Class</a:t>
          </a:r>
          <a:endParaRPr lang="en-US" sz="500" kern="1200" dirty="0"/>
        </a:p>
      </dsp:txBody>
      <dsp:txXfrm>
        <a:off x="489966" y="268224"/>
        <a:ext cx="335280" cy="335280"/>
      </dsp:txXfrm>
    </dsp:sp>
    <dsp:sp modelId="{F22CCAF6-4FC9-43FA-9EC9-CBB9415524D2}">
      <dsp:nvSpPr>
        <dsp:cNvPr id="0" name=""/>
        <dsp:cNvSpPr/>
      </dsp:nvSpPr>
      <dsp:spPr>
        <a:xfrm rot="20700000">
          <a:off x="677757" y="36915"/>
          <a:ext cx="328505" cy="328505"/>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a:t>
          </a:r>
          <a:endParaRPr lang="en-US" sz="500" kern="1200" dirty="0"/>
        </a:p>
      </dsp:txBody>
      <dsp:txXfrm>
        <a:off x="749808" y="108965"/>
        <a:ext cx="184404" cy="184404"/>
      </dsp:txXfrm>
    </dsp:sp>
    <dsp:sp modelId="{2E1215D3-6615-4069-8033-D973F9AFAEB0}">
      <dsp:nvSpPr>
        <dsp:cNvPr id="0" name=""/>
        <dsp:cNvSpPr/>
      </dsp:nvSpPr>
      <dsp:spPr>
        <a:xfrm>
          <a:off x="694550" y="321506"/>
          <a:ext cx="590092" cy="590092"/>
        </a:xfrm>
        <a:prstGeom prst="circularArrow">
          <a:avLst>
            <a:gd name="adj1" fmla="val 4687"/>
            <a:gd name="adj2" fmla="val 299029"/>
            <a:gd name="adj3" fmla="val 2262445"/>
            <a:gd name="adj4" fmla="val 16601740"/>
            <a:gd name="adj5" fmla="val 5469"/>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5D33A-DEC9-4707-BB4B-3F545C854EAC}">
      <dsp:nvSpPr>
        <dsp:cNvPr id="0" name=""/>
        <dsp:cNvSpPr/>
      </dsp:nvSpPr>
      <dsp:spPr>
        <a:xfrm>
          <a:off x="430588" y="208442"/>
          <a:ext cx="428739" cy="428739"/>
        </a:xfrm>
        <a:prstGeom prst="leftCircularArrow">
          <a:avLst>
            <a:gd name="adj1" fmla="val 6452"/>
            <a:gd name="adj2" fmla="val 429999"/>
            <a:gd name="adj3" fmla="val 10489124"/>
            <a:gd name="adj4" fmla="val 14837806"/>
            <a:gd name="adj5" fmla="val 7527"/>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74347A-38AD-4A9B-9A32-240E67D1D2EC}">
      <dsp:nvSpPr>
        <dsp:cNvPr id="0" name=""/>
        <dsp:cNvSpPr/>
      </dsp:nvSpPr>
      <dsp:spPr>
        <a:xfrm>
          <a:off x="601770" y="-20637"/>
          <a:ext cx="462267" cy="462267"/>
        </a:xfrm>
        <a:prstGeom prst="circularArrow">
          <a:avLst>
            <a:gd name="adj1" fmla="val 5984"/>
            <a:gd name="adj2" fmla="val 394124"/>
            <a:gd name="adj3" fmla="val 13313824"/>
            <a:gd name="adj4" fmla="val 10508221"/>
            <a:gd name="adj5" fmla="val 698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13/10/2013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13/10/2013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13/10/2013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13/10/2013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13/10/2013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13/10/2013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13/10/2013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13/10/2013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13/10/2013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13/10/2013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13/10/2013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13/10/2013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13/10/2013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13" Type="http://schemas.openxmlformats.org/officeDocument/2006/relationships/image" Target="../media/image10.wmf"/><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9.png"/><Relationship Id="rId2" Type="http://schemas.openxmlformats.org/officeDocument/2006/relationships/image" Target="../media/image4.wmf"/><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8.png"/><Relationship Id="rId5" Type="http://schemas.openxmlformats.org/officeDocument/2006/relationships/diagramQuickStyle" Target="../diagrams/quickStyle1.xml"/><Relationship Id="rId10" Type="http://schemas.openxmlformats.org/officeDocument/2006/relationships/image" Target="../media/image7.png"/><Relationship Id="rId4" Type="http://schemas.openxmlformats.org/officeDocument/2006/relationships/diagramLayout" Target="../diagrams/layout1.xml"/><Relationship Id="rId9" Type="http://schemas.openxmlformats.org/officeDocument/2006/relationships/image" Target="../media/image6.wmf"/><Relationship Id="rId14" Type="http://schemas.openxmlformats.org/officeDocument/2006/relationships/image" Target="../media/image11.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5: Principles of Detailed Design</a:t>
            </a:r>
            <a:endParaRPr lang="en-US" dirty="0"/>
          </a:p>
        </p:txBody>
      </p:sp>
      <p:sp>
        <p:nvSpPr>
          <p:cNvPr id="3" name="Subtitle 2"/>
          <p:cNvSpPr>
            <a:spLocks noGrp="1"/>
          </p:cNvSpPr>
          <p:nvPr>
            <p:ph type="subTitle" idx="1"/>
          </p:nvPr>
        </p:nvSpPr>
        <p:spPr/>
        <p:txBody>
          <a:bodyPr>
            <a:normAutofit/>
          </a:bodyPr>
          <a:lstStyle/>
          <a:p>
            <a:r>
              <a:rPr lang="en-US" dirty="0" smtClean="0"/>
              <a:t>Software Architecture and Design</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13/10/2013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a:bodyPr>
          <a:lstStyle/>
          <a:p>
            <a:pPr lvl="2"/>
            <a:endParaRPr lang="en-US" dirty="0" smtClean="0"/>
          </a:p>
          <a:p>
            <a:r>
              <a:rPr lang="en-US" dirty="0" smtClean="0"/>
              <a:t>Overview of Detailed Design</a:t>
            </a:r>
          </a:p>
          <a:p>
            <a:pPr lvl="1"/>
            <a:r>
              <a:rPr lang="en-US" dirty="0" smtClean="0"/>
              <a:t>What is detailed design?</a:t>
            </a:r>
          </a:p>
          <a:p>
            <a:pPr lvl="1"/>
            <a:r>
              <a:rPr lang="en-US" dirty="0" smtClean="0"/>
              <a:t>Where does it fit?</a:t>
            </a:r>
          </a:p>
          <a:p>
            <a:pPr lvl="2"/>
            <a:endParaRPr lang="en-US" dirty="0" smtClean="0"/>
          </a:p>
          <a:p>
            <a:r>
              <a:rPr lang="en-US" dirty="0" smtClean="0"/>
              <a:t>Key Tasks in Detailed Design</a:t>
            </a:r>
          </a:p>
          <a:p>
            <a:pPr lvl="1"/>
            <a:r>
              <a:rPr lang="en-US" dirty="0" smtClean="0"/>
              <a:t>Understanding architecture and requirements</a:t>
            </a:r>
          </a:p>
          <a:p>
            <a:pPr lvl="1"/>
            <a:r>
              <a:rPr lang="en-US" dirty="0" smtClean="0"/>
              <a:t>Creating detailed designs</a:t>
            </a:r>
          </a:p>
          <a:p>
            <a:pPr lvl="1"/>
            <a:r>
              <a:rPr lang="en-US" dirty="0" smtClean="0"/>
              <a:t>Evaluating detailed designs</a:t>
            </a:r>
          </a:p>
          <a:p>
            <a:pPr lvl="1"/>
            <a:r>
              <a:rPr lang="en-US" dirty="0" smtClean="0"/>
              <a:t>Documenting detailed designs</a:t>
            </a:r>
          </a:p>
          <a:p>
            <a:pPr lvl="1"/>
            <a:r>
              <a:rPr lang="en-US" dirty="0" smtClean="0"/>
              <a:t>Monitoring and controlling implementation</a:t>
            </a:r>
          </a:p>
          <a:p>
            <a:pPr lvl="2"/>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Let’s Think About Where We Are…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1976438" y="1400175"/>
            <a:ext cx="5343525" cy="4057650"/>
          </a:xfrm>
          <a:prstGeom prst="rect">
            <a:avLst/>
          </a:prstGeom>
          <a:noFill/>
          <a:ln w="9525">
            <a:noFill/>
            <a:miter lim="800000"/>
            <a:headEnd/>
            <a:tailEnd/>
          </a:ln>
        </p:spPr>
      </p:pic>
      <p:sp>
        <p:nvSpPr>
          <p:cNvPr id="10" name="TextBox 9"/>
          <p:cNvSpPr txBox="1"/>
          <p:nvPr/>
        </p:nvSpPr>
        <p:spPr>
          <a:xfrm>
            <a:off x="1371600" y="3505200"/>
            <a:ext cx="1295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We are here!</a:t>
            </a:r>
            <a:endParaRPr lang="en-US" sz="1400" b="1" dirty="0">
              <a:solidFill>
                <a:srgbClr val="C00000"/>
              </a:solidFill>
              <a:latin typeface="Bradley Hand ITC" pitchFamily="66" charset="0"/>
            </a:endParaRPr>
          </a:p>
        </p:txBody>
      </p:sp>
      <p:sp>
        <p:nvSpPr>
          <p:cNvPr id="12" name="TextBox 11"/>
          <p:cNvSpPr txBox="1"/>
          <p:nvPr/>
        </p:nvSpPr>
        <p:spPr>
          <a:xfrm>
            <a:off x="304800" y="1676400"/>
            <a:ext cx="1676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We started here</a:t>
            </a:r>
            <a:endParaRPr lang="en-US" sz="1400" b="1" dirty="0">
              <a:solidFill>
                <a:srgbClr val="C00000"/>
              </a:solidFill>
              <a:latin typeface="Bradley Hand ITC" pitchFamily="66" charset="0"/>
            </a:endParaRPr>
          </a:p>
        </p:txBody>
      </p:sp>
      <p:sp>
        <p:nvSpPr>
          <p:cNvPr id="13" name="TextBox 12"/>
          <p:cNvSpPr txBox="1"/>
          <p:nvPr/>
        </p:nvSpPr>
        <p:spPr>
          <a:xfrm>
            <a:off x="7086600" y="3352800"/>
            <a:ext cx="16764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Eventually, we want to get here!</a:t>
            </a:r>
            <a:endParaRPr lang="en-US" sz="1400" b="1" dirty="0">
              <a:solidFill>
                <a:srgbClr val="C00000"/>
              </a:solidFill>
              <a:latin typeface="Bradley Hand ITC" pitchFamily="66" charset="0"/>
            </a:endParaRPr>
          </a:p>
        </p:txBody>
      </p:sp>
      <p:sp>
        <p:nvSpPr>
          <p:cNvPr id="14" name="Freeform 13"/>
          <p:cNvSpPr/>
          <p:nvPr/>
        </p:nvSpPr>
        <p:spPr>
          <a:xfrm>
            <a:off x="6829425" y="3533775"/>
            <a:ext cx="457200" cy="666750"/>
          </a:xfrm>
          <a:custGeom>
            <a:avLst/>
            <a:gdLst>
              <a:gd name="connsiteX0" fmla="*/ 457200 w 457200"/>
              <a:gd name="connsiteY0" fmla="*/ 0 h 666750"/>
              <a:gd name="connsiteX1" fmla="*/ 180975 w 457200"/>
              <a:gd name="connsiteY1" fmla="*/ 152400 h 666750"/>
              <a:gd name="connsiteX2" fmla="*/ 142875 w 457200"/>
              <a:gd name="connsiteY2" fmla="*/ 457200 h 666750"/>
              <a:gd name="connsiteX3" fmla="*/ 0 w 457200"/>
              <a:gd name="connsiteY3" fmla="*/ 666750 h 666750"/>
            </a:gdLst>
            <a:ahLst/>
            <a:cxnLst>
              <a:cxn ang="0">
                <a:pos x="connsiteX0" y="connsiteY0"/>
              </a:cxn>
              <a:cxn ang="0">
                <a:pos x="connsiteX1" y="connsiteY1"/>
              </a:cxn>
              <a:cxn ang="0">
                <a:pos x="connsiteX2" y="connsiteY2"/>
              </a:cxn>
              <a:cxn ang="0">
                <a:pos x="connsiteX3" y="connsiteY3"/>
              </a:cxn>
            </a:cxnLst>
            <a:rect l="l" t="t" r="r" b="b"/>
            <a:pathLst>
              <a:path w="457200" h="666750">
                <a:moveTo>
                  <a:pt x="457200" y="0"/>
                </a:moveTo>
                <a:cubicBezTo>
                  <a:pt x="345281" y="38100"/>
                  <a:pt x="233362" y="76200"/>
                  <a:pt x="180975" y="152400"/>
                </a:cubicBezTo>
                <a:cubicBezTo>
                  <a:pt x="128588" y="228600"/>
                  <a:pt x="173038" y="371475"/>
                  <a:pt x="142875" y="457200"/>
                </a:cubicBezTo>
                <a:cubicBezTo>
                  <a:pt x="112713" y="542925"/>
                  <a:pt x="56356" y="604837"/>
                  <a:pt x="0" y="666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rot="21150972" flipH="1" flipV="1">
            <a:off x="2466975" y="3387725"/>
            <a:ext cx="1428750" cy="193675"/>
          </a:xfrm>
          <a:custGeom>
            <a:avLst/>
            <a:gdLst>
              <a:gd name="connsiteX0" fmla="*/ 0 w 1657350"/>
              <a:gd name="connsiteY0" fmla="*/ 285750 h 396875"/>
              <a:gd name="connsiteX1" fmla="*/ 457200 w 1657350"/>
              <a:gd name="connsiteY1" fmla="*/ 390525 h 396875"/>
              <a:gd name="connsiteX2" fmla="*/ 1152525 w 1657350"/>
              <a:gd name="connsiteY2" fmla="*/ 323850 h 396875"/>
              <a:gd name="connsiteX3" fmla="*/ 1657350 w 1657350"/>
              <a:gd name="connsiteY3" fmla="*/ 0 h 396875"/>
            </a:gdLst>
            <a:ahLst/>
            <a:cxnLst>
              <a:cxn ang="0">
                <a:pos x="connsiteX0" y="connsiteY0"/>
              </a:cxn>
              <a:cxn ang="0">
                <a:pos x="connsiteX1" y="connsiteY1"/>
              </a:cxn>
              <a:cxn ang="0">
                <a:pos x="connsiteX2" y="connsiteY2"/>
              </a:cxn>
              <a:cxn ang="0">
                <a:pos x="connsiteX3" y="connsiteY3"/>
              </a:cxn>
            </a:cxnLst>
            <a:rect l="l" t="t" r="r" b="b"/>
            <a:pathLst>
              <a:path w="1657350" h="396875">
                <a:moveTo>
                  <a:pt x="0" y="285750"/>
                </a:moveTo>
                <a:cubicBezTo>
                  <a:pt x="132556" y="334962"/>
                  <a:pt x="265113" y="384175"/>
                  <a:pt x="457200" y="390525"/>
                </a:cubicBezTo>
                <a:cubicBezTo>
                  <a:pt x="649287" y="396875"/>
                  <a:pt x="952500" y="388938"/>
                  <a:pt x="1152525" y="323850"/>
                </a:cubicBezTo>
                <a:cubicBezTo>
                  <a:pt x="1352550" y="258763"/>
                  <a:pt x="1504950" y="129381"/>
                  <a:pt x="1657350" y="0"/>
                </a:cubicBezTo>
              </a:path>
            </a:pathLst>
          </a:custGeom>
          <a:ln w="6350">
            <a:solidFill>
              <a:srgbClr val="C00000"/>
            </a:solidFill>
            <a:prstDash val="dash"/>
            <a:head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6324600" y="1447800"/>
            <a:ext cx="2438400" cy="1200329"/>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At this point, requirements and architecture are specified; they are deemed sufficiently complete to begin the detailed design of the system.</a:t>
            </a:r>
            <a:endParaRPr lang="en-US" sz="1200" b="1" dirty="0">
              <a:solidFill>
                <a:srgbClr val="C00000"/>
              </a:solidFill>
              <a:latin typeface="Bradley Hand ITC" pitchFamily="66" charset="0"/>
            </a:endParaRPr>
          </a:p>
        </p:txBody>
      </p:sp>
      <p:sp>
        <p:nvSpPr>
          <p:cNvPr id="17" name="TextBox 16"/>
          <p:cNvSpPr txBox="1"/>
          <p:nvPr/>
        </p:nvSpPr>
        <p:spPr>
          <a:xfrm>
            <a:off x="685800" y="4191000"/>
            <a:ext cx="20574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Our design efforts shift from the macro-design approach to a micro-design approach</a:t>
            </a:r>
            <a:endParaRPr lang="en-US" sz="1400" b="1" dirty="0">
              <a:solidFill>
                <a:srgbClr val="C00000"/>
              </a:solidFill>
              <a:latin typeface="Bradley Hand ITC" pitchFamily="66" charset="0"/>
            </a:endParaRPr>
          </a:p>
        </p:txBody>
      </p:sp>
      <p:sp>
        <p:nvSpPr>
          <p:cNvPr id="18" name="Rectangle 17"/>
          <p:cNvSpPr/>
          <p:nvPr/>
        </p:nvSpPr>
        <p:spPr>
          <a:xfrm>
            <a:off x="1371600" y="5486400"/>
            <a:ext cx="4572000" cy="738664"/>
          </a:xfrm>
          <a:prstGeom prst="rect">
            <a:avLst/>
          </a:prstGeom>
        </p:spPr>
        <p:txBody>
          <a:bodyPr>
            <a:spAutoFit/>
          </a:bodyPr>
          <a:lstStyle/>
          <a:p>
            <a:r>
              <a:rPr lang="en-US" sz="1400" b="1" dirty="0" smtClean="0">
                <a:solidFill>
                  <a:srgbClr val="C00000"/>
                </a:solidFill>
                <a:latin typeface="Bradley Hand ITC" pitchFamily="66" charset="0"/>
              </a:rPr>
              <a:t>We now seek to further decompose and refine system components into one or more fine-grained elements, functions, and data variables.</a:t>
            </a:r>
            <a:endParaRPr lang="en-US" sz="1400" dirty="0"/>
          </a:p>
        </p:txBody>
      </p:sp>
      <p:sp>
        <p:nvSpPr>
          <p:cNvPr id="19" name="Freeform 18"/>
          <p:cNvSpPr/>
          <p:nvPr/>
        </p:nvSpPr>
        <p:spPr>
          <a:xfrm>
            <a:off x="857250" y="4972050"/>
            <a:ext cx="533400" cy="628650"/>
          </a:xfrm>
          <a:custGeom>
            <a:avLst/>
            <a:gdLst>
              <a:gd name="connsiteX0" fmla="*/ 190500 w 533400"/>
              <a:gd name="connsiteY0" fmla="*/ 0 h 628650"/>
              <a:gd name="connsiteX1" fmla="*/ 57150 w 533400"/>
              <a:gd name="connsiteY1" fmla="*/ 400050 h 628650"/>
              <a:gd name="connsiteX2" fmla="*/ 533400 w 533400"/>
              <a:gd name="connsiteY2" fmla="*/ 628650 h 628650"/>
            </a:gdLst>
            <a:ahLst/>
            <a:cxnLst>
              <a:cxn ang="0">
                <a:pos x="connsiteX0" y="connsiteY0"/>
              </a:cxn>
              <a:cxn ang="0">
                <a:pos x="connsiteX1" y="connsiteY1"/>
              </a:cxn>
              <a:cxn ang="0">
                <a:pos x="connsiteX2" y="connsiteY2"/>
              </a:cxn>
            </a:cxnLst>
            <a:rect l="l" t="t" r="r" b="b"/>
            <a:pathLst>
              <a:path w="533400" h="628650">
                <a:moveTo>
                  <a:pt x="190500" y="0"/>
                </a:moveTo>
                <a:cubicBezTo>
                  <a:pt x="95250" y="147637"/>
                  <a:pt x="0" y="295275"/>
                  <a:pt x="57150" y="400050"/>
                </a:cubicBezTo>
                <a:cubicBezTo>
                  <a:pt x="114300" y="504825"/>
                  <a:pt x="323850" y="566737"/>
                  <a:pt x="533400" y="6286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1828800" y="1847850"/>
            <a:ext cx="1981200" cy="647700"/>
          </a:xfrm>
          <a:custGeom>
            <a:avLst/>
            <a:gdLst>
              <a:gd name="connsiteX0" fmla="*/ 0 w 1981200"/>
              <a:gd name="connsiteY0" fmla="*/ 0 h 647700"/>
              <a:gd name="connsiteX1" fmla="*/ 1228725 w 1981200"/>
              <a:gd name="connsiteY1" fmla="*/ 200025 h 647700"/>
              <a:gd name="connsiteX2" fmla="*/ 1619250 w 1981200"/>
              <a:gd name="connsiteY2" fmla="*/ 571500 h 647700"/>
              <a:gd name="connsiteX3" fmla="*/ 1981200 w 1981200"/>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1981200" h="647700">
                <a:moveTo>
                  <a:pt x="0" y="0"/>
                </a:moveTo>
                <a:cubicBezTo>
                  <a:pt x="479425" y="52387"/>
                  <a:pt x="958850" y="104775"/>
                  <a:pt x="1228725" y="200025"/>
                </a:cubicBezTo>
                <a:cubicBezTo>
                  <a:pt x="1498600" y="295275"/>
                  <a:pt x="1493838" y="496888"/>
                  <a:pt x="1619250" y="571500"/>
                </a:cubicBezTo>
                <a:cubicBezTo>
                  <a:pt x="1744662" y="646112"/>
                  <a:pt x="1862931" y="646906"/>
                  <a:pt x="1981200" y="647700"/>
                </a:cubicBezTo>
              </a:path>
            </a:pathLst>
          </a:custGeom>
          <a:ln w="6350">
            <a:solidFill>
              <a:srgbClr val="C00000"/>
            </a:solidFill>
            <a:prstDash val="dash"/>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Detailed Design?</a:t>
            </a:r>
            <a:endParaRPr lang="en-US" dirty="0"/>
          </a:p>
        </p:txBody>
      </p:sp>
      <p:sp>
        <p:nvSpPr>
          <p:cNvPr id="3" name="Content Placeholder 2"/>
          <p:cNvSpPr>
            <a:spLocks noGrp="1"/>
          </p:cNvSpPr>
          <p:nvPr>
            <p:ph idx="1"/>
          </p:nvPr>
        </p:nvSpPr>
        <p:spPr/>
        <p:txBody>
          <a:bodyPr>
            <a:normAutofit lnSpcReduction="10000"/>
          </a:bodyPr>
          <a:lstStyle/>
          <a:p>
            <a:r>
              <a:rPr lang="en-US" dirty="0" smtClean="0"/>
              <a:t>According to the IEEE [1],</a:t>
            </a:r>
          </a:p>
          <a:p>
            <a:pPr marL="800100" lvl="1" indent="-342900">
              <a:buFont typeface="+mj-lt"/>
              <a:buAutoNum type="arabicPeriod"/>
            </a:pPr>
            <a:r>
              <a:rPr lang="en-US" dirty="0" smtClean="0"/>
              <a:t>The process of refining and expanding the preliminary design phase of a system or component to the extent that the design is sufficiently complete to be implemented .</a:t>
            </a:r>
          </a:p>
          <a:p>
            <a:pPr marL="800100" lvl="1" indent="-342900">
              <a:buFont typeface="+mj-lt"/>
              <a:buAutoNum type="arabicPeriod"/>
            </a:pPr>
            <a:r>
              <a:rPr lang="en-US" dirty="0" smtClean="0"/>
              <a:t>The result of the process in 1.</a:t>
            </a:r>
          </a:p>
          <a:p>
            <a:endParaRPr lang="en-US" dirty="0" smtClean="0"/>
          </a:p>
          <a:p>
            <a:r>
              <a:rPr lang="en-US" dirty="0" smtClean="0"/>
              <a:t>To keep terminology consistent, we’ll use the following definition:</a:t>
            </a:r>
          </a:p>
          <a:p>
            <a:pPr marL="800100" lvl="1" indent="-342900">
              <a:buFont typeface="+mj-lt"/>
              <a:buAutoNum type="arabicPeriod"/>
            </a:pPr>
            <a:r>
              <a:rPr lang="en-US" dirty="0" smtClean="0"/>
              <a:t>The process of refining and expanding the </a:t>
            </a:r>
            <a:r>
              <a:rPr lang="en-US" strike="sngStrike" dirty="0" smtClean="0"/>
              <a:t>preliminary design phase </a:t>
            </a:r>
            <a:r>
              <a:rPr lang="en-US" dirty="0" smtClean="0"/>
              <a:t> </a:t>
            </a:r>
            <a:r>
              <a:rPr lang="en-US" i="1" dirty="0" smtClean="0"/>
              <a:t>software architecture</a:t>
            </a:r>
            <a:r>
              <a:rPr lang="en-US" dirty="0" smtClean="0"/>
              <a:t> of a system or component to the extent that the design is sufficiently complete to be implemented .</a:t>
            </a:r>
          </a:p>
          <a:p>
            <a:pPr marL="800100" lvl="1" indent="-342900">
              <a:buFont typeface="+mj-lt"/>
              <a:buAutoNum type="arabicPeriod"/>
            </a:pPr>
            <a:r>
              <a:rPr lang="en-US" dirty="0" smtClean="0"/>
              <a:t>The result of the process in 1.</a:t>
            </a:r>
          </a:p>
          <a:p>
            <a:pPr lvl="1"/>
            <a:endParaRPr lang="en-US" dirty="0" smtClean="0"/>
          </a:p>
          <a:p>
            <a:r>
              <a:rPr lang="en-US" dirty="0" smtClean="0"/>
              <a:t>During </a:t>
            </a:r>
            <a:r>
              <a:rPr lang="en-US" i="1" dirty="0" smtClean="0"/>
              <a:t>Detailed Design</a:t>
            </a:r>
            <a:r>
              <a:rPr lang="en-US" dirty="0" smtClean="0"/>
              <a:t>  designers go deep into each component to define its internal structure and behavioral capabilities, and the resulting design leads to natural and efficient construction of software.</a:t>
            </a:r>
          </a:p>
          <a:p>
            <a:endParaRPr lang="en-US" dirty="0" smtClean="0"/>
          </a:p>
          <a:p>
            <a:endParaRPr lang="en-US" dirty="0" smtClean="0"/>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Detailed Design?</a:t>
            </a:r>
            <a:endParaRPr lang="en-US" dirty="0"/>
          </a:p>
        </p:txBody>
      </p:sp>
      <p:sp>
        <p:nvSpPr>
          <p:cNvPr id="3" name="Content Placeholder 2"/>
          <p:cNvSpPr>
            <a:spLocks noGrp="1"/>
          </p:cNvSpPr>
          <p:nvPr>
            <p:ph idx="1"/>
          </p:nvPr>
        </p:nvSpPr>
        <p:spPr>
          <a:xfrm>
            <a:off x="457200" y="1371601"/>
            <a:ext cx="8229600" cy="4800599"/>
          </a:xfrm>
        </p:spPr>
        <p:txBody>
          <a:bodyPr>
            <a:normAutofit fontScale="92500"/>
          </a:bodyPr>
          <a:lstStyle/>
          <a:p>
            <a:r>
              <a:rPr lang="en-US" dirty="0" smtClean="0"/>
              <a:t>Clements et al. [2] differentiate between architectural and detailed design as follows:</a:t>
            </a:r>
          </a:p>
          <a:p>
            <a:pPr lvl="1"/>
            <a:r>
              <a:rPr lang="en-US" dirty="0" smtClean="0"/>
              <a:t>“</a:t>
            </a:r>
            <a:r>
              <a:rPr lang="en-US" i="1" dirty="0" smtClean="0"/>
              <a:t>Architecture is design, but not all design is architecture.  That is, many design decisions are left unbound by the architecture and are happily left to the discretion and good judgment of downstream designers and implementers.  The architecture establishes constraints on downstream activities, and those activities must produce artifacts—finer-grained design and code—that are compliant with the architecture, but architecture does not define an implementation.</a:t>
            </a:r>
            <a:r>
              <a:rPr lang="en-US" dirty="0" smtClean="0"/>
              <a:t>”</a:t>
            </a:r>
          </a:p>
          <a:p>
            <a:pPr lvl="1"/>
            <a:endParaRPr lang="en-US" dirty="0" smtClean="0"/>
          </a:p>
          <a:p>
            <a:r>
              <a:rPr lang="en-US" dirty="0" smtClean="0"/>
              <a:t>Detailed design is closely related to architecture and construction; therefore successful designers (during detailed design) are required to have or acquire full understanding of the system’s requirements and architecture.</a:t>
            </a:r>
          </a:p>
          <a:p>
            <a:pPr lvl="1"/>
            <a:r>
              <a:rPr lang="en-US" dirty="0" smtClean="0"/>
              <a:t>They must also be proficient in particular design strategies (e.g., object-oriented), programming languages, and methods and processes for software quality control.</a:t>
            </a:r>
          </a:p>
          <a:p>
            <a:pPr lvl="1"/>
            <a:r>
              <a:rPr lang="en-US" dirty="0" smtClean="0"/>
              <a:t>Just as architecture provides the bridge between requirements and design, detailed design provides the bridge between design and code.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Detailed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7" name="Picture 6"/>
          <p:cNvPicPr/>
          <p:nvPr/>
        </p:nvPicPr>
        <p:blipFill>
          <a:blip r:embed="rId2" cstate="print"/>
          <a:srcRect/>
          <a:stretch>
            <a:fillRect/>
          </a:stretch>
        </p:blipFill>
        <p:spPr bwMode="auto">
          <a:xfrm>
            <a:off x="3048000" y="1219200"/>
            <a:ext cx="3133725" cy="4486275"/>
          </a:xfrm>
          <a:prstGeom prst="rect">
            <a:avLst/>
          </a:prstGeom>
          <a:noFill/>
          <a:ln w="9525">
            <a:noFill/>
            <a:miter lim="800000"/>
            <a:headEnd/>
            <a:tailEnd/>
          </a:ln>
        </p:spPr>
      </p:pic>
      <p:sp>
        <p:nvSpPr>
          <p:cNvPr id="8" name="TextBox 7"/>
          <p:cNvSpPr txBox="1"/>
          <p:nvPr/>
        </p:nvSpPr>
        <p:spPr>
          <a:xfrm>
            <a:off x="457200" y="1371600"/>
            <a:ext cx="2362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Designer’s Mental Model During Detailed Design!</a:t>
            </a:r>
            <a:endParaRPr lang="en-US" sz="1400" b="1" dirty="0">
              <a:solidFill>
                <a:srgbClr val="C00000"/>
              </a:solidFill>
              <a:latin typeface="Bradley Hand ITC" pitchFamily="66" charset="0"/>
            </a:endParaRPr>
          </a:p>
        </p:txBody>
      </p:sp>
      <p:sp>
        <p:nvSpPr>
          <p:cNvPr id="9" name="TextBox 8"/>
          <p:cNvSpPr txBox="1"/>
          <p:nvPr/>
        </p:nvSpPr>
        <p:spPr>
          <a:xfrm>
            <a:off x="762000" y="3581400"/>
            <a:ext cx="2286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If given requirements and architecture, detailed designers must move the project forward all the way to code</a:t>
            </a:r>
            <a:endParaRPr lang="en-US" sz="1200" b="1" dirty="0">
              <a:solidFill>
                <a:srgbClr val="C00000"/>
              </a:solidFill>
              <a:latin typeface="Bradley Hand ITC" pitchFamily="66" charset="0"/>
            </a:endParaRPr>
          </a:p>
        </p:txBody>
      </p:sp>
      <p:sp>
        <p:nvSpPr>
          <p:cNvPr id="10" name="TextBox 9"/>
          <p:cNvSpPr txBox="1"/>
          <p:nvPr/>
        </p:nvSpPr>
        <p:spPr>
          <a:xfrm>
            <a:off x="6324600" y="3733800"/>
            <a:ext cx="2362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If given code, detailed designers must be able to reverse engineer the code to produce detailed and architectural designs.  </a:t>
            </a:r>
            <a:endParaRPr lang="en-US" sz="1200" b="1" dirty="0">
              <a:solidFill>
                <a:srgbClr val="C00000"/>
              </a:solidFill>
              <a:latin typeface="Bradley Hand ITC" pitchFamily="66" charset="0"/>
            </a:endParaRPr>
          </a:p>
        </p:txBody>
      </p:sp>
      <p:sp>
        <p:nvSpPr>
          <p:cNvPr id="11" name="TextBox 10"/>
          <p:cNvSpPr txBox="1"/>
          <p:nvPr/>
        </p:nvSpPr>
        <p:spPr>
          <a:xfrm>
            <a:off x="2895600" y="5943600"/>
            <a:ext cx="3733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When starting at detailed design,  designers must be able to produce both code and architectural designs</a:t>
            </a:r>
            <a:endParaRPr lang="en-US" sz="1200" b="1" dirty="0">
              <a:solidFill>
                <a:srgbClr val="C00000"/>
              </a:solidFill>
              <a:latin typeface="Bradley Hand ITC" pitchFamily="66" charset="0"/>
            </a:endParaRPr>
          </a:p>
        </p:txBody>
      </p:sp>
      <p:sp>
        <p:nvSpPr>
          <p:cNvPr id="15" name="Freeform 14"/>
          <p:cNvSpPr/>
          <p:nvPr/>
        </p:nvSpPr>
        <p:spPr>
          <a:xfrm>
            <a:off x="3541713" y="5619750"/>
            <a:ext cx="887412" cy="371475"/>
          </a:xfrm>
          <a:custGeom>
            <a:avLst/>
            <a:gdLst>
              <a:gd name="connsiteX0" fmla="*/ 1587 w 887412"/>
              <a:gd name="connsiteY0" fmla="*/ 371475 h 371475"/>
              <a:gd name="connsiteX1" fmla="*/ 58737 w 887412"/>
              <a:gd name="connsiteY1" fmla="*/ 276225 h 371475"/>
              <a:gd name="connsiteX2" fmla="*/ 354012 w 887412"/>
              <a:gd name="connsiteY2" fmla="*/ 219075 h 371475"/>
              <a:gd name="connsiteX3" fmla="*/ 773112 w 887412"/>
              <a:gd name="connsiteY3" fmla="*/ 161925 h 371475"/>
              <a:gd name="connsiteX4" fmla="*/ 887412 w 887412"/>
              <a:gd name="connsiteY4" fmla="*/ 0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412" h="371475">
                <a:moveTo>
                  <a:pt x="1587" y="371475"/>
                </a:moveTo>
                <a:cubicBezTo>
                  <a:pt x="793" y="336550"/>
                  <a:pt x="0" y="301625"/>
                  <a:pt x="58737" y="276225"/>
                </a:cubicBezTo>
                <a:cubicBezTo>
                  <a:pt x="117474" y="250825"/>
                  <a:pt x="234950" y="238125"/>
                  <a:pt x="354012" y="219075"/>
                </a:cubicBezTo>
                <a:cubicBezTo>
                  <a:pt x="473075" y="200025"/>
                  <a:pt x="684212" y="198437"/>
                  <a:pt x="773112" y="161925"/>
                </a:cubicBezTo>
                <a:cubicBezTo>
                  <a:pt x="862012" y="125413"/>
                  <a:pt x="874712" y="62706"/>
                  <a:pt x="887412"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flipH="1">
            <a:off x="4764087" y="5619750"/>
            <a:ext cx="874713" cy="371475"/>
          </a:xfrm>
          <a:custGeom>
            <a:avLst/>
            <a:gdLst>
              <a:gd name="connsiteX0" fmla="*/ 1587 w 887412"/>
              <a:gd name="connsiteY0" fmla="*/ 371475 h 371475"/>
              <a:gd name="connsiteX1" fmla="*/ 58737 w 887412"/>
              <a:gd name="connsiteY1" fmla="*/ 276225 h 371475"/>
              <a:gd name="connsiteX2" fmla="*/ 354012 w 887412"/>
              <a:gd name="connsiteY2" fmla="*/ 219075 h 371475"/>
              <a:gd name="connsiteX3" fmla="*/ 773112 w 887412"/>
              <a:gd name="connsiteY3" fmla="*/ 161925 h 371475"/>
              <a:gd name="connsiteX4" fmla="*/ 887412 w 887412"/>
              <a:gd name="connsiteY4" fmla="*/ 0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412" h="371475">
                <a:moveTo>
                  <a:pt x="1587" y="371475"/>
                </a:moveTo>
                <a:cubicBezTo>
                  <a:pt x="793" y="336550"/>
                  <a:pt x="0" y="301625"/>
                  <a:pt x="58737" y="276225"/>
                </a:cubicBezTo>
                <a:cubicBezTo>
                  <a:pt x="117474" y="250825"/>
                  <a:pt x="234950" y="238125"/>
                  <a:pt x="354012" y="219075"/>
                </a:cubicBezTo>
                <a:cubicBezTo>
                  <a:pt x="473075" y="200025"/>
                  <a:pt x="684212" y="198437"/>
                  <a:pt x="773112" y="161925"/>
                </a:cubicBezTo>
                <a:cubicBezTo>
                  <a:pt x="862012" y="125413"/>
                  <a:pt x="874712" y="62706"/>
                  <a:pt x="887412"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a:off x="5943600" y="4410075"/>
            <a:ext cx="809625" cy="990600"/>
          </a:xfrm>
          <a:custGeom>
            <a:avLst/>
            <a:gdLst>
              <a:gd name="connsiteX0" fmla="*/ 809625 w 809625"/>
              <a:gd name="connsiteY0" fmla="*/ 0 h 990600"/>
              <a:gd name="connsiteX1" fmla="*/ 533400 w 809625"/>
              <a:gd name="connsiteY1" fmla="*/ 285750 h 990600"/>
              <a:gd name="connsiteX2" fmla="*/ 495300 w 809625"/>
              <a:gd name="connsiteY2" fmla="*/ 742950 h 990600"/>
              <a:gd name="connsiteX3" fmla="*/ 0 w 809625"/>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09625" h="990600">
                <a:moveTo>
                  <a:pt x="809625" y="0"/>
                </a:moveTo>
                <a:cubicBezTo>
                  <a:pt x="697706" y="80962"/>
                  <a:pt x="585788" y="161925"/>
                  <a:pt x="533400" y="285750"/>
                </a:cubicBezTo>
                <a:cubicBezTo>
                  <a:pt x="481012" y="409575"/>
                  <a:pt x="584200" y="625475"/>
                  <a:pt x="495300" y="742950"/>
                </a:cubicBezTo>
                <a:cubicBezTo>
                  <a:pt x="406400" y="860425"/>
                  <a:pt x="203200" y="925512"/>
                  <a:pt x="0" y="990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flipH="1">
            <a:off x="2590800" y="4267200"/>
            <a:ext cx="685800" cy="990600"/>
          </a:xfrm>
          <a:custGeom>
            <a:avLst/>
            <a:gdLst>
              <a:gd name="connsiteX0" fmla="*/ 809625 w 809625"/>
              <a:gd name="connsiteY0" fmla="*/ 0 h 990600"/>
              <a:gd name="connsiteX1" fmla="*/ 533400 w 809625"/>
              <a:gd name="connsiteY1" fmla="*/ 285750 h 990600"/>
              <a:gd name="connsiteX2" fmla="*/ 495300 w 809625"/>
              <a:gd name="connsiteY2" fmla="*/ 742950 h 990600"/>
              <a:gd name="connsiteX3" fmla="*/ 0 w 809625"/>
              <a:gd name="connsiteY3" fmla="*/ 990600 h 990600"/>
            </a:gdLst>
            <a:ahLst/>
            <a:cxnLst>
              <a:cxn ang="0">
                <a:pos x="connsiteX0" y="connsiteY0"/>
              </a:cxn>
              <a:cxn ang="0">
                <a:pos x="connsiteX1" y="connsiteY1"/>
              </a:cxn>
              <a:cxn ang="0">
                <a:pos x="connsiteX2" y="connsiteY2"/>
              </a:cxn>
              <a:cxn ang="0">
                <a:pos x="connsiteX3" y="connsiteY3"/>
              </a:cxn>
            </a:cxnLst>
            <a:rect l="l" t="t" r="r" b="b"/>
            <a:pathLst>
              <a:path w="809625" h="990600">
                <a:moveTo>
                  <a:pt x="809625" y="0"/>
                </a:moveTo>
                <a:cubicBezTo>
                  <a:pt x="697706" y="80962"/>
                  <a:pt x="585788" y="161925"/>
                  <a:pt x="533400" y="285750"/>
                </a:cubicBezTo>
                <a:cubicBezTo>
                  <a:pt x="481012" y="409575"/>
                  <a:pt x="584200" y="625475"/>
                  <a:pt x="495300" y="742950"/>
                </a:cubicBezTo>
                <a:cubicBezTo>
                  <a:pt x="406400" y="860425"/>
                  <a:pt x="203200" y="925512"/>
                  <a:pt x="0" y="9906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6172200" y="1828800"/>
            <a:ext cx="2514600" cy="138499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During detailed design, the use of industry-grade development tools are essential for modeling, code generation, compiling generated code, reverse engineering, software configuration management, etc.</a:t>
            </a:r>
            <a:endParaRPr lang="en-US" sz="1200" b="1" dirty="0">
              <a:solidFill>
                <a:srgbClr val="C00000"/>
              </a:solidFill>
              <a:latin typeface="Bradley Hand ITC" pitchFamily="66" charset="0"/>
            </a:endParaRPr>
          </a:p>
        </p:txBody>
      </p:sp>
      <p:sp>
        <p:nvSpPr>
          <p:cNvPr id="20" name="TextBox 19"/>
          <p:cNvSpPr txBox="1"/>
          <p:nvPr/>
        </p:nvSpPr>
        <p:spPr>
          <a:xfrm>
            <a:off x="6934200" y="3200400"/>
            <a:ext cx="1114408" cy="261610"/>
          </a:xfrm>
          <a:prstGeom prst="rect">
            <a:avLst/>
          </a:prstGeom>
          <a:noFill/>
        </p:spPr>
        <p:txBody>
          <a:bodyPr wrap="none" rtlCol="0">
            <a:spAutoFit/>
          </a:bodyPr>
          <a:lstStyle/>
          <a:p>
            <a:r>
              <a:rPr lang="en-US" sz="1100" b="1" dirty="0" smtClean="0">
                <a:solidFill>
                  <a:srgbClr val="FF0000"/>
                </a:solidFill>
              </a:rPr>
              <a:t>Give examples !</a:t>
            </a:r>
            <a:endParaRPr lang="en-US" sz="1100" b="1" dirty="0">
              <a:solidFill>
                <a:srgbClr val="FF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Detailed Design</a:t>
            </a:r>
            <a:endParaRPr lang="en-US" dirty="0"/>
          </a:p>
        </p:txBody>
      </p:sp>
      <p:sp>
        <p:nvSpPr>
          <p:cNvPr id="3" name="Content Placeholder 2"/>
          <p:cNvSpPr>
            <a:spLocks noGrp="1"/>
          </p:cNvSpPr>
          <p:nvPr>
            <p:ph idx="1"/>
          </p:nvPr>
        </p:nvSpPr>
        <p:spPr>
          <a:xfrm>
            <a:off x="457200" y="1447800"/>
            <a:ext cx="8229600" cy="5029200"/>
          </a:xfrm>
        </p:spPr>
        <p:txBody>
          <a:bodyPr>
            <a:normAutofit fontScale="85000" lnSpcReduction="10000"/>
          </a:bodyPr>
          <a:lstStyle/>
          <a:p>
            <a:r>
              <a:rPr lang="en-US" dirty="0" smtClean="0"/>
              <a:t>In practice, it can be argued that the detailed design phase is where most of the problem-solving activities occur.  Consider the case in which a formal process is followed, so that the requirements is followed by architecture and detailed design.</a:t>
            </a:r>
          </a:p>
          <a:p>
            <a:pPr lvl="1"/>
            <a:r>
              <a:rPr lang="en-US" dirty="0" smtClean="0"/>
              <a:t>In many practical applications, the architectural design activity defers complex problem solving to detailed design, mainly through abstraction.</a:t>
            </a:r>
          </a:p>
          <a:p>
            <a:pPr lvl="1"/>
            <a:r>
              <a:rPr lang="en-US" dirty="0" smtClean="0"/>
              <a:t>In some cases, even specifying requirements is deferred to detailed design!</a:t>
            </a:r>
          </a:p>
          <a:p>
            <a:pPr lvl="1"/>
            <a:endParaRPr lang="en-US" dirty="0" smtClean="0"/>
          </a:p>
          <a:p>
            <a:r>
              <a:rPr lang="en-US" dirty="0" smtClean="0"/>
              <a:t>For these reasons, detailed design serves as the gatekeeper for ensuring that the system’s specification and design are sufficiently complete  before construction begins.</a:t>
            </a:r>
          </a:p>
          <a:p>
            <a:pPr lvl="1"/>
            <a:r>
              <a:rPr lang="en-US" dirty="0" smtClean="0"/>
              <a:t>This can be especially tough for large-scale systems built from scratch without experience with the development of similar systems.</a:t>
            </a:r>
          </a:p>
          <a:p>
            <a:pPr lvl="1"/>
            <a:endParaRPr lang="en-US" dirty="0" smtClean="0"/>
          </a:p>
          <a:p>
            <a:r>
              <a:rPr lang="en-US" dirty="0" smtClean="0"/>
              <a:t>The major tasks identified for carrying out the detailed design activity include:</a:t>
            </a:r>
          </a:p>
          <a:p>
            <a:pPr lvl="1"/>
            <a:r>
              <a:rPr lang="en-US" dirty="0" smtClean="0"/>
              <a:t>Understanding the architecture and requirements</a:t>
            </a:r>
          </a:p>
          <a:p>
            <a:pPr lvl="1"/>
            <a:r>
              <a:rPr lang="en-US" dirty="0" smtClean="0"/>
              <a:t>Creating detailed designs</a:t>
            </a:r>
          </a:p>
          <a:p>
            <a:pPr lvl="1"/>
            <a:r>
              <a:rPr lang="en-US" dirty="0" smtClean="0"/>
              <a:t>Evaluating detailed designs</a:t>
            </a:r>
          </a:p>
          <a:p>
            <a:pPr lvl="1"/>
            <a:r>
              <a:rPr lang="en-US" dirty="0" smtClean="0"/>
              <a:t>Documenting software design</a:t>
            </a:r>
          </a:p>
          <a:p>
            <a:pPr lvl="1"/>
            <a:r>
              <a:rPr lang="en-US" dirty="0" smtClean="0"/>
              <a:t>Monitoring and controlling implementation</a:t>
            </a:r>
          </a:p>
          <a:p>
            <a:pPr lvl="1"/>
            <a:endParaRPr lang="en-US" dirty="0" smtClean="0"/>
          </a:p>
          <a:p>
            <a:pPr lvl="1"/>
            <a:endParaRPr lang="en-US" dirty="0" smtClean="0"/>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the Architecture and Requirements</a:t>
            </a:r>
            <a:endParaRPr lang="en-US" dirty="0"/>
          </a:p>
        </p:txBody>
      </p:sp>
      <p:sp>
        <p:nvSpPr>
          <p:cNvPr id="3" name="Content Placeholder 2"/>
          <p:cNvSpPr>
            <a:spLocks noGrp="1"/>
          </p:cNvSpPr>
          <p:nvPr>
            <p:ph idx="1"/>
          </p:nvPr>
        </p:nvSpPr>
        <p:spPr>
          <a:xfrm>
            <a:off x="457200" y="1371601"/>
            <a:ext cx="8229600" cy="1142999"/>
          </a:xfrm>
        </p:spPr>
        <p:txBody>
          <a:bodyPr/>
          <a:lstStyle/>
          <a:p>
            <a:r>
              <a:rPr lang="en-US" dirty="0" smtClean="0"/>
              <a:t>Unlike the software architecture, where the complete set of requirements are evaluated and well understood, designers during detailed design activity focus on requirements allocated to their specific components.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8" name="Rectangle 7"/>
          <p:cNvSpPr/>
          <p:nvPr/>
        </p:nvSpPr>
        <p:spPr>
          <a:xfrm>
            <a:off x="4038600" y="3733800"/>
            <a:ext cx="1447800" cy="914400"/>
          </a:xfrm>
          <a:prstGeom prst="rect">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429000" y="4114800"/>
            <a:ext cx="533400" cy="304800"/>
          </a:xfrm>
          <a:prstGeom prst="rightArrow">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495675" y="4156531"/>
            <a:ext cx="276038" cy="215444"/>
          </a:xfrm>
          <a:prstGeom prst="rect">
            <a:avLst/>
          </a:prstGeom>
          <a:noFill/>
        </p:spPr>
        <p:txBody>
          <a:bodyPr wrap="none" rtlCol="0">
            <a:spAutoFit/>
          </a:bodyPr>
          <a:lstStyle/>
          <a:p>
            <a:r>
              <a:rPr lang="en-US" sz="800" dirty="0" smtClean="0"/>
              <a:t>IN</a:t>
            </a:r>
            <a:endParaRPr lang="en-US" sz="800" dirty="0"/>
          </a:p>
        </p:txBody>
      </p:sp>
      <p:pic>
        <p:nvPicPr>
          <p:cNvPr id="13"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3810000" y="5943600"/>
            <a:ext cx="457200" cy="509165"/>
          </a:xfrm>
          <a:prstGeom prst="rect">
            <a:avLst/>
          </a:prstGeom>
          <a:noFill/>
        </p:spPr>
      </p:pic>
      <p:sp>
        <p:nvSpPr>
          <p:cNvPr id="14" name="TextBox 13"/>
          <p:cNvSpPr txBox="1"/>
          <p:nvPr/>
        </p:nvSpPr>
        <p:spPr>
          <a:xfrm>
            <a:off x="4334149" y="3505200"/>
            <a:ext cx="923651" cy="215444"/>
          </a:xfrm>
          <a:prstGeom prst="rect">
            <a:avLst/>
          </a:prstGeom>
          <a:noFill/>
        </p:spPr>
        <p:txBody>
          <a:bodyPr wrap="none" rtlCol="0">
            <a:spAutoFit/>
          </a:bodyPr>
          <a:lstStyle/>
          <a:p>
            <a:r>
              <a:rPr lang="en-US" sz="800" dirty="0" smtClean="0"/>
              <a:t>DETAILED DESIGN</a:t>
            </a:r>
            <a:endParaRPr lang="en-US" sz="800" dirty="0"/>
          </a:p>
        </p:txBody>
      </p:sp>
      <p:graphicFrame>
        <p:nvGraphicFramePr>
          <p:cNvPr id="15" name="Diagram 14"/>
          <p:cNvGraphicFramePr/>
          <p:nvPr/>
        </p:nvGraphicFramePr>
        <p:xfrm>
          <a:off x="3886200" y="3762375"/>
          <a:ext cx="1600200" cy="83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TextBox 24"/>
          <p:cNvSpPr txBox="1"/>
          <p:nvPr/>
        </p:nvSpPr>
        <p:spPr>
          <a:xfrm>
            <a:off x="6324600" y="5791200"/>
            <a:ext cx="1752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Functional and quality requirements allocated to this component</a:t>
            </a:r>
            <a:endParaRPr lang="en-US" sz="1200" b="1" dirty="0">
              <a:solidFill>
                <a:srgbClr val="C00000"/>
              </a:solidFill>
              <a:latin typeface="Bradley Hand ITC" pitchFamily="66" charset="0"/>
            </a:endParaRPr>
          </a:p>
        </p:txBody>
      </p:sp>
      <p:pic>
        <p:nvPicPr>
          <p:cNvPr id="28" name="Picture 2"/>
          <p:cNvPicPr>
            <a:picLocks noChangeAspect="1" noChangeArrowheads="1"/>
          </p:cNvPicPr>
          <p:nvPr/>
        </p:nvPicPr>
        <p:blipFill>
          <a:blip r:embed="rId8" cstate="print"/>
          <a:srcRect/>
          <a:stretch>
            <a:fillRect/>
          </a:stretch>
        </p:blipFill>
        <p:spPr bwMode="auto">
          <a:xfrm>
            <a:off x="914400" y="3558064"/>
            <a:ext cx="2924175" cy="1182113"/>
          </a:xfrm>
          <a:prstGeom prst="rect">
            <a:avLst/>
          </a:prstGeom>
          <a:noFill/>
          <a:ln w="9525">
            <a:noFill/>
            <a:miter lim="800000"/>
            <a:headEnd/>
            <a:tailEnd/>
          </a:ln>
          <a:effectLst/>
        </p:spPr>
      </p:pic>
      <p:pic>
        <p:nvPicPr>
          <p:cNvPr id="29" name="Picture 28"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3124200" y="4548664"/>
            <a:ext cx="235269" cy="466435"/>
          </a:xfrm>
          <a:prstGeom prst="rect">
            <a:avLst/>
          </a:prstGeom>
          <a:noFill/>
        </p:spPr>
      </p:pic>
      <p:pic>
        <p:nvPicPr>
          <p:cNvPr id="30" name="Picture 29"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1637295" y="4510564"/>
            <a:ext cx="115305" cy="228600"/>
          </a:xfrm>
          <a:prstGeom prst="rect">
            <a:avLst/>
          </a:prstGeom>
          <a:noFill/>
        </p:spPr>
      </p:pic>
      <p:pic>
        <p:nvPicPr>
          <p:cNvPr id="31" name="Picture 30"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2170695" y="4091464"/>
            <a:ext cx="115305" cy="228600"/>
          </a:xfrm>
          <a:prstGeom prst="rect">
            <a:avLst/>
          </a:prstGeom>
          <a:noFill/>
        </p:spPr>
      </p:pic>
      <p:pic>
        <p:nvPicPr>
          <p:cNvPr id="32" name="Picture 31"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2362200" y="4520089"/>
            <a:ext cx="115305" cy="228600"/>
          </a:xfrm>
          <a:prstGeom prst="rect">
            <a:avLst/>
          </a:prstGeom>
          <a:noFill/>
        </p:spPr>
      </p:pic>
      <p:pic>
        <p:nvPicPr>
          <p:cNvPr id="2051" name="Picture 3"/>
          <p:cNvPicPr>
            <a:picLocks noChangeAspect="1" noChangeArrowheads="1"/>
          </p:cNvPicPr>
          <p:nvPr/>
        </p:nvPicPr>
        <p:blipFill>
          <a:blip r:embed="rId10" cstate="print"/>
          <a:srcRect/>
          <a:stretch>
            <a:fillRect/>
          </a:stretch>
        </p:blipFill>
        <p:spPr bwMode="auto">
          <a:xfrm>
            <a:off x="4800600" y="2438400"/>
            <a:ext cx="1028700" cy="295275"/>
          </a:xfrm>
          <a:prstGeom prst="rect">
            <a:avLst/>
          </a:prstGeom>
          <a:noFill/>
          <a:ln w="9525">
            <a:noFill/>
            <a:miter lim="800000"/>
            <a:headEnd/>
            <a:tailEnd/>
          </a:ln>
        </p:spPr>
      </p:pic>
      <p:pic>
        <p:nvPicPr>
          <p:cNvPr id="2052" name="Picture 4"/>
          <p:cNvPicPr>
            <a:picLocks noChangeAspect="1" noChangeArrowheads="1"/>
          </p:cNvPicPr>
          <p:nvPr/>
        </p:nvPicPr>
        <p:blipFill>
          <a:blip r:embed="rId11" cstate="print"/>
          <a:srcRect/>
          <a:stretch>
            <a:fillRect/>
          </a:stretch>
        </p:blipFill>
        <p:spPr bwMode="auto">
          <a:xfrm>
            <a:off x="6629400" y="3962400"/>
            <a:ext cx="1143000" cy="352425"/>
          </a:xfrm>
          <a:prstGeom prst="rect">
            <a:avLst/>
          </a:prstGeom>
          <a:noFill/>
          <a:ln w="9525">
            <a:noFill/>
            <a:miter lim="800000"/>
            <a:headEnd/>
            <a:tailEnd/>
          </a:ln>
        </p:spPr>
      </p:pic>
      <p:sp>
        <p:nvSpPr>
          <p:cNvPr id="60" name="TextBox 59"/>
          <p:cNvSpPr txBox="1"/>
          <p:nvPr/>
        </p:nvSpPr>
        <p:spPr>
          <a:xfrm>
            <a:off x="1739629" y="3429000"/>
            <a:ext cx="1308371" cy="215444"/>
          </a:xfrm>
          <a:prstGeom prst="rect">
            <a:avLst/>
          </a:prstGeom>
          <a:noFill/>
        </p:spPr>
        <p:txBody>
          <a:bodyPr wrap="none" rtlCol="0">
            <a:spAutoFit/>
          </a:bodyPr>
          <a:lstStyle/>
          <a:p>
            <a:r>
              <a:rPr lang="en-US" sz="800" dirty="0" smtClean="0"/>
              <a:t>SOFTWARE ARCHITECTURE</a:t>
            </a:r>
            <a:endParaRPr lang="en-US" sz="800" dirty="0"/>
          </a:p>
        </p:txBody>
      </p:sp>
      <p:grpSp>
        <p:nvGrpSpPr>
          <p:cNvPr id="82" name="Group 81"/>
          <p:cNvGrpSpPr/>
          <p:nvPr/>
        </p:nvGrpSpPr>
        <p:grpSpPr>
          <a:xfrm>
            <a:off x="4191000" y="5460482"/>
            <a:ext cx="1123950" cy="530743"/>
            <a:chOff x="6553200" y="5105400"/>
            <a:chExt cx="1123950" cy="530743"/>
          </a:xfrm>
        </p:grpSpPr>
        <p:pic>
          <p:nvPicPr>
            <p:cNvPr id="2050" name="Picture 2"/>
            <p:cNvPicPr>
              <a:picLocks noChangeAspect="1" noChangeArrowheads="1"/>
            </p:cNvPicPr>
            <p:nvPr/>
          </p:nvPicPr>
          <p:blipFill>
            <a:blip r:embed="rId12" cstate="print"/>
            <a:srcRect/>
            <a:stretch>
              <a:fillRect/>
            </a:stretch>
          </p:blipFill>
          <p:spPr bwMode="auto">
            <a:xfrm>
              <a:off x="6629400" y="5105400"/>
              <a:ext cx="1047750" cy="295275"/>
            </a:xfrm>
            <a:prstGeom prst="rect">
              <a:avLst/>
            </a:prstGeom>
            <a:noFill/>
            <a:ln w="9525">
              <a:noFill/>
              <a:miter lim="800000"/>
              <a:headEnd/>
              <a:tailEnd/>
            </a:ln>
          </p:spPr>
        </p:pic>
        <p:pic>
          <p:nvPicPr>
            <p:cNvPr id="61" name="Picture 60"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6553200" y="5334000"/>
              <a:ext cx="152400" cy="302143"/>
            </a:xfrm>
            <a:prstGeom prst="rect">
              <a:avLst/>
            </a:prstGeom>
            <a:noFill/>
          </p:spPr>
        </p:pic>
      </p:grpSp>
      <p:pic>
        <p:nvPicPr>
          <p:cNvPr id="62" name="Picture 61"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4724400" y="2667000"/>
            <a:ext cx="152400" cy="302143"/>
          </a:xfrm>
          <a:prstGeom prst="rect">
            <a:avLst/>
          </a:prstGeom>
          <a:noFill/>
        </p:spPr>
      </p:pic>
      <p:pic>
        <p:nvPicPr>
          <p:cNvPr id="63" name="Picture 62" descr="C:\Users\cotero\AppData\Local\Microsoft\Windows\Temporary Internet Files\Content.IE5\07RO37DR\MC900013282[1].wmf"/>
          <p:cNvPicPr>
            <a:picLocks noChangeAspect="1" noChangeArrowheads="1"/>
          </p:cNvPicPr>
          <p:nvPr/>
        </p:nvPicPr>
        <p:blipFill>
          <a:blip r:embed="rId9" cstate="print"/>
          <a:srcRect/>
          <a:stretch>
            <a:fillRect/>
          </a:stretch>
        </p:blipFill>
        <p:spPr bwMode="auto">
          <a:xfrm>
            <a:off x="6553200" y="4267200"/>
            <a:ext cx="152400" cy="302143"/>
          </a:xfrm>
          <a:prstGeom prst="rect">
            <a:avLst/>
          </a:prstGeom>
          <a:noFill/>
        </p:spPr>
      </p:pic>
      <p:pic>
        <p:nvPicPr>
          <p:cNvPr id="2054" name="Picture 6" descr="C:\Users\cotero\AppData\Local\Microsoft\Windows\Temporary Internet Files\Content.IE5\ES8921MZ\MC900048775[1].wmf"/>
          <p:cNvPicPr>
            <a:picLocks noChangeAspect="1" noChangeArrowheads="1"/>
          </p:cNvPicPr>
          <p:nvPr/>
        </p:nvPicPr>
        <p:blipFill>
          <a:blip r:embed="rId13" cstate="print"/>
          <a:srcRect/>
          <a:stretch>
            <a:fillRect/>
          </a:stretch>
        </p:blipFill>
        <p:spPr bwMode="auto">
          <a:xfrm>
            <a:off x="5562600" y="2819400"/>
            <a:ext cx="393425" cy="457200"/>
          </a:xfrm>
          <a:prstGeom prst="rect">
            <a:avLst/>
          </a:prstGeom>
          <a:noFill/>
        </p:spPr>
      </p:pic>
      <p:grpSp>
        <p:nvGrpSpPr>
          <p:cNvPr id="81" name="Group 80"/>
          <p:cNvGrpSpPr/>
          <p:nvPr/>
        </p:nvGrpSpPr>
        <p:grpSpPr>
          <a:xfrm>
            <a:off x="7162800" y="4419600"/>
            <a:ext cx="571500" cy="666751"/>
            <a:chOff x="5543550" y="5353050"/>
            <a:chExt cx="571500" cy="666751"/>
          </a:xfrm>
        </p:grpSpPr>
        <p:pic>
          <p:nvPicPr>
            <p:cNvPr id="2061" name="Picture 13" descr="C:\Users\cotero\AppData\Local\Microsoft\Windows\Temporary Internet Files\Content.IE5\07RO37DR\MC900140899[1].wmf"/>
            <p:cNvPicPr>
              <a:picLocks noChangeAspect="1" noChangeArrowheads="1"/>
            </p:cNvPicPr>
            <p:nvPr/>
          </p:nvPicPr>
          <p:blipFill>
            <a:blip r:embed="rId14" cstate="print">
              <a:duotone>
                <a:prstClr val="black"/>
                <a:schemeClr val="accent6">
                  <a:tint val="45000"/>
                  <a:satMod val="400000"/>
                </a:schemeClr>
              </a:duotone>
            </a:blip>
            <a:srcRect/>
            <a:stretch>
              <a:fillRect/>
            </a:stretch>
          </p:blipFill>
          <p:spPr bwMode="auto">
            <a:xfrm>
              <a:off x="5562600" y="5486401"/>
              <a:ext cx="481966" cy="533400"/>
            </a:xfrm>
            <a:prstGeom prst="rect">
              <a:avLst/>
            </a:prstGeom>
            <a:noFill/>
          </p:spPr>
        </p:pic>
        <p:sp>
          <p:nvSpPr>
            <p:cNvPr id="76" name="Rectangle 75"/>
            <p:cNvSpPr/>
            <p:nvPr/>
          </p:nvSpPr>
          <p:spPr>
            <a:xfrm>
              <a:off x="5553075" y="5610225"/>
              <a:ext cx="762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flipV="1">
              <a:off x="5943600" y="5562600"/>
              <a:ext cx="171450" cy="1028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a:xfrm>
              <a:off x="5848350" y="5490419"/>
              <a:ext cx="123678" cy="189412"/>
            </a:xfrm>
            <a:custGeom>
              <a:avLst/>
              <a:gdLst>
                <a:gd name="connsiteX0" fmla="*/ 0 w 123678"/>
                <a:gd name="connsiteY0" fmla="*/ 110281 h 189412"/>
                <a:gd name="connsiteX1" fmla="*/ 9525 w 123678"/>
                <a:gd name="connsiteY1" fmla="*/ 157906 h 189412"/>
                <a:gd name="connsiteX2" fmla="*/ 19050 w 123678"/>
                <a:gd name="connsiteY2" fmla="*/ 186481 h 189412"/>
                <a:gd name="connsiteX3" fmla="*/ 114300 w 123678"/>
                <a:gd name="connsiteY3" fmla="*/ 167431 h 189412"/>
                <a:gd name="connsiteX4" fmla="*/ 104775 w 123678"/>
                <a:gd name="connsiteY4" fmla="*/ 15031 h 189412"/>
                <a:gd name="connsiteX5" fmla="*/ 57150 w 123678"/>
                <a:gd name="connsiteY5" fmla="*/ 24556 h 189412"/>
                <a:gd name="connsiteX6" fmla="*/ 28575 w 123678"/>
                <a:gd name="connsiteY6" fmla="*/ 53131 h 189412"/>
                <a:gd name="connsiteX7" fmla="*/ 0 w 123678"/>
                <a:gd name="connsiteY7" fmla="*/ 72181 h 189412"/>
                <a:gd name="connsiteX8" fmla="*/ 0 w 123678"/>
                <a:gd name="connsiteY8" fmla="*/ 110281 h 18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678" h="189412">
                  <a:moveTo>
                    <a:pt x="0" y="110281"/>
                  </a:moveTo>
                  <a:cubicBezTo>
                    <a:pt x="3175" y="126156"/>
                    <a:pt x="5598" y="142200"/>
                    <a:pt x="9525" y="157906"/>
                  </a:cubicBezTo>
                  <a:cubicBezTo>
                    <a:pt x="11960" y="167646"/>
                    <a:pt x="9051" y="185572"/>
                    <a:pt x="19050" y="186481"/>
                  </a:cubicBezTo>
                  <a:cubicBezTo>
                    <a:pt x="51296" y="189412"/>
                    <a:pt x="82550" y="173781"/>
                    <a:pt x="114300" y="167431"/>
                  </a:cubicBezTo>
                  <a:cubicBezTo>
                    <a:pt x="111125" y="116631"/>
                    <a:pt x="123678" y="62290"/>
                    <a:pt x="104775" y="15031"/>
                  </a:cubicBezTo>
                  <a:cubicBezTo>
                    <a:pt x="98762" y="0"/>
                    <a:pt x="71630" y="17316"/>
                    <a:pt x="57150" y="24556"/>
                  </a:cubicBezTo>
                  <a:cubicBezTo>
                    <a:pt x="45102" y="30580"/>
                    <a:pt x="38923" y="44507"/>
                    <a:pt x="28575" y="53131"/>
                  </a:cubicBezTo>
                  <a:cubicBezTo>
                    <a:pt x="19781" y="60460"/>
                    <a:pt x="9525" y="65831"/>
                    <a:pt x="0" y="72181"/>
                  </a:cubicBezTo>
                  <a:lnTo>
                    <a:pt x="0" y="110281"/>
                  </a:lnTo>
                  <a:close/>
                </a:path>
              </a:pathLst>
            </a:cu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5543550" y="5353050"/>
              <a:ext cx="534820" cy="348792"/>
            </a:xfrm>
            <a:custGeom>
              <a:avLst/>
              <a:gdLst>
                <a:gd name="connsiteX0" fmla="*/ 104775 w 534820"/>
                <a:gd name="connsiteY0" fmla="*/ 238125 h 348792"/>
                <a:gd name="connsiteX1" fmla="*/ 114300 w 534820"/>
                <a:gd name="connsiteY1" fmla="*/ 209550 h 348792"/>
                <a:gd name="connsiteX2" fmla="*/ 95250 w 534820"/>
                <a:gd name="connsiteY2" fmla="*/ 142875 h 348792"/>
                <a:gd name="connsiteX3" fmla="*/ 66675 w 534820"/>
                <a:gd name="connsiteY3" fmla="*/ 123825 h 348792"/>
                <a:gd name="connsiteX4" fmla="*/ 0 w 534820"/>
                <a:gd name="connsiteY4" fmla="*/ 95250 h 348792"/>
                <a:gd name="connsiteX5" fmla="*/ 114300 w 534820"/>
                <a:gd name="connsiteY5" fmla="*/ 85725 h 348792"/>
                <a:gd name="connsiteX6" fmla="*/ 123825 w 534820"/>
                <a:gd name="connsiteY6" fmla="*/ 114300 h 348792"/>
                <a:gd name="connsiteX7" fmla="*/ 161925 w 534820"/>
                <a:gd name="connsiteY7" fmla="*/ 66675 h 348792"/>
                <a:gd name="connsiteX8" fmla="*/ 180975 w 534820"/>
                <a:gd name="connsiteY8" fmla="*/ 95250 h 348792"/>
                <a:gd name="connsiteX9" fmla="*/ 209550 w 534820"/>
                <a:gd name="connsiteY9" fmla="*/ 104775 h 348792"/>
                <a:gd name="connsiteX10" fmla="*/ 285750 w 534820"/>
                <a:gd name="connsiteY10" fmla="*/ 57150 h 348792"/>
                <a:gd name="connsiteX11" fmla="*/ 295275 w 534820"/>
                <a:gd name="connsiteY11" fmla="*/ 85725 h 348792"/>
                <a:gd name="connsiteX12" fmla="*/ 314325 w 534820"/>
                <a:gd name="connsiteY12" fmla="*/ 57150 h 348792"/>
                <a:gd name="connsiteX13" fmla="*/ 333375 w 534820"/>
                <a:gd name="connsiteY13" fmla="*/ 0 h 348792"/>
                <a:gd name="connsiteX14" fmla="*/ 361950 w 534820"/>
                <a:gd name="connsiteY14" fmla="*/ 9525 h 348792"/>
                <a:gd name="connsiteX15" fmla="*/ 371475 w 534820"/>
                <a:gd name="connsiteY15" fmla="*/ 47625 h 348792"/>
                <a:gd name="connsiteX16" fmla="*/ 390525 w 534820"/>
                <a:gd name="connsiteY16" fmla="*/ 104775 h 348792"/>
                <a:gd name="connsiteX17" fmla="*/ 400050 w 534820"/>
                <a:gd name="connsiteY17" fmla="*/ 133350 h 348792"/>
                <a:gd name="connsiteX18" fmla="*/ 466725 w 534820"/>
                <a:gd name="connsiteY18" fmla="*/ 114300 h 348792"/>
                <a:gd name="connsiteX19" fmla="*/ 495300 w 534820"/>
                <a:gd name="connsiteY19" fmla="*/ 123825 h 348792"/>
                <a:gd name="connsiteX20" fmla="*/ 533400 w 534820"/>
                <a:gd name="connsiteY20" fmla="*/ 180975 h 348792"/>
                <a:gd name="connsiteX21" fmla="*/ 504825 w 534820"/>
                <a:gd name="connsiteY21" fmla="*/ 190500 h 348792"/>
                <a:gd name="connsiteX22" fmla="*/ 428625 w 534820"/>
                <a:gd name="connsiteY22" fmla="*/ 200025 h 348792"/>
                <a:gd name="connsiteX23" fmla="*/ 485775 w 534820"/>
                <a:gd name="connsiteY23" fmla="*/ 238125 h 348792"/>
                <a:gd name="connsiteX24" fmla="*/ 495300 w 534820"/>
                <a:gd name="connsiteY24" fmla="*/ 276225 h 348792"/>
                <a:gd name="connsiteX25" fmla="*/ 438150 w 534820"/>
                <a:gd name="connsiteY25" fmla="*/ 276225 h 348792"/>
                <a:gd name="connsiteX26" fmla="*/ 409575 w 534820"/>
                <a:gd name="connsiteY26" fmla="*/ 285750 h 348792"/>
                <a:gd name="connsiteX27" fmla="*/ 419100 w 534820"/>
                <a:gd name="connsiteY27" fmla="*/ 314325 h 348792"/>
                <a:gd name="connsiteX28" fmla="*/ 409575 w 534820"/>
                <a:gd name="connsiteY28" fmla="*/ 333375 h 348792"/>
                <a:gd name="connsiteX29" fmla="*/ 342900 w 534820"/>
                <a:gd name="connsiteY29" fmla="*/ 266700 h 348792"/>
                <a:gd name="connsiteX30" fmla="*/ 314325 w 534820"/>
                <a:gd name="connsiteY30" fmla="*/ 238125 h 348792"/>
                <a:gd name="connsiteX31" fmla="*/ 257175 w 534820"/>
                <a:gd name="connsiteY31" fmla="*/ 219075 h 348792"/>
                <a:gd name="connsiteX32" fmla="*/ 228600 w 534820"/>
                <a:gd name="connsiteY32" fmla="*/ 209550 h 348792"/>
                <a:gd name="connsiteX33" fmla="*/ 142875 w 534820"/>
                <a:gd name="connsiteY33" fmla="*/ 190500 h 348792"/>
                <a:gd name="connsiteX34" fmla="*/ 114300 w 534820"/>
                <a:gd name="connsiteY34" fmla="*/ 180975 h 3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4820" h="348792">
                  <a:moveTo>
                    <a:pt x="104775" y="238125"/>
                  </a:moveTo>
                  <a:cubicBezTo>
                    <a:pt x="107950" y="228600"/>
                    <a:pt x="115299" y="219540"/>
                    <a:pt x="114300" y="209550"/>
                  </a:cubicBezTo>
                  <a:cubicBezTo>
                    <a:pt x="112000" y="186550"/>
                    <a:pt x="106475" y="163081"/>
                    <a:pt x="95250" y="142875"/>
                  </a:cubicBezTo>
                  <a:cubicBezTo>
                    <a:pt x="89691" y="132868"/>
                    <a:pt x="76614" y="129505"/>
                    <a:pt x="66675" y="123825"/>
                  </a:cubicBezTo>
                  <a:cubicBezTo>
                    <a:pt x="33719" y="104993"/>
                    <a:pt x="32058" y="105936"/>
                    <a:pt x="0" y="95250"/>
                  </a:cubicBezTo>
                  <a:cubicBezTo>
                    <a:pt x="42026" y="67233"/>
                    <a:pt x="43496" y="57403"/>
                    <a:pt x="114300" y="85725"/>
                  </a:cubicBezTo>
                  <a:cubicBezTo>
                    <a:pt x="123622" y="89454"/>
                    <a:pt x="120650" y="104775"/>
                    <a:pt x="123825" y="114300"/>
                  </a:cubicBezTo>
                  <a:cubicBezTo>
                    <a:pt x="128198" y="101181"/>
                    <a:pt x="134998" y="61290"/>
                    <a:pt x="161925" y="66675"/>
                  </a:cubicBezTo>
                  <a:cubicBezTo>
                    <a:pt x="173150" y="68920"/>
                    <a:pt x="172036" y="88099"/>
                    <a:pt x="180975" y="95250"/>
                  </a:cubicBezTo>
                  <a:cubicBezTo>
                    <a:pt x="188815" y="101522"/>
                    <a:pt x="200025" y="101600"/>
                    <a:pt x="209550" y="104775"/>
                  </a:cubicBezTo>
                  <a:cubicBezTo>
                    <a:pt x="254912" y="36733"/>
                    <a:pt x="225438" y="42072"/>
                    <a:pt x="285750" y="57150"/>
                  </a:cubicBezTo>
                  <a:cubicBezTo>
                    <a:pt x="288925" y="66675"/>
                    <a:pt x="285235" y="85725"/>
                    <a:pt x="295275" y="85725"/>
                  </a:cubicBezTo>
                  <a:cubicBezTo>
                    <a:pt x="306723" y="85725"/>
                    <a:pt x="309676" y="67611"/>
                    <a:pt x="314325" y="57150"/>
                  </a:cubicBezTo>
                  <a:cubicBezTo>
                    <a:pt x="322480" y="38800"/>
                    <a:pt x="333375" y="0"/>
                    <a:pt x="333375" y="0"/>
                  </a:cubicBezTo>
                  <a:cubicBezTo>
                    <a:pt x="342900" y="3175"/>
                    <a:pt x="355678" y="1685"/>
                    <a:pt x="361950" y="9525"/>
                  </a:cubicBezTo>
                  <a:cubicBezTo>
                    <a:pt x="370128" y="19747"/>
                    <a:pt x="367713" y="35086"/>
                    <a:pt x="371475" y="47625"/>
                  </a:cubicBezTo>
                  <a:cubicBezTo>
                    <a:pt x="377245" y="66859"/>
                    <a:pt x="384175" y="85725"/>
                    <a:pt x="390525" y="104775"/>
                  </a:cubicBezTo>
                  <a:lnTo>
                    <a:pt x="400050" y="133350"/>
                  </a:lnTo>
                  <a:cubicBezTo>
                    <a:pt x="413525" y="128858"/>
                    <a:pt x="454765" y="114300"/>
                    <a:pt x="466725" y="114300"/>
                  </a:cubicBezTo>
                  <a:cubicBezTo>
                    <a:pt x="476765" y="114300"/>
                    <a:pt x="485775" y="120650"/>
                    <a:pt x="495300" y="123825"/>
                  </a:cubicBezTo>
                  <a:cubicBezTo>
                    <a:pt x="508000" y="142875"/>
                    <a:pt x="530162" y="158310"/>
                    <a:pt x="533400" y="180975"/>
                  </a:cubicBezTo>
                  <a:cubicBezTo>
                    <a:pt x="534820" y="190914"/>
                    <a:pt x="514703" y="188704"/>
                    <a:pt x="504825" y="190500"/>
                  </a:cubicBezTo>
                  <a:cubicBezTo>
                    <a:pt x="479640" y="195079"/>
                    <a:pt x="454025" y="196850"/>
                    <a:pt x="428625" y="200025"/>
                  </a:cubicBezTo>
                  <a:cubicBezTo>
                    <a:pt x="455902" y="209117"/>
                    <a:pt x="468987" y="208746"/>
                    <a:pt x="485775" y="238125"/>
                  </a:cubicBezTo>
                  <a:cubicBezTo>
                    <a:pt x="492270" y="249491"/>
                    <a:pt x="492125" y="263525"/>
                    <a:pt x="495300" y="276225"/>
                  </a:cubicBezTo>
                  <a:cubicBezTo>
                    <a:pt x="419100" y="301625"/>
                    <a:pt x="514350" y="276225"/>
                    <a:pt x="438150" y="276225"/>
                  </a:cubicBezTo>
                  <a:cubicBezTo>
                    <a:pt x="428110" y="276225"/>
                    <a:pt x="419100" y="282575"/>
                    <a:pt x="409575" y="285750"/>
                  </a:cubicBezTo>
                  <a:cubicBezTo>
                    <a:pt x="412750" y="295275"/>
                    <a:pt x="414610" y="305345"/>
                    <a:pt x="419100" y="314325"/>
                  </a:cubicBezTo>
                  <a:cubicBezTo>
                    <a:pt x="436334" y="348792"/>
                    <a:pt x="455488" y="348679"/>
                    <a:pt x="409575" y="333375"/>
                  </a:cubicBezTo>
                  <a:cubicBezTo>
                    <a:pt x="388022" y="268717"/>
                    <a:pt x="419321" y="343121"/>
                    <a:pt x="342900" y="266700"/>
                  </a:cubicBezTo>
                  <a:cubicBezTo>
                    <a:pt x="333375" y="257175"/>
                    <a:pt x="326100" y="244667"/>
                    <a:pt x="314325" y="238125"/>
                  </a:cubicBezTo>
                  <a:cubicBezTo>
                    <a:pt x="296772" y="228373"/>
                    <a:pt x="276225" y="225425"/>
                    <a:pt x="257175" y="219075"/>
                  </a:cubicBezTo>
                  <a:lnTo>
                    <a:pt x="228600" y="209550"/>
                  </a:lnTo>
                  <a:cubicBezTo>
                    <a:pt x="164274" y="188108"/>
                    <a:pt x="243455" y="212851"/>
                    <a:pt x="142875" y="190500"/>
                  </a:cubicBezTo>
                  <a:cubicBezTo>
                    <a:pt x="133074" y="188322"/>
                    <a:pt x="114300" y="180975"/>
                    <a:pt x="114300" y="180975"/>
                  </a:cubicBezTo>
                </a:path>
              </a:pathLst>
            </a:custGeom>
            <a:solidFill>
              <a:schemeClr val="tx1"/>
            </a:solidFill>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83" name="Freeform 82"/>
          <p:cNvSpPr/>
          <p:nvPr/>
        </p:nvSpPr>
        <p:spPr>
          <a:xfrm>
            <a:off x="4587875" y="4676775"/>
            <a:ext cx="382588" cy="723900"/>
          </a:xfrm>
          <a:custGeom>
            <a:avLst/>
            <a:gdLst>
              <a:gd name="connsiteX0" fmla="*/ 193675 w 382588"/>
              <a:gd name="connsiteY0" fmla="*/ 0 h 723900"/>
              <a:gd name="connsiteX1" fmla="*/ 355600 w 382588"/>
              <a:gd name="connsiteY1" fmla="*/ 228600 h 723900"/>
              <a:gd name="connsiteX2" fmla="*/ 31750 w 382588"/>
              <a:gd name="connsiteY2" fmla="*/ 438150 h 723900"/>
              <a:gd name="connsiteX3" fmla="*/ 165100 w 382588"/>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382588" h="723900">
                <a:moveTo>
                  <a:pt x="193675" y="0"/>
                </a:moveTo>
                <a:cubicBezTo>
                  <a:pt x="288131" y="77787"/>
                  <a:pt x="382588" y="155575"/>
                  <a:pt x="355600" y="228600"/>
                </a:cubicBezTo>
                <a:cubicBezTo>
                  <a:pt x="328613" y="301625"/>
                  <a:pt x="63500" y="355600"/>
                  <a:pt x="31750" y="438150"/>
                </a:cubicBezTo>
                <a:cubicBezTo>
                  <a:pt x="0" y="520700"/>
                  <a:pt x="82550" y="622300"/>
                  <a:pt x="165100" y="723900"/>
                </a:cubicBezTo>
              </a:path>
            </a:pathLst>
          </a:custGeom>
          <a:ln w="6350">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5514975" y="3930650"/>
            <a:ext cx="1114425" cy="231775"/>
          </a:xfrm>
          <a:custGeom>
            <a:avLst/>
            <a:gdLst>
              <a:gd name="connsiteX0" fmla="*/ 0 w 1114425"/>
              <a:gd name="connsiteY0" fmla="*/ 231775 h 231775"/>
              <a:gd name="connsiteX1" fmla="*/ 419100 w 1114425"/>
              <a:gd name="connsiteY1" fmla="*/ 12700 h 231775"/>
              <a:gd name="connsiteX2" fmla="*/ 809625 w 1114425"/>
              <a:gd name="connsiteY2" fmla="*/ 155575 h 231775"/>
              <a:gd name="connsiteX3" fmla="*/ 1114425 w 1114425"/>
              <a:gd name="connsiteY3" fmla="*/ 174625 h 231775"/>
            </a:gdLst>
            <a:ahLst/>
            <a:cxnLst>
              <a:cxn ang="0">
                <a:pos x="connsiteX0" y="connsiteY0"/>
              </a:cxn>
              <a:cxn ang="0">
                <a:pos x="connsiteX1" y="connsiteY1"/>
              </a:cxn>
              <a:cxn ang="0">
                <a:pos x="connsiteX2" y="connsiteY2"/>
              </a:cxn>
              <a:cxn ang="0">
                <a:pos x="connsiteX3" y="connsiteY3"/>
              </a:cxn>
            </a:cxnLst>
            <a:rect l="l" t="t" r="r" b="b"/>
            <a:pathLst>
              <a:path w="1114425" h="231775">
                <a:moveTo>
                  <a:pt x="0" y="231775"/>
                </a:moveTo>
                <a:cubicBezTo>
                  <a:pt x="142081" y="128587"/>
                  <a:pt x="284163" y="25400"/>
                  <a:pt x="419100" y="12700"/>
                </a:cubicBezTo>
                <a:cubicBezTo>
                  <a:pt x="554038" y="0"/>
                  <a:pt x="693738" y="128588"/>
                  <a:pt x="809625" y="155575"/>
                </a:cubicBezTo>
                <a:cubicBezTo>
                  <a:pt x="925513" y="182563"/>
                  <a:pt x="1019969" y="178594"/>
                  <a:pt x="1114425" y="174625"/>
                </a:cubicBezTo>
              </a:path>
            </a:pathLst>
          </a:custGeom>
          <a:ln w="6350">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5286375" y="2743200"/>
            <a:ext cx="254000" cy="971550"/>
          </a:xfrm>
          <a:custGeom>
            <a:avLst/>
            <a:gdLst>
              <a:gd name="connsiteX0" fmla="*/ 0 w 254000"/>
              <a:gd name="connsiteY0" fmla="*/ 971550 h 971550"/>
              <a:gd name="connsiteX1" fmla="*/ 247650 w 254000"/>
              <a:gd name="connsiteY1" fmla="*/ 714375 h 971550"/>
              <a:gd name="connsiteX2" fmla="*/ 38100 w 254000"/>
              <a:gd name="connsiteY2" fmla="*/ 314325 h 971550"/>
              <a:gd name="connsiteX3" fmla="*/ 76200 w 254000"/>
              <a:gd name="connsiteY3" fmla="*/ 0 h 971550"/>
            </a:gdLst>
            <a:ahLst/>
            <a:cxnLst>
              <a:cxn ang="0">
                <a:pos x="connsiteX0" y="connsiteY0"/>
              </a:cxn>
              <a:cxn ang="0">
                <a:pos x="connsiteX1" y="connsiteY1"/>
              </a:cxn>
              <a:cxn ang="0">
                <a:pos x="connsiteX2" y="connsiteY2"/>
              </a:cxn>
              <a:cxn ang="0">
                <a:pos x="connsiteX3" y="connsiteY3"/>
              </a:cxn>
            </a:cxnLst>
            <a:rect l="l" t="t" r="r" b="b"/>
            <a:pathLst>
              <a:path w="254000" h="971550">
                <a:moveTo>
                  <a:pt x="0" y="971550"/>
                </a:moveTo>
                <a:cubicBezTo>
                  <a:pt x="120650" y="897731"/>
                  <a:pt x="241300" y="823912"/>
                  <a:pt x="247650" y="714375"/>
                </a:cubicBezTo>
                <a:cubicBezTo>
                  <a:pt x="254000" y="604838"/>
                  <a:pt x="66675" y="433388"/>
                  <a:pt x="38100" y="314325"/>
                </a:cubicBezTo>
                <a:cubicBezTo>
                  <a:pt x="9525" y="195263"/>
                  <a:pt x="42862" y="97631"/>
                  <a:pt x="76200" y="0"/>
                </a:cubicBezTo>
              </a:path>
            </a:pathLst>
          </a:custGeom>
          <a:ln w="6350">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TextBox 92"/>
          <p:cNvSpPr txBox="1"/>
          <p:nvPr/>
        </p:nvSpPr>
        <p:spPr>
          <a:xfrm>
            <a:off x="1600200" y="2586335"/>
            <a:ext cx="2667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Functional and quality requirements allocated to this component</a:t>
            </a:r>
            <a:endParaRPr lang="en-US" sz="1200" b="1" dirty="0">
              <a:solidFill>
                <a:srgbClr val="C00000"/>
              </a:solidFill>
              <a:latin typeface="Bradley Hand ITC" pitchFamily="66" charset="0"/>
            </a:endParaRPr>
          </a:p>
        </p:txBody>
      </p:sp>
      <p:sp>
        <p:nvSpPr>
          <p:cNvPr id="94" name="Freeform 93"/>
          <p:cNvSpPr/>
          <p:nvPr/>
        </p:nvSpPr>
        <p:spPr>
          <a:xfrm flipV="1">
            <a:off x="3895725" y="2819400"/>
            <a:ext cx="828675" cy="266700"/>
          </a:xfrm>
          <a:custGeom>
            <a:avLst/>
            <a:gdLst>
              <a:gd name="connsiteX0" fmla="*/ 0 w 828675"/>
              <a:gd name="connsiteY0" fmla="*/ 177800 h 177800"/>
              <a:gd name="connsiteX1" fmla="*/ 419100 w 828675"/>
              <a:gd name="connsiteY1" fmla="*/ 15875 h 177800"/>
              <a:gd name="connsiteX2" fmla="*/ 828675 w 828675"/>
              <a:gd name="connsiteY2" fmla="*/ 82550 h 177800"/>
            </a:gdLst>
            <a:ahLst/>
            <a:cxnLst>
              <a:cxn ang="0">
                <a:pos x="connsiteX0" y="connsiteY0"/>
              </a:cxn>
              <a:cxn ang="0">
                <a:pos x="connsiteX1" y="connsiteY1"/>
              </a:cxn>
              <a:cxn ang="0">
                <a:pos x="connsiteX2" y="connsiteY2"/>
              </a:cxn>
            </a:cxnLst>
            <a:rect l="l" t="t" r="r" b="b"/>
            <a:pathLst>
              <a:path w="828675" h="177800">
                <a:moveTo>
                  <a:pt x="0" y="177800"/>
                </a:moveTo>
                <a:cubicBezTo>
                  <a:pt x="140494" y="104775"/>
                  <a:pt x="280988" y="31750"/>
                  <a:pt x="419100" y="15875"/>
                </a:cubicBezTo>
                <a:cubicBezTo>
                  <a:pt x="557213" y="0"/>
                  <a:pt x="692944" y="41275"/>
                  <a:pt x="828675" y="82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5" name="Freeform 94"/>
          <p:cNvSpPr/>
          <p:nvPr/>
        </p:nvSpPr>
        <p:spPr>
          <a:xfrm>
            <a:off x="6588125" y="4562475"/>
            <a:ext cx="536575" cy="1209675"/>
          </a:xfrm>
          <a:custGeom>
            <a:avLst/>
            <a:gdLst>
              <a:gd name="connsiteX0" fmla="*/ 536575 w 536575"/>
              <a:gd name="connsiteY0" fmla="*/ 1209675 h 1209675"/>
              <a:gd name="connsiteX1" fmla="*/ 422275 w 536575"/>
              <a:gd name="connsiteY1" fmla="*/ 1114425 h 1209675"/>
              <a:gd name="connsiteX2" fmla="*/ 31750 w 536575"/>
              <a:gd name="connsiteY2" fmla="*/ 809625 h 1209675"/>
              <a:gd name="connsiteX3" fmla="*/ 231775 w 536575"/>
              <a:gd name="connsiteY3" fmla="*/ 323850 h 1209675"/>
              <a:gd name="connsiteX4" fmla="*/ 98425 w 536575"/>
              <a:gd name="connsiteY4" fmla="*/ 0 h 120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575" h="1209675">
                <a:moveTo>
                  <a:pt x="536575" y="1209675"/>
                </a:moveTo>
                <a:cubicBezTo>
                  <a:pt x="521494" y="1195387"/>
                  <a:pt x="506413" y="1181100"/>
                  <a:pt x="422275" y="1114425"/>
                </a:cubicBezTo>
                <a:cubicBezTo>
                  <a:pt x="338138" y="1047750"/>
                  <a:pt x="63500" y="941387"/>
                  <a:pt x="31750" y="809625"/>
                </a:cubicBezTo>
                <a:cubicBezTo>
                  <a:pt x="0" y="677863"/>
                  <a:pt x="220663" y="458787"/>
                  <a:pt x="231775" y="323850"/>
                </a:cubicBezTo>
                <a:cubicBezTo>
                  <a:pt x="242887" y="188913"/>
                  <a:pt x="170656" y="94456"/>
                  <a:pt x="98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TextBox 95"/>
          <p:cNvSpPr txBox="1"/>
          <p:nvPr/>
        </p:nvSpPr>
        <p:spPr>
          <a:xfrm>
            <a:off x="6553200" y="2438400"/>
            <a:ext cx="19812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During detailed design, components are allocated to teams for further design.</a:t>
            </a:r>
            <a:endParaRPr lang="en-US" sz="1200" b="1" dirty="0">
              <a:solidFill>
                <a:srgbClr val="C00000"/>
              </a:solidFill>
              <a:latin typeface="Bradley Hand ITC" pitchFamily="66" charset="0"/>
            </a:endParaRPr>
          </a:p>
        </p:txBody>
      </p:sp>
      <p:sp>
        <p:nvSpPr>
          <p:cNvPr id="97" name="TextBox 96"/>
          <p:cNvSpPr txBox="1"/>
          <p:nvPr/>
        </p:nvSpPr>
        <p:spPr>
          <a:xfrm>
            <a:off x="685800" y="5334000"/>
            <a:ext cx="2819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During the detailed design of individual components, it is possible for designers to derive requirements and impose them on the implementation of the component.</a:t>
            </a:r>
            <a:endParaRPr lang="en-US" sz="1200" b="1" dirty="0">
              <a:solidFill>
                <a:srgbClr val="C00000"/>
              </a:solidFill>
              <a:latin typeface="Bradley Hand ITC" pitchFamily="66" charset="0"/>
            </a:endParaRPr>
          </a:p>
        </p:txBody>
      </p:sp>
      <p:sp>
        <p:nvSpPr>
          <p:cNvPr id="98" name="Freeform 97"/>
          <p:cNvSpPr/>
          <p:nvPr/>
        </p:nvSpPr>
        <p:spPr>
          <a:xfrm>
            <a:off x="3495675" y="5448300"/>
            <a:ext cx="771525" cy="195262"/>
          </a:xfrm>
          <a:custGeom>
            <a:avLst/>
            <a:gdLst>
              <a:gd name="connsiteX0" fmla="*/ 0 w 771525"/>
              <a:gd name="connsiteY0" fmla="*/ 0 h 195262"/>
              <a:gd name="connsiteX1" fmla="*/ 209550 w 771525"/>
              <a:gd name="connsiteY1" fmla="*/ 57150 h 195262"/>
              <a:gd name="connsiteX2" fmla="*/ 457200 w 771525"/>
              <a:gd name="connsiteY2" fmla="*/ 180975 h 195262"/>
              <a:gd name="connsiteX3" fmla="*/ 771525 w 771525"/>
              <a:gd name="connsiteY3" fmla="*/ 142875 h 195262"/>
            </a:gdLst>
            <a:ahLst/>
            <a:cxnLst>
              <a:cxn ang="0">
                <a:pos x="connsiteX0" y="connsiteY0"/>
              </a:cxn>
              <a:cxn ang="0">
                <a:pos x="connsiteX1" y="connsiteY1"/>
              </a:cxn>
              <a:cxn ang="0">
                <a:pos x="connsiteX2" y="connsiteY2"/>
              </a:cxn>
              <a:cxn ang="0">
                <a:pos x="connsiteX3" y="connsiteY3"/>
              </a:cxn>
            </a:cxnLst>
            <a:rect l="l" t="t" r="r" b="b"/>
            <a:pathLst>
              <a:path w="771525" h="195262">
                <a:moveTo>
                  <a:pt x="0" y="0"/>
                </a:moveTo>
                <a:cubicBezTo>
                  <a:pt x="66675" y="13493"/>
                  <a:pt x="133350" y="26987"/>
                  <a:pt x="209550" y="57150"/>
                </a:cubicBezTo>
                <a:cubicBezTo>
                  <a:pt x="285750" y="87313"/>
                  <a:pt x="363538" y="166688"/>
                  <a:pt x="457200" y="180975"/>
                </a:cubicBezTo>
                <a:cubicBezTo>
                  <a:pt x="550862" y="195262"/>
                  <a:pt x="661193" y="169068"/>
                  <a:pt x="771525" y="142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9" name="Freeform 98"/>
          <p:cNvSpPr/>
          <p:nvPr/>
        </p:nvSpPr>
        <p:spPr>
          <a:xfrm>
            <a:off x="4324350" y="5924550"/>
            <a:ext cx="2066925" cy="268287"/>
          </a:xfrm>
          <a:custGeom>
            <a:avLst/>
            <a:gdLst>
              <a:gd name="connsiteX0" fmla="*/ 2066925 w 2066925"/>
              <a:gd name="connsiteY0" fmla="*/ 152400 h 268287"/>
              <a:gd name="connsiteX1" fmla="*/ 1657350 w 2066925"/>
              <a:gd name="connsiteY1" fmla="*/ 19050 h 268287"/>
              <a:gd name="connsiteX2" fmla="*/ 666750 w 2066925"/>
              <a:gd name="connsiteY2" fmla="*/ 266700 h 268287"/>
              <a:gd name="connsiteX3" fmla="*/ 0 w 2066925"/>
              <a:gd name="connsiteY3" fmla="*/ 28575 h 268287"/>
            </a:gdLst>
            <a:ahLst/>
            <a:cxnLst>
              <a:cxn ang="0">
                <a:pos x="connsiteX0" y="connsiteY0"/>
              </a:cxn>
              <a:cxn ang="0">
                <a:pos x="connsiteX1" y="connsiteY1"/>
              </a:cxn>
              <a:cxn ang="0">
                <a:pos x="connsiteX2" y="connsiteY2"/>
              </a:cxn>
              <a:cxn ang="0">
                <a:pos x="connsiteX3" y="connsiteY3"/>
              </a:cxn>
            </a:cxnLst>
            <a:rect l="l" t="t" r="r" b="b"/>
            <a:pathLst>
              <a:path w="2066925" h="268287">
                <a:moveTo>
                  <a:pt x="2066925" y="152400"/>
                </a:moveTo>
                <a:cubicBezTo>
                  <a:pt x="1978819" y="76200"/>
                  <a:pt x="1890713" y="0"/>
                  <a:pt x="1657350" y="19050"/>
                </a:cubicBezTo>
                <a:cubicBezTo>
                  <a:pt x="1423988" y="38100"/>
                  <a:pt x="942975" y="265113"/>
                  <a:pt x="666750" y="266700"/>
                </a:cubicBezTo>
                <a:cubicBezTo>
                  <a:pt x="390525" y="268287"/>
                  <a:pt x="195262" y="148431"/>
                  <a:pt x="0" y="285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Detailed Designs</a:t>
            </a:r>
            <a:endParaRPr lang="en-US" dirty="0"/>
          </a:p>
        </p:txBody>
      </p:sp>
      <p:sp>
        <p:nvSpPr>
          <p:cNvPr id="3" name="Content Placeholder 2"/>
          <p:cNvSpPr>
            <a:spLocks noGrp="1"/>
          </p:cNvSpPr>
          <p:nvPr>
            <p:ph idx="1"/>
          </p:nvPr>
        </p:nvSpPr>
        <p:spPr/>
        <p:txBody>
          <a:bodyPr/>
          <a:lstStyle/>
          <a:p>
            <a:r>
              <a:rPr lang="en-US" dirty="0" smtClean="0"/>
              <a:t>After the architecture and requirements for assigned components are well understood, the detailed design of software components can begin.</a:t>
            </a:r>
          </a:p>
          <a:p>
            <a:pPr lvl="1"/>
            <a:r>
              <a:rPr lang="en-US" dirty="0" smtClean="0"/>
              <a:t>Detailed design consist of both structural and behavioral designs.</a:t>
            </a:r>
          </a:p>
          <a:p>
            <a:pPr lvl="1"/>
            <a:endParaRPr lang="en-US" dirty="0" smtClean="0"/>
          </a:p>
          <a:p>
            <a:r>
              <a:rPr lang="en-US" dirty="0" smtClean="0"/>
              <a:t>When creating detailed designs,  focus is placed on the following:</a:t>
            </a:r>
          </a:p>
          <a:p>
            <a:pPr lvl="1"/>
            <a:r>
              <a:rPr lang="en-US" dirty="0" smtClean="0"/>
              <a:t>Interface Design</a:t>
            </a:r>
          </a:p>
          <a:p>
            <a:pPr lvl="2"/>
            <a:r>
              <a:rPr lang="en-US" dirty="0" smtClean="0"/>
              <a:t>Internal interface design</a:t>
            </a:r>
          </a:p>
          <a:p>
            <a:pPr lvl="2"/>
            <a:r>
              <a:rPr lang="en-US" dirty="0" smtClean="0"/>
              <a:t>External interface design</a:t>
            </a:r>
          </a:p>
          <a:p>
            <a:pPr lvl="1"/>
            <a:r>
              <a:rPr lang="en-US" dirty="0" smtClean="0"/>
              <a:t>Graphical User Interface Design</a:t>
            </a:r>
          </a:p>
          <a:p>
            <a:pPr lvl="2"/>
            <a:r>
              <a:rPr lang="en-US" dirty="0" smtClean="0"/>
              <a:t>This may be a continuation of designs originated during architecture.</a:t>
            </a:r>
          </a:p>
          <a:p>
            <a:pPr lvl="1"/>
            <a:r>
              <a:rPr lang="en-US" dirty="0" smtClean="0"/>
              <a:t>Internal Component Design</a:t>
            </a:r>
          </a:p>
          <a:p>
            <a:pPr lvl="2"/>
            <a:r>
              <a:rPr lang="en-US" dirty="0" smtClean="0"/>
              <a:t>Structural</a:t>
            </a:r>
          </a:p>
          <a:p>
            <a:pPr lvl="2"/>
            <a:r>
              <a:rPr lang="en-US" dirty="0" smtClean="0"/>
              <a:t>Behavioral</a:t>
            </a:r>
          </a:p>
          <a:p>
            <a:pPr lvl="1"/>
            <a:r>
              <a:rPr lang="en-US" dirty="0" smtClean="0"/>
              <a:t>Data Design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Detailed Designs</a:t>
            </a:r>
            <a:endParaRPr lang="en-US" dirty="0"/>
          </a:p>
        </p:txBody>
      </p:sp>
      <p:sp>
        <p:nvSpPr>
          <p:cNvPr id="3" name="Content Placeholder 2"/>
          <p:cNvSpPr>
            <a:spLocks noGrp="1"/>
          </p:cNvSpPr>
          <p:nvPr>
            <p:ph idx="1"/>
          </p:nvPr>
        </p:nvSpPr>
        <p:spPr>
          <a:xfrm>
            <a:off x="457200" y="1371601"/>
            <a:ext cx="8229600" cy="1295399"/>
          </a:xfrm>
        </p:spPr>
        <p:txBody>
          <a:bodyPr>
            <a:normAutofit fontScale="77500" lnSpcReduction="20000"/>
          </a:bodyPr>
          <a:lstStyle/>
          <a:p>
            <a:r>
              <a:rPr lang="en-US" dirty="0" smtClean="0"/>
              <a:t>Interface Design</a:t>
            </a:r>
          </a:p>
          <a:p>
            <a:pPr lvl="1"/>
            <a:r>
              <a:rPr lang="en-US" dirty="0" smtClean="0"/>
              <a:t>Refers to the design task that deals with specification of interfaces between components in the design [3].  It can be focused on:</a:t>
            </a:r>
          </a:p>
          <a:p>
            <a:pPr lvl="2"/>
            <a:r>
              <a:rPr lang="en-US" dirty="0" smtClean="0"/>
              <a:t>Interfaces internally within components</a:t>
            </a:r>
          </a:p>
          <a:p>
            <a:pPr lvl="2"/>
            <a:r>
              <a:rPr lang="en-US" dirty="0" smtClean="0"/>
              <a:t>Interfaces used externally across components</a:t>
            </a:r>
          </a:p>
          <a:p>
            <a:r>
              <a:rPr lang="en-US" dirty="0" smtClean="0"/>
              <a:t>An example of an internal interface design can be seen below:</a:t>
            </a:r>
          </a:p>
          <a:p>
            <a:pPr lvl="2"/>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15" name="Group 14"/>
          <p:cNvGrpSpPr/>
          <p:nvPr/>
        </p:nvGrpSpPr>
        <p:grpSpPr>
          <a:xfrm>
            <a:off x="1219200" y="2819400"/>
            <a:ext cx="6576448" cy="3448050"/>
            <a:chOff x="1752600" y="2743200"/>
            <a:chExt cx="6576448" cy="3448050"/>
          </a:xfrm>
        </p:grpSpPr>
        <p:pic>
          <p:nvPicPr>
            <p:cNvPr id="3074" name="Picture 2"/>
            <p:cNvPicPr>
              <a:picLocks noChangeAspect="1" noChangeArrowheads="1"/>
            </p:cNvPicPr>
            <p:nvPr/>
          </p:nvPicPr>
          <p:blipFill>
            <a:blip r:embed="rId2" cstate="print"/>
            <a:srcRect/>
            <a:stretch>
              <a:fillRect/>
            </a:stretch>
          </p:blipFill>
          <p:spPr bwMode="auto">
            <a:xfrm>
              <a:off x="1752600" y="2743200"/>
              <a:ext cx="6576448" cy="3448050"/>
            </a:xfrm>
            <a:prstGeom prst="rect">
              <a:avLst/>
            </a:prstGeom>
            <a:noFill/>
            <a:ln w="9525">
              <a:solidFill>
                <a:schemeClr val="bg1">
                  <a:lumMod val="50000"/>
                </a:schemeClr>
              </a:solidFill>
              <a:miter lim="800000"/>
              <a:headEnd/>
              <a:tailEnd/>
            </a:ln>
            <a:effectLst>
              <a:outerShdw blurRad="50800" dist="38100" algn="l" rotWithShape="0">
                <a:prstClr val="black">
                  <a:alpha val="40000"/>
                </a:prstClr>
              </a:outerShdw>
            </a:effectLst>
          </p:spPr>
        </p:pic>
        <p:sp>
          <p:nvSpPr>
            <p:cNvPr id="8" name="TextBox 7"/>
            <p:cNvSpPr txBox="1"/>
            <p:nvPr/>
          </p:nvSpPr>
          <p:spPr>
            <a:xfrm>
              <a:off x="5638800" y="33528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Observer interface in Java can be used internally within components to support the Observer design pattern.</a:t>
              </a:r>
              <a:endParaRPr lang="en-US" sz="1200" b="1" dirty="0">
                <a:solidFill>
                  <a:srgbClr val="C00000"/>
                </a:solidFill>
                <a:latin typeface="Bradley Hand ITC" pitchFamily="66" charset="0"/>
              </a:endParaRPr>
            </a:p>
          </p:txBody>
        </p:sp>
        <p:sp>
          <p:nvSpPr>
            <p:cNvPr id="9" name="Freeform 8"/>
            <p:cNvSpPr/>
            <p:nvPr/>
          </p:nvSpPr>
          <p:spPr>
            <a:xfrm flipH="1" flipV="1">
              <a:off x="4648200" y="3657600"/>
              <a:ext cx="914400" cy="266700"/>
            </a:xfrm>
            <a:custGeom>
              <a:avLst/>
              <a:gdLst>
                <a:gd name="connsiteX0" fmla="*/ 0 w 828675"/>
                <a:gd name="connsiteY0" fmla="*/ 177800 h 177800"/>
                <a:gd name="connsiteX1" fmla="*/ 419100 w 828675"/>
                <a:gd name="connsiteY1" fmla="*/ 15875 h 177800"/>
                <a:gd name="connsiteX2" fmla="*/ 828675 w 828675"/>
                <a:gd name="connsiteY2" fmla="*/ 82550 h 177800"/>
              </a:gdLst>
              <a:ahLst/>
              <a:cxnLst>
                <a:cxn ang="0">
                  <a:pos x="connsiteX0" y="connsiteY0"/>
                </a:cxn>
                <a:cxn ang="0">
                  <a:pos x="connsiteX1" y="connsiteY1"/>
                </a:cxn>
                <a:cxn ang="0">
                  <a:pos x="connsiteX2" y="connsiteY2"/>
                </a:cxn>
              </a:cxnLst>
              <a:rect l="l" t="t" r="r" b="b"/>
              <a:pathLst>
                <a:path w="828675" h="177800">
                  <a:moveTo>
                    <a:pt x="0" y="177800"/>
                  </a:moveTo>
                  <a:cubicBezTo>
                    <a:pt x="140494" y="104775"/>
                    <a:pt x="280988" y="31750"/>
                    <a:pt x="419100" y="15875"/>
                  </a:cubicBezTo>
                  <a:cubicBezTo>
                    <a:pt x="557213" y="0"/>
                    <a:pt x="692944" y="41275"/>
                    <a:pt x="828675" y="82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038600" y="5181600"/>
              <a:ext cx="2362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design of this interface specifies a well-defined method.</a:t>
              </a:r>
              <a:endParaRPr lang="en-US" sz="1200" b="1" dirty="0">
                <a:solidFill>
                  <a:srgbClr val="C00000"/>
                </a:solidFill>
                <a:latin typeface="Bradley Hand ITC" pitchFamily="66" charset="0"/>
              </a:endParaRPr>
            </a:p>
          </p:txBody>
        </p:sp>
        <p:sp>
          <p:nvSpPr>
            <p:cNvPr id="11" name="Freeform 10"/>
            <p:cNvSpPr/>
            <p:nvPr/>
          </p:nvSpPr>
          <p:spPr>
            <a:xfrm>
              <a:off x="3423673" y="5360988"/>
              <a:ext cx="691127" cy="125412"/>
            </a:xfrm>
            <a:custGeom>
              <a:avLst/>
              <a:gdLst>
                <a:gd name="connsiteX0" fmla="*/ 1209675 w 1209675"/>
                <a:gd name="connsiteY0" fmla="*/ 106362 h 106362"/>
                <a:gd name="connsiteX1" fmla="*/ 523875 w 1209675"/>
                <a:gd name="connsiteY1" fmla="*/ 1587 h 106362"/>
                <a:gd name="connsiteX2" fmla="*/ 0 w 1209675"/>
                <a:gd name="connsiteY2" fmla="*/ 96837 h 106362"/>
                <a:gd name="connsiteX3" fmla="*/ 0 w 1209675"/>
                <a:gd name="connsiteY3" fmla="*/ 96837 h 106362"/>
              </a:gdLst>
              <a:ahLst/>
              <a:cxnLst>
                <a:cxn ang="0">
                  <a:pos x="connsiteX0" y="connsiteY0"/>
                </a:cxn>
                <a:cxn ang="0">
                  <a:pos x="connsiteX1" y="connsiteY1"/>
                </a:cxn>
                <a:cxn ang="0">
                  <a:pos x="connsiteX2" y="connsiteY2"/>
                </a:cxn>
                <a:cxn ang="0">
                  <a:pos x="connsiteX3" y="connsiteY3"/>
                </a:cxn>
              </a:cxnLst>
              <a:rect l="l" t="t" r="r" b="b"/>
              <a:pathLst>
                <a:path w="1209675" h="106362">
                  <a:moveTo>
                    <a:pt x="1209675" y="106362"/>
                  </a:moveTo>
                  <a:cubicBezTo>
                    <a:pt x="967581" y="54768"/>
                    <a:pt x="725487" y="3174"/>
                    <a:pt x="523875" y="1587"/>
                  </a:cubicBezTo>
                  <a:cubicBezTo>
                    <a:pt x="322263" y="0"/>
                    <a:pt x="0" y="96837"/>
                    <a:pt x="0" y="96837"/>
                  </a:cubicBezTo>
                  <a:lnTo>
                    <a:pt x="0" y="96837"/>
                  </a:ln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 name="TextBox 11"/>
          <p:cNvSpPr txBox="1"/>
          <p:nvPr/>
        </p:nvSpPr>
        <p:spPr>
          <a:xfrm>
            <a:off x="6781800" y="2133600"/>
            <a:ext cx="1981200" cy="646331"/>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Note</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We can model this interface easily with UML.</a:t>
            </a:r>
            <a:endParaRPr lang="en-US" sz="1200" b="1" dirty="0">
              <a:solidFill>
                <a:srgbClr val="C00000"/>
              </a:solidFill>
              <a:latin typeface="Bradley Hand ITC" pitchFamily="66" charset="0"/>
            </a:endParaRPr>
          </a:p>
        </p:txBody>
      </p:sp>
      <p:sp>
        <p:nvSpPr>
          <p:cNvPr id="16" name="Freeform 15"/>
          <p:cNvSpPr/>
          <p:nvPr/>
        </p:nvSpPr>
        <p:spPr>
          <a:xfrm>
            <a:off x="7886700" y="2600325"/>
            <a:ext cx="266700" cy="428625"/>
          </a:xfrm>
          <a:custGeom>
            <a:avLst/>
            <a:gdLst>
              <a:gd name="connsiteX0" fmla="*/ 266700 w 266700"/>
              <a:gd name="connsiteY0" fmla="*/ 0 h 428625"/>
              <a:gd name="connsiteX1" fmla="*/ 219075 w 266700"/>
              <a:gd name="connsiteY1" fmla="*/ 333375 h 428625"/>
              <a:gd name="connsiteX2" fmla="*/ 0 w 266700"/>
              <a:gd name="connsiteY2" fmla="*/ 428625 h 428625"/>
            </a:gdLst>
            <a:ahLst/>
            <a:cxnLst>
              <a:cxn ang="0">
                <a:pos x="connsiteX0" y="connsiteY0"/>
              </a:cxn>
              <a:cxn ang="0">
                <a:pos x="connsiteX1" y="connsiteY1"/>
              </a:cxn>
              <a:cxn ang="0">
                <a:pos x="connsiteX2" y="connsiteY2"/>
              </a:cxn>
            </a:cxnLst>
            <a:rect l="l" t="t" r="r" b="b"/>
            <a:pathLst>
              <a:path w="266700" h="428625">
                <a:moveTo>
                  <a:pt x="266700" y="0"/>
                </a:moveTo>
                <a:cubicBezTo>
                  <a:pt x="265112" y="130969"/>
                  <a:pt x="263525" y="261938"/>
                  <a:pt x="219075" y="333375"/>
                </a:cubicBezTo>
                <a:cubicBezTo>
                  <a:pt x="174625" y="404812"/>
                  <a:pt x="87312" y="416718"/>
                  <a:pt x="0" y="4286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3" name="Picture 7"/>
          <p:cNvPicPr>
            <a:picLocks noChangeAspect="1" noChangeArrowheads="1"/>
          </p:cNvPicPr>
          <p:nvPr/>
        </p:nvPicPr>
        <p:blipFill>
          <a:blip r:embed="rId2" cstate="print"/>
          <a:srcRect/>
          <a:stretch>
            <a:fillRect/>
          </a:stretch>
        </p:blipFill>
        <p:spPr bwMode="auto">
          <a:xfrm>
            <a:off x="4191000" y="3657600"/>
            <a:ext cx="4248049" cy="2511228"/>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Creating Detailed Designs</a:t>
            </a:r>
            <a:endParaRPr lang="en-US" dirty="0"/>
          </a:p>
        </p:txBody>
      </p:sp>
      <p:sp>
        <p:nvSpPr>
          <p:cNvPr id="3" name="Content Placeholder 2"/>
          <p:cNvSpPr>
            <a:spLocks noGrp="1"/>
          </p:cNvSpPr>
          <p:nvPr>
            <p:ph idx="1"/>
          </p:nvPr>
        </p:nvSpPr>
        <p:spPr>
          <a:xfrm>
            <a:off x="457200" y="1371601"/>
            <a:ext cx="8229600" cy="761999"/>
          </a:xfrm>
        </p:spPr>
        <p:txBody>
          <a:bodyPr/>
          <a:lstStyle/>
          <a:p>
            <a:r>
              <a:rPr lang="en-US" dirty="0" smtClean="0"/>
              <a:t>Example of external interface design (from Wikipedia)</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4098" name="Picture 2"/>
          <p:cNvPicPr>
            <a:picLocks noChangeAspect="1" noChangeArrowheads="1"/>
          </p:cNvPicPr>
          <p:nvPr/>
        </p:nvPicPr>
        <p:blipFill>
          <a:blip r:embed="rId3" cstate="print"/>
          <a:srcRect/>
          <a:stretch>
            <a:fillRect/>
          </a:stretch>
        </p:blipFill>
        <p:spPr bwMode="auto">
          <a:xfrm>
            <a:off x="914400" y="1905000"/>
            <a:ext cx="6934200" cy="1099080"/>
          </a:xfrm>
          <a:prstGeom prst="rect">
            <a:avLst/>
          </a:prstGeom>
          <a:noFill/>
          <a:ln w="9525">
            <a:noFill/>
            <a:miter lim="800000"/>
            <a:headEnd/>
            <a:tailEnd/>
          </a:ln>
        </p:spPr>
      </p:pic>
      <p:sp>
        <p:nvSpPr>
          <p:cNvPr id="11" name="TextBox 10"/>
          <p:cNvSpPr txBox="1"/>
          <p:nvPr/>
        </p:nvSpPr>
        <p:spPr>
          <a:xfrm>
            <a:off x="762000" y="3048000"/>
            <a:ext cx="7543800" cy="646331"/>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This is already specified by the 802.3 standard, but, you may design your own application-specific messaging specification at the application level.  When you do so, you end up with an Interface Design Document containing all the information about the messaging format.  For example, see below</a:t>
            </a:r>
            <a:endParaRPr lang="en-US" sz="1200" b="1" dirty="0">
              <a:solidFill>
                <a:srgbClr val="C00000"/>
              </a:solidFill>
              <a:latin typeface="Bradley Hand ITC" pitchFamily="66" charset="0"/>
            </a:endParaRPr>
          </a:p>
        </p:txBody>
      </p:sp>
      <p:pic>
        <p:nvPicPr>
          <p:cNvPr id="4102" name="Picture 6"/>
          <p:cNvPicPr>
            <a:picLocks noChangeAspect="1" noChangeArrowheads="1"/>
          </p:cNvPicPr>
          <p:nvPr/>
        </p:nvPicPr>
        <p:blipFill>
          <a:blip r:embed="rId4" cstate="print"/>
          <a:srcRect/>
          <a:stretch>
            <a:fillRect/>
          </a:stretch>
        </p:blipFill>
        <p:spPr bwMode="auto">
          <a:xfrm>
            <a:off x="533400" y="3886200"/>
            <a:ext cx="3048000" cy="1781622"/>
          </a:xfrm>
          <a:prstGeom prst="rect">
            <a:avLst/>
          </a:prstGeom>
          <a:noFill/>
          <a:ln w="9525">
            <a:noFill/>
            <a:miter lim="800000"/>
            <a:headEnd/>
            <a:tailEnd/>
          </a:ln>
        </p:spPr>
      </p:pic>
      <p:sp>
        <p:nvSpPr>
          <p:cNvPr id="22" name="Freeform 21"/>
          <p:cNvSpPr/>
          <p:nvPr/>
        </p:nvSpPr>
        <p:spPr>
          <a:xfrm>
            <a:off x="561975" y="2628900"/>
            <a:ext cx="333375" cy="733425"/>
          </a:xfrm>
          <a:custGeom>
            <a:avLst/>
            <a:gdLst>
              <a:gd name="connsiteX0" fmla="*/ 219075 w 333375"/>
              <a:gd name="connsiteY0" fmla="*/ 733425 h 733425"/>
              <a:gd name="connsiteX1" fmla="*/ 19050 w 333375"/>
              <a:gd name="connsiteY1" fmla="*/ 285750 h 733425"/>
              <a:gd name="connsiteX2" fmla="*/ 333375 w 333375"/>
              <a:gd name="connsiteY2" fmla="*/ 0 h 733425"/>
            </a:gdLst>
            <a:ahLst/>
            <a:cxnLst>
              <a:cxn ang="0">
                <a:pos x="connsiteX0" y="connsiteY0"/>
              </a:cxn>
              <a:cxn ang="0">
                <a:pos x="connsiteX1" y="connsiteY1"/>
              </a:cxn>
              <a:cxn ang="0">
                <a:pos x="connsiteX2" y="connsiteY2"/>
              </a:cxn>
            </a:cxnLst>
            <a:rect l="l" t="t" r="r" b="b"/>
            <a:pathLst>
              <a:path w="333375" h="733425">
                <a:moveTo>
                  <a:pt x="219075" y="733425"/>
                </a:moveTo>
                <a:cubicBezTo>
                  <a:pt x="109537" y="570706"/>
                  <a:pt x="0" y="407987"/>
                  <a:pt x="19050" y="285750"/>
                </a:cubicBezTo>
                <a:cubicBezTo>
                  <a:pt x="38100" y="163513"/>
                  <a:pt x="185737" y="81756"/>
                  <a:pt x="3333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5486400" y="3505200"/>
            <a:ext cx="762000" cy="152400"/>
          </a:xfrm>
          <a:custGeom>
            <a:avLst/>
            <a:gdLst>
              <a:gd name="connsiteX0" fmla="*/ 0 w 449262"/>
              <a:gd name="connsiteY0" fmla="*/ 0 h 190500"/>
              <a:gd name="connsiteX1" fmla="*/ 390525 w 449262"/>
              <a:gd name="connsiteY1" fmla="*/ 38100 h 190500"/>
              <a:gd name="connsiteX2" fmla="*/ 352425 w 449262"/>
              <a:gd name="connsiteY2" fmla="*/ 190500 h 190500"/>
            </a:gdLst>
            <a:ahLst/>
            <a:cxnLst>
              <a:cxn ang="0">
                <a:pos x="connsiteX0" y="connsiteY0"/>
              </a:cxn>
              <a:cxn ang="0">
                <a:pos x="connsiteX1" y="connsiteY1"/>
              </a:cxn>
              <a:cxn ang="0">
                <a:pos x="connsiteX2" y="connsiteY2"/>
              </a:cxn>
            </a:cxnLst>
            <a:rect l="l" t="t" r="r" b="b"/>
            <a:pathLst>
              <a:path w="449262" h="190500">
                <a:moveTo>
                  <a:pt x="0" y="0"/>
                </a:moveTo>
                <a:cubicBezTo>
                  <a:pt x="165894" y="3175"/>
                  <a:pt x="331788" y="6350"/>
                  <a:pt x="390525" y="38100"/>
                </a:cubicBezTo>
                <a:cubicBezTo>
                  <a:pt x="449262" y="69850"/>
                  <a:pt x="400843" y="130175"/>
                  <a:pt x="352425" y="190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1143000" y="5410200"/>
            <a:ext cx="3048000" cy="609600"/>
          </a:xfrm>
          <a:custGeom>
            <a:avLst/>
            <a:gdLst>
              <a:gd name="connsiteX0" fmla="*/ 0 w 3162300"/>
              <a:gd name="connsiteY0" fmla="*/ 28575 h 381000"/>
              <a:gd name="connsiteX1" fmla="*/ 419100 w 3162300"/>
              <a:gd name="connsiteY1" fmla="*/ 66675 h 381000"/>
              <a:gd name="connsiteX2" fmla="*/ 1009650 w 3162300"/>
              <a:gd name="connsiteY2" fmla="*/ 285750 h 381000"/>
              <a:gd name="connsiteX3" fmla="*/ 2266950 w 3162300"/>
              <a:gd name="connsiteY3" fmla="*/ 333375 h 381000"/>
              <a:gd name="connsiteX4" fmla="*/ 3162300 w 3162300"/>
              <a:gd name="connsiteY4" fmla="*/ 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300" h="381000">
                <a:moveTo>
                  <a:pt x="0" y="28575"/>
                </a:moveTo>
                <a:cubicBezTo>
                  <a:pt x="125412" y="26194"/>
                  <a:pt x="250825" y="23813"/>
                  <a:pt x="419100" y="66675"/>
                </a:cubicBezTo>
                <a:cubicBezTo>
                  <a:pt x="587375" y="109538"/>
                  <a:pt x="701675" y="241300"/>
                  <a:pt x="1009650" y="285750"/>
                </a:cubicBezTo>
                <a:cubicBezTo>
                  <a:pt x="1317625" y="330200"/>
                  <a:pt x="1908175" y="381000"/>
                  <a:pt x="2266950" y="333375"/>
                </a:cubicBezTo>
                <a:cubicBezTo>
                  <a:pt x="2625725" y="285750"/>
                  <a:pt x="2894012" y="142875"/>
                  <a:pt x="3162300" y="0"/>
                </a:cubicBezTo>
              </a:path>
            </a:pathLst>
          </a:custGeom>
          <a:ln w="6350">
            <a:solidFill>
              <a:srgbClr val="C00000"/>
            </a:solidFill>
            <a:prstDash val="dash"/>
            <a:headEnd type="ova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762000" y="5848350"/>
            <a:ext cx="1828800" cy="646331"/>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The CMHP Header is designed as seen in the table to the right. </a:t>
            </a:r>
            <a:endParaRPr lang="en-US" sz="1200" b="1" dirty="0">
              <a:solidFill>
                <a:srgbClr val="C00000"/>
              </a:solidFill>
              <a:latin typeface="Bradley Hand ITC" pitchFamily="66" charset="0"/>
            </a:endParaRPr>
          </a:p>
        </p:txBody>
      </p:sp>
      <p:sp>
        <p:nvSpPr>
          <p:cNvPr id="27" name="TextBox 26"/>
          <p:cNvSpPr txBox="1"/>
          <p:nvPr/>
        </p:nvSpPr>
        <p:spPr>
          <a:xfrm>
            <a:off x="2295525" y="6267450"/>
            <a:ext cx="6781800" cy="400110"/>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800" dirty="0" smtClean="0"/>
              <a:t>Example extracted from : https://faaco.faa.gov/attachments/5B9EDCCD-D566-F405-67840C21B590D68C.pdf</a:t>
            </a:r>
          </a:p>
          <a:p>
            <a:r>
              <a:rPr lang="en-US" sz="1200" b="1" dirty="0" smtClean="0">
                <a:solidFill>
                  <a:srgbClr val="C00000"/>
                </a:solidFill>
                <a:latin typeface="Bradley Hand ITC" pitchFamily="66" charset="0"/>
              </a:rPr>
              <a:t>  </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Detailed Designs</a:t>
            </a:r>
            <a:endParaRPr lang="en-US" dirty="0"/>
          </a:p>
        </p:txBody>
      </p:sp>
      <p:sp>
        <p:nvSpPr>
          <p:cNvPr id="3" name="Content Placeholder 2"/>
          <p:cNvSpPr>
            <a:spLocks noGrp="1"/>
          </p:cNvSpPr>
          <p:nvPr>
            <p:ph idx="1"/>
          </p:nvPr>
        </p:nvSpPr>
        <p:spPr>
          <a:xfrm>
            <a:off x="457200" y="1371601"/>
            <a:ext cx="8229600" cy="609599"/>
          </a:xfrm>
        </p:spPr>
        <p:txBody>
          <a:bodyPr/>
          <a:lstStyle/>
          <a:p>
            <a:r>
              <a:rPr lang="en-US" dirty="0" smtClean="0"/>
              <a:t>Another example of external interface design in XML</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7" name="Picture 4"/>
          <p:cNvPicPr>
            <a:picLocks noChangeAspect="1" noChangeArrowheads="1"/>
          </p:cNvPicPr>
          <p:nvPr/>
        </p:nvPicPr>
        <p:blipFill>
          <a:blip r:embed="rId2" cstate="print"/>
          <a:srcRect/>
          <a:stretch>
            <a:fillRect/>
          </a:stretch>
        </p:blipFill>
        <p:spPr bwMode="auto">
          <a:xfrm>
            <a:off x="4800600" y="2133600"/>
            <a:ext cx="3687233" cy="1981200"/>
          </a:xfrm>
          <a:prstGeom prst="rect">
            <a:avLst/>
          </a:prstGeom>
          <a:noFill/>
          <a:ln w="9525">
            <a:noFill/>
            <a:miter lim="800000"/>
            <a:headEnd/>
            <a:tailEnd/>
          </a:ln>
          <a:effectLst>
            <a:outerShdw blurRad="50800" dist="38100" dir="18900000" algn="bl" rotWithShape="0">
              <a:prstClr val="black">
                <a:alpha val="40000"/>
              </a:prstClr>
            </a:outerShdw>
          </a:effectLst>
        </p:spPr>
      </p:pic>
      <p:pic>
        <p:nvPicPr>
          <p:cNvPr id="8" name="Picture 5"/>
          <p:cNvPicPr>
            <a:picLocks noChangeAspect="1" noChangeArrowheads="1"/>
          </p:cNvPicPr>
          <p:nvPr/>
        </p:nvPicPr>
        <p:blipFill>
          <a:blip r:embed="rId3" cstate="print"/>
          <a:srcRect/>
          <a:stretch>
            <a:fillRect/>
          </a:stretch>
        </p:blipFill>
        <p:spPr bwMode="auto">
          <a:xfrm>
            <a:off x="685800" y="2133600"/>
            <a:ext cx="3581400" cy="3368319"/>
          </a:xfrm>
          <a:prstGeom prst="rect">
            <a:avLst/>
          </a:prstGeom>
          <a:noFill/>
          <a:ln w="6350">
            <a:noFill/>
            <a:miter lim="800000"/>
            <a:headEnd/>
            <a:tailEnd/>
          </a:ln>
          <a:effectLst>
            <a:outerShdw blurRad="50800" dist="38100" dir="18900000" algn="bl" rotWithShape="0">
              <a:prstClr val="black">
                <a:alpha val="40000"/>
              </a:prstClr>
            </a:outerShdw>
          </a:effectLst>
        </p:spPr>
      </p:pic>
      <p:sp>
        <p:nvSpPr>
          <p:cNvPr id="9" name="Rectangle 8"/>
          <p:cNvSpPr/>
          <p:nvPr/>
        </p:nvSpPr>
        <p:spPr>
          <a:xfrm>
            <a:off x="4495800" y="5334000"/>
            <a:ext cx="4114800" cy="276999"/>
          </a:xfrm>
          <a:prstGeom prst="rect">
            <a:avLst/>
          </a:prstGeom>
        </p:spPr>
        <p:txBody>
          <a:bodyPr wrap="square">
            <a:spAutoFit/>
          </a:bodyPr>
          <a:lstStyle/>
          <a:p>
            <a:r>
              <a:rPr lang="en-US" sz="1200" dirty="0" smtClean="0"/>
              <a:t>http://msdn.microsoft.com/en-us/magazine/cc188900.aspx#S2</a:t>
            </a:r>
            <a:endParaRPr lang="en-US" sz="1200" dirty="0"/>
          </a:p>
        </p:txBody>
      </p:sp>
      <p:sp>
        <p:nvSpPr>
          <p:cNvPr id="10" name="TextBox 9"/>
          <p:cNvSpPr txBox="1"/>
          <p:nvPr/>
        </p:nvSpPr>
        <p:spPr>
          <a:xfrm>
            <a:off x="5181600" y="4343400"/>
            <a:ext cx="3124200" cy="646331"/>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Example extracted from link below. For more details of this example, please navigate to the link below</a:t>
            </a:r>
            <a:endParaRPr lang="en-US" sz="1200" b="1" dirty="0">
              <a:solidFill>
                <a:srgbClr val="C00000"/>
              </a:solidFill>
              <a:latin typeface="Bradley Hand ITC" pitchFamily="66" charset="0"/>
            </a:endParaRPr>
          </a:p>
        </p:txBody>
      </p:sp>
      <p:sp>
        <p:nvSpPr>
          <p:cNvPr id="11" name="Freeform 10"/>
          <p:cNvSpPr/>
          <p:nvPr/>
        </p:nvSpPr>
        <p:spPr>
          <a:xfrm>
            <a:off x="7715250" y="4810125"/>
            <a:ext cx="406400" cy="552450"/>
          </a:xfrm>
          <a:custGeom>
            <a:avLst/>
            <a:gdLst>
              <a:gd name="connsiteX0" fmla="*/ 0 w 406400"/>
              <a:gd name="connsiteY0" fmla="*/ 0 h 552450"/>
              <a:gd name="connsiteX1" fmla="*/ 371475 w 406400"/>
              <a:gd name="connsiteY1" fmla="*/ 209550 h 552450"/>
              <a:gd name="connsiteX2" fmla="*/ 209550 w 406400"/>
              <a:gd name="connsiteY2" fmla="*/ 552450 h 552450"/>
            </a:gdLst>
            <a:ahLst/>
            <a:cxnLst>
              <a:cxn ang="0">
                <a:pos x="connsiteX0" y="connsiteY0"/>
              </a:cxn>
              <a:cxn ang="0">
                <a:pos x="connsiteX1" y="connsiteY1"/>
              </a:cxn>
              <a:cxn ang="0">
                <a:pos x="connsiteX2" y="connsiteY2"/>
              </a:cxn>
            </a:cxnLst>
            <a:rect l="l" t="t" r="r" b="b"/>
            <a:pathLst>
              <a:path w="406400" h="552450">
                <a:moveTo>
                  <a:pt x="0" y="0"/>
                </a:moveTo>
                <a:cubicBezTo>
                  <a:pt x="168275" y="58737"/>
                  <a:pt x="336550" y="117475"/>
                  <a:pt x="371475" y="209550"/>
                </a:cubicBezTo>
                <a:cubicBezTo>
                  <a:pt x="406400" y="301625"/>
                  <a:pt x="307975" y="427037"/>
                  <a:pt x="209550" y="552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Evaluating Detailed Designs</a:t>
            </a:r>
            <a:endParaRPr lang="en-US" dirty="0"/>
          </a:p>
        </p:txBody>
      </p:sp>
      <p:sp>
        <p:nvSpPr>
          <p:cNvPr id="3" name="Content Placeholder 2"/>
          <p:cNvSpPr>
            <a:spLocks noGrp="1"/>
          </p:cNvSpPr>
          <p:nvPr>
            <p:ph idx="1"/>
          </p:nvPr>
        </p:nvSpPr>
        <p:spPr>
          <a:xfrm>
            <a:off x="457200" y="1371601"/>
            <a:ext cx="8229600" cy="4952999"/>
          </a:xfrm>
        </p:spPr>
        <p:txBody>
          <a:bodyPr>
            <a:normAutofit fontScale="92500"/>
          </a:bodyPr>
          <a:lstStyle/>
          <a:p>
            <a:r>
              <a:rPr lang="en-US" dirty="0" smtClean="0"/>
              <a:t>Logical designs are verified using static techniques; that is, through non-execution of the software application.  </a:t>
            </a:r>
          </a:p>
          <a:p>
            <a:pPr lvl="1"/>
            <a:r>
              <a:rPr lang="en-US" dirty="0" smtClean="0"/>
              <a:t>This makes sense since at this point, the software has not been constructed!</a:t>
            </a:r>
          </a:p>
          <a:p>
            <a:pPr lvl="1"/>
            <a:endParaRPr lang="en-US" dirty="0" smtClean="0"/>
          </a:p>
          <a:p>
            <a:r>
              <a:rPr lang="en-US" dirty="0" smtClean="0"/>
              <a:t>The most popular technique for evaluating detailed designs involves </a:t>
            </a:r>
            <a:r>
              <a:rPr lang="en-US" i="1" dirty="0" smtClean="0"/>
              <a:t>Technical Reviews.  </a:t>
            </a:r>
            <a:r>
              <a:rPr lang="en-US" dirty="0" smtClean="0"/>
              <a:t>When conducting technical reviews, keep in mind the following:</a:t>
            </a:r>
          </a:p>
          <a:p>
            <a:pPr lvl="1"/>
            <a:r>
              <a:rPr lang="en-US" dirty="0" smtClean="0"/>
              <a:t>Send a review notice with enough time for others to have appropriate time to thoroughly review the design.</a:t>
            </a:r>
          </a:p>
          <a:p>
            <a:pPr lvl="1"/>
            <a:r>
              <a:rPr lang="en-US" dirty="0" smtClean="0"/>
              <a:t>Include a technical expert in the review team, as well as stakeholders of your design.</a:t>
            </a:r>
          </a:p>
          <a:p>
            <a:pPr lvl="1"/>
            <a:r>
              <a:rPr lang="en-US" dirty="0" smtClean="0"/>
              <a:t>Include a member of the software quality assurance or testing team in the review.</a:t>
            </a:r>
          </a:p>
          <a:p>
            <a:pPr lvl="1"/>
            <a:r>
              <a:rPr lang="en-US" dirty="0" smtClean="0"/>
              <a:t>During the review, focus on the important aspects of your designs; those that show how your design helps meet functional and non-functional requirements.</a:t>
            </a:r>
          </a:p>
          <a:p>
            <a:pPr lvl="1"/>
            <a:r>
              <a:rPr lang="en-US" dirty="0" smtClean="0"/>
              <a:t>Document the review process.</a:t>
            </a:r>
          </a:p>
          <a:p>
            <a:pPr lvl="2"/>
            <a:r>
              <a:rPr lang="en-US" sz="1400" dirty="0" smtClean="0"/>
              <a:t>Make sure that any action items generated during the review are captured and assigned for processing.</a:t>
            </a:r>
          </a:p>
          <a:p>
            <a:pPr lvl="1"/>
            <a:endParaRPr lang="en-US" i="1"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Documenting Detailed Designs</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r>
              <a:rPr lang="en-US" dirty="0" smtClean="0"/>
              <a:t>Documentation of a project’s software design is mostly captured in the software design document (SDD), also known as software design description.  The SDD is used widely throughout the development of the software.</a:t>
            </a:r>
          </a:p>
          <a:p>
            <a:pPr lvl="1"/>
            <a:r>
              <a:rPr lang="en-US" dirty="0" smtClean="0"/>
              <a:t>Used by programmers, testers, maintainers, systems integrators, etc.</a:t>
            </a:r>
          </a:p>
          <a:p>
            <a:pPr lvl="1"/>
            <a:endParaRPr lang="en-US" dirty="0" smtClean="0"/>
          </a:p>
          <a:p>
            <a:r>
              <a:rPr lang="en-US" dirty="0" smtClean="0"/>
              <a:t>Other forms of documentation include:</a:t>
            </a:r>
          </a:p>
          <a:p>
            <a:pPr lvl="1"/>
            <a:r>
              <a:rPr lang="en-US" dirty="0" smtClean="0"/>
              <a:t>Interface Control Document</a:t>
            </a:r>
          </a:p>
          <a:p>
            <a:pPr lvl="2"/>
            <a:r>
              <a:rPr lang="en-US" dirty="0" smtClean="0"/>
              <a:t>Serves as written contract between components of the system software as to how they communicate.</a:t>
            </a:r>
          </a:p>
          <a:p>
            <a:pPr lvl="1"/>
            <a:r>
              <a:rPr lang="en-US" dirty="0" smtClean="0"/>
              <a:t>Version Control Document</a:t>
            </a:r>
          </a:p>
          <a:p>
            <a:pPr lvl="2"/>
            <a:r>
              <a:rPr lang="en-US" dirty="0" smtClean="0"/>
              <a:t>Contains information about what is included in a software release, including different files, scripts and executable.  Different versions of the design depend on specific software release.</a:t>
            </a:r>
          </a:p>
          <a:p>
            <a:pPr lvl="1">
              <a:buNone/>
            </a:pP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Documenting Detailed Designs</a:t>
            </a:r>
            <a:endParaRPr lang="en-US" dirty="0"/>
          </a:p>
        </p:txBody>
      </p:sp>
      <p:sp>
        <p:nvSpPr>
          <p:cNvPr id="3" name="Content Placeholder 2"/>
          <p:cNvSpPr>
            <a:spLocks noGrp="1"/>
          </p:cNvSpPr>
          <p:nvPr>
            <p:ph idx="1"/>
          </p:nvPr>
        </p:nvSpPr>
        <p:spPr>
          <a:xfrm>
            <a:off x="457200" y="1371601"/>
            <a:ext cx="8229600" cy="685799"/>
          </a:xfrm>
        </p:spPr>
        <p:txBody>
          <a:bodyPr/>
          <a:lstStyle/>
          <a:p>
            <a:r>
              <a:rPr lang="en-US" dirty="0" smtClean="0"/>
              <a:t>The sections of the SDD and sample table of contents: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7" name="Picture 2"/>
          <p:cNvPicPr>
            <a:picLocks noChangeAspect="1" noChangeArrowheads="1"/>
          </p:cNvPicPr>
          <p:nvPr/>
        </p:nvPicPr>
        <p:blipFill>
          <a:blip r:embed="rId2" cstate="print"/>
          <a:srcRect/>
          <a:stretch>
            <a:fillRect/>
          </a:stretch>
        </p:blipFill>
        <p:spPr bwMode="auto">
          <a:xfrm>
            <a:off x="533399" y="1981200"/>
            <a:ext cx="5336417" cy="4038600"/>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a:stretch>
            <a:fillRect/>
          </a:stretch>
        </p:blipFill>
        <p:spPr bwMode="auto">
          <a:xfrm>
            <a:off x="6172200" y="1962150"/>
            <a:ext cx="2375400" cy="4076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Implementation</a:t>
            </a:r>
            <a:endParaRPr lang="en-US" dirty="0"/>
          </a:p>
        </p:txBody>
      </p:sp>
      <p:sp>
        <p:nvSpPr>
          <p:cNvPr id="3" name="Content Placeholder 2"/>
          <p:cNvSpPr>
            <a:spLocks noGrp="1"/>
          </p:cNvSpPr>
          <p:nvPr>
            <p:ph idx="1"/>
          </p:nvPr>
        </p:nvSpPr>
        <p:spPr/>
        <p:txBody>
          <a:bodyPr/>
          <a:lstStyle/>
          <a:p>
            <a:r>
              <a:rPr lang="en-US" dirty="0" smtClean="0"/>
              <a:t>Detailed design synchronicity is concerned with the degree of how well detailed designs adhere to the software architecture and how well software code adheres to the detailed design.</a:t>
            </a:r>
          </a:p>
          <a:p>
            <a:pPr lvl="1"/>
            <a:r>
              <a:rPr lang="en-US" dirty="0" smtClean="0"/>
              <a:t>Low degree of synchronicity points to a flaw in the process and can lead to software project failure.</a:t>
            </a:r>
          </a:p>
          <a:p>
            <a:pPr lvl="1"/>
            <a:endParaRPr lang="en-US" dirty="0" smtClean="0"/>
          </a:p>
          <a:p>
            <a:r>
              <a:rPr lang="en-US" dirty="0" smtClean="0"/>
              <a:t>Particular attention needs to be paid when projects enter the maintenance phase or when new engineers are brought into the project.</a:t>
            </a:r>
          </a:p>
          <a:p>
            <a:endParaRPr lang="en-US" dirty="0" smtClean="0"/>
          </a:p>
          <a:p>
            <a:r>
              <a:rPr lang="en-US" dirty="0" smtClean="0"/>
              <a:t>Processes must be in place to ensure that overall synchronicity is high</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fundamentals concepts of the detailed design activity, including:</a:t>
            </a:r>
          </a:p>
          <a:p>
            <a:pPr lvl="1"/>
            <a:r>
              <a:rPr lang="en-US" dirty="0" smtClean="0"/>
              <a:t>What is detailed design?</a:t>
            </a:r>
          </a:p>
          <a:p>
            <a:pPr lvl="1"/>
            <a:r>
              <a:rPr lang="en-US" dirty="0" smtClean="0"/>
              <a:t>Key tasks in detailed design</a:t>
            </a:r>
          </a:p>
          <a:p>
            <a:pPr lvl="1">
              <a:buNone/>
            </a:pPr>
            <a:endParaRPr lang="en-US" dirty="0" smtClean="0"/>
          </a:p>
          <a:p>
            <a:r>
              <a:rPr lang="en-US" dirty="0" smtClean="0"/>
              <a:t>In the next session, we will present a more in depth coverage of designing the internal structure of components.   This will be necessary to become effective designers, especially when working with design patterns.</a:t>
            </a:r>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IEEE.  “IEEE Standard Glossary of Software Engineering Terminology.” IEEE, 1990, p.34.</a:t>
            </a:r>
          </a:p>
          <a:p>
            <a:r>
              <a:rPr lang="en-US" dirty="0" smtClean="0"/>
              <a:t>[2] Clements, Paul, Felix Bachmann, Len Bass, David </a:t>
            </a:r>
            <a:r>
              <a:rPr lang="en-US" dirty="0" err="1" smtClean="0"/>
              <a:t>Garlan</a:t>
            </a:r>
            <a:r>
              <a:rPr lang="en-US" dirty="0" smtClean="0"/>
              <a:t>, James </a:t>
            </a:r>
            <a:r>
              <a:rPr lang="en-US" dirty="0" err="1" smtClean="0"/>
              <a:t>Ivers</a:t>
            </a:r>
            <a:r>
              <a:rPr lang="en-US" dirty="0" smtClean="0"/>
              <a:t>, Reed Little, Robert Nord, and Judith Stafford.  </a:t>
            </a:r>
            <a:r>
              <a:rPr lang="en-US" i="1" dirty="0" smtClean="0"/>
              <a:t>Documenting Software Architectures. Boston</a:t>
            </a:r>
            <a:r>
              <a:rPr lang="en-US" dirty="0" smtClean="0"/>
              <a:t>, MA: Addison Wesley, 2001.</a:t>
            </a:r>
          </a:p>
          <a:p>
            <a:r>
              <a:rPr lang="en-US" dirty="0" smtClean="0"/>
              <a:t>[3]  </a:t>
            </a:r>
            <a:r>
              <a:rPr lang="en-US" dirty="0" err="1" smtClean="0"/>
              <a:t>Sommerville</a:t>
            </a:r>
            <a:r>
              <a:rPr lang="en-US" dirty="0" smtClean="0"/>
              <a:t>, Ian.  Software Engineering, 9</a:t>
            </a:r>
            <a:r>
              <a:rPr lang="en-US" baseline="30000" dirty="0" smtClean="0"/>
              <a:t>th</a:t>
            </a:r>
            <a:r>
              <a:rPr lang="en-US" dirty="0" smtClean="0"/>
              <a:t> ed. </a:t>
            </a:r>
            <a:r>
              <a:rPr lang="en-US" i="1" dirty="0" smtClean="0"/>
              <a:t>Boston</a:t>
            </a:r>
            <a:r>
              <a:rPr lang="en-US" dirty="0" smtClean="0"/>
              <a:t>, MA: Addison Wesley, 2010.</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13/10/2013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11278</TotalTime>
  <Words>1765</Words>
  <Application>Microsoft Office PowerPoint</Application>
  <PresentationFormat>On-screen Show (4:3)</PresentationFormat>
  <Paragraphs>210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UVa-Wise-Clean-BW</vt:lpstr>
      <vt:lpstr>Chapter 5: Principles of Detailed Design</vt:lpstr>
      <vt:lpstr>Session’s Agenda</vt:lpstr>
      <vt:lpstr>First, Let’s Think About Where We Are…</vt:lpstr>
      <vt:lpstr>What is Detailed Design?</vt:lpstr>
      <vt:lpstr>What is Detailed Design?</vt:lpstr>
      <vt:lpstr>What is Detailed Design?</vt:lpstr>
      <vt:lpstr>Key Tasks in Detailed Design</vt:lpstr>
      <vt:lpstr>Understanding the Architecture and Requirements</vt:lpstr>
      <vt:lpstr>Creating Detailed Designs</vt:lpstr>
      <vt:lpstr>Creating Detailed Designs</vt:lpstr>
      <vt:lpstr>Creating Detailed Designs</vt:lpstr>
      <vt:lpstr>Creating Detailed Designs</vt:lpstr>
      <vt:lpstr>Evaluating Detailed Designs</vt:lpstr>
      <vt:lpstr>Documenting Detailed Designs</vt:lpstr>
      <vt:lpstr>Documenting Detailed Designs</vt:lpstr>
      <vt:lpstr>Managing Implementation</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802</cp:revision>
  <dcterms:created xsi:type="dcterms:W3CDTF">2006-08-16T00:00:00Z</dcterms:created>
  <dcterms:modified xsi:type="dcterms:W3CDTF">2013-10-12T22:47:12Z</dcterms:modified>
</cp:coreProperties>
</file>
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257" r:id="rId3"/>
    <p:sldId id="292" r:id="rId4"/>
    <p:sldId id="293" r:id="rId5"/>
    <p:sldId id="294" r:id="rId6"/>
    <p:sldId id="295" r:id="rId7"/>
    <p:sldId id="296" r:id="rId8"/>
    <p:sldId id="297" r:id="rId9"/>
    <p:sldId id="302" r:id="rId10"/>
    <p:sldId id="298" r:id="rId11"/>
    <p:sldId id="303" r:id="rId12"/>
    <p:sldId id="299" r:id="rId13"/>
    <p:sldId id="304" r:id="rId14"/>
    <p:sldId id="305" r:id="rId15"/>
    <p:sldId id="306" r:id="rId16"/>
    <p:sldId id="300" r:id="rId17"/>
    <p:sldId id="301" r:id="rId18"/>
    <p:sldId id="307" r:id="rId19"/>
    <p:sldId id="308" r:id="rId20"/>
    <p:sldId id="290" r:id="rId21"/>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294" y="-15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9B3061A-7F4E-4E3A-A627-E1FC384385A9}" type="datetimeFigureOut">
              <a:rPr lang="en-US" smtClean="0"/>
              <a:pPr/>
              <a:t>10/3/2012</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58D7772-57C4-43FE-B30D-FBB40B6BD3D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10/3/2012</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smtClean="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smtClean="0">
                <a:solidFill>
                  <a:srgbClr val="C00000"/>
                </a:solidFill>
                <a:latin typeface="Times New Roman" pitchFamily="18" charset="0"/>
                <a:cs typeface="Times New Roman" pitchFamily="18" charset="0"/>
              </a:rPr>
              <a:t>Software Engineering Design: Theory and Practice</a:t>
            </a:r>
            <a:r>
              <a:rPr lang="en-US" i="1" dirty="0" smtClean="0">
                <a:solidFill>
                  <a:srgbClr val="C00000"/>
                </a:solidFill>
                <a:latin typeface="Times New Roman" pitchFamily="18" charset="0"/>
                <a:cs typeface="Times New Roman" pitchFamily="18" charset="0"/>
              </a:rPr>
              <a:t> </a:t>
            </a:r>
            <a:endParaRPr lang="en-US" i="1" dirty="0">
              <a:solidFill>
                <a:srgbClr val="C00000"/>
              </a:solidFill>
              <a:latin typeface="Times New Roman" pitchFamily="18" charset="0"/>
              <a:cs typeface="Times New Roman" pitchFamily="18" charset="0"/>
            </a:endParaRPr>
          </a:p>
          <a:p>
            <a:r>
              <a:rPr lang="en-US" sz="1600" b="0" dirty="0">
                <a:latin typeface="Times New Roman" pitchFamily="18" charset="0"/>
                <a:cs typeface="Times New Roman" pitchFamily="18" charset="0"/>
              </a:rPr>
              <a:t>by </a:t>
            </a:r>
            <a:r>
              <a:rPr lang="en-US" sz="1600" b="0" dirty="0" smtClean="0">
                <a:latin typeface="Times New Roman" pitchFamily="18" charset="0"/>
                <a:cs typeface="Times New Roman" pitchFamily="18" charset="0"/>
              </a:rPr>
              <a:t>Carlos</a:t>
            </a:r>
            <a:r>
              <a:rPr lang="en-US" sz="1600" b="0" baseline="0" dirty="0" smtClean="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a:t>
            </a:r>
            <a:r>
              <a:rPr lang="en-US" sz="1200" b="1" dirty="0" smtClean="0">
                <a:latin typeface="Times New Roman" pitchFamily="18" charset="0"/>
                <a:cs typeface="Times New Roman" pitchFamily="18" charset="0"/>
              </a:rPr>
              <a:t>2012</a:t>
            </a:r>
            <a:r>
              <a:rPr lang="en-US" sz="1800" dirty="0" smtClean="0">
                <a:latin typeface="Times New Roman" pitchFamily="18" charset="0"/>
                <a:cs typeface="Times New Roman" pitchFamily="18" charset="0"/>
              </a:rPr>
              <a:t> </a:t>
            </a:r>
            <a:r>
              <a:rPr lang="en-US" sz="1200" b="1" dirty="0">
                <a:latin typeface="Times New Roman" pitchFamily="18" charset="0"/>
                <a:cs typeface="Times New Roman" pitchFamily="18" charset="0"/>
              </a:rPr>
              <a:t>by </a:t>
            </a:r>
            <a:r>
              <a:rPr lang="en-US" sz="1200" b="1" dirty="0" smtClean="0">
                <a:latin typeface="Times New Roman" pitchFamily="18" charset="0"/>
                <a:cs typeface="Times New Roman" pitchFamily="18" charset="0"/>
              </a:rPr>
              <a:t>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a:t>
            </a:r>
            <a:r>
              <a:rPr lang="en-US" sz="1200" dirty="0" smtClean="0">
                <a:latin typeface="Times New Roman" pitchFamily="18" charset="0"/>
                <a:cs typeface="Times New Roman" pitchFamily="18" charset="0"/>
              </a:rPr>
              <a:t>only for </a:t>
            </a:r>
            <a:r>
              <a:rPr lang="en-US" sz="1200" dirty="0">
                <a:latin typeface="Times New Roman" pitchFamily="18" charset="0"/>
                <a:cs typeface="Times New Roman" pitchFamily="18" charset="0"/>
              </a:rPr>
              <a:t>student use </a:t>
            </a:r>
            <a:r>
              <a:rPr lang="en-US" sz="1200" dirty="0" smtClean="0">
                <a:latin typeface="Times New Roman" pitchFamily="18" charset="0"/>
                <a:cs typeface="Times New Roman" pitchFamily="18" charset="0"/>
              </a:rPr>
              <a:t>when </a:t>
            </a:r>
            <a:r>
              <a:rPr lang="en-US" sz="1200" dirty="0">
                <a:latin typeface="Times New Roman" pitchFamily="18" charset="0"/>
                <a:cs typeface="Times New Roman" pitchFamily="18" charset="0"/>
              </a:rPr>
              <a:t>used in conjunction with </a:t>
            </a:r>
            <a:r>
              <a:rPr lang="en-US" sz="1200" i="1" dirty="0">
                <a:latin typeface="Times New Roman" pitchFamily="18" charset="0"/>
                <a:cs typeface="Times New Roman" pitchFamily="18" charset="0"/>
              </a:rPr>
              <a:t>Software </a:t>
            </a:r>
            <a:r>
              <a:rPr lang="en-US" sz="1200" i="1" dirty="0" smtClean="0">
                <a:latin typeface="Times New Roman" pitchFamily="18" charset="0"/>
                <a:cs typeface="Times New Roman" pitchFamily="18" charset="0"/>
              </a:rPr>
              <a:t>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a:t>
            </a:r>
            <a:r>
              <a:rPr lang="en-US" sz="1200" dirty="0" smtClean="0">
                <a:latin typeface="Times New Roman" pitchFamily="18" charset="0"/>
                <a:cs typeface="Times New Roman" pitchFamily="18" charset="0"/>
              </a:rPr>
              <a:t>must appear </a:t>
            </a:r>
            <a:r>
              <a:rPr lang="en-US" sz="1200" dirty="0">
                <a:latin typeface="Times New Roman" pitchFamily="18" charset="0"/>
                <a:cs typeface="Times New Roman" pitchFamily="18" charset="0"/>
              </a:rPr>
              <a:t>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10/3/2012</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10/3/2012</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10/3/2012</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10/3/2012</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10/3/2012</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10/3/2012</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10/3/2012</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10/3/2012</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10/3/2012</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10/3/2012</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10/3/2012</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smtClean="0"/>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emf"/><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emf"/></Relationships>
</file>

<file path=ppt/slides/_rels/slide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Chapter 2: Software Design with the</a:t>
            </a:r>
            <a:br>
              <a:rPr lang="en-US" dirty="0" smtClean="0"/>
            </a:br>
            <a:r>
              <a:rPr lang="en-US" dirty="0" smtClean="0"/>
              <a:t>Unified Modeling Language</a:t>
            </a:r>
            <a:br>
              <a:rPr lang="en-US" dirty="0" smtClean="0"/>
            </a:br>
            <a:endParaRPr lang="en-US" dirty="0"/>
          </a:p>
        </p:txBody>
      </p:sp>
      <p:sp>
        <p:nvSpPr>
          <p:cNvPr id="3" name="Subtitle 2"/>
          <p:cNvSpPr>
            <a:spLocks noGrp="1"/>
          </p:cNvSpPr>
          <p:nvPr>
            <p:ph type="subTitle" idx="1"/>
          </p:nvPr>
        </p:nvSpPr>
        <p:spPr/>
        <p:txBody>
          <a:bodyPr>
            <a:normAutofit/>
          </a:bodyPr>
          <a:lstStyle/>
          <a:p>
            <a:r>
              <a:rPr lang="en-US" dirty="0" smtClean="0"/>
              <a:t>Session II: UML Structural Modeling</a:t>
            </a:r>
            <a:endParaRPr lang="en-US" dirty="0"/>
          </a:p>
        </p:txBody>
      </p:sp>
      <p:sp>
        <p:nvSpPr>
          <p:cNvPr id="4" name="Date Placeholder 3"/>
          <p:cNvSpPr>
            <a:spLocks noGrp="1"/>
          </p:cNvSpPr>
          <p:nvPr>
            <p:ph type="dt" sz="half" idx="10"/>
          </p:nvPr>
        </p:nvSpPr>
        <p:spPr/>
        <p:txBody>
          <a:bodyPr/>
          <a:lstStyle/>
          <a:p>
            <a:fld id="{EFE05638-2204-47C5-8D02-0990D6B01040}" type="datetime1">
              <a:rPr lang="en-US" smtClean="0"/>
              <a:pPr/>
              <a:t>10/3/2012</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 Agenda</a:t>
            </a:r>
            <a:endParaRPr lang="en-US" dirty="0"/>
          </a:p>
        </p:txBody>
      </p:sp>
      <p:sp>
        <p:nvSpPr>
          <p:cNvPr id="3" name="Content Placeholder 2"/>
          <p:cNvSpPr>
            <a:spLocks noGrp="1"/>
          </p:cNvSpPr>
          <p:nvPr>
            <p:ph idx="1"/>
          </p:nvPr>
        </p:nvSpPr>
        <p:spPr>
          <a:xfrm>
            <a:off x="457200" y="1371601"/>
            <a:ext cx="8229600" cy="4876799"/>
          </a:xfrm>
        </p:spPr>
        <p:txBody>
          <a:bodyPr>
            <a:normAutofit lnSpcReduction="10000"/>
          </a:bodyPr>
          <a:lstStyle/>
          <a:p>
            <a:r>
              <a:rPr lang="en-US" dirty="0" smtClean="0"/>
              <a:t>UML structural modeling</a:t>
            </a:r>
          </a:p>
          <a:p>
            <a:pPr lvl="1"/>
            <a:r>
              <a:rPr lang="en-US" dirty="0" smtClean="0"/>
              <a:t>What is structural modeling?</a:t>
            </a:r>
          </a:p>
          <a:p>
            <a:pPr lvl="1"/>
            <a:r>
              <a:rPr lang="en-US" dirty="0" smtClean="0"/>
              <a:t>Why is it important?</a:t>
            </a:r>
          </a:p>
          <a:p>
            <a:pPr lvl="1">
              <a:buNone/>
            </a:pPr>
            <a:endParaRPr lang="en-US" dirty="0" smtClean="0"/>
          </a:p>
          <a:p>
            <a:r>
              <a:rPr lang="en-US" dirty="0" smtClean="0"/>
              <a:t>Component diagrams</a:t>
            </a:r>
          </a:p>
          <a:p>
            <a:pPr lvl="1"/>
            <a:r>
              <a:rPr lang="en-US" dirty="0" smtClean="0"/>
              <a:t>Interfaces</a:t>
            </a:r>
          </a:p>
          <a:p>
            <a:pPr lvl="1"/>
            <a:r>
              <a:rPr lang="en-US" dirty="0" smtClean="0"/>
              <a:t>Assembly connectors</a:t>
            </a:r>
          </a:p>
          <a:p>
            <a:pPr lvl="1"/>
            <a:r>
              <a:rPr lang="en-US" dirty="0" smtClean="0"/>
              <a:t>Other common relationships</a:t>
            </a:r>
          </a:p>
          <a:p>
            <a:pPr lvl="1"/>
            <a:endParaRPr lang="en-US" dirty="0" smtClean="0"/>
          </a:p>
          <a:p>
            <a:r>
              <a:rPr lang="en-US" dirty="0" smtClean="0"/>
              <a:t>Class diagrams</a:t>
            </a:r>
          </a:p>
          <a:p>
            <a:pPr lvl="1"/>
            <a:r>
              <a:rPr lang="en-US" dirty="0" smtClean="0"/>
              <a:t>Details of UML classes</a:t>
            </a:r>
          </a:p>
          <a:p>
            <a:pPr lvl="1"/>
            <a:r>
              <a:rPr lang="en-US" dirty="0" smtClean="0"/>
              <a:t>Common relationships</a:t>
            </a:r>
          </a:p>
          <a:p>
            <a:pPr lvl="1"/>
            <a:r>
              <a:rPr lang="en-US" dirty="0" smtClean="0"/>
              <a:t>The meaning (in code) of class diagrams</a:t>
            </a:r>
          </a:p>
          <a:p>
            <a:pPr lvl="1"/>
            <a:endParaRPr lang="en-US" dirty="0" smtClean="0"/>
          </a:p>
          <a:p>
            <a:r>
              <a:rPr lang="en-US" dirty="0" smtClean="0"/>
              <a:t>Deployment diagrams</a:t>
            </a:r>
          </a:p>
          <a:p>
            <a:pPr lvl="1">
              <a:buNone/>
            </a:pPr>
            <a:endParaRPr lang="en-US" dirty="0" smtClean="0"/>
          </a:p>
          <a:p>
            <a:pPr>
              <a:buNone/>
            </a:pPr>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fld id="{3F2E7354-941D-4A10-A419-5D3E5FF7573C}" type="datetime1">
              <a:rPr lang="en-US" smtClean="0"/>
              <a:pPr/>
              <a:t>10/3/2012</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Fundamentals of UML Structural Modeling</a:t>
            </a:r>
            <a:endParaRPr lang="en-US" dirty="0"/>
          </a:p>
        </p:txBody>
      </p:sp>
      <p:sp>
        <p:nvSpPr>
          <p:cNvPr id="3" name="Content Placeholder 2"/>
          <p:cNvSpPr>
            <a:spLocks noGrp="1"/>
          </p:cNvSpPr>
          <p:nvPr>
            <p:ph idx="1"/>
          </p:nvPr>
        </p:nvSpPr>
        <p:spPr>
          <a:xfrm>
            <a:off x="457200" y="1371601"/>
            <a:ext cx="8229600" cy="5181599"/>
          </a:xfrm>
        </p:spPr>
        <p:txBody>
          <a:bodyPr>
            <a:normAutofit fontScale="70000" lnSpcReduction="20000"/>
          </a:bodyPr>
          <a:lstStyle/>
          <a:p>
            <a:r>
              <a:rPr lang="en-US" dirty="0" smtClean="0"/>
              <a:t>What do we mean by </a:t>
            </a:r>
            <a:r>
              <a:rPr lang="en-US" i="1" dirty="0" smtClean="0"/>
              <a:t>structural</a:t>
            </a:r>
            <a:r>
              <a:rPr lang="en-US" dirty="0" smtClean="0"/>
              <a:t>?  What is </a:t>
            </a:r>
            <a:r>
              <a:rPr lang="en-US" i="1" dirty="0" smtClean="0"/>
              <a:t>structure</a:t>
            </a:r>
            <a:r>
              <a:rPr lang="en-US" dirty="0" smtClean="0"/>
              <a:t>?</a:t>
            </a:r>
          </a:p>
          <a:p>
            <a:pPr lvl="1"/>
            <a:r>
              <a:rPr lang="en-US" dirty="0" smtClean="0"/>
              <a:t>When we talk about structure, we talk about:</a:t>
            </a:r>
          </a:p>
          <a:p>
            <a:pPr lvl="2"/>
            <a:r>
              <a:rPr lang="en-US" dirty="0" smtClean="0"/>
              <a:t>Parts arranged together in some way to compose some product.</a:t>
            </a:r>
          </a:p>
          <a:p>
            <a:pPr lvl="2"/>
            <a:r>
              <a:rPr lang="en-US" dirty="0" smtClean="0"/>
              <a:t>In this conversation, the process for composition of the parts is important as well as the specification of relationships that glue these parts together.</a:t>
            </a:r>
          </a:p>
          <a:p>
            <a:pPr lvl="1"/>
            <a:r>
              <a:rPr lang="en-US" dirty="0" smtClean="0"/>
              <a:t>From the software profession’s point of view, what does this mean?</a:t>
            </a:r>
          </a:p>
          <a:p>
            <a:pPr lvl="2"/>
            <a:r>
              <a:rPr lang="en-US" dirty="0" smtClean="0"/>
              <a:t>Stop and think about this!</a:t>
            </a:r>
          </a:p>
          <a:p>
            <a:pPr lvl="2"/>
            <a:r>
              <a:rPr lang="en-US" dirty="0" smtClean="0"/>
              <a:t>Structure of code? Structure of computers in the system?</a:t>
            </a:r>
          </a:p>
          <a:p>
            <a:endParaRPr lang="en-US" dirty="0" smtClean="0"/>
          </a:p>
          <a:p>
            <a:r>
              <a:rPr lang="en-US" dirty="0" smtClean="0"/>
              <a:t>Let’s </a:t>
            </a:r>
            <a:r>
              <a:rPr lang="en-US" i="1" u="sng" dirty="0" smtClean="0"/>
              <a:t>assume that structure refers to the structure of code</a:t>
            </a:r>
            <a:r>
              <a:rPr lang="en-US" dirty="0" smtClean="0"/>
              <a:t>.  Consider the following conceptual structure of the same software application.</a:t>
            </a:r>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Consider what would happen if we needed to reuse the communication function in some other project.</a:t>
            </a:r>
          </a:p>
          <a:p>
            <a:pPr lvl="1"/>
            <a:r>
              <a:rPr lang="en-US" dirty="0" smtClean="0"/>
              <a:t>What can you say about the reusability of these systems?</a:t>
            </a:r>
          </a:p>
          <a:p>
            <a:pPr lvl="1"/>
            <a:r>
              <a:rPr lang="en-US" dirty="0" smtClean="0"/>
              <a:t>What can you say about the maintainability of  these systems?</a:t>
            </a:r>
          </a:p>
          <a:p>
            <a:pPr lvl="1"/>
            <a:endParaRPr lang="en-US" dirty="0" smtClean="0"/>
          </a:p>
          <a:p>
            <a:r>
              <a:rPr lang="en-US" dirty="0" smtClean="0"/>
              <a:t>We have not talk about the concept of </a:t>
            </a:r>
            <a:r>
              <a:rPr lang="en-US" b="1" dirty="0" smtClean="0"/>
              <a:t>Quality</a:t>
            </a:r>
            <a:r>
              <a:rPr lang="en-US" dirty="0" smtClean="0"/>
              <a:t> yet, but we will…  For now, assume that quality is a function of reusability and maintainability.  What can you say about the quality of these systems? </a:t>
            </a:r>
          </a:p>
          <a:p>
            <a:pPr lvl="1"/>
            <a:r>
              <a:rPr lang="en-US" dirty="0" smtClean="0"/>
              <a:t>Under these assumptions </a:t>
            </a:r>
            <a:r>
              <a:rPr lang="en-US" u="sng" dirty="0" smtClean="0"/>
              <a:t>structure drives quality AND quality drives structure</a:t>
            </a:r>
            <a:r>
              <a:rPr lang="en-US" dirty="0" smtClean="0"/>
              <a:t>.</a:t>
            </a:r>
          </a:p>
          <a:p>
            <a:pPr lvl="1">
              <a:buNone/>
            </a:pPr>
            <a:endParaRPr lang="en-US" dirty="0" smtClean="0"/>
          </a:p>
          <a:p>
            <a:endParaRPr lang="en-US" dirty="0" smtClean="0"/>
          </a:p>
          <a:p>
            <a:pPr lvl="2"/>
            <a:endParaRPr lang="en-US" dirty="0" smtClean="0"/>
          </a:p>
          <a:p>
            <a:pPr lvl="3"/>
            <a:endParaRPr lang="en-US" dirty="0" smtClean="0"/>
          </a:p>
          <a:p>
            <a:pPr lvl="2"/>
            <a:endParaRPr lang="en-US" dirty="0" smtClean="0"/>
          </a:p>
          <a:p>
            <a:pPr lvl="2"/>
            <a:endParaRPr lang="en-US" dirty="0" smtClean="0"/>
          </a:p>
          <a:p>
            <a:pPr lvl="2"/>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32" name="TextBox 31"/>
          <p:cNvSpPr txBox="1"/>
          <p:nvPr/>
        </p:nvSpPr>
        <p:spPr>
          <a:xfrm>
            <a:off x="6492449" y="2338669"/>
            <a:ext cx="1915909" cy="461665"/>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none" rtlCol="0">
            <a:spAutoFit/>
          </a:bodyPr>
          <a:lstStyle/>
          <a:p>
            <a:r>
              <a:rPr lang="en-US" sz="1200" b="1" dirty="0" smtClean="0">
                <a:solidFill>
                  <a:srgbClr val="C00000"/>
                </a:solidFill>
                <a:latin typeface="Bradley Hand ITC" pitchFamily="66" charset="0"/>
              </a:rPr>
              <a:t>Remember modularization</a:t>
            </a:r>
          </a:p>
          <a:p>
            <a:r>
              <a:rPr lang="en-US" sz="1200" b="1" dirty="0" smtClean="0">
                <a:solidFill>
                  <a:srgbClr val="C00000"/>
                </a:solidFill>
                <a:latin typeface="Bradley Hand ITC" pitchFamily="66" charset="0"/>
              </a:rPr>
              <a:t>From previous sessions?</a:t>
            </a:r>
            <a:endParaRPr lang="en-US" sz="1200" b="1" dirty="0">
              <a:solidFill>
                <a:srgbClr val="C00000"/>
              </a:solidFill>
              <a:latin typeface="Bradley Hand ITC" pitchFamily="66" charset="0"/>
            </a:endParaRPr>
          </a:p>
        </p:txBody>
      </p:sp>
      <p:grpSp>
        <p:nvGrpSpPr>
          <p:cNvPr id="55" name="Group 54"/>
          <p:cNvGrpSpPr/>
          <p:nvPr/>
        </p:nvGrpSpPr>
        <p:grpSpPr>
          <a:xfrm>
            <a:off x="7173185" y="3429000"/>
            <a:ext cx="1294540" cy="971550"/>
            <a:chOff x="6629400" y="4053185"/>
            <a:chExt cx="1294540" cy="971550"/>
          </a:xfrm>
        </p:grpSpPr>
        <p:grpSp>
          <p:nvGrpSpPr>
            <p:cNvPr id="23" name="Group 22"/>
            <p:cNvGrpSpPr/>
            <p:nvPr/>
          </p:nvGrpSpPr>
          <p:grpSpPr>
            <a:xfrm>
              <a:off x="6629400" y="4110335"/>
              <a:ext cx="1219200" cy="914400"/>
              <a:chOff x="2286000" y="5105400"/>
              <a:chExt cx="1219200" cy="914400"/>
            </a:xfrm>
          </p:grpSpPr>
          <p:sp>
            <p:nvSpPr>
              <p:cNvPr id="11" name="Rectangle 10"/>
              <p:cNvSpPr/>
              <p:nvPr/>
            </p:nvSpPr>
            <p:spPr>
              <a:xfrm>
                <a:off x="2286000" y="5105400"/>
                <a:ext cx="381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2667000" y="5105400"/>
                <a:ext cx="609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3276600" y="5105400"/>
                <a:ext cx="2286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2286000" y="5410200"/>
                <a:ext cx="3810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3276600" y="5257800"/>
                <a:ext cx="2286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2286000" y="5562600"/>
                <a:ext cx="381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2286000" y="5791200"/>
                <a:ext cx="12192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3276600" y="55626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TextBox 30"/>
            <p:cNvSpPr txBox="1"/>
            <p:nvPr/>
          </p:nvSpPr>
          <p:spPr>
            <a:xfrm>
              <a:off x="6760585" y="4777085"/>
              <a:ext cx="1011815"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Communication</a:t>
              </a:r>
              <a:endParaRPr lang="en-US" sz="1000" dirty="0">
                <a:solidFill>
                  <a:schemeClr val="bg1"/>
                </a:solidFill>
                <a:latin typeface="+mj-lt"/>
                <a:cs typeface="Aharoni" pitchFamily="2" charset="-79"/>
              </a:endParaRPr>
            </a:p>
          </p:txBody>
        </p:sp>
        <p:sp>
          <p:nvSpPr>
            <p:cNvPr id="33" name="TextBox 32"/>
            <p:cNvSpPr txBox="1"/>
            <p:nvPr/>
          </p:nvSpPr>
          <p:spPr>
            <a:xfrm>
              <a:off x="6693428" y="4110335"/>
              <a:ext cx="240772"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x</a:t>
              </a:r>
              <a:endParaRPr lang="en-US" sz="1000" dirty="0">
                <a:solidFill>
                  <a:schemeClr val="bg1"/>
                </a:solidFill>
                <a:latin typeface="+mj-lt"/>
                <a:cs typeface="Aharoni" pitchFamily="2" charset="-79"/>
              </a:endParaRPr>
            </a:p>
          </p:txBody>
        </p:sp>
        <p:sp>
          <p:nvSpPr>
            <p:cNvPr id="34" name="TextBox 33"/>
            <p:cNvSpPr txBox="1"/>
            <p:nvPr/>
          </p:nvSpPr>
          <p:spPr>
            <a:xfrm>
              <a:off x="6696075" y="4357985"/>
              <a:ext cx="242374"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y</a:t>
              </a:r>
              <a:endParaRPr lang="en-US" sz="1000" dirty="0">
                <a:solidFill>
                  <a:schemeClr val="bg1"/>
                </a:solidFill>
                <a:latin typeface="+mj-lt"/>
                <a:cs typeface="Aharoni" pitchFamily="2" charset="-79"/>
              </a:endParaRPr>
            </a:p>
          </p:txBody>
        </p:sp>
        <p:sp>
          <p:nvSpPr>
            <p:cNvPr id="35" name="TextBox 34"/>
            <p:cNvSpPr txBox="1"/>
            <p:nvPr/>
          </p:nvSpPr>
          <p:spPr>
            <a:xfrm>
              <a:off x="6705600" y="4549914"/>
              <a:ext cx="235962"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z</a:t>
              </a:r>
              <a:endParaRPr lang="en-US" sz="1000" dirty="0">
                <a:solidFill>
                  <a:schemeClr val="bg1"/>
                </a:solidFill>
                <a:latin typeface="+mj-lt"/>
                <a:cs typeface="Aharoni" pitchFamily="2" charset="-79"/>
              </a:endParaRPr>
            </a:p>
          </p:txBody>
        </p:sp>
        <p:sp>
          <p:nvSpPr>
            <p:cNvPr id="36" name="TextBox 35"/>
            <p:cNvSpPr txBox="1"/>
            <p:nvPr/>
          </p:nvSpPr>
          <p:spPr>
            <a:xfrm>
              <a:off x="7191375" y="4344829"/>
              <a:ext cx="229550"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r</a:t>
              </a:r>
              <a:endParaRPr lang="en-US" sz="1000" dirty="0">
                <a:solidFill>
                  <a:schemeClr val="bg1"/>
                </a:solidFill>
                <a:latin typeface="+mj-lt"/>
                <a:cs typeface="Aharoni" pitchFamily="2" charset="-79"/>
              </a:endParaRPr>
            </a:p>
          </p:txBody>
        </p:sp>
        <p:sp>
          <p:nvSpPr>
            <p:cNvPr id="37" name="TextBox 36"/>
            <p:cNvSpPr txBox="1"/>
            <p:nvPr/>
          </p:nvSpPr>
          <p:spPr>
            <a:xfrm>
              <a:off x="7636403" y="4053185"/>
              <a:ext cx="240772"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c</a:t>
              </a:r>
              <a:endParaRPr lang="en-US" sz="1000" dirty="0">
                <a:solidFill>
                  <a:schemeClr val="bg1"/>
                </a:solidFill>
                <a:latin typeface="+mj-lt"/>
                <a:cs typeface="Aharoni" pitchFamily="2" charset="-79"/>
              </a:endParaRPr>
            </a:p>
          </p:txBody>
        </p:sp>
        <p:sp>
          <p:nvSpPr>
            <p:cNvPr id="38" name="TextBox 37"/>
            <p:cNvSpPr txBox="1"/>
            <p:nvPr/>
          </p:nvSpPr>
          <p:spPr>
            <a:xfrm>
              <a:off x="7629525" y="4281785"/>
              <a:ext cx="251992"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b</a:t>
              </a:r>
              <a:endParaRPr lang="en-US" sz="1000" dirty="0">
                <a:solidFill>
                  <a:schemeClr val="bg1"/>
                </a:solidFill>
                <a:latin typeface="+mj-lt"/>
                <a:cs typeface="Aharoni" pitchFamily="2" charset="-79"/>
              </a:endParaRPr>
            </a:p>
          </p:txBody>
        </p:sp>
        <p:sp>
          <p:nvSpPr>
            <p:cNvPr id="39" name="TextBox 38"/>
            <p:cNvSpPr txBox="1"/>
            <p:nvPr/>
          </p:nvSpPr>
          <p:spPr>
            <a:xfrm>
              <a:off x="7607828" y="4549914"/>
              <a:ext cx="316112"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m </a:t>
              </a:r>
              <a:endParaRPr lang="en-US" sz="1000" dirty="0">
                <a:solidFill>
                  <a:schemeClr val="bg1"/>
                </a:solidFill>
                <a:latin typeface="+mj-lt"/>
                <a:cs typeface="Aharoni" pitchFamily="2" charset="-79"/>
              </a:endParaRPr>
            </a:p>
          </p:txBody>
        </p:sp>
      </p:grpSp>
      <p:grpSp>
        <p:nvGrpSpPr>
          <p:cNvPr id="52" name="Group 51"/>
          <p:cNvGrpSpPr/>
          <p:nvPr/>
        </p:nvGrpSpPr>
        <p:grpSpPr>
          <a:xfrm>
            <a:off x="685800" y="3486150"/>
            <a:ext cx="1228725" cy="914400"/>
            <a:chOff x="914400" y="4110335"/>
            <a:chExt cx="1228725" cy="914400"/>
          </a:xfrm>
        </p:grpSpPr>
        <p:sp>
          <p:nvSpPr>
            <p:cNvPr id="10" name="Rectangle 9"/>
            <p:cNvSpPr/>
            <p:nvPr/>
          </p:nvSpPr>
          <p:spPr>
            <a:xfrm>
              <a:off x="914400" y="4110335"/>
              <a:ext cx="12192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p:cNvSpPr/>
            <p:nvPr/>
          </p:nvSpPr>
          <p:spPr>
            <a:xfrm>
              <a:off x="1019175" y="4415134"/>
              <a:ext cx="990600" cy="381001"/>
            </a:xfrm>
            <a:custGeom>
              <a:avLst/>
              <a:gdLst>
                <a:gd name="connsiteX0" fmla="*/ 533400 w 723900"/>
                <a:gd name="connsiteY0" fmla="*/ 133350 h 625618"/>
                <a:gd name="connsiteX1" fmla="*/ 485775 w 723900"/>
                <a:gd name="connsiteY1" fmla="*/ 95250 h 625618"/>
                <a:gd name="connsiteX2" fmla="*/ 419100 w 723900"/>
                <a:gd name="connsiteY2" fmla="*/ 66675 h 625618"/>
                <a:gd name="connsiteX3" fmla="*/ 381000 w 723900"/>
                <a:gd name="connsiteY3" fmla="*/ 38100 h 625618"/>
                <a:gd name="connsiteX4" fmla="*/ 304800 w 723900"/>
                <a:gd name="connsiteY4" fmla="*/ 0 h 625618"/>
                <a:gd name="connsiteX5" fmla="*/ 247650 w 723900"/>
                <a:gd name="connsiteY5" fmla="*/ 38100 h 625618"/>
                <a:gd name="connsiteX6" fmla="*/ 209550 w 723900"/>
                <a:gd name="connsiteY6" fmla="*/ 66675 h 625618"/>
                <a:gd name="connsiteX7" fmla="*/ 123825 w 723900"/>
                <a:gd name="connsiteY7" fmla="*/ 104775 h 625618"/>
                <a:gd name="connsiteX8" fmla="*/ 66675 w 723900"/>
                <a:gd name="connsiteY8" fmla="*/ 190500 h 625618"/>
                <a:gd name="connsiteX9" fmla="*/ 47625 w 723900"/>
                <a:gd name="connsiteY9" fmla="*/ 219075 h 625618"/>
                <a:gd name="connsiteX10" fmla="*/ 28575 w 723900"/>
                <a:gd name="connsiteY10" fmla="*/ 247650 h 625618"/>
                <a:gd name="connsiteX11" fmla="*/ 0 w 723900"/>
                <a:gd name="connsiteY11" fmla="*/ 285750 h 625618"/>
                <a:gd name="connsiteX12" fmla="*/ 38100 w 723900"/>
                <a:gd name="connsiteY12" fmla="*/ 323850 h 625618"/>
                <a:gd name="connsiteX13" fmla="*/ 66675 w 723900"/>
                <a:gd name="connsiteY13" fmla="*/ 333375 h 625618"/>
                <a:gd name="connsiteX14" fmla="*/ 95250 w 723900"/>
                <a:gd name="connsiteY14" fmla="*/ 390525 h 625618"/>
                <a:gd name="connsiteX15" fmla="*/ 104775 w 723900"/>
                <a:gd name="connsiteY15" fmla="*/ 457200 h 625618"/>
                <a:gd name="connsiteX16" fmla="*/ 161925 w 723900"/>
                <a:gd name="connsiteY16" fmla="*/ 495300 h 625618"/>
                <a:gd name="connsiteX17" fmla="*/ 219075 w 723900"/>
                <a:gd name="connsiteY17" fmla="*/ 552450 h 625618"/>
                <a:gd name="connsiteX18" fmla="*/ 285750 w 723900"/>
                <a:gd name="connsiteY18" fmla="*/ 581025 h 625618"/>
                <a:gd name="connsiteX19" fmla="*/ 342900 w 723900"/>
                <a:gd name="connsiteY19" fmla="*/ 619125 h 625618"/>
                <a:gd name="connsiteX20" fmla="*/ 352425 w 723900"/>
                <a:gd name="connsiteY20" fmla="*/ 571500 h 625618"/>
                <a:gd name="connsiteX21" fmla="*/ 419100 w 723900"/>
                <a:gd name="connsiteY21" fmla="*/ 542925 h 625618"/>
                <a:gd name="connsiteX22" fmla="*/ 533400 w 723900"/>
                <a:gd name="connsiteY22" fmla="*/ 552450 h 625618"/>
                <a:gd name="connsiteX23" fmla="*/ 561975 w 723900"/>
                <a:gd name="connsiteY23" fmla="*/ 561975 h 625618"/>
                <a:gd name="connsiteX24" fmla="*/ 600075 w 723900"/>
                <a:gd name="connsiteY24" fmla="*/ 571500 h 625618"/>
                <a:gd name="connsiteX25" fmla="*/ 638175 w 723900"/>
                <a:gd name="connsiteY25" fmla="*/ 485775 h 625618"/>
                <a:gd name="connsiteX26" fmla="*/ 666750 w 723900"/>
                <a:gd name="connsiteY26" fmla="*/ 476250 h 625618"/>
                <a:gd name="connsiteX27" fmla="*/ 723900 w 723900"/>
                <a:gd name="connsiteY27" fmla="*/ 438150 h 625618"/>
                <a:gd name="connsiteX28" fmla="*/ 704850 w 723900"/>
                <a:gd name="connsiteY28" fmla="*/ 409575 h 625618"/>
                <a:gd name="connsiteX29" fmla="*/ 685800 w 723900"/>
                <a:gd name="connsiteY29" fmla="*/ 333375 h 625618"/>
                <a:gd name="connsiteX30" fmla="*/ 666750 w 723900"/>
                <a:gd name="connsiteY30" fmla="*/ 238125 h 625618"/>
                <a:gd name="connsiteX31" fmla="*/ 647700 w 723900"/>
                <a:gd name="connsiteY31" fmla="*/ 190500 h 625618"/>
                <a:gd name="connsiteX32" fmla="*/ 581025 w 723900"/>
                <a:gd name="connsiteY32" fmla="*/ 180975 h 625618"/>
                <a:gd name="connsiteX33" fmla="*/ 561975 w 723900"/>
                <a:gd name="connsiteY33" fmla="*/ 152400 h 625618"/>
                <a:gd name="connsiteX34" fmla="*/ 533400 w 723900"/>
                <a:gd name="connsiteY34" fmla="*/ 133350 h 625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23900" h="625618">
                  <a:moveTo>
                    <a:pt x="533400" y="133350"/>
                  </a:moveTo>
                  <a:cubicBezTo>
                    <a:pt x="520700" y="123825"/>
                    <a:pt x="543220" y="143121"/>
                    <a:pt x="485775" y="95250"/>
                  </a:cubicBezTo>
                  <a:cubicBezTo>
                    <a:pt x="470082" y="82172"/>
                    <a:pt x="438952" y="73292"/>
                    <a:pt x="419100" y="66675"/>
                  </a:cubicBezTo>
                  <a:cubicBezTo>
                    <a:pt x="406400" y="57150"/>
                    <a:pt x="394712" y="46099"/>
                    <a:pt x="381000" y="38100"/>
                  </a:cubicBezTo>
                  <a:cubicBezTo>
                    <a:pt x="356470" y="23791"/>
                    <a:pt x="304800" y="0"/>
                    <a:pt x="304800" y="0"/>
                  </a:cubicBezTo>
                  <a:cubicBezTo>
                    <a:pt x="238302" y="66498"/>
                    <a:pt x="311979" y="1341"/>
                    <a:pt x="247650" y="38100"/>
                  </a:cubicBezTo>
                  <a:cubicBezTo>
                    <a:pt x="233867" y="45976"/>
                    <a:pt x="223749" y="59575"/>
                    <a:pt x="209550" y="66675"/>
                  </a:cubicBezTo>
                  <a:cubicBezTo>
                    <a:pt x="73530" y="134685"/>
                    <a:pt x="207880" y="48739"/>
                    <a:pt x="123825" y="104775"/>
                  </a:cubicBezTo>
                  <a:lnTo>
                    <a:pt x="66675" y="190500"/>
                  </a:lnTo>
                  <a:lnTo>
                    <a:pt x="47625" y="219075"/>
                  </a:lnTo>
                  <a:cubicBezTo>
                    <a:pt x="41275" y="228600"/>
                    <a:pt x="35444" y="238492"/>
                    <a:pt x="28575" y="247650"/>
                  </a:cubicBezTo>
                  <a:lnTo>
                    <a:pt x="0" y="285750"/>
                  </a:lnTo>
                  <a:cubicBezTo>
                    <a:pt x="12700" y="298450"/>
                    <a:pt x="23485" y="313411"/>
                    <a:pt x="38100" y="323850"/>
                  </a:cubicBezTo>
                  <a:cubicBezTo>
                    <a:pt x="46270" y="329686"/>
                    <a:pt x="58835" y="327103"/>
                    <a:pt x="66675" y="333375"/>
                  </a:cubicBezTo>
                  <a:cubicBezTo>
                    <a:pt x="83461" y="346804"/>
                    <a:pt x="88975" y="371701"/>
                    <a:pt x="95250" y="390525"/>
                  </a:cubicBezTo>
                  <a:cubicBezTo>
                    <a:pt x="98425" y="412750"/>
                    <a:pt x="92722" y="438259"/>
                    <a:pt x="104775" y="457200"/>
                  </a:cubicBezTo>
                  <a:cubicBezTo>
                    <a:pt x="117067" y="476516"/>
                    <a:pt x="145736" y="479111"/>
                    <a:pt x="161925" y="495300"/>
                  </a:cubicBezTo>
                  <a:cubicBezTo>
                    <a:pt x="180975" y="514350"/>
                    <a:pt x="193517" y="543931"/>
                    <a:pt x="219075" y="552450"/>
                  </a:cubicBezTo>
                  <a:cubicBezTo>
                    <a:pt x="242394" y="560223"/>
                    <a:pt x="265152" y="566312"/>
                    <a:pt x="285750" y="581025"/>
                  </a:cubicBezTo>
                  <a:cubicBezTo>
                    <a:pt x="348180" y="625618"/>
                    <a:pt x="281603" y="598693"/>
                    <a:pt x="342900" y="619125"/>
                  </a:cubicBezTo>
                  <a:cubicBezTo>
                    <a:pt x="346075" y="603250"/>
                    <a:pt x="344393" y="585556"/>
                    <a:pt x="352425" y="571500"/>
                  </a:cubicBezTo>
                  <a:cubicBezTo>
                    <a:pt x="363388" y="552315"/>
                    <a:pt x="402490" y="547078"/>
                    <a:pt x="419100" y="542925"/>
                  </a:cubicBezTo>
                  <a:cubicBezTo>
                    <a:pt x="457200" y="546100"/>
                    <a:pt x="495503" y="547397"/>
                    <a:pt x="533400" y="552450"/>
                  </a:cubicBezTo>
                  <a:cubicBezTo>
                    <a:pt x="543352" y="553777"/>
                    <a:pt x="552321" y="559217"/>
                    <a:pt x="561975" y="561975"/>
                  </a:cubicBezTo>
                  <a:cubicBezTo>
                    <a:pt x="574562" y="565571"/>
                    <a:pt x="587375" y="568325"/>
                    <a:pt x="600075" y="571500"/>
                  </a:cubicBezTo>
                  <a:cubicBezTo>
                    <a:pt x="605896" y="554037"/>
                    <a:pt x="617592" y="502242"/>
                    <a:pt x="638175" y="485775"/>
                  </a:cubicBezTo>
                  <a:cubicBezTo>
                    <a:pt x="646015" y="479503"/>
                    <a:pt x="657973" y="481126"/>
                    <a:pt x="666750" y="476250"/>
                  </a:cubicBezTo>
                  <a:cubicBezTo>
                    <a:pt x="686764" y="465131"/>
                    <a:pt x="723900" y="438150"/>
                    <a:pt x="723900" y="438150"/>
                  </a:cubicBezTo>
                  <a:cubicBezTo>
                    <a:pt x="717550" y="428625"/>
                    <a:pt x="708762" y="420333"/>
                    <a:pt x="704850" y="409575"/>
                  </a:cubicBezTo>
                  <a:cubicBezTo>
                    <a:pt x="695903" y="384970"/>
                    <a:pt x="689503" y="359294"/>
                    <a:pt x="685800" y="333375"/>
                  </a:cubicBezTo>
                  <a:cubicBezTo>
                    <a:pt x="677715" y="276777"/>
                    <a:pt x="682096" y="279047"/>
                    <a:pt x="666750" y="238125"/>
                  </a:cubicBezTo>
                  <a:cubicBezTo>
                    <a:pt x="660747" y="222116"/>
                    <a:pt x="661926" y="199984"/>
                    <a:pt x="647700" y="190500"/>
                  </a:cubicBezTo>
                  <a:cubicBezTo>
                    <a:pt x="629020" y="178047"/>
                    <a:pt x="603250" y="184150"/>
                    <a:pt x="581025" y="180975"/>
                  </a:cubicBezTo>
                  <a:cubicBezTo>
                    <a:pt x="574675" y="171450"/>
                    <a:pt x="570914" y="159551"/>
                    <a:pt x="561975" y="152400"/>
                  </a:cubicBezTo>
                  <a:cubicBezTo>
                    <a:pt x="554135" y="146128"/>
                    <a:pt x="546100" y="142875"/>
                    <a:pt x="533400" y="133350"/>
                  </a:cubicBezTo>
                  <a:close/>
                </a:path>
              </a:pathLst>
            </a:cu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p:cNvSpPr txBox="1"/>
            <p:nvPr/>
          </p:nvSpPr>
          <p:spPr>
            <a:xfrm>
              <a:off x="1054628" y="4168914"/>
              <a:ext cx="240772"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x</a:t>
              </a:r>
              <a:endParaRPr lang="en-US" sz="1000" dirty="0">
                <a:solidFill>
                  <a:schemeClr val="bg1"/>
                </a:solidFill>
                <a:latin typeface="+mj-lt"/>
                <a:cs typeface="Aharoni" pitchFamily="2" charset="-79"/>
              </a:endParaRPr>
            </a:p>
          </p:txBody>
        </p:sp>
        <p:sp>
          <p:nvSpPr>
            <p:cNvPr id="42" name="TextBox 41"/>
            <p:cNvSpPr txBox="1"/>
            <p:nvPr/>
          </p:nvSpPr>
          <p:spPr>
            <a:xfrm>
              <a:off x="1828800" y="4719935"/>
              <a:ext cx="242374"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y</a:t>
              </a:r>
              <a:endParaRPr lang="en-US" sz="1000" dirty="0">
                <a:solidFill>
                  <a:schemeClr val="bg1"/>
                </a:solidFill>
                <a:latin typeface="+mj-lt"/>
                <a:cs typeface="Aharoni" pitchFamily="2" charset="-79"/>
              </a:endParaRPr>
            </a:p>
          </p:txBody>
        </p:sp>
        <p:sp>
          <p:nvSpPr>
            <p:cNvPr id="45" name="TextBox 44"/>
            <p:cNvSpPr txBox="1"/>
            <p:nvPr/>
          </p:nvSpPr>
          <p:spPr>
            <a:xfrm>
              <a:off x="1752600" y="4168914"/>
              <a:ext cx="240772"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c</a:t>
              </a:r>
              <a:endParaRPr lang="en-US" sz="1000" dirty="0">
                <a:solidFill>
                  <a:schemeClr val="bg1"/>
                </a:solidFill>
                <a:latin typeface="+mj-lt"/>
                <a:cs typeface="Aharoni" pitchFamily="2" charset="-79"/>
              </a:endParaRPr>
            </a:p>
          </p:txBody>
        </p:sp>
        <p:sp>
          <p:nvSpPr>
            <p:cNvPr id="46" name="TextBox 45"/>
            <p:cNvSpPr txBox="1"/>
            <p:nvPr/>
          </p:nvSpPr>
          <p:spPr>
            <a:xfrm>
              <a:off x="1043408" y="4719935"/>
              <a:ext cx="251992"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b</a:t>
              </a:r>
              <a:endParaRPr lang="en-US" sz="1000" dirty="0">
                <a:solidFill>
                  <a:schemeClr val="bg1"/>
                </a:solidFill>
                <a:latin typeface="+mj-lt"/>
                <a:cs typeface="Aharoni" pitchFamily="2" charset="-79"/>
              </a:endParaRPr>
            </a:p>
          </p:txBody>
        </p:sp>
        <p:sp>
          <p:nvSpPr>
            <p:cNvPr id="40" name="TextBox 39"/>
            <p:cNvSpPr txBox="1"/>
            <p:nvPr/>
          </p:nvSpPr>
          <p:spPr>
            <a:xfrm>
              <a:off x="1046445" y="4491335"/>
              <a:ext cx="1011815" cy="246221"/>
            </a:xfrm>
            <a:prstGeom prst="rect">
              <a:avLst/>
            </a:prstGeom>
            <a:noFill/>
          </p:spPr>
          <p:txBody>
            <a:bodyPr wrap="none" rtlCol="0">
              <a:spAutoFit/>
            </a:bodyPr>
            <a:lstStyle/>
            <a:p>
              <a:r>
                <a:rPr lang="en-US" sz="1000" dirty="0" smtClean="0">
                  <a:latin typeface="+mj-lt"/>
                  <a:cs typeface="Aharoni" pitchFamily="2" charset="-79"/>
                </a:rPr>
                <a:t>Communication</a:t>
              </a:r>
              <a:endParaRPr lang="en-US" sz="1000" dirty="0">
                <a:latin typeface="+mj-lt"/>
                <a:cs typeface="Aharoni" pitchFamily="2" charset="-79"/>
              </a:endParaRPr>
            </a:p>
          </p:txBody>
        </p:sp>
        <p:sp>
          <p:nvSpPr>
            <p:cNvPr id="43" name="TextBox 42"/>
            <p:cNvSpPr txBox="1"/>
            <p:nvPr/>
          </p:nvSpPr>
          <p:spPr>
            <a:xfrm>
              <a:off x="1143000" y="4397514"/>
              <a:ext cx="235962" cy="246221"/>
            </a:xfrm>
            <a:prstGeom prst="rect">
              <a:avLst/>
            </a:prstGeom>
            <a:noFill/>
          </p:spPr>
          <p:txBody>
            <a:bodyPr wrap="none" rtlCol="0">
              <a:spAutoFit/>
            </a:bodyPr>
            <a:lstStyle/>
            <a:p>
              <a:r>
                <a:rPr lang="en-US" sz="1000" dirty="0" smtClean="0">
                  <a:latin typeface="+mj-lt"/>
                  <a:cs typeface="Aharoni" pitchFamily="2" charset="-79"/>
                </a:rPr>
                <a:t>z</a:t>
              </a:r>
              <a:endParaRPr lang="en-US" sz="1000" dirty="0">
                <a:latin typeface="+mj-lt"/>
                <a:cs typeface="Aharoni" pitchFamily="2" charset="-79"/>
              </a:endParaRPr>
            </a:p>
          </p:txBody>
        </p:sp>
        <p:sp>
          <p:nvSpPr>
            <p:cNvPr id="44" name="TextBox 43"/>
            <p:cNvSpPr txBox="1"/>
            <p:nvPr/>
          </p:nvSpPr>
          <p:spPr>
            <a:xfrm>
              <a:off x="1371600" y="4397514"/>
              <a:ext cx="229550" cy="246221"/>
            </a:xfrm>
            <a:prstGeom prst="rect">
              <a:avLst/>
            </a:prstGeom>
            <a:noFill/>
          </p:spPr>
          <p:txBody>
            <a:bodyPr wrap="none" rtlCol="0">
              <a:spAutoFit/>
            </a:bodyPr>
            <a:lstStyle/>
            <a:p>
              <a:r>
                <a:rPr lang="en-US" sz="1000" dirty="0" smtClean="0">
                  <a:latin typeface="+mj-lt"/>
                  <a:cs typeface="Aharoni" pitchFamily="2" charset="-79"/>
                </a:rPr>
                <a:t>r</a:t>
              </a:r>
              <a:endParaRPr lang="en-US" sz="1000" dirty="0">
                <a:latin typeface="+mj-lt"/>
                <a:cs typeface="Aharoni" pitchFamily="2" charset="-79"/>
              </a:endParaRPr>
            </a:p>
          </p:txBody>
        </p:sp>
        <p:sp>
          <p:nvSpPr>
            <p:cNvPr id="47" name="TextBox 46"/>
            <p:cNvSpPr txBox="1"/>
            <p:nvPr/>
          </p:nvSpPr>
          <p:spPr>
            <a:xfrm>
              <a:off x="1238250" y="4588014"/>
              <a:ext cx="316112" cy="246221"/>
            </a:xfrm>
            <a:prstGeom prst="rect">
              <a:avLst/>
            </a:prstGeom>
            <a:noFill/>
          </p:spPr>
          <p:txBody>
            <a:bodyPr wrap="none" rtlCol="0">
              <a:spAutoFit/>
            </a:bodyPr>
            <a:lstStyle/>
            <a:p>
              <a:r>
                <a:rPr lang="en-US" sz="1000" dirty="0" smtClean="0">
                  <a:latin typeface="+mj-lt"/>
                  <a:cs typeface="Aharoni" pitchFamily="2" charset="-79"/>
                </a:rPr>
                <a:t>m </a:t>
              </a:r>
              <a:endParaRPr lang="en-US" sz="1000" dirty="0">
                <a:latin typeface="+mj-lt"/>
                <a:cs typeface="Aharoni" pitchFamily="2" charset="-79"/>
              </a:endParaRPr>
            </a:p>
          </p:txBody>
        </p:sp>
        <p:sp>
          <p:nvSpPr>
            <p:cNvPr id="48" name="Freeform 47"/>
            <p:cNvSpPr/>
            <p:nvPr/>
          </p:nvSpPr>
          <p:spPr>
            <a:xfrm>
              <a:off x="923925" y="4586585"/>
              <a:ext cx="95250" cy="9525"/>
            </a:xfrm>
            <a:custGeom>
              <a:avLst/>
              <a:gdLst>
                <a:gd name="connsiteX0" fmla="*/ 95250 w 95250"/>
                <a:gd name="connsiteY0" fmla="*/ 9525 h 9525"/>
                <a:gd name="connsiteX1" fmla="*/ 0 w 95250"/>
                <a:gd name="connsiteY1" fmla="*/ 0 h 9525"/>
              </a:gdLst>
              <a:ahLst/>
              <a:cxnLst>
                <a:cxn ang="0">
                  <a:pos x="connsiteX0" y="connsiteY0"/>
                </a:cxn>
                <a:cxn ang="0">
                  <a:pos x="connsiteX1" y="connsiteY1"/>
                </a:cxn>
              </a:cxnLst>
              <a:rect l="l" t="t" r="r" b="b"/>
              <a:pathLst>
                <a:path w="95250" h="9525">
                  <a:moveTo>
                    <a:pt x="95250" y="9525"/>
                  </a:moveTo>
                  <a:lnTo>
                    <a:pt x="0" y="0"/>
                  </a:ln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Freeform 48"/>
            <p:cNvSpPr/>
            <p:nvPr/>
          </p:nvSpPr>
          <p:spPr>
            <a:xfrm>
              <a:off x="1438275" y="4129385"/>
              <a:ext cx="171450" cy="276225"/>
            </a:xfrm>
            <a:custGeom>
              <a:avLst/>
              <a:gdLst>
                <a:gd name="connsiteX0" fmla="*/ 0 w 171450"/>
                <a:gd name="connsiteY0" fmla="*/ 276225 h 276225"/>
                <a:gd name="connsiteX1" fmla="*/ 28575 w 171450"/>
                <a:gd name="connsiteY1" fmla="*/ 266700 h 276225"/>
                <a:gd name="connsiteX2" fmla="*/ 47625 w 171450"/>
                <a:gd name="connsiteY2" fmla="*/ 238125 h 276225"/>
                <a:gd name="connsiteX3" fmla="*/ 104775 w 171450"/>
                <a:gd name="connsiteY3" fmla="*/ 219075 h 276225"/>
                <a:gd name="connsiteX4" fmla="*/ 133350 w 171450"/>
                <a:gd name="connsiteY4" fmla="*/ 200025 h 276225"/>
                <a:gd name="connsiteX5" fmla="*/ 152400 w 171450"/>
                <a:gd name="connsiteY5" fmla="*/ 171450 h 276225"/>
                <a:gd name="connsiteX6" fmla="*/ 161925 w 171450"/>
                <a:gd name="connsiteY6" fmla="*/ 123825 h 276225"/>
                <a:gd name="connsiteX7" fmla="*/ 171450 w 171450"/>
                <a:gd name="connsiteY7" fmla="*/ 85725 h 276225"/>
                <a:gd name="connsiteX8" fmla="*/ 133350 w 171450"/>
                <a:gd name="connsiteY8" fmla="*/ 9525 h 276225"/>
                <a:gd name="connsiteX9" fmla="*/ 133350 w 171450"/>
                <a:gd name="connsiteY9" fmla="*/ 0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450" h="276225">
                  <a:moveTo>
                    <a:pt x="0" y="276225"/>
                  </a:moveTo>
                  <a:cubicBezTo>
                    <a:pt x="9525" y="273050"/>
                    <a:pt x="20735" y="272972"/>
                    <a:pt x="28575" y="266700"/>
                  </a:cubicBezTo>
                  <a:cubicBezTo>
                    <a:pt x="37514" y="259549"/>
                    <a:pt x="37917" y="244192"/>
                    <a:pt x="47625" y="238125"/>
                  </a:cubicBezTo>
                  <a:cubicBezTo>
                    <a:pt x="64653" y="227482"/>
                    <a:pt x="88067" y="230214"/>
                    <a:pt x="104775" y="219075"/>
                  </a:cubicBezTo>
                  <a:lnTo>
                    <a:pt x="133350" y="200025"/>
                  </a:lnTo>
                  <a:cubicBezTo>
                    <a:pt x="139700" y="190500"/>
                    <a:pt x="148380" y="182169"/>
                    <a:pt x="152400" y="171450"/>
                  </a:cubicBezTo>
                  <a:cubicBezTo>
                    <a:pt x="158084" y="156291"/>
                    <a:pt x="158413" y="139629"/>
                    <a:pt x="161925" y="123825"/>
                  </a:cubicBezTo>
                  <a:cubicBezTo>
                    <a:pt x="164765" y="111046"/>
                    <a:pt x="168275" y="98425"/>
                    <a:pt x="171450" y="85725"/>
                  </a:cubicBezTo>
                  <a:cubicBezTo>
                    <a:pt x="149863" y="49746"/>
                    <a:pt x="142138" y="44678"/>
                    <a:pt x="133350" y="9525"/>
                  </a:cubicBezTo>
                  <a:cubicBezTo>
                    <a:pt x="132580" y="6445"/>
                    <a:pt x="133350" y="3175"/>
                    <a:pt x="133350" y="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Freeform 49"/>
            <p:cNvSpPr/>
            <p:nvPr/>
          </p:nvSpPr>
          <p:spPr>
            <a:xfrm>
              <a:off x="1485900" y="4786610"/>
              <a:ext cx="333375" cy="229604"/>
            </a:xfrm>
            <a:custGeom>
              <a:avLst/>
              <a:gdLst>
                <a:gd name="connsiteX0" fmla="*/ 0 w 333375"/>
                <a:gd name="connsiteY0" fmla="*/ 0 h 229604"/>
                <a:gd name="connsiteX1" fmla="*/ 9525 w 333375"/>
                <a:gd name="connsiteY1" fmla="*/ 28575 h 229604"/>
                <a:gd name="connsiteX2" fmla="*/ 209550 w 333375"/>
                <a:gd name="connsiteY2" fmla="*/ 66675 h 229604"/>
                <a:gd name="connsiteX3" fmla="*/ 228600 w 333375"/>
                <a:gd name="connsiteY3" fmla="*/ 104775 h 229604"/>
                <a:gd name="connsiteX4" fmla="*/ 238125 w 333375"/>
                <a:gd name="connsiteY4" fmla="*/ 133350 h 229604"/>
                <a:gd name="connsiteX5" fmla="*/ 266700 w 333375"/>
                <a:gd name="connsiteY5" fmla="*/ 161925 h 229604"/>
                <a:gd name="connsiteX6" fmla="*/ 295275 w 333375"/>
                <a:gd name="connsiteY6" fmla="*/ 219075 h 229604"/>
                <a:gd name="connsiteX7" fmla="*/ 333375 w 333375"/>
                <a:gd name="connsiteY7" fmla="*/ 228600 h 22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375" h="229604">
                  <a:moveTo>
                    <a:pt x="0" y="0"/>
                  </a:moveTo>
                  <a:cubicBezTo>
                    <a:pt x="3175" y="9525"/>
                    <a:pt x="5035" y="19595"/>
                    <a:pt x="9525" y="28575"/>
                  </a:cubicBezTo>
                  <a:cubicBezTo>
                    <a:pt x="48589" y="106703"/>
                    <a:pt x="88354" y="60296"/>
                    <a:pt x="209550" y="66675"/>
                  </a:cubicBezTo>
                  <a:cubicBezTo>
                    <a:pt x="215900" y="79375"/>
                    <a:pt x="223007" y="91724"/>
                    <a:pt x="228600" y="104775"/>
                  </a:cubicBezTo>
                  <a:cubicBezTo>
                    <a:pt x="232555" y="114003"/>
                    <a:pt x="232556" y="124996"/>
                    <a:pt x="238125" y="133350"/>
                  </a:cubicBezTo>
                  <a:cubicBezTo>
                    <a:pt x="245597" y="144558"/>
                    <a:pt x="257175" y="152400"/>
                    <a:pt x="266700" y="161925"/>
                  </a:cubicBezTo>
                  <a:cubicBezTo>
                    <a:pt x="272975" y="180749"/>
                    <a:pt x="278489" y="205646"/>
                    <a:pt x="295275" y="219075"/>
                  </a:cubicBezTo>
                  <a:cubicBezTo>
                    <a:pt x="308436" y="229604"/>
                    <a:pt x="319637" y="228600"/>
                    <a:pt x="333375" y="2286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Freeform 50"/>
            <p:cNvSpPr/>
            <p:nvPr/>
          </p:nvSpPr>
          <p:spPr>
            <a:xfrm>
              <a:off x="2000250" y="4517070"/>
              <a:ext cx="142875" cy="174290"/>
            </a:xfrm>
            <a:custGeom>
              <a:avLst/>
              <a:gdLst>
                <a:gd name="connsiteX0" fmla="*/ 0 w 142875"/>
                <a:gd name="connsiteY0" fmla="*/ 174290 h 174290"/>
                <a:gd name="connsiteX1" fmla="*/ 66675 w 142875"/>
                <a:gd name="connsiteY1" fmla="*/ 155240 h 174290"/>
                <a:gd name="connsiteX2" fmla="*/ 76200 w 142875"/>
                <a:gd name="connsiteY2" fmla="*/ 126665 h 174290"/>
                <a:gd name="connsiteX3" fmla="*/ 76200 w 142875"/>
                <a:gd name="connsiteY3" fmla="*/ 50465 h 174290"/>
                <a:gd name="connsiteX4" fmla="*/ 85725 w 142875"/>
                <a:gd name="connsiteY4" fmla="*/ 21890 h 174290"/>
                <a:gd name="connsiteX5" fmla="*/ 142875 w 142875"/>
                <a:gd name="connsiteY5" fmla="*/ 2840 h 174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875" h="174290">
                  <a:moveTo>
                    <a:pt x="0" y="174290"/>
                  </a:moveTo>
                  <a:cubicBezTo>
                    <a:pt x="330" y="174208"/>
                    <a:pt x="62120" y="159795"/>
                    <a:pt x="66675" y="155240"/>
                  </a:cubicBezTo>
                  <a:cubicBezTo>
                    <a:pt x="73775" y="148140"/>
                    <a:pt x="73025" y="136190"/>
                    <a:pt x="76200" y="126665"/>
                  </a:cubicBezTo>
                  <a:cubicBezTo>
                    <a:pt x="62574" y="85786"/>
                    <a:pt x="63064" y="103009"/>
                    <a:pt x="76200" y="50465"/>
                  </a:cubicBezTo>
                  <a:cubicBezTo>
                    <a:pt x="78635" y="40725"/>
                    <a:pt x="78625" y="28990"/>
                    <a:pt x="85725" y="21890"/>
                  </a:cubicBezTo>
                  <a:cubicBezTo>
                    <a:pt x="107615" y="0"/>
                    <a:pt x="119415" y="2840"/>
                    <a:pt x="142875" y="284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53" name="TextBox 52"/>
          <p:cNvSpPr txBox="1"/>
          <p:nvPr/>
        </p:nvSpPr>
        <p:spPr>
          <a:xfrm>
            <a:off x="1905000" y="3581400"/>
            <a:ext cx="52578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Is there any structure in these applications?</a:t>
            </a:r>
            <a:endParaRPr lang="en-US" sz="1400" b="1" dirty="0">
              <a:solidFill>
                <a:srgbClr val="C00000"/>
              </a:solidFill>
              <a:latin typeface="Bradley Hand ITC" pitchFamily="66" charset="0"/>
            </a:endParaRPr>
          </a:p>
        </p:txBody>
      </p:sp>
      <p:sp>
        <p:nvSpPr>
          <p:cNvPr id="54" name="TextBox 53"/>
          <p:cNvSpPr txBox="1"/>
          <p:nvPr/>
        </p:nvSpPr>
        <p:spPr>
          <a:xfrm>
            <a:off x="2819400" y="3962400"/>
            <a:ext cx="3962399" cy="523220"/>
          </a:xfrm>
          <a:prstGeom prst="rect">
            <a:avLst/>
          </a:prstGeom>
          <a:noFill/>
        </p:spPr>
        <p:txBody>
          <a:bodyPr wrap="square" rtlCol="0">
            <a:spAutoFit/>
          </a:bodyPr>
          <a:lstStyle/>
          <a:p>
            <a:r>
              <a:rPr lang="en-US" sz="1400" b="1" dirty="0" smtClean="0">
                <a:solidFill>
                  <a:srgbClr val="C00000"/>
                </a:solidFill>
                <a:latin typeface="Bradley Hand ITC" pitchFamily="66" charset="0"/>
              </a:rPr>
              <a:t>Sure, </a:t>
            </a:r>
            <a:r>
              <a:rPr lang="en-US" sz="1400" b="1" u="sng" dirty="0" smtClean="0">
                <a:solidFill>
                  <a:srgbClr val="C00000"/>
                </a:solidFill>
                <a:latin typeface="Bradley Hand ITC" pitchFamily="66" charset="0"/>
              </a:rPr>
              <a:t>there is structure here</a:t>
            </a:r>
            <a:r>
              <a:rPr lang="en-US" sz="1400" b="1" dirty="0" smtClean="0">
                <a:solidFill>
                  <a:srgbClr val="C00000"/>
                </a:solidFill>
                <a:latin typeface="Bradley Hand ITC" pitchFamily="66" charset="0"/>
              </a:rPr>
              <a:t>.  Different parts are arranged together to compose some product!</a:t>
            </a:r>
            <a:endParaRPr lang="en-US" sz="1400" b="1" dirty="0">
              <a:solidFill>
                <a:srgbClr val="C00000"/>
              </a:solidFill>
              <a:latin typeface="Bradley Hand ITC" pitchFamily="66" charset="0"/>
            </a:endParaRPr>
          </a:p>
        </p:txBody>
      </p:sp>
      <p:cxnSp>
        <p:nvCxnSpPr>
          <p:cNvPr id="56" name="Straight Arrow Connector 55"/>
          <p:cNvCxnSpPr/>
          <p:nvPr/>
        </p:nvCxnSpPr>
        <p:spPr>
          <a:xfrm flipH="1" flipV="1">
            <a:off x="2209800" y="3886200"/>
            <a:ext cx="533400" cy="304800"/>
          </a:xfrm>
          <a:prstGeom prst="straightConnector1">
            <a:avLst/>
          </a:prstGeom>
          <a:ln w="47625">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flipV="1">
            <a:off x="6629400" y="3886200"/>
            <a:ext cx="457200" cy="304800"/>
          </a:xfrm>
          <a:prstGeom prst="straightConnector1">
            <a:avLst/>
          </a:prstGeom>
          <a:ln w="47625">
            <a:solidFill>
              <a:srgbClr val="C00000"/>
            </a:solidFill>
            <a:tailEnd type="stealth"/>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rot="21323516">
            <a:off x="6373861" y="6098618"/>
            <a:ext cx="1770036" cy="307777"/>
          </a:xfrm>
          <a:prstGeom prst="rect">
            <a:avLst/>
          </a:prstGeom>
          <a:noFill/>
          <a:ln>
            <a:solidFill>
              <a:schemeClr val="bg1">
                <a:lumMod val="75000"/>
              </a:schemeClr>
            </a:solidFill>
          </a:ln>
        </p:spPr>
        <p:txBody>
          <a:bodyPr wrap="none" rtlCol="0">
            <a:spAutoFit/>
          </a:bodyPr>
          <a:lstStyle/>
          <a:p>
            <a:r>
              <a:rPr lang="en-US" sz="1400" b="1" dirty="0" smtClean="0">
                <a:solidFill>
                  <a:srgbClr val="C00000"/>
                </a:solidFill>
                <a:latin typeface="Bradley Hand ITC" pitchFamily="66" charset="0"/>
              </a:rPr>
              <a:t>How can this be true?</a:t>
            </a:r>
            <a:endParaRPr lang="en-US" sz="1400" b="1" dirty="0">
              <a:solidFill>
                <a:srgbClr val="C00000"/>
              </a:solidFill>
              <a:latin typeface="Bradley Hand ITC" pitchFamily="66" charset="0"/>
            </a:endParaRPr>
          </a:p>
        </p:txBody>
      </p:sp>
      <p:cxnSp>
        <p:nvCxnSpPr>
          <p:cNvPr id="59" name="Straight Arrow Connector 58"/>
          <p:cNvCxnSpPr/>
          <p:nvPr/>
        </p:nvCxnSpPr>
        <p:spPr>
          <a:xfrm flipH="1" flipV="1">
            <a:off x="5638800" y="6096000"/>
            <a:ext cx="609600" cy="152400"/>
          </a:xfrm>
          <a:prstGeom prst="straightConnector1">
            <a:avLst/>
          </a:prstGeom>
          <a:ln w="47625">
            <a:solidFill>
              <a:srgbClr val="C00000"/>
            </a:solidFill>
            <a:tailEnd type="stealt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Fundamentals of UML Structural Modeling</a:t>
            </a:r>
            <a:endParaRPr lang="en-US" dirty="0"/>
          </a:p>
        </p:txBody>
      </p:sp>
      <p:sp>
        <p:nvSpPr>
          <p:cNvPr id="3" name="Content Placeholder 2"/>
          <p:cNvSpPr>
            <a:spLocks noGrp="1"/>
          </p:cNvSpPr>
          <p:nvPr>
            <p:ph idx="1"/>
          </p:nvPr>
        </p:nvSpPr>
        <p:spPr>
          <a:xfrm>
            <a:off x="457200" y="1371601"/>
            <a:ext cx="8229600" cy="2057399"/>
          </a:xfrm>
        </p:spPr>
        <p:txBody>
          <a:bodyPr>
            <a:normAutofit fontScale="77500" lnSpcReduction="20000"/>
          </a:bodyPr>
          <a:lstStyle/>
          <a:p>
            <a:r>
              <a:rPr lang="en-US" dirty="0" smtClean="0"/>
              <a:t>In the previous slide, under the established assumptions, we mentioned that structure drives quality AND quality drives structure.  What do we mean by that?  Consider again the two structures for the same software application.</a:t>
            </a:r>
          </a:p>
          <a:p>
            <a:pPr lvl="1"/>
            <a:r>
              <a:rPr lang="en-US" dirty="0" smtClean="0"/>
              <a:t>Assume that these are structures for a message processing application, where messages are sent and processed by the software.</a:t>
            </a:r>
          </a:p>
          <a:p>
            <a:pPr lvl="1"/>
            <a:r>
              <a:rPr lang="en-US" dirty="0" smtClean="0"/>
              <a:t>Furthermore, assume the following:</a:t>
            </a:r>
          </a:p>
          <a:p>
            <a:pPr lvl="2"/>
            <a:r>
              <a:rPr lang="en-US" dirty="0" smtClean="0"/>
              <a:t>Messages </a:t>
            </a:r>
            <a:r>
              <a:rPr lang="en-US" b="1" dirty="0" smtClean="0"/>
              <a:t>need to be processed and executed in less than .5 seconds</a:t>
            </a:r>
            <a:r>
              <a:rPr lang="en-US" dirty="0" smtClean="0"/>
              <a:t>.</a:t>
            </a:r>
          </a:p>
          <a:p>
            <a:pPr lvl="3"/>
            <a:r>
              <a:rPr lang="en-US" dirty="0" smtClean="0"/>
              <a:t>Assume that </a:t>
            </a:r>
            <a:r>
              <a:rPr lang="en-US" u="sng" dirty="0" smtClean="0"/>
              <a:t>ONLY</a:t>
            </a:r>
            <a:r>
              <a:rPr lang="en-US" dirty="0" smtClean="0"/>
              <a:t> </a:t>
            </a:r>
            <a:r>
              <a:rPr lang="en-US" i="1" dirty="0" smtClean="0"/>
              <a:t>Structure A</a:t>
            </a:r>
            <a:r>
              <a:rPr lang="en-US" dirty="0" smtClean="0"/>
              <a:t> leads to a system that meets this requirement.</a:t>
            </a:r>
          </a:p>
          <a:p>
            <a:pPr lvl="2"/>
            <a:r>
              <a:rPr lang="en-US" dirty="0" smtClean="0"/>
              <a:t>Based on the customer, </a:t>
            </a:r>
            <a:r>
              <a:rPr lang="en-US" u="sng" dirty="0" smtClean="0"/>
              <a:t>quality is a function of performance </a:t>
            </a:r>
            <a:r>
              <a:rPr lang="en-US" dirty="0" smtClean="0"/>
              <a:t>and </a:t>
            </a:r>
            <a:r>
              <a:rPr lang="en-US" dirty="0" smtClean="0">
                <a:solidFill>
                  <a:srgbClr val="C00000"/>
                </a:solidFill>
              </a:rPr>
              <a:t>NOT</a:t>
            </a:r>
            <a:r>
              <a:rPr lang="en-US" dirty="0" smtClean="0"/>
              <a:t> reusability and maintainability.</a:t>
            </a:r>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grpSp>
        <p:nvGrpSpPr>
          <p:cNvPr id="86" name="Group 85"/>
          <p:cNvGrpSpPr/>
          <p:nvPr/>
        </p:nvGrpSpPr>
        <p:grpSpPr>
          <a:xfrm>
            <a:off x="457200" y="3276600"/>
            <a:ext cx="8610600" cy="2771775"/>
            <a:chOff x="381000" y="3476625"/>
            <a:chExt cx="8610600" cy="2771775"/>
          </a:xfrm>
        </p:grpSpPr>
        <p:sp>
          <p:nvSpPr>
            <p:cNvPr id="40" name="TextBox 39"/>
            <p:cNvSpPr txBox="1"/>
            <p:nvPr/>
          </p:nvSpPr>
          <p:spPr>
            <a:xfrm>
              <a:off x="1981200" y="3581400"/>
              <a:ext cx="51816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What can you say about the quality of these systems?</a:t>
              </a:r>
              <a:endParaRPr lang="en-US" sz="1400" b="1" dirty="0">
                <a:solidFill>
                  <a:srgbClr val="C00000"/>
                </a:solidFill>
                <a:latin typeface="Bradley Hand ITC" pitchFamily="66" charset="0"/>
              </a:endParaRPr>
            </a:p>
          </p:txBody>
        </p:sp>
        <p:pic>
          <p:nvPicPr>
            <p:cNvPr id="1027" name="Picture 3" descr="C:\Users\cotero\AppData\Local\Microsoft\Windows\Temporary Internet Files\Content.IE5\07RO37DR\MC900441322[1].png"/>
            <p:cNvPicPr>
              <a:picLocks noChangeAspect="1" noChangeArrowheads="1"/>
            </p:cNvPicPr>
            <p:nvPr/>
          </p:nvPicPr>
          <p:blipFill>
            <a:blip r:embed="rId2" cstate="print"/>
            <a:srcRect/>
            <a:stretch>
              <a:fillRect/>
            </a:stretch>
          </p:blipFill>
          <p:spPr bwMode="auto">
            <a:xfrm>
              <a:off x="1828800" y="5457825"/>
              <a:ext cx="304800" cy="304800"/>
            </a:xfrm>
            <a:prstGeom prst="rect">
              <a:avLst/>
            </a:prstGeom>
            <a:noFill/>
          </p:spPr>
        </p:pic>
        <p:pic>
          <p:nvPicPr>
            <p:cNvPr id="1028" name="Picture 4" descr="C:\Users\cotero\AppData\Local\Microsoft\Windows\Temporary Internet Files\Content.IE5\07RO37DR\MC900441321[1].png"/>
            <p:cNvPicPr>
              <a:picLocks noChangeAspect="1" noChangeArrowheads="1"/>
            </p:cNvPicPr>
            <p:nvPr/>
          </p:nvPicPr>
          <p:blipFill>
            <a:blip r:embed="rId3" cstate="print"/>
            <a:srcRect/>
            <a:stretch>
              <a:fillRect/>
            </a:stretch>
          </p:blipFill>
          <p:spPr bwMode="auto">
            <a:xfrm>
              <a:off x="1828800" y="4724400"/>
              <a:ext cx="304800" cy="304800"/>
            </a:xfrm>
            <a:prstGeom prst="rect">
              <a:avLst/>
            </a:prstGeom>
            <a:noFill/>
          </p:spPr>
        </p:pic>
        <p:grpSp>
          <p:nvGrpSpPr>
            <p:cNvPr id="77" name="Group 76"/>
            <p:cNvGrpSpPr/>
            <p:nvPr/>
          </p:nvGrpSpPr>
          <p:grpSpPr>
            <a:xfrm>
              <a:off x="751615" y="3476625"/>
              <a:ext cx="1229585" cy="1123950"/>
              <a:chOff x="751615" y="3705225"/>
              <a:chExt cx="1229585" cy="1123950"/>
            </a:xfrm>
          </p:grpSpPr>
          <p:grpSp>
            <p:nvGrpSpPr>
              <p:cNvPr id="25" name="Group 24"/>
              <p:cNvGrpSpPr/>
              <p:nvPr/>
            </p:nvGrpSpPr>
            <p:grpSpPr>
              <a:xfrm>
                <a:off x="751615" y="3914775"/>
                <a:ext cx="1228725" cy="914400"/>
                <a:chOff x="914400" y="4110335"/>
                <a:chExt cx="1228725" cy="914400"/>
              </a:xfrm>
            </p:grpSpPr>
            <p:sp>
              <p:nvSpPr>
                <p:cNvPr id="26" name="Rectangle 25"/>
                <p:cNvSpPr/>
                <p:nvPr/>
              </p:nvSpPr>
              <p:spPr>
                <a:xfrm>
                  <a:off x="914400" y="4110335"/>
                  <a:ext cx="12192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26"/>
                <p:cNvSpPr/>
                <p:nvPr/>
              </p:nvSpPr>
              <p:spPr>
                <a:xfrm>
                  <a:off x="1019175" y="4415134"/>
                  <a:ext cx="990600" cy="381001"/>
                </a:xfrm>
                <a:custGeom>
                  <a:avLst/>
                  <a:gdLst>
                    <a:gd name="connsiteX0" fmla="*/ 533400 w 723900"/>
                    <a:gd name="connsiteY0" fmla="*/ 133350 h 625618"/>
                    <a:gd name="connsiteX1" fmla="*/ 485775 w 723900"/>
                    <a:gd name="connsiteY1" fmla="*/ 95250 h 625618"/>
                    <a:gd name="connsiteX2" fmla="*/ 419100 w 723900"/>
                    <a:gd name="connsiteY2" fmla="*/ 66675 h 625618"/>
                    <a:gd name="connsiteX3" fmla="*/ 381000 w 723900"/>
                    <a:gd name="connsiteY3" fmla="*/ 38100 h 625618"/>
                    <a:gd name="connsiteX4" fmla="*/ 304800 w 723900"/>
                    <a:gd name="connsiteY4" fmla="*/ 0 h 625618"/>
                    <a:gd name="connsiteX5" fmla="*/ 247650 w 723900"/>
                    <a:gd name="connsiteY5" fmla="*/ 38100 h 625618"/>
                    <a:gd name="connsiteX6" fmla="*/ 209550 w 723900"/>
                    <a:gd name="connsiteY6" fmla="*/ 66675 h 625618"/>
                    <a:gd name="connsiteX7" fmla="*/ 123825 w 723900"/>
                    <a:gd name="connsiteY7" fmla="*/ 104775 h 625618"/>
                    <a:gd name="connsiteX8" fmla="*/ 66675 w 723900"/>
                    <a:gd name="connsiteY8" fmla="*/ 190500 h 625618"/>
                    <a:gd name="connsiteX9" fmla="*/ 47625 w 723900"/>
                    <a:gd name="connsiteY9" fmla="*/ 219075 h 625618"/>
                    <a:gd name="connsiteX10" fmla="*/ 28575 w 723900"/>
                    <a:gd name="connsiteY10" fmla="*/ 247650 h 625618"/>
                    <a:gd name="connsiteX11" fmla="*/ 0 w 723900"/>
                    <a:gd name="connsiteY11" fmla="*/ 285750 h 625618"/>
                    <a:gd name="connsiteX12" fmla="*/ 38100 w 723900"/>
                    <a:gd name="connsiteY12" fmla="*/ 323850 h 625618"/>
                    <a:gd name="connsiteX13" fmla="*/ 66675 w 723900"/>
                    <a:gd name="connsiteY13" fmla="*/ 333375 h 625618"/>
                    <a:gd name="connsiteX14" fmla="*/ 95250 w 723900"/>
                    <a:gd name="connsiteY14" fmla="*/ 390525 h 625618"/>
                    <a:gd name="connsiteX15" fmla="*/ 104775 w 723900"/>
                    <a:gd name="connsiteY15" fmla="*/ 457200 h 625618"/>
                    <a:gd name="connsiteX16" fmla="*/ 161925 w 723900"/>
                    <a:gd name="connsiteY16" fmla="*/ 495300 h 625618"/>
                    <a:gd name="connsiteX17" fmla="*/ 219075 w 723900"/>
                    <a:gd name="connsiteY17" fmla="*/ 552450 h 625618"/>
                    <a:gd name="connsiteX18" fmla="*/ 285750 w 723900"/>
                    <a:gd name="connsiteY18" fmla="*/ 581025 h 625618"/>
                    <a:gd name="connsiteX19" fmla="*/ 342900 w 723900"/>
                    <a:gd name="connsiteY19" fmla="*/ 619125 h 625618"/>
                    <a:gd name="connsiteX20" fmla="*/ 352425 w 723900"/>
                    <a:gd name="connsiteY20" fmla="*/ 571500 h 625618"/>
                    <a:gd name="connsiteX21" fmla="*/ 419100 w 723900"/>
                    <a:gd name="connsiteY21" fmla="*/ 542925 h 625618"/>
                    <a:gd name="connsiteX22" fmla="*/ 533400 w 723900"/>
                    <a:gd name="connsiteY22" fmla="*/ 552450 h 625618"/>
                    <a:gd name="connsiteX23" fmla="*/ 561975 w 723900"/>
                    <a:gd name="connsiteY23" fmla="*/ 561975 h 625618"/>
                    <a:gd name="connsiteX24" fmla="*/ 600075 w 723900"/>
                    <a:gd name="connsiteY24" fmla="*/ 571500 h 625618"/>
                    <a:gd name="connsiteX25" fmla="*/ 638175 w 723900"/>
                    <a:gd name="connsiteY25" fmla="*/ 485775 h 625618"/>
                    <a:gd name="connsiteX26" fmla="*/ 666750 w 723900"/>
                    <a:gd name="connsiteY26" fmla="*/ 476250 h 625618"/>
                    <a:gd name="connsiteX27" fmla="*/ 723900 w 723900"/>
                    <a:gd name="connsiteY27" fmla="*/ 438150 h 625618"/>
                    <a:gd name="connsiteX28" fmla="*/ 704850 w 723900"/>
                    <a:gd name="connsiteY28" fmla="*/ 409575 h 625618"/>
                    <a:gd name="connsiteX29" fmla="*/ 685800 w 723900"/>
                    <a:gd name="connsiteY29" fmla="*/ 333375 h 625618"/>
                    <a:gd name="connsiteX30" fmla="*/ 666750 w 723900"/>
                    <a:gd name="connsiteY30" fmla="*/ 238125 h 625618"/>
                    <a:gd name="connsiteX31" fmla="*/ 647700 w 723900"/>
                    <a:gd name="connsiteY31" fmla="*/ 190500 h 625618"/>
                    <a:gd name="connsiteX32" fmla="*/ 581025 w 723900"/>
                    <a:gd name="connsiteY32" fmla="*/ 180975 h 625618"/>
                    <a:gd name="connsiteX33" fmla="*/ 561975 w 723900"/>
                    <a:gd name="connsiteY33" fmla="*/ 152400 h 625618"/>
                    <a:gd name="connsiteX34" fmla="*/ 533400 w 723900"/>
                    <a:gd name="connsiteY34" fmla="*/ 133350 h 6256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23900" h="625618">
                      <a:moveTo>
                        <a:pt x="533400" y="133350"/>
                      </a:moveTo>
                      <a:cubicBezTo>
                        <a:pt x="520700" y="123825"/>
                        <a:pt x="543220" y="143121"/>
                        <a:pt x="485775" y="95250"/>
                      </a:cubicBezTo>
                      <a:cubicBezTo>
                        <a:pt x="470082" y="82172"/>
                        <a:pt x="438952" y="73292"/>
                        <a:pt x="419100" y="66675"/>
                      </a:cubicBezTo>
                      <a:cubicBezTo>
                        <a:pt x="406400" y="57150"/>
                        <a:pt x="394712" y="46099"/>
                        <a:pt x="381000" y="38100"/>
                      </a:cubicBezTo>
                      <a:cubicBezTo>
                        <a:pt x="356470" y="23791"/>
                        <a:pt x="304800" y="0"/>
                        <a:pt x="304800" y="0"/>
                      </a:cubicBezTo>
                      <a:cubicBezTo>
                        <a:pt x="238302" y="66498"/>
                        <a:pt x="311979" y="1341"/>
                        <a:pt x="247650" y="38100"/>
                      </a:cubicBezTo>
                      <a:cubicBezTo>
                        <a:pt x="233867" y="45976"/>
                        <a:pt x="223749" y="59575"/>
                        <a:pt x="209550" y="66675"/>
                      </a:cubicBezTo>
                      <a:cubicBezTo>
                        <a:pt x="73530" y="134685"/>
                        <a:pt x="207880" y="48739"/>
                        <a:pt x="123825" y="104775"/>
                      </a:cubicBezTo>
                      <a:lnTo>
                        <a:pt x="66675" y="190500"/>
                      </a:lnTo>
                      <a:lnTo>
                        <a:pt x="47625" y="219075"/>
                      </a:lnTo>
                      <a:cubicBezTo>
                        <a:pt x="41275" y="228600"/>
                        <a:pt x="35444" y="238492"/>
                        <a:pt x="28575" y="247650"/>
                      </a:cubicBezTo>
                      <a:lnTo>
                        <a:pt x="0" y="285750"/>
                      </a:lnTo>
                      <a:cubicBezTo>
                        <a:pt x="12700" y="298450"/>
                        <a:pt x="23485" y="313411"/>
                        <a:pt x="38100" y="323850"/>
                      </a:cubicBezTo>
                      <a:cubicBezTo>
                        <a:pt x="46270" y="329686"/>
                        <a:pt x="58835" y="327103"/>
                        <a:pt x="66675" y="333375"/>
                      </a:cubicBezTo>
                      <a:cubicBezTo>
                        <a:pt x="83461" y="346804"/>
                        <a:pt x="88975" y="371701"/>
                        <a:pt x="95250" y="390525"/>
                      </a:cubicBezTo>
                      <a:cubicBezTo>
                        <a:pt x="98425" y="412750"/>
                        <a:pt x="92722" y="438259"/>
                        <a:pt x="104775" y="457200"/>
                      </a:cubicBezTo>
                      <a:cubicBezTo>
                        <a:pt x="117067" y="476516"/>
                        <a:pt x="145736" y="479111"/>
                        <a:pt x="161925" y="495300"/>
                      </a:cubicBezTo>
                      <a:cubicBezTo>
                        <a:pt x="180975" y="514350"/>
                        <a:pt x="193517" y="543931"/>
                        <a:pt x="219075" y="552450"/>
                      </a:cubicBezTo>
                      <a:cubicBezTo>
                        <a:pt x="242394" y="560223"/>
                        <a:pt x="265152" y="566312"/>
                        <a:pt x="285750" y="581025"/>
                      </a:cubicBezTo>
                      <a:cubicBezTo>
                        <a:pt x="348180" y="625618"/>
                        <a:pt x="281603" y="598693"/>
                        <a:pt x="342900" y="619125"/>
                      </a:cubicBezTo>
                      <a:cubicBezTo>
                        <a:pt x="346075" y="603250"/>
                        <a:pt x="344393" y="585556"/>
                        <a:pt x="352425" y="571500"/>
                      </a:cubicBezTo>
                      <a:cubicBezTo>
                        <a:pt x="363388" y="552315"/>
                        <a:pt x="402490" y="547078"/>
                        <a:pt x="419100" y="542925"/>
                      </a:cubicBezTo>
                      <a:cubicBezTo>
                        <a:pt x="457200" y="546100"/>
                        <a:pt x="495503" y="547397"/>
                        <a:pt x="533400" y="552450"/>
                      </a:cubicBezTo>
                      <a:cubicBezTo>
                        <a:pt x="543352" y="553777"/>
                        <a:pt x="552321" y="559217"/>
                        <a:pt x="561975" y="561975"/>
                      </a:cubicBezTo>
                      <a:cubicBezTo>
                        <a:pt x="574562" y="565571"/>
                        <a:pt x="587375" y="568325"/>
                        <a:pt x="600075" y="571500"/>
                      </a:cubicBezTo>
                      <a:cubicBezTo>
                        <a:pt x="605896" y="554037"/>
                        <a:pt x="617592" y="502242"/>
                        <a:pt x="638175" y="485775"/>
                      </a:cubicBezTo>
                      <a:cubicBezTo>
                        <a:pt x="646015" y="479503"/>
                        <a:pt x="657973" y="481126"/>
                        <a:pt x="666750" y="476250"/>
                      </a:cubicBezTo>
                      <a:cubicBezTo>
                        <a:pt x="686764" y="465131"/>
                        <a:pt x="723900" y="438150"/>
                        <a:pt x="723900" y="438150"/>
                      </a:cubicBezTo>
                      <a:cubicBezTo>
                        <a:pt x="717550" y="428625"/>
                        <a:pt x="708762" y="420333"/>
                        <a:pt x="704850" y="409575"/>
                      </a:cubicBezTo>
                      <a:cubicBezTo>
                        <a:pt x="695903" y="384970"/>
                        <a:pt x="689503" y="359294"/>
                        <a:pt x="685800" y="333375"/>
                      </a:cubicBezTo>
                      <a:cubicBezTo>
                        <a:pt x="677715" y="276777"/>
                        <a:pt x="682096" y="279047"/>
                        <a:pt x="666750" y="238125"/>
                      </a:cubicBezTo>
                      <a:cubicBezTo>
                        <a:pt x="660747" y="222116"/>
                        <a:pt x="661926" y="199984"/>
                        <a:pt x="647700" y="190500"/>
                      </a:cubicBezTo>
                      <a:cubicBezTo>
                        <a:pt x="629020" y="178047"/>
                        <a:pt x="603250" y="184150"/>
                        <a:pt x="581025" y="180975"/>
                      </a:cubicBezTo>
                      <a:cubicBezTo>
                        <a:pt x="574675" y="171450"/>
                        <a:pt x="570914" y="159551"/>
                        <a:pt x="561975" y="152400"/>
                      </a:cubicBezTo>
                      <a:cubicBezTo>
                        <a:pt x="554135" y="146128"/>
                        <a:pt x="546100" y="142875"/>
                        <a:pt x="533400" y="133350"/>
                      </a:cubicBezTo>
                      <a:close/>
                    </a:path>
                  </a:pathLst>
                </a:cu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1054628" y="4168914"/>
                  <a:ext cx="240772"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x</a:t>
                  </a:r>
                  <a:endParaRPr lang="en-US" sz="1000" dirty="0">
                    <a:solidFill>
                      <a:schemeClr val="bg1"/>
                    </a:solidFill>
                    <a:latin typeface="+mj-lt"/>
                    <a:cs typeface="Aharoni" pitchFamily="2" charset="-79"/>
                  </a:endParaRPr>
                </a:p>
              </p:txBody>
            </p:sp>
            <p:sp>
              <p:nvSpPr>
                <p:cNvPr id="29" name="TextBox 28"/>
                <p:cNvSpPr txBox="1"/>
                <p:nvPr/>
              </p:nvSpPr>
              <p:spPr>
                <a:xfrm>
                  <a:off x="1828800" y="4719935"/>
                  <a:ext cx="242374"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y</a:t>
                  </a:r>
                  <a:endParaRPr lang="en-US" sz="1000" dirty="0">
                    <a:solidFill>
                      <a:schemeClr val="bg1"/>
                    </a:solidFill>
                    <a:latin typeface="+mj-lt"/>
                    <a:cs typeface="Aharoni" pitchFamily="2" charset="-79"/>
                  </a:endParaRPr>
                </a:p>
              </p:txBody>
            </p:sp>
            <p:sp>
              <p:nvSpPr>
                <p:cNvPr id="30" name="TextBox 29"/>
                <p:cNvSpPr txBox="1"/>
                <p:nvPr/>
              </p:nvSpPr>
              <p:spPr>
                <a:xfrm>
                  <a:off x="1752600" y="4168914"/>
                  <a:ext cx="240772"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c</a:t>
                  </a:r>
                  <a:endParaRPr lang="en-US" sz="1000" dirty="0">
                    <a:solidFill>
                      <a:schemeClr val="bg1"/>
                    </a:solidFill>
                    <a:latin typeface="+mj-lt"/>
                    <a:cs typeface="Aharoni" pitchFamily="2" charset="-79"/>
                  </a:endParaRPr>
                </a:p>
              </p:txBody>
            </p:sp>
            <p:sp>
              <p:nvSpPr>
                <p:cNvPr id="31" name="TextBox 30"/>
                <p:cNvSpPr txBox="1"/>
                <p:nvPr/>
              </p:nvSpPr>
              <p:spPr>
                <a:xfrm>
                  <a:off x="1043408" y="4719935"/>
                  <a:ext cx="251992"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b</a:t>
                  </a:r>
                  <a:endParaRPr lang="en-US" sz="1000" dirty="0">
                    <a:solidFill>
                      <a:schemeClr val="bg1"/>
                    </a:solidFill>
                    <a:latin typeface="+mj-lt"/>
                    <a:cs typeface="Aharoni" pitchFamily="2" charset="-79"/>
                  </a:endParaRPr>
                </a:p>
              </p:txBody>
            </p:sp>
            <p:sp>
              <p:nvSpPr>
                <p:cNvPr id="32" name="TextBox 31"/>
                <p:cNvSpPr txBox="1"/>
                <p:nvPr/>
              </p:nvSpPr>
              <p:spPr>
                <a:xfrm>
                  <a:off x="1046445" y="4491335"/>
                  <a:ext cx="1011815" cy="246221"/>
                </a:xfrm>
                <a:prstGeom prst="rect">
                  <a:avLst/>
                </a:prstGeom>
                <a:noFill/>
              </p:spPr>
              <p:txBody>
                <a:bodyPr wrap="none" rtlCol="0">
                  <a:spAutoFit/>
                </a:bodyPr>
                <a:lstStyle/>
                <a:p>
                  <a:r>
                    <a:rPr lang="en-US" sz="1000" dirty="0" smtClean="0">
                      <a:latin typeface="+mj-lt"/>
                      <a:cs typeface="Aharoni" pitchFamily="2" charset="-79"/>
                    </a:rPr>
                    <a:t>Communication</a:t>
                  </a:r>
                  <a:endParaRPr lang="en-US" sz="1000" dirty="0">
                    <a:latin typeface="+mj-lt"/>
                    <a:cs typeface="Aharoni" pitchFamily="2" charset="-79"/>
                  </a:endParaRPr>
                </a:p>
              </p:txBody>
            </p:sp>
            <p:sp>
              <p:nvSpPr>
                <p:cNvPr id="33" name="TextBox 32"/>
                <p:cNvSpPr txBox="1"/>
                <p:nvPr/>
              </p:nvSpPr>
              <p:spPr>
                <a:xfrm>
                  <a:off x="1143000" y="4397514"/>
                  <a:ext cx="235962" cy="246221"/>
                </a:xfrm>
                <a:prstGeom prst="rect">
                  <a:avLst/>
                </a:prstGeom>
                <a:noFill/>
              </p:spPr>
              <p:txBody>
                <a:bodyPr wrap="none" rtlCol="0">
                  <a:spAutoFit/>
                </a:bodyPr>
                <a:lstStyle/>
                <a:p>
                  <a:r>
                    <a:rPr lang="en-US" sz="1000" dirty="0" smtClean="0">
                      <a:latin typeface="+mj-lt"/>
                      <a:cs typeface="Aharoni" pitchFamily="2" charset="-79"/>
                    </a:rPr>
                    <a:t>z</a:t>
                  </a:r>
                  <a:endParaRPr lang="en-US" sz="1000" dirty="0">
                    <a:latin typeface="+mj-lt"/>
                    <a:cs typeface="Aharoni" pitchFamily="2" charset="-79"/>
                  </a:endParaRPr>
                </a:p>
              </p:txBody>
            </p:sp>
            <p:sp>
              <p:nvSpPr>
                <p:cNvPr id="34" name="TextBox 33"/>
                <p:cNvSpPr txBox="1"/>
                <p:nvPr/>
              </p:nvSpPr>
              <p:spPr>
                <a:xfrm>
                  <a:off x="1371600" y="4397514"/>
                  <a:ext cx="229550" cy="246221"/>
                </a:xfrm>
                <a:prstGeom prst="rect">
                  <a:avLst/>
                </a:prstGeom>
                <a:noFill/>
              </p:spPr>
              <p:txBody>
                <a:bodyPr wrap="none" rtlCol="0">
                  <a:spAutoFit/>
                </a:bodyPr>
                <a:lstStyle/>
                <a:p>
                  <a:r>
                    <a:rPr lang="en-US" sz="1000" dirty="0" smtClean="0">
                      <a:latin typeface="+mj-lt"/>
                      <a:cs typeface="Aharoni" pitchFamily="2" charset="-79"/>
                    </a:rPr>
                    <a:t>r</a:t>
                  </a:r>
                  <a:endParaRPr lang="en-US" sz="1000" dirty="0">
                    <a:latin typeface="+mj-lt"/>
                    <a:cs typeface="Aharoni" pitchFamily="2" charset="-79"/>
                  </a:endParaRPr>
                </a:p>
              </p:txBody>
            </p:sp>
            <p:sp>
              <p:nvSpPr>
                <p:cNvPr id="35" name="TextBox 34"/>
                <p:cNvSpPr txBox="1"/>
                <p:nvPr/>
              </p:nvSpPr>
              <p:spPr>
                <a:xfrm>
                  <a:off x="1238250" y="4588014"/>
                  <a:ext cx="316112" cy="246221"/>
                </a:xfrm>
                <a:prstGeom prst="rect">
                  <a:avLst/>
                </a:prstGeom>
                <a:noFill/>
              </p:spPr>
              <p:txBody>
                <a:bodyPr wrap="none" rtlCol="0">
                  <a:spAutoFit/>
                </a:bodyPr>
                <a:lstStyle/>
                <a:p>
                  <a:r>
                    <a:rPr lang="en-US" sz="1000" dirty="0" smtClean="0">
                      <a:latin typeface="+mj-lt"/>
                      <a:cs typeface="Aharoni" pitchFamily="2" charset="-79"/>
                    </a:rPr>
                    <a:t>m </a:t>
                  </a:r>
                  <a:endParaRPr lang="en-US" sz="1000" dirty="0">
                    <a:latin typeface="+mj-lt"/>
                    <a:cs typeface="Aharoni" pitchFamily="2" charset="-79"/>
                  </a:endParaRPr>
                </a:p>
              </p:txBody>
            </p:sp>
            <p:sp>
              <p:nvSpPr>
                <p:cNvPr id="36" name="Freeform 35"/>
                <p:cNvSpPr/>
                <p:nvPr/>
              </p:nvSpPr>
              <p:spPr>
                <a:xfrm>
                  <a:off x="923925" y="4586585"/>
                  <a:ext cx="95250" cy="9525"/>
                </a:xfrm>
                <a:custGeom>
                  <a:avLst/>
                  <a:gdLst>
                    <a:gd name="connsiteX0" fmla="*/ 95250 w 95250"/>
                    <a:gd name="connsiteY0" fmla="*/ 9525 h 9525"/>
                    <a:gd name="connsiteX1" fmla="*/ 0 w 95250"/>
                    <a:gd name="connsiteY1" fmla="*/ 0 h 9525"/>
                  </a:gdLst>
                  <a:ahLst/>
                  <a:cxnLst>
                    <a:cxn ang="0">
                      <a:pos x="connsiteX0" y="connsiteY0"/>
                    </a:cxn>
                    <a:cxn ang="0">
                      <a:pos x="connsiteX1" y="connsiteY1"/>
                    </a:cxn>
                  </a:cxnLst>
                  <a:rect l="l" t="t" r="r" b="b"/>
                  <a:pathLst>
                    <a:path w="95250" h="9525">
                      <a:moveTo>
                        <a:pt x="95250" y="9525"/>
                      </a:moveTo>
                      <a:lnTo>
                        <a:pt x="0" y="0"/>
                      </a:ln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Freeform 36"/>
                <p:cNvSpPr/>
                <p:nvPr/>
              </p:nvSpPr>
              <p:spPr>
                <a:xfrm>
                  <a:off x="1438275" y="4129385"/>
                  <a:ext cx="171450" cy="276225"/>
                </a:xfrm>
                <a:custGeom>
                  <a:avLst/>
                  <a:gdLst>
                    <a:gd name="connsiteX0" fmla="*/ 0 w 171450"/>
                    <a:gd name="connsiteY0" fmla="*/ 276225 h 276225"/>
                    <a:gd name="connsiteX1" fmla="*/ 28575 w 171450"/>
                    <a:gd name="connsiteY1" fmla="*/ 266700 h 276225"/>
                    <a:gd name="connsiteX2" fmla="*/ 47625 w 171450"/>
                    <a:gd name="connsiteY2" fmla="*/ 238125 h 276225"/>
                    <a:gd name="connsiteX3" fmla="*/ 104775 w 171450"/>
                    <a:gd name="connsiteY3" fmla="*/ 219075 h 276225"/>
                    <a:gd name="connsiteX4" fmla="*/ 133350 w 171450"/>
                    <a:gd name="connsiteY4" fmla="*/ 200025 h 276225"/>
                    <a:gd name="connsiteX5" fmla="*/ 152400 w 171450"/>
                    <a:gd name="connsiteY5" fmla="*/ 171450 h 276225"/>
                    <a:gd name="connsiteX6" fmla="*/ 161925 w 171450"/>
                    <a:gd name="connsiteY6" fmla="*/ 123825 h 276225"/>
                    <a:gd name="connsiteX7" fmla="*/ 171450 w 171450"/>
                    <a:gd name="connsiteY7" fmla="*/ 85725 h 276225"/>
                    <a:gd name="connsiteX8" fmla="*/ 133350 w 171450"/>
                    <a:gd name="connsiteY8" fmla="*/ 9525 h 276225"/>
                    <a:gd name="connsiteX9" fmla="*/ 133350 w 171450"/>
                    <a:gd name="connsiteY9" fmla="*/ 0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1450" h="276225">
                      <a:moveTo>
                        <a:pt x="0" y="276225"/>
                      </a:moveTo>
                      <a:cubicBezTo>
                        <a:pt x="9525" y="273050"/>
                        <a:pt x="20735" y="272972"/>
                        <a:pt x="28575" y="266700"/>
                      </a:cubicBezTo>
                      <a:cubicBezTo>
                        <a:pt x="37514" y="259549"/>
                        <a:pt x="37917" y="244192"/>
                        <a:pt x="47625" y="238125"/>
                      </a:cubicBezTo>
                      <a:cubicBezTo>
                        <a:pt x="64653" y="227482"/>
                        <a:pt x="88067" y="230214"/>
                        <a:pt x="104775" y="219075"/>
                      </a:cubicBezTo>
                      <a:lnTo>
                        <a:pt x="133350" y="200025"/>
                      </a:lnTo>
                      <a:cubicBezTo>
                        <a:pt x="139700" y="190500"/>
                        <a:pt x="148380" y="182169"/>
                        <a:pt x="152400" y="171450"/>
                      </a:cubicBezTo>
                      <a:cubicBezTo>
                        <a:pt x="158084" y="156291"/>
                        <a:pt x="158413" y="139629"/>
                        <a:pt x="161925" y="123825"/>
                      </a:cubicBezTo>
                      <a:cubicBezTo>
                        <a:pt x="164765" y="111046"/>
                        <a:pt x="168275" y="98425"/>
                        <a:pt x="171450" y="85725"/>
                      </a:cubicBezTo>
                      <a:cubicBezTo>
                        <a:pt x="149863" y="49746"/>
                        <a:pt x="142138" y="44678"/>
                        <a:pt x="133350" y="9525"/>
                      </a:cubicBezTo>
                      <a:cubicBezTo>
                        <a:pt x="132580" y="6445"/>
                        <a:pt x="133350" y="3175"/>
                        <a:pt x="133350" y="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Freeform 37"/>
                <p:cNvSpPr/>
                <p:nvPr/>
              </p:nvSpPr>
              <p:spPr>
                <a:xfrm>
                  <a:off x="1485900" y="4786610"/>
                  <a:ext cx="333375" cy="229604"/>
                </a:xfrm>
                <a:custGeom>
                  <a:avLst/>
                  <a:gdLst>
                    <a:gd name="connsiteX0" fmla="*/ 0 w 333375"/>
                    <a:gd name="connsiteY0" fmla="*/ 0 h 229604"/>
                    <a:gd name="connsiteX1" fmla="*/ 9525 w 333375"/>
                    <a:gd name="connsiteY1" fmla="*/ 28575 h 229604"/>
                    <a:gd name="connsiteX2" fmla="*/ 209550 w 333375"/>
                    <a:gd name="connsiteY2" fmla="*/ 66675 h 229604"/>
                    <a:gd name="connsiteX3" fmla="*/ 228600 w 333375"/>
                    <a:gd name="connsiteY3" fmla="*/ 104775 h 229604"/>
                    <a:gd name="connsiteX4" fmla="*/ 238125 w 333375"/>
                    <a:gd name="connsiteY4" fmla="*/ 133350 h 229604"/>
                    <a:gd name="connsiteX5" fmla="*/ 266700 w 333375"/>
                    <a:gd name="connsiteY5" fmla="*/ 161925 h 229604"/>
                    <a:gd name="connsiteX6" fmla="*/ 295275 w 333375"/>
                    <a:gd name="connsiteY6" fmla="*/ 219075 h 229604"/>
                    <a:gd name="connsiteX7" fmla="*/ 333375 w 333375"/>
                    <a:gd name="connsiteY7" fmla="*/ 228600 h 229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3375" h="229604">
                      <a:moveTo>
                        <a:pt x="0" y="0"/>
                      </a:moveTo>
                      <a:cubicBezTo>
                        <a:pt x="3175" y="9525"/>
                        <a:pt x="5035" y="19595"/>
                        <a:pt x="9525" y="28575"/>
                      </a:cubicBezTo>
                      <a:cubicBezTo>
                        <a:pt x="48589" y="106703"/>
                        <a:pt x="88354" y="60296"/>
                        <a:pt x="209550" y="66675"/>
                      </a:cubicBezTo>
                      <a:cubicBezTo>
                        <a:pt x="215900" y="79375"/>
                        <a:pt x="223007" y="91724"/>
                        <a:pt x="228600" y="104775"/>
                      </a:cubicBezTo>
                      <a:cubicBezTo>
                        <a:pt x="232555" y="114003"/>
                        <a:pt x="232556" y="124996"/>
                        <a:pt x="238125" y="133350"/>
                      </a:cubicBezTo>
                      <a:cubicBezTo>
                        <a:pt x="245597" y="144558"/>
                        <a:pt x="257175" y="152400"/>
                        <a:pt x="266700" y="161925"/>
                      </a:cubicBezTo>
                      <a:cubicBezTo>
                        <a:pt x="272975" y="180749"/>
                        <a:pt x="278489" y="205646"/>
                        <a:pt x="295275" y="219075"/>
                      </a:cubicBezTo>
                      <a:cubicBezTo>
                        <a:pt x="308436" y="229604"/>
                        <a:pt x="319637" y="228600"/>
                        <a:pt x="333375" y="2286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9" name="Freeform 38"/>
                <p:cNvSpPr/>
                <p:nvPr/>
              </p:nvSpPr>
              <p:spPr>
                <a:xfrm>
                  <a:off x="2000250" y="4517070"/>
                  <a:ext cx="142875" cy="174290"/>
                </a:xfrm>
                <a:custGeom>
                  <a:avLst/>
                  <a:gdLst>
                    <a:gd name="connsiteX0" fmla="*/ 0 w 142875"/>
                    <a:gd name="connsiteY0" fmla="*/ 174290 h 174290"/>
                    <a:gd name="connsiteX1" fmla="*/ 66675 w 142875"/>
                    <a:gd name="connsiteY1" fmla="*/ 155240 h 174290"/>
                    <a:gd name="connsiteX2" fmla="*/ 76200 w 142875"/>
                    <a:gd name="connsiteY2" fmla="*/ 126665 h 174290"/>
                    <a:gd name="connsiteX3" fmla="*/ 76200 w 142875"/>
                    <a:gd name="connsiteY3" fmla="*/ 50465 h 174290"/>
                    <a:gd name="connsiteX4" fmla="*/ 85725 w 142875"/>
                    <a:gd name="connsiteY4" fmla="*/ 21890 h 174290"/>
                    <a:gd name="connsiteX5" fmla="*/ 142875 w 142875"/>
                    <a:gd name="connsiteY5" fmla="*/ 2840 h 174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2875" h="174290">
                      <a:moveTo>
                        <a:pt x="0" y="174290"/>
                      </a:moveTo>
                      <a:cubicBezTo>
                        <a:pt x="330" y="174208"/>
                        <a:pt x="62120" y="159795"/>
                        <a:pt x="66675" y="155240"/>
                      </a:cubicBezTo>
                      <a:cubicBezTo>
                        <a:pt x="73775" y="148140"/>
                        <a:pt x="73025" y="136190"/>
                        <a:pt x="76200" y="126665"/>
                      </a:cubicBezTo>
                      <a:cubicBezTo>
                        <a:pt x="62574" y="85786"/>
                        <a:pt x="63064" y="103009"/>
                        <a:pt x="76200" y="50465"/>
                      </a:cubicBezTo>
                      <a:cubicBezTo>
                        <a:pt x="78635" y="40725"/>
                        <a:pt x="78625" y="28990"/>
                        <a:pt x="85725" y="21890"/>
                      </a:cubicBezTo>
                      <a:cubicBezTo>
                        <a:pt x="107615" y="0"/>
                        <a:pt x="119415" y="2840"/>
                        <a:pt x="142875" y="284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45" name="TextBox 44"/>
              <p:cNvSpPr txBox="1"/>
              <p:nvPr/>
            </p:nvSpPr>
            <p:spPr>
              <a:xfrm>
                <a:off x="762000" y="3705225"/>
                <a:ext cx="1219200" cy="246221"/>
              </a:xfrm>
              <a:prstGeom prst="rect">
                <a:avLst/>
              </a:prstGeom>
              <a:noFill/>
            </p:spPr>
            <p:txBody>
              <a:bodyPr wrap="square" rtlCol="0">
                <a:spAutoFit/>
              </a:bodyPr>
              <a:lstStyle/>
              <a:p>
                <a:pPr algn="ctr"/>
                <a:r>
                  <a:rPr lang="en-US" sz="1000" dirty="0" smtClean="0">
                    <a:latin typeface="Aharoni" pitchFamily="2" charset="-79"/>
                    <a:cs typeface="Aharoni" pitchFamily="2" charset="-79"/>
                  </a:rPr>
                  <a:t>Structure A</a:t>
                </a:r>
                <a:endParaRPr lang="en-US" sz="1000" dirty="0">
                  <a:latin typeface="Aharoni" pitchFamily="2" charset="-79"/>
                  <a:cs typeface="Aharoni" pitchFamily="2" charset="-79"/>
                </a:endParaRPr>
              </a:p>
            </p:txBody>
          </p:sp>
        </p:grpSp>
        <p:grpSp>
          <p:nvGrpSpPr>
            <p:cNvPr id="47" name="Group 46"/>
            <p:cNvGrpSpPr/>
            <p:nvPr/>
          </p:nvGrpSpPr>
          <p:grpSpPr>
            <a:xfrm>
              <a:off x="7162800" y="3476625"/>
              <a:ext cx="1294540" cy="1171575"/>
              <a:chOff x="7239000" y="4219575"/>
              <a:chExt cx="1294540" cy="1171575"/>
            </a:xfrm>
          </p:grpSpPr>
          <p:grpSp>
            <p:nvGrpSpPr>
              <p:cNvPr id="7" name="Group 6"/>
              <p:cNvGrpSpPr/>
              <p:nvPr/>
            </p:nvGrpSpPr>
            <p:grpSpPr>
              <a:xfrm>
                <a:off x="7239000" y="4419600"/>
                <a:ext cx="1294540" cy="971550"/>
                <a:chOff x="6629400" y="4053185"/>
                <a:chExt cx="1294540" cy="971550"/>
              </a:xfrm>
            </p:grpSpPr>
            <p:grpSp>
              <p:nvGrpSpPr>
                <p:cNvPr id="8" name="Group 22"/>
                <p:cNvGrpSpPr/>
                <p:nvPr/>
              </p:nvGrpSpPr>
              <p:grpSpPr>
                <a:xfrm>
                  <a:off x="6629400" y="4110335"/>
                  <a:ext cx="1219200" cy="914400"/>
                  <a:chOff x="2286000" y="5105400"/>
                  <a:chExt cx="1219200" cy="914400"/>
                </a:xfrm>
              </p:grpSpPr>
              <p:sp>
                <p:nvSpPr>
                  <p:cNvPr id="17" name="Rectangle 16"/>
                  <p:cNvSpPr/>
                  <p:nvPr/>
                </p:nvSpPr>
                <p:spPr>
                  <a:xfrm>
                    <a:off x="2286000" y="5105400"/>
                    <a:ext cx="381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2667000" y="5105400"/>
                    <a:ext cx="6096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3276600" y="5105400"/>
                    <a:ext cx="2286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2286000" y="5410200"/>
                    <a:ext cx="381000" cy="152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3276600" y="5257800"/>
                    <a:ext cx="2286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2286000" y="5562600"/>
                    <a:ext cx="381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2286000" y="5791200"/>
                    <a:ext cx="12192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3276600" y="5562600"/>
                    <a:ext cx="2286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p:cNvSpPr txBox="1"/>
                <p:nvPr/>
              </p:nvSpPr>
              <p:spPr>
                <a:xfrm>
                  <a:off x="6760585" y="4777085"/>
                  <a:ext cx="1011815"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Communication</a:t>
                  </a:r>
                  <a:endParaRPr lang="en-US" sz="1000" dirty="0">
                    <a:solidFill>
                      <a:schemeClr val="bg1"/>
                    </a:solidFill>
                    <a:latin typeface="+mj-lt"/>
                    <a:cs typeface="Aharoni" pitchFamily="2" charset="-79"/>
                  </a:endParaRPr>
                </a:p>
              </p:txBody>
            </p:sp>
            <p:sp>
              <p:nvSpPr>
                <p:cNvPr id="10" name="TextBox 9"/>
                <p:cNvSpPr txBox="1"/>
                <p:nvPr/>
              </p:nvSpPr>
              <p:spPr>
                <a:xfrm>
                  <a:off x="6693428" y="4110335"/>
                  <a:ext cx="240772"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x</a:t>
                  </a:r>
                  <a:endParaRPr lang="en-US" sz="1000" dirty="0">
                    <a:solidFill>
                      <a:schemeClr val="bg1"/>
                    </a:solidFill>
                    <a:latin typeface="+mj-lt"/>
                    <a:cs typeface="Aharoni" pitchFamily="2" charset="-79"/>
                  </a:endParaRPr>
                </a:p>
              </p:txBody>
            </p:sp>
            <p:sp>
              <p:nvSpPr>
                <p:cNvPr id="11" name="TextBox 10"/>
                <p:cNvSpPr txBox="1"/>
                <p:nvPr/>
              </p:nvSpPr>
              <p:spPr>
                <a:xfrm>
                  <a:off x="6696075" y="4357985"/>
                  <a:ext cx="242374"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y</a:t>
                  </a:r>
                  <a:endParaRPr lang="en-US" sz="1000" dirty="0">
                    <a:solidFill>
                      <a:schemeClr val="bg1"/>
                    </a:solidFill>
                    <a:latin typeface="+mj-lt"/>
                    <a:cs typeface="Aharoni" pitchFamily="2" charset="-79"/>
                  </a:endParaRPr>
                </a:p>
              </p:txBody>
            </p:sp>
            <p:sp>
              <p:nvSpPr>
                <p:cNvPr id="12" name="TextBox 11"/>
                <p:cNvSpPr txBox="1"/>
                <p:nvPr/>
              </p:nvSpPr>
              <p:spPr>
                <a:xfrm>
                  <a:off x="6705600" y="4549914"/>
                  <a:ext cx="235962"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z</a:t>
                  </a:r>
                  <a:endParaRPr lang="en-US" sz="1000" dirty="0">
                    <a:solidFill>
                      <a:schemeClr val="bg1"/>
                    </a:solidFill>
                    <a:latin typeface="+mj-lt"/>
                    <a:cs typeface="Aharoni" pitchFamily="2" charset="-79"/>
                  </a:endParaRPr>
                </a:p>
              </p:txBody>
            </p:sp>
            <p:sp>
              <p:nvSpPr>
                <p:cNvPr id="13" name="TextBox 12"/>
                <p:cNvSpPr txBox="1"/>
                <p:nvPr/>
              </p:nvSpPr>
              <p:spPr>
                <a:xfrm>
                  <a:off x="7191375" y="4344829"/>
                  <a:ext cx="229550"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r</a:t>
                  </a:r>
                  <a:endParaRPr lang="en-US" sz="1000" dirty="0">
                    <a:solidFill>
                      <a:schemeClr val="bg1"/>
                    </a:solidFill>
                    <a:latin typeface="+mj-lt"/>
                    <a:cs typeface="Aharoni" pitchFamily="2" charset="-79"/>
                  </a:endParaRPr>
                </a:p>
              </p:txBody>
            </p:sp>
            <p:sp>
              <p:nvSpPr>
                <p:cNvPr id="14" name="TextBox 13"/>
                <p:cNvSpPr txBox="1"/>
                <p:nvPr/>
              </p:nvSpPr>
              <p:spPr>
                <a:xfrm>
                  <a:off x="7636403" y="4053185"/>
                  <a:ext cx="240772"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c</a:t>
                  </a:r>
                  <a:endParaRPr lang="en-US" sz="1000" dirty="0">
                    <a:solidFill>
                      <a:schemeClr val="bg1"/>
                    </a:solidFill>
                    <a:latin typeface="+mj-lt"/>
                    <a:cs typeface="Aharoni" pitchFamily="2" charset="-79"/>
                  </a:endParaRPr>
                </a:p>
              </p:txBody>
            </p:sp>
            <p:sp>
              <p:nvSpPr>
                <p:cNvPr id="15" name="TextBox 14"/>
                <p:cNvSpPr txBox="1"/>
                <p:nvPr/>
              </p:nvSpPr>
              <p:spPr>
                <a:xfrm>
                  <a:off x="7629525" y="4281785"/>
                  <a:ext cx="251992"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b</a:t>
                  </a:r>
                  <a:endParaRPr lang="en-US" sz="1000" dirty="0">
                    <a:solidFill>
                      <a:schemeClr val="bg1"/>
                    </a:solidFill>
                    <a:latin typeface="+mj-lt"/>
                    <a:cs typeface="Aharoni" pitchFamily="2" charset="-79"/>
                  </a:endParaRPr>
                </a:p>
              </p:txBody>
            </p:sp>
            <p:sp>
              <p:nvSpPr>
                <p:cNvPr id="16" name="TextBox 15"/>
                <p:cNvSpPr txBox="1"/>
                <p:nvPr/>
              </p:nvSpPr>
              <p:spPr>
                <a:xfrm>
                  <a:off x="7607828" y="4549914"/>
                  <a:ext cx="316112" cy="246221"/>
                </a:xfrm>
                <a:prstGeom prst="rect">
                  <a:avLst/>
                </a:prstGeom>
                <a:noFill/>
              </p:spPr>
              <p:txBody>
                <a:bodyPr wrap="none" rtlCol="0">
                  <a:spAutoFit/>
                </a:bodyPr>
                <a:lstStyle/>
                <a:p>
                  <a:r>
                    <a:rPr lang="en-US" sz="1000" dirty="0" smtClean="0">
                      <a:solidFill>
                        <a:schemeClr val="bg1"/>
                      </a:solidFill>
                      <a:latin typeface="+mj-lt"/>
                      <a:cs typeface="Aharoni" pitchFamily="2" charset="-79"/>
                    </a:rPr>
                    <a:t>m </a:t>
                  </a:r>
                  <a:endParaRPr lang="en-US" sz="1000" dirty="0">
                    <a:solidFill>
                      <a:schemeClr val="bg1"/>
                    </a:solidFill>
                    <a:latin typeface="+mj-lt"/>
                    <a:cs typeface="Aharoni" pitchFamily="2" charset="-79"/>
                  </a:endParaRPr>
                </a:p>
              </p:txBody>
            </p:sp>
          </p:grpSp>
          <p:sp>
            <p:nvSpPr>
              <p:cNvPr id="46" name="TextBox 45"/>
              <p:cNvSpPr txBox="1"/>
              <p:nvPr/>
            </p:nvSpPr>
            <p:spPr>
              <a:xfrm>
                <a:off x="7239000" y="4219575"/>
                <a:ext cx="1219200" cy="246221"/>
              </a:xfrm>
              <a:prstGeom prst="rect">
                <a:avLst/>
              </a:prstGeom>
              <a:noFill/>
            </p:spPr>
            <p:txBody>
              <a:bodyPr wrap="square" rtlCol="0">
                <a:spAutoFit/>
              </a:bodyPr>
              <a:lstStyle/>
              <a:p>
                <a:pPr algn="ctr"/>
                <a:r>
                  <a:rPr lang="en-US" sz="1000" dirty="0" smtClean="0">
                    <a:latin typeface="Aharoni" pitchFamily="2" charset="-79"/>
                    <a:cs typeface="Aharoni" pitchFamily="2" charset="-79"/>
                  </a:rPr>
                  <a:t>Structure B</a:t>
                </a:r>
                <a:endParaRPr lang="en-US" sz="1000" dirty="0">
                  <a:latin typeface="Aharoni" pitchFamily="2" charset="-79"/>
                  <a:cs typeface="Aharoni" pitchFamily="2" charset="-79"/>
                </a:endParaRPr>
              </a:p>
            </p:txBody>
          </p:sp>
        </p:grpSp>
        <p:pic>
          <p:nvPicPr>
            <p:cNvPr id="50" name="Picture 4" descr="C:\Users\cotero\AppData\Local\Microsoft\Windows\Temporary Internet Files\Content.IE5\07RO37DR\MC900441321[1].png"/>
            <p:cNvPicPr>
              <a:picLocks noChangeAspect="1" noChangeArrowheads="1"/>
            </p:cNvPicPr>
            <p:nvPr/>
          </p:nvPicPr>
          <p:blipFill>
            <a:blip r:embed="rId3" cstate="print"/>
            <a:srcRect/>
            <a:stretch>
              <a:fillRect/>
            </a:stretch>
          </p:blipFill>
          <p:spPr bwMode="auto">
            <a:xfrm>
              <a:off x="1828800" y="5105400"/>
              <a:ext cx="304800" cy="304800"/>
            </a:xfrm>
            <a:prstGeom prst="rect">
              <a:avLst/>
            </a:prstGeom>
            <a:noFill/>
          </p:spPr>
        </p:pic>
        <p:pic>
          <p:nvPicPr>
            <p:cNvPr id="56" name="Picture 3" descr="C:\Users\cotero\AppData\Local\Microsoft\Windows\Temporary Internet Files\Content.IE5\07RO37DR\MC900441322[1].png"/>
            <p:cNvPicPr>
              <a:picLocks noChangeAspect="1" noChangeArrowheads="1"/>
            </p:cNvPicPr>
            <p:nvPr/>
          </p:nvPicPr>
          <p:blipFill>
            <a:blip r:embed="rId2" cstate="print"/>
            <a:srcRect/>
            <a:stretch>
              <a:fillRect/>
            </a:stretch>
          </p:blipFill>
          <p:spPr bwMode="auto">
            <a:xfrm>
              <a:off x="1819275" y="5826323"/>
              <a:ext cx="304800" cy="304800"/>
            </a:xfrm>
            <a:prstGeom prst="rect">
              <a:avLst/>
            </a:prstGeom>
            <a:noFill/>
          </p:spPr>
        </p:pic>
        <p:grpSp>
          <p:nvGrpSpPr>
            <p:cNvPr id="83" name="Group 82"/>
            <p:cNvGrpSpPr/>
            <p:nvPr/>
          </p:nvGrpSpPr>
          <p:grpSpPr>
            <a:xfrm>
              <a:off x="6648450" y="4733925"/>
              <a:ext cx="2343150" cy="1457325"/>
              <a:chOff x="6686550" y="4648200"/>
              <a:chExt cx="2343150" cy="1457325"/>
            </a:xfrm>
          </p:grpSpPr>
          <p:pic>
            <p:nvPicPr>
              <p:cNvPr id="59" name="Picture 3" descr="C:\Users\cotero\AppData\Local\Microsoft\Windows\Temporary Internet Files\Content.IE5\07RO37DR\MC900441322[1].png"/>
              <p:cNvPicPr>
                <a:picLocks noChangeAspect="1" noChangeArrowheads="1"/>
              </p:cNvPicPr>
              <p:nvPr/>
            </p:nvPicPr>
            <p:blipFill>
              <a:blip r:embed="rId2" cstate="print"/>
              <a:srcRect/>
              <a:stretch>
                <a:fillRect/>
              </a:stretch>
            </p:blipFill>
            <p:spPr bwMode="auto">
              <a:xfrm>
                <a:off x="8134350" y="4648200"/>
                <a:ext cx="304800" cy="304800"/>
              </a:xfrm>
              <a:prstGeom prst="rect">
                <a:avLst/>
              </a:prstGeom>
              <a:noFill/>
            </p:spPr>
          </p:pic>
          <p:pic>
            <p:nvPicPr>
              <p:cNvPr id="60" name="Picture 4" descr="C:\Users\cotero\AppData\Local\Microsoft\Windows\Temporary Internet Files\Content.IE5\07RO37DR\MC900441321[1].png"/>
              <p:cNvPicPr>
                <a:picLocks noChangeAspect="1" noChangeArrowheads="1"/>
              </p:cNvPicPr>
              <p:nvPr/>
            </p:nvPicPr>
            <p:blipFill>
              <a:blip r:embed="rId3" cstate="print"/>
              <a:srcRect/>
              <a:stretch>
                <a:fillRect/>
              </a:stretch>
            </p:blipFill>
            <p:spPr bwMode="auto">
              <a:xfrm>
                <a:off x="8115300" y="5400675"/>
                <a:ext cx="304800" cy="304800"/>
              </a:xfrm>
              <a:prstGeom prst="rect">
                <a:avLst/>
              </a:prstGeom>
              <a:noFill/>
            </p:spPr>
          </p:pic>
          <p:sp>
            <p:nvSpPr>
              <p:cNvPr id="61" name="TextBox 60"/>
              <p:cNvSpPr txBox="1"/>
              <p:nvPr/>
            </p:nvSpPr>
            <p:spPr>
              <a:xfrm>
                <a:off x="7010400" y="4676775"/>
                <a:ext cx="1752600" cy="307777"/>
              </a:xfrm>
              <a:prstGeom prst="rect">
                <a:avLst/>
              </a:prstGeom>
              <a:noFill/>
            </p:spPr>
            <p:txBody>
              <a:bodyPr wrap="square" rtlCol="0">
                <a:spAutoFit/>
              </a:bodyPr>
              <a:lstStyle/>
              <a:p>
                <a:r>
                  <a:rPr lang="en-US" sz="1400" b="1" dirty="0" smtClean="0">
                    <a:solidFill>
                      <a:srgbClr val="C00000"/>
                    </a:solidFill>
                    <a:latin typeface="Bradley Hand ITC" pitchFamily="66" charset="0"/>
                  </a:rPr>
                  <a:t>Reusability</a:t>
                </a:r>
                <a:endParaRPr lang="en-US" sz="1400" b="1" dirty="0">
                  <a:solidFill>
                    <a:srgbClr val="C00000"/>
                  </a:solidFill>
                  <a:latin typeface="Bradley Hand ITC" pitchFamily="66" charset="0"/>
                </a:endParaRPr>
              </a:p>
            </p:txBody>
          </p:sp>
          <p:pic>
            <p:nvPicPr>
              <p:cNvPr id="62" name="Picture 4" descr="C:\Users\cotero\AppData\Local\Microsoft\Windows\Temporary Internet Files\Content.IE5\07RO37DR\MC900441321[1].png"/>
              <p:cNvPicPr>
                <a:picLocks noChangeAspect="1" noChangeArrowheads="1"/>
              </p:cNvPicPr>
              <p:nvPr/>
            </p:nvPicPr>
            <p:blipFill>
              <a:blip r:embed="rId3" cstate="print"/>
              <a:srcRect/>
              <a:stretch>
                <a:fillRect/>
              </a:stretch>
            </p:blipFill>
            <p:spPr bwMode="auto">
              <a:xfrm>
                <a:off x="8115300" y="5781675"/>
                <a:ext cx="304800" cy="304800"/>
              </a:xfrm>
              <a:prstGeom prst="rect">
                <a:avLst/>
              </a:prstGeom>
              <a:noFill/>
            </p:spPr>
          </p:pic>
          <p:sp>
            <p:nvSpPr>
              <p:cNvPr id="63" name="TextBox 62"/>
              <p:cNvSpPr txBox="1"/>
              <p:nvPr/>
            </p:nvSpPr>
            <p:spPr>
              <a:xfrm>
                <a:off x="6686550" y="5067300"/>
                <a:ext cx="1752600" cy="307777"/>
              </a:xfrm>
              <a:prstGeom prst="rect">
                <a:avLst/>
              </a:prstGeom>
              <a:noFill/>
            </p:spPr>
            <p:txBody>
              <a:bodyPr wrap="square" rtlCol="0">
                <a:spAutoFit/>
              </a:bodyPr>
              <a:lstStyle/>
              <a:p>
                <a:r>
                  <a:rPr lang="en-US" sz="1400" b="1" dirty="0" smtClean="0">
                    <a:solidFill>
                      <a:srgbClr val="C00000"/>
                    </a:solidFill>
                    <a:latin typeface="Bradley Hand ITC" pitchFamily="66" charset="0"/>
                  </a:rPr>
                  <a:t>Maintainability</a:t>
                </a:r>
                <a:endParaRPr lang="en-US" sz="1400" b="1" dirty="0">
                  <a:solidFill>
                    <a:srgbClr val="C00000"/>
                  </a:solidFill>
                  <a:latin typeface="Bradley Hand ITC" pitchFamily="66" charset="0"/>
                </a:endParaRPr>
              </a:p>
            </p:txBody>
          </p:sp>
          <p:sp>
            <p:nvSpPr>
              <p:cNvPr id="64" name="TextBox 63"/>
              <p:cNvSpPr txBox="1"/>
              <p:nvPr/>
            </p:nvSpPr>
            <p:spPr>
              <a:xfrm>
                <a:off x="6953250" y="5429250"/>
                <a:ext cx="1752600" cy="307777"/>
              </a:xfrm>
              <a:prstGeom prst="rect">
                <a:avLst/>
              </a:prstGeom>
              <a:noFill/>
            </p:spPr>
            <p:txBody>
              <a:bodyPr wrap="square" rtlCol="0">
                <a:spAutoFit/>
              </a:bodyPr>
              <a:lstStyle/>
              <a:p>
                <a:r>
                  <a:rPr lang="en-US" sz="1400" b="1" dirty="0" smtClean="0">
                    <a:solidFill>
                      <a:srgbClr val="C00000"/>
                    </a:solidFill>
                    <a:latin typeface="Bradley Hand ITC" pitchFamily="66" charset="0"/>
                  </a:rPr>
                  <a:t>Performance</a:t>
                </a:r>
                <a:endParaRPr lang="en-US" sz="1400" b="1" dirty="0">
                  <a:solidFill>
                    <a:srgbClr val="C00000"/>
                  </a:solidFill>
                  <a:latin typeface="Bradley Hand ITC" pitchFamily="66" charset="0"/>
                </a:endParaRPr>
              </a:p>
            </p:txBody>
          </p:sp>
          <p:pic>
            <p:nvPicPr>
              <p:cNvPr id="65" name="Picture 3" descr="C:\Users\cotero\AppData\Local\Microsoft\Windows\Temporary Internet Files\Content.IE5\07RO37DR\MC900441322[1].png"/>
              <p:cNvPicPr>
                <a:picLocks noChangeAspect="1" noChangeArrowheads="1"/>
              </p:cNvPicPr>
              <p:nvPr/>
            </p:nvPicPr>
            <p:blipFill>
              <a:blip r:embed="rId2" cstate="print"/>
              <a:srcRect/>
              <a:stretch>
                <a:fillRect/>
              </a:stretch>
            </p:blipFill>
            <p:spPr bwMode="auto">
              <a:xfrm>
                <a:off x="8124825" y="5016698"/>
                <a:ext cx="304800" cy="304800"/>
              </a:xfrm>
              <a:prstGeom prst="rect">
                <a:avLst/>
              </a:prstGeom>
              <a:noFill/>
            </p:spPr>
          </p:pic>
          <p:sp>
            <p:nvSpPr>
              <p:cNvPr id="66" name="TextBox 65"/>
              <p:cNvSpPr txBox="1"/>
              <p:nvPr/>
            </p:nvSpPr>
            <p:spPr>
              <a:xfrm>
                <a:off x="7277100" y="5797748"/>
                <a:ext cx="1752600" cy="307777"/>
              </a:xfrm>
              <a:prstGeom prst="rect">
                <a:avLst/>
              </a:prstGeom>
              <a:noFill/>
            </p:spPr>
            <p:txBody>
              <a:bodyPr wrap="square" rtlCol="0">
                <a:spAutoFit/>
              </a:bodyPr>
              <a:lstStyle/>
              <a:p>
                <a:r>
                  <a:rPr lang="en-US" sz="1400" b="1" dirty="0" smtClean="0">
                    <a:solidFill>
                      <a:srgbClr val="C00000"/>
                    </a:solidFill>
                    <a:latin typeface="Bradley Hand ITC" pitchFamily="66" charset="0"/>
                  </a:rPr>
                  <a:t>Quality</a:t>
                </a:r>
                <a:endParaRPr lang="en-US" sz="1400" b="1" dirty="0">
                  <a:solidFill>
                    <a:srgbClr val="C00000"/>
                  </a:solidFill>
                  <a:latin typeface="Bradley Hand ITC" pitchFamily="66" charset="0"/>
                </a:endParaRPr>
              </a:p>
            </p:txBody>
          </p:sp>
        </p:grpSp>
        <p:sp>
          <p:nvSpPr>
            <p:cNvPr id="67" name="TextBox 66"/>
            <p:cNvSpPr txBox="1"/>
            <p:nvPr/>
          </p:nvSpPr>
          <p:spPr>
            <a:xfrm>
              <a:off x="704850" y="4724400"/>
              <a:ext cx="1752600" cy="307777"/>
            </a:xfrm>
            <a:prstGeom prst="rect">
              <a:avLst/>
            </a:prstGeom>
            <a:noFill/>
          </p:spPr>
          <p:txBody>
            <a:bodyPr wrap="square" rtlCol="0">
              <a:spAutoFit/>
            </a:bodyPr>
            <a:lstStyle/>
            <a:p>
              <a:r>
                <a:rPr lang="en-US" sz="1400" b="1" dirty="0" smtClean="0">
                  <a:solidFill>
                    <a:srgbClr val="C00000"/>
                  </a:solidFill>
                  <a:latin typeface="Bradley Hand ITC" pitchFamily="66" charset="0"/>
                </a:rPr>
                <a:t>Reusability</a:t>
              </a:r>
              <a:endParaRPr lang="en-US" sz="1400" b="1" dirty="0">
                <a:solidFill>
                  <a:srgbClr val="C00000"/>
                </a:solidFill>
                <a:latin typeface="Bradley Hand ITC" pitchFamily="66" charset="0"/>
              </a:endParaRPr>
            </a:p>
          </p:txBody>
        </p:sp>
        <p:sp>
          <p:nvSpPr>
            <p:cNvPr id="68" name="TextBox 67"/>
            <p:cNvSpPr txBox="1"/>
            <p:nvPr/>
          </p:nvSpPr>
          <p:spPr>
            <a:xfrm>
              <a:off x="381000" y="5114925"/>
              <a:ext cx="1752600" cy="307777"/>
            </a:xfrm>
            <a:prstGeom prst="rect">
              <a:avLst/>
            </a:prstGeom>
            <a:noFill/>
          </p:spPr>
          <p:txBody>
            <a:bodyPr wrap="square" rtlCol="0">
              <a:spAutoFit/>
            </a:bodyPr>
            <a:lstStyle/>
            <a:p>
              <a:r>
                <a:rPr lang="en-US" sz="1400" b="1" dirty="0" smtClean="0">
                  <a:solidFill>
                    <a:srgbClr val="C00000"/>
                  </a:solidFill>
                  <a:latin typeface="Bradley Hand ITC" pitchFamily="66" charset="0"/>
                </a:rPr>
                <a:t>Maintainability</a:t>
              </a:r>
              <a:endParaRPr lang="en-US" sz="1400" b="1" dirty="0">
                <a:solidFill>
                  <a:srgbClr val="C00000"/>
                </a:solidFill>
                <a:latin typeface="Bradley Hand ITC" pitchFamily="66" charset="0"/>
              </a:endParaRPr>
            </a:p>
          </p:txBody>
        </p:sp>
        <p:sp>
          <p:nvSpPr>
            <p:cNvPr id="69" name="TextBox 68"/>
            <p:cNvSpPr txBox="1"/>
            <p:nvPr/>
          </p:nvSpPr>
          <p:spPr>
            <a:xfrm>
              <a:off x="647700" y="5505450"/>
              <a:ext cx="1752600" cy="307777"/>
            </a:xfrm>
            <a:prstGeom prst="rect">
              <a:avLst/>
            </a:prstGeom>
            <a:noFill/>
          </p:spPr>
          <p:txBody>
            <a:bodyPr wrap="square" rtlCol="0">
              <a:spAutoFit/>
            </a:bodyPr>
            <a:lstStyle/>
            <a:p>
              <a:r>
                <a:rPr lang="en-US" sz="1400" b="1" dirty="0" smtClean="0">
                  <a:solidFill>
                    <a:srgbClr val="C00000"/>
                  </a:solidFill>
                  <a:latin typeface="Bradley Hand ITC" pitchFamily="66" charset="0"/>
                </a:rPr>
                <a:t>Performance</a:t>
              </a:r>
              <a:endParaRPr lang="en-US" sz="1400" b="1" dirty="0">
                <a:solidFill>
                  <a:srgbClr val="C00000"/>
                </a:solidFill>
                <a:latin typeface="Bradley Hand ITC" pitchFamily="66" charset="0"/>
              </a:endParaRPr>
            </a:p>
          </p:txBody>
        </p:sp>
        <p:sp>
          <p:nvSpPr>
            <p:cNvPr id="70" name="TextBox 69"/>
            <p:cNvSpPr txBox="1"/>
            <p:nvPr/>
          </p:nvSpPr>
          <p:spPr>
            <a:xfrm>
              <a:off x="971550" y="5873948"/>
              <a:ext cx="1752600" cy="307777"/>
            </a:xfrm>
            <a:prstGeom prst="rect">
              <a:avLst/>
            </a:prstGeom>
            <a:noFill/>
          </p:spPr>
          <p:txBody>
            <a:bodyPr wrap="square" rtlCol="0">
              <a:spAutoFit/>
            </a:bodyPr>
            <a:lstStyle/>
            <a:p>
              <a:r>
                <a:rPr lang="en-US" sz="1400" b="1" dirty="0" smtClean="0">
                  <a:solidFill>
                    <a:srgbClr val="C00000"/>
                  </a:solidFill>
                  <a:latin typeface="Bradley Hand ITC" pitchFamily="66" charset="0"/>
                </a:rPr>
                <a:t>Quality</a:t>
              </a:r>
              <a:endParaRPr lang="en-US" sz="1400" b="1" dirty="0">
                <a:solidFill>
                  <a:srgbClr val="C00000"/>
                </a:solidFill>
                <a:latin typeface="Bradley Hand ITC" pitchFamily="66" charset="0"/>
              </a:endParaRPr>
            </a:p>
          </p:txBody>
        </p:sp>
        <p:cxnSp>
          <p:nvCxnSpPr>
            <p:cNvPr id="71" name="Straight Arrow Connector 70"/>
            <p:cNvCxnSpPr/>
            <p:nvPr/>
          </p:nvCxnSpPr>
          <p:spPr>
            <a:xfrm flipH="1">
              <a:off x="2209800" y="3886200"/>
              <a:ext cx="381000" cy="304800"/>
            </a:xfrm>
            <a:prstGeom prst="straightConnector1">
              <a:avLst/>
            </a:prstGeom>
            <a:ln w="47625">
              <a:solidFill>
                <a:srgbClr val="C00000"/>
              </a:solidFill>
              <a:tailEnd type="stealth"/>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a:off x="6629400" y="3886200"/>
              <a:ext cx="457200" cy="304800"/>
            </a:xfrm>
            <a:prstGeom prst="straightConnector1">
              <a:avLst/>
            </a:prstGeom>
            <a:ln w="47625">
              <a:solidFill>
                <a:srgbClr val="C00000"/>
              </a:solidFill>
              <a:tailEnd type="stealth"/>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2828130" y="4182070"/>
              <a:ext cx="3496470" cy="923330"/>
            </a:xfrm>
            <a:prstGeom prst="rect">
              <a:avLst/>
            </a:prstGeom>
            <a:noFill/>
            <a:ln>
              <a:solidFill>
                <a:schemeClr val="bg1">
                  <a:lumMod val="75000"/>
                </a:schemeClr>
              </a:solidFill>
            </a:ln>
          </p:spPr>
          <p:txBody>
            <a:bodyPr wrap="none" rtlCol="0">
              <a:spAutoFit/>
            </a:bodyPr>
            <a:lstStyle/>
            <a:p>
              <a:r>
                <a:rPr lang="en-US" b="1" dirty="0" smtClean="0">
                  <a:solidFill>
                    <a:schemeClr val="bg2">
                      <a:lumMod val="50000"/>
                    </a:schemeClr>
                  </a:solidFill>
                  <a:latin typeface="Agency FB" pitchFamily="34" charset="0"/>
                </a:rPr>
                <a:t>Structure drives quality in the sense that</a:t>
              </a:r>
            </a:p>
            <a:p>
              <a:r>
                <a:rPr lang="en-US" b="1" dirty="0" smtClean="0">
                  <a:solidFill>
                    <a:schemeClr val="bg2">
                      <a:lumMod val="50000"/>
                    </a:schemeClr>
                  </a:solidFill>
                  <a:latin typeface="Agency FB" pitchFamily="34" charset="0"/>
                </a:rPr>
                <a:t>Quality goes up or down depending on the </a:t>
              </a:r>
            </a:p>
            <a:p>
              <a:r>
                <a:rPr lang="en-US" b="1" dirty="0" smtClean="0">
                  <a:solidFill>
                    <a:schemeClr val="bg2">
                      <a:lumMod val="50000"/>
                    </a:schemeClr>
                  </a:solidFill>
                  <a:latin typeface="Agency FB" pitchFamily="34" charset="0"/>
                </a:rPr>
                <a:t>Structure.</a:t>
              </a:r>
              <a:endParaRPr lang="en-US" b="1" dirty="0">
                <a:solidFill>
                  <a:schemeClr val="bg2">
                    <a:lumMod val="50000"/>
                  </a:schemeClr>
                </a:solidFill>
                <a:latin typeface="Agency FB" pitchFamily="34" charset="0"/>
              </a:endParaRPr>
            </a:p>
          </p:txBody>
        </p:sp>
        <p:sp>
          <p:nvSpPr>
            <p:cNvPr id="80" name="TextBox 79"/>
            <p:cNvSpPr txBox="1"/>
            <p:nvPr/>
          </p:nvSpPr>
          <p:spPr>
            <a:xfrm>
              <a:off x="2828130" y="5325070"/>
              <a:ext cx="3445174" cy="923330"/>
            </a:xfrm>
            <a:prstGeom prst="rect">
              <a:avLst/>
            </a:prstGeom>
            <a:noFill/>
            <a:ln>
              <a:solidFill>
                <a:schemeClr val="bg1">
                  <a:lumMod val="75000"/>
                </a:schemeClr>
              </a:solidFill>
            </a:ln>
          </p:spPr>
          <p:txBody>
            <a:bodyPr wrap="none" rtlCol="0">
              <a:spAutoFit/>
            </a:bodyPr>
            <a:lstStyle/>
            <a:p>
              <a:r>
                <a:rPr lang="en-US" b="1" dirty="0" smtClean="0">
                  <a:solidFill>
                    <a:schemeClr val="bg2">
                      <a:lumMod val="50000"/>
                    </a:schemeClr>
                  </a:solidFill>
                  <a:latin typeface="Agency FB" pitchFamily="34" charset="0"/>
                </a:rPr>
                <a:t>Quality drives structure in the sense that</a:t>
              </a:r>
            </a:p>
            <a:p>
              <a:r>
                <a:rPr lang="en-US" b="1" dirty="0" smtClean="0">
                  <a:solidFill>
                    <a:schemeClr val="bg2">
                      <a:lumMod val="50000"/>
                    </a:schemeClr>
                  </a:solidFill>
                  <a:latin typeface="Agency FB" pitchFamily="34" charset="0"/>
                </a:rPr>
                <a:t>structures are designed to meet quality </a:t>
              </a:r>
            </a:p>
            <a:p>
              <a:r>
                <a:rPr lang="en-US" b="1" dirty="0" smtClean="0">
                  <a:solidFill>
                    <a:schemeClr val="bg2">
                      <a:lumMod val="50000"/>
                    </a:schemeClr>
                  </a:solidFill>
                  <a:latin typeface="Agency FB" pitchFamily="34" charset="0"/>
                </a:rPr>
                <a:t>goals.</a:t>
              </a:r>
              <a:endParaRPr lang="en-US" b="1" dirty="0">
                <a:solidFill>
                  <a:schemeClr val="bg2">
                    <a:lumMod val="50000"/>
                  </a:schemeClr>
                </a:solidFill>
                <a:latin typeface="Agency FB" pitchFamily="34" charset="0"/>
              </a:endParaRPr>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Fundamentals of UML Structural Modeling</a:t>
            </a:r>
            <a:endParaRPr lang="en-US" dirty="0"/>
          </a:p>
        </p:txBody>
      </p:sp>
      <p:sp>
        <p:nvSpPr>
          <p:cNvPr id="3" name="Content Placeholder 2"/>
          <p:cNvSpPr>
            <a:spLocks noGrp="1"/>
          </p:cNvSpPr>
          <p:nvPr>
            <p:ph idx="1"/>
          </p:nvPr>
        </p:nvSpPr>
        <p:spPr>
          <a:xfrm>
            <a:off x="457200" y="1371601"/>
            <a:ext cx="8229600" cy="4571999"/>
          </a:xfrm>
        </p:spPr>
        <p:txBody>
          <a:bodyPr>
            <a:normAutofit fontScale="85000" lnSpcReduction="10000"/>
          </a:bodyPr>
          <a:lstStyle/>
          <a:p>
            <a:r>
              <a:rPr lang="en-US" dirty="0" smtClean="0"/>
              <a:t>Quality is one of the most important topics for software designers.  </a:t>
            </a:r>
          </a:p>
          <a:p>
            <a:pPr lvl="1"/>
            <a:r>
              <a:rPr lang="en-US" dirty="0" smtClean="0"/>
              <a:t>Since structural designs affect quality, it is important that we have tools that can help us efficiently and effectively model structural aspects of software systems!</a:t>
            </a:r>
          </a:p>
          <a:p>
            <a:pPr lvl="1"/>
            <a:r>
              <a:rPr lang="en-US" dirty="0" smtClean="0"/>
              <a:t>We will cover quality in more depth during the software architecture portion of the course and we will see these concepts throughout the rest of the course.</a:t>
            </a:r>
          </a:p>
          <a:p>
            <a:pPr lvl="1"/>
            <a:endParaRPr lang="en-US" dirty="0" smtClean="0"/>
          </a:p>
          <a:p>
            <a:r>
              <a:rPr lang="en-US" dirty="0" smtClean="0"/>
              <a:t>In previous slides, we stated the assumption that </a:t>
            </a:r>
            <a:r>
              <a:rPr lang="en-US" i="1" u="sng" dirty="0" smtClean="0"/>
              <a:t>structure referred to the structure of code.</a:t>
            </a:r>
          </a:p>
          <a:p>
            <a:pPr lvl="1"/>
            <a:r>
              <a:rPr lang="en-US" dirty="0" smtClean="0"/>
              <a:t>It turns out that </a:t>
            </a:r>
            <a:r>
              <a:rPr lang="en-US" i="1" dirty="0" smtClean="0"/>
              <a:t>structure </a:t>
            </a:r>
            <a:r>
              <a:rPr lang="en-US" dirty="0" smtClean="0"/>
              <a:t>applies also to design units that exists at higher levels of abstractions than code.  That is, units used to encapsulate functions, algorithms, classes, etc.</a:t>
            </a:r>
          </a:p>
          <a:p>
            <a:pPr lvl="2"/>
            <a:r>
              <a:rPr lang="en-US" dirty="0" smtClean="0"/>
              <a:t>This structure is relevant to the software architecture and has significant impact on quality.</a:t>
            </a:r>
          </a:p>
          <a:p>
            <a:pPr lvl="1"/>
            <a:r>
              <a:rPr lang="en-US" dirty="0" smtClean="0"/>
              <a:t>It also applies to other important aspects of software systems, e.g., the structure of the system as a whole (hardware, software, and interfaces)</a:t>
            </a:r>
          </a:p>
          <a:p>
            <a:pPr lvl="2"/>
            <a:r>
              <a:rPr lang="en-US" dirty="0" smtClean="0"/>
              <a:t>This structure also drives quality!</a:t>
            </a:r>
          </a:p>
          <a:p>
            <a:pPr lvl="2"/>
            <a:endParaRPr lang="en-US" dirty="0" smtClean="0"/>
          </a:p>
          <a:p>
            <a:r>
              <a:rPr lang="en-US" dirty="0" smtClean="0"/>
              <a:t>UML structural diagrams provide efficient tools that allows designers to create, evaluate, and analyze all of these structures.</a:t>
            </a:r>
          </a:p>
          <a:p>
            <a:pPr lvl="1"/>
            <a:r>
              <a:rPr lang="en-US" dirty="0" smtClean="0"/>
              <a:t>They help us design for certain quality goals!</a:t>
            </a:r>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Component Diagrams</a:t>
            </a:r>
            <a:endParaRPr lang="en-US" dirty="0"/>
          </a:p>
        </p:txBody>
      </p:sp>
      <p:sp>
        <p:nvSpPr>
          <p:cNvPr id="3" name="Content Placeholder 2"/>
          <p:cNvSpPr>
            <a:spLocks noGrp="1"/>
          </p:cNvSpPr>
          <p:nvPr>
            <p:ph idx="1"/>
          </p:nvPr>
        </p:nvSpPr>
        <p:spPr>
          <a:xfrm>
            <a:off x="457200" y="1371601"/>
            <a:ext cx="8229600" cy="5181599"/>
          </a:xfrm>
        </p:spPr>
        <p:txBody>
          <a:bodyPr>
            <a:normAutofit fontScale="77500" lnSpcReduction="20000"/>
          </a:bodyPr>
          <a:lstStyle/>
          <a:p>
            <a:r>
              <a:rPr lang="en-US" dirty="0" smtClean="0"/>
              <a:t>A component represents a </a:t>
            </a:r>
            <a:r>
              <a:rPr lang="en-US" i="1" dirty="0" smtClean="0"/>
              <a:t>modular</a:t>
            </a:r>
            <a:r>
              <a:rPr lang="en-US" dirty="0" smtClean="0"/>
              <a:t> part of a system that </a:t>
            </a:r>
            <a:r>
              <a:rPr lang="en-US" i="1" dirty="0" smtClean="0"/>
              <a:t>encapsulates its contents</a:t>
            </a:r>
            <a:r>
              <a:rPr lang="en-US" dirty="0" smtClean="0"/>
              <a:t> and whose manifestation is </a:t>
            </a:r>
            <a:r>
              <a:rPr lang="en-US" i="1" dirty="0" smtClean="0"/>
              <a:t>replaceable</a:t>
            </a:r>
            <a:r>
              <a:rPr lang="en-US" dirty="0" smtClean="0"/>
              <a:t> within its environment.  </a:t>
            </a:r>
          </a:p>
          <a:p>
            <a:endParaRPr lang="en-US" dirty="0" smtClean="0"/>
          </a:p>
          <a:p>
            <a:r>
              <a:rPr lang="en-US" dirty="0" smtClean="0"/>
              <a:t>Component diagrams are used to model software as group of components connected to each other through well-defined interfaces. They help decompose systems and represent their structural architecture from a logical perspective.</a:t>
            </a:r>
          </a:p>
          <a:p>
            <a:endParaRPr lang="en-US" dirty="0" smtClean="0"/>
          </a:p>
          <a:p>
            <a:r>
              <a:rPr lang="en-US" dirty="0" smtClean="0"/>
              <a:t>Components can be modeled using an external black-box or internal white-box approach.</a:t>
            </a:r>
          </a:p>
          <a:p>
            <a:pPr lvl="1"/>
            <a:r>
              <a:rPr lang="en-US" dirty="0" smtClean="0"/>
              <a:t>Black-box approach hides the component’s internal structure.</a:t>
            </a:r>
          </a:p>
          <a:p>
            <a:pPr lvl="2"/>
            <a:r>
              <a:rPr lang="en-US" dirty="0" smtClean="0"/>
              <a:t>Components interact with each other only through identified interfaces.</a:t>
            </a:r>
          </a:p>
          <a:p>
            <a:pPr lvl="1"/>
            <a:r>
              <a:rPr lang="en-US" dirty="0" smtClean="0"/>
              <a:t>White-box approach shows the component’s internal structure (e.g., realizing classifiers).</a:t>
            </a:r>
          </a:p>
          <a:p>
            <a:pPr lvl="1"/>
            <a:endParaRPr lang="en-US" dirty="0" smtClean="0"/>
          </a:p>
          <a:p>
            <a:r>
              <a:rPr lang="en-US" dirty="0" smtClean="0"/>
              <a:t>Component interfaces are classified as </a:t>
            </a:r>
            <a:r>
              <a:rPr lang="en-US" i="1" dirty="0" smtClean="0"/>
              <a:t>provided</a:t>
            </a:r>
            <a:r>
              <a:rPr lang="en-US" dirty="0" smtClean="0"/>
              <a:t> or </a:t>
            </a:r>
            <a:r>
              <a:rPr lang="en-US" i="1" dirty="0" smtClean="0"/>
              <a:t>required</a:t>
            </a:r>
            <a:r>
              <a:rPr lang="en-US" dirty="0" smtClean="0"/>
              <a:t> interfaces.</a:t>
            </a:r>
          </a:p>
          <a:p>
            <a:pPr lvl="1"/>
            <a:r>
              <a:rPr lang="en-US" dirty="0" smtClean="0"/>
              <a:t>Required interfaces are those the components need to carry out their functions.</a:t>
            </a:r>
          </a:p>
          <a:p>
            <a:pPr lvl="1"/>
            <a:r>
              <a:rPr lang="en-US" dirty="0" smtClean="0"/>
              <a:t>Provided interfaces are used by other external components to interact with the component providing the services.</a:t>
            </a:r>
          </a:p>
          <a:p>
            <a:endParaRPr lang="en-US" dirty="0" smtClean="0"/>
          </a:p>
          <a:p>
            <a:endParaRPr lang="en-US" dirty="0" smtClean="0"/>
          </a:p>
          <a:p>
            <a:endParaRPr lang="en-US" dirty="0" smtClean="0"/>
          </a:p>
          <a:p>
            <a:endParaRPr lang="en-US" dirty="0" smtClean="0"/>
          </a:p>
          <a:p>
            <a:r>
              <a:rPr lang="en-US" dirty="0" smtClean="0"/>
              <a:t>Let’s formally see how the UML relationships defined in previous sessions apply to the component classifier…</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grpSp>
        <p:nvGrpSpPr>
          <p:cNvPr id="29" name="Group 28"/>
          <p:cNvGrpSpPr/>
          <p:nvPr/>
        </p:nvGrpSpPr>
        <p:grpSpPr>
          <a:xfrm>
            <a:off x="2114550" y="4677430"/>
            <a:ext cx="5353050" cy="1132820"/>
            <a:chOff x="1476375" y="4495800"/>
            <a:chExt cx="5353050" cy="1132820"/>
          </a:xfrm>
        </p:grpSpPr>
        <p:grpSp>
          <p:nvGrpSpPr>
            <p:cNvPr id="25" name="Group 24"/>
            <p:cNvGrpSpPr/>
            <p:nvPr/>
          </p:nvGrpSpPr>
          <p:grpSpPr>
            <a:xfrm>
              <a:off x="1476375" y="4572000"/>
              <a:ext cx="2819400" cy="1056620"/>
              <a:chOff x="609600" y="4343400"/>
              <a:chExt cx="2819400" cy="1056620"/>
            </a:xfrm>
          </p:grpSpPr>
          <p:sp>
            <p:nvSpPr>
              <p:cNvPr id="7" name="TextBox 6"/>
              <p:cNvSpPr txBox="1"/>
              <p:nvPr/>
            </p:nvSpPr>
            <p:spPr>
              <a:xfrm>
                <a:off x="1981200" y="4876800"/>
                <a:ext cx="14478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I need a schedule to operate!</a:t>
                </a:r>
                <a:endParaRPr lang="en-US" sz="1400" b="1" dirty="0">
                  <a:solidFill>
                    <a:srgbClr val="C00000"/>
                  </a:solidFill>
                  <a:latin typeface="Bradley Hand ITC" pitchFamily="66" charset="0"/>
                </a:endParaRPr>
              </a:p>
            </p:txBody>
          </p:sp>
          <p:pic>
            <p:nvPicPr>
              <p:cNvPr id="2053" name="Picture 5"/>
              <p:cNvPicPr>
                <a:picLocks noChangeAspect="1" noChangeArrowheads="1"/>
              </p:cNvPicPr>
              <p:nvPr/>
            </p:nvPicPr>
            <p:blipFill>
              <a:blip r:embed="rId2" cstate="print"/>
              <a:srcRect/>
              <a:stretch>
                <a:fillRect/>
              </a:stretch>
            </p:blipFill>
            <p:spPr bwMode="auto">
              <a:xfrm>
                <a:off x="609600" y="4343400"/>
                <a:ext cx="2286000" cy="971550"/>
              </a:xfrm>
              <a:prstGeom prst="rect">
                <a:avLst/>
              </a:prstGeom>
              <a:noFill/>
              <a:ln w="9525">
                <a:noFill/>
                <a:miter lim="800000"/>
                <a:headEnd/>
                <a:tailEnd/>
              </a:ln>
              <a:effectLst/>
            </p:spPr>
          </p:pic>
          <p:pic>
            <p:nvPicPr>
              <p:cNvPr id="2058" name="Picture 10"/>
              <p:cNvPicPr>
                <a:picLocks noChangeAspect="1" noChangeArrowheads="1"/>
              </p:cNvPicPr>
              <p:nvPr/>
            </p:nvPicPr>
            <p:blipFill>
              <a:blip r:embed="rId3" cstate="print"/>
              <a:srcRect/>
              <a:stretch>
                <a:fillRect/>
              </a:stretch>
            </p:blipFill>
            <p:spPr bwMode="auto">
              <a:xfrm>
                <a:off x="838200" y="4810125"/>
                <a:ext cx="876300" cy="161925"/>
              </a:xfrm>
              <a:prstGeom prst="rect">
                <a:avLst/>
              </a:prstGeom>
              <a:noFill/>
              <a:ln w="9525">
                <a:noFill/>
                <a:miter lim="800000"/>
                <a:headEnd/>
                <a:tailEnd/>
              </a:ln>
            </p:spPr>
          </p:pic>
        </p:grpSp>
        <p:grpSp>
          <p:nvGrpSpPr>
            <p:cNvPr id="27" name="Group 26"/>
            <p:cNvGrpSpPr/>
            <p:nvPr/>
          </p:nvGrpSpPr>
          <p:grpSpPr>
            <a:xfrm>
              <a:off x="4572000" y="4495800"/>
              <a:ext cx="2257425" cy="1132820"/>
              <a:chOff x="5867400" y="4267200"/>
              <a:chExt cx="2257425" cy="1132820"/>
            </a:xfrm>
          </p:grpSpPr>
          <p:pic>
            <p:nvPicPr>
              <p:cNvPr id="2054" name="Picture 6"/>
              <p:cNvPicPr>
                <a:picLocks noChangeAspect="1" noChangeArrowheads="1"/>
              </p:cNvPicPr>
              <p:nvPr/>
            </p:nvPicPr>
            <p:blipFill>
              <a:blip r:embed="rId4" cstate="print"/>
              <a:srcRect/>
              <a:stretch>
                <a:fillRect/>
              </a:stretch>
            </p:blipFill>
            <p:spPr bwMode="auto">
              <a:xfrm>
                <a:off x="5943600" y="4267200"/>
                <a:ext cx="2181225" cy="1009650"/>
              </a:xfrm>
              <a:prstGeom prst="rect">
                <a:avLst/>
              </a:prstGeom>
              <a:noFill/>
              <a:ln w="9525">
                <a:noFill/>
                <a:miter lim="800000"/>
                <a:headEnd/>
                <a:tailEnd/>
              </a:ln>
              <a:effectLst/>
            </p:spPr>
          </p:pic>
          <p:sp>
            <p:nvSpPr>
              <p:cNvPr id="13" name="TextBox 12"/>
              <p:cNvSpPr txBox="1"/>
              <p:nvPr/>
            </p:nvSpPr>
            <p:spPr>
              <a:xfrm>
                <a:off x="5867400" y="4876800"/>
                <a:ext cx="9906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I provide a schedule </a:t>
                </a:r>
                <a:endParaRPr lang="en-US" sz="1400" b="1" dirty="0">
                  <a:solidFill>
                    <a:srgbClr val="C00000"/>
                  </a:solidFill>
                  <a:latin typeface="Bradley Hand ITC" pitchFamily="66" charset="0"/>
                </a:endParaRPr>
              </a:p>
            </p:txBody>
          </p:sp>
          <p:sp>
            <p:nvSpPr>
              <p:cNvPr id="18" name="Rectangle 17"/>
              <p:cNvSpPr/>
              <p:nvPr/>
            </p:nvSpPr>
            <p:spPr>
              <a:xfrm>
                <a:off x="7686675" y="4867275"/>
                <a:ext cx="152400" cy="762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60" name="Picture 12"/>
              <p:cNvPicPr>
                <a:picLocks noChangeAspect="1" noChangeArrowheads="1"/>
              </p:cNvPicPr>
              <p:nvPr/>
            </p:nvPicPr>
            <p:blipFill>
              <a:blip r:embed="rId5" cstate="print"/>
              <a:srcRect/>
              <a:stretch>
                <a:fillRect/>
              </a:stretch>
            </p:blipFill>
            <p:spPr bwMode="auto">
              <a:xfrm>
                <a:off x="6819900" y="4772025"/>
                <a:ext cx="838200" cy="142875"/>
              </a:xfrm>
              <a:prstGeom prst="rect">
                <a:avLst/>
              </a:prstGeom>
              <a:noFill/>
              <a:ln w="9525">
                <a:noFill/>
                <a:miter lim="800000"/>
                <a:headEnd/>
                <a:tailEnd/>
              </a:ln>
            </p:spPr>
          </p:pic>
        </p:grpSp>
      </p:grpSp>
      <p:sp>
        <p:nvSpPr>
          <p:cNvPr id="30" name="TextBox 29"/>
          <p:cNvSpPr txBox="1"/>
          <p:nvPr/>
        </p:nvSpPr>
        <p:spPr>
          <a:xfrm rot="21323516">
            <a:off x="801423" y="5021850"/>
            <a:ext cx="931665" cy="523220"/>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none" rtlCol="0">
            <a:spAutoFit/>
          </a:bodyPr>
          <a:lstStyle/>
          <a:p>
            <a:r>
              <a:rPr lang="en-US" sz="1400" b="1" dirty="0" smtClean="0">
                <a:solidFill>
                  <a:srgbClr val="C00000"/>
                </a:solidFill>
                <a:latin typeface="Bradley Hand ITC" pitchFamily="66" charset="0"/>
              </a:rPr>
              <a:t>Black-box</a:t>
            </a:r>
          </a:p>
          <a:p>
            <a:r>
              <a:rPr lang="en-US" sz="1400" b="1" dirty="0" smtClean="0">
                <a:solidFill>
                  <a:srgbClr val="C00000"/>
                </a:solidFill>
                <a:latin typeface="Bradley Hand ITC" pitchFamily="66" charset="0"/>
              </a:rPr>
              <a:t>Approach</a:t>
            </a:r>
            <a:endParaRPr lang="en-US" sz="14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Component Diagram</a:t>
            </a:r>
            <a:endParaRPr lang="en-US" dirty="0"/>
          </a:p>
        </p:txBody>
      </p:sp>
      <p:sp>
        <p:nvSpPr>
          <p:cNvPr id="3" name="Content Placeholder 2"/>
          <p:cNvSpPr>
            <a:spLocks noGrp="1"/>
          </p:cNvSpPr>
          <p:nvPr>
            <p:ph idx="1"/>
          </p:nvPr>
        </p:nvSpPr>
        <p:spPr/>
        <p:txBody>
          <a:bodyPr/>
          <a:lstStyle/>
          <a:p>
            <a:r>
              <a:rPr lang="en-US" dirty="0" smtClean="0"/>
              <a:t>UML relationships applied to the component classifier.</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grpSp>
        <p:nvGrpSpPr>
          <p:cNvPr id="90" name="Group 89"/>
          <p:cNvGrpSpPr/>
          <p:nvPr/>
        </p:nvGrpSpPr>
        <p:grpSpPr>
          <a:xfrm>
            <a:off x="476250" y="1868984"/>
            <a:ext cx="8362950" cy="4379416"/>
            <a:chOff x="476250" y="1868984"/>
            <a:chExt cx="8362950" cy="4379416"/>
          </a:xfrm>
        </p:grpSpPr>
        <p:grpSp>
          <p:nvGrpSpPr>
            <p:cNvPr id="47" name="Group 46"/>
            <p:cNvGrpSpPr/>
            <p:nvPr/>
          </p:nvGrpSpPr>
          <p:grpSpPr>
            <a:xfrm>
              <a:off x="7439025" y="2754809"/>
              <a:ext cx="542925" cy="228600"/>
              <a:chOff x="6924675" y="2105025"/>
              <a:chExt cx="542925" cy="228600"/>
            </a:xfrm>
          </p:grpSpPr>
          <p:sp>
            <p:nvSpPr>
              <p:cNvPr id="42" name="Oval 41"/>
              <p:cNvSpPr/>
              <p:nvPr/>
            </p:nvSpPr>
            <p:spPr>
              <a:xfrm>
                <a:off x="7086600" y="2133600"/>
                <a:ext cx="152400" cy="152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p:cNvSpPr/>
              <p:nvPr/>
            </p:nvSpPr>
            <p:spPr>
              <a:xfrm>
                <a:off x="6924675" y="2105025"/>
                <a:ext cx="228600"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p:cNvCxnSpPr/>
              <p:nvPr/>
            </p:nvCxnSpPr>
            <p:spPr>
              <a:xfrm flipH="1">
                <a:off x="7239000" y="2209800"/>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8" name="Group 47"/>
            <p:cNvGrpSpPr/>
            <p:nvPr/>
          </p:nvGrpSpPr>
          <p:grpSpPr>
            <a:xfrm>
              <a:off x="6400800" y="2783384"/>
              <a:ext cx="381000" cy="152400"/>
              <a:chOff x="6248400" y="2133600"/>
              <a:chExt cx="381000" cy="152400"/>
            </a:xfrm>
          </p:grpSpPr>
          <p:sp>
            <p:nvSpPr>
              <p:cNvPr id="38" name="Oval 37"/>
              <p:cNvSpPr/>
              <p:nvPr/>
            </p:nvSpPr>
            <p:spPr>
              <a:xfrm>
                <a:off x="6477000" y="2133600"/>
                <a:ext cx="152400" cy="152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p:cNvCxnSpPr>
                <a:stCxn id="38" idx="2"/>
              </p:cNvCxnSpPr>
              <p:nvPr/>
            </p:nvCxnSpPr>
            <p:spPr>
              <a:xfrm flipH="1">
                <a:off x="6248400" y="2209800"/>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a:xfrm>
              <a:off x="6838950" y="2859584"/>
              <a:ext cx="838200" cy="0"/>
            </a:xfrm>
            <a:prstGeom prst="line">
              <a:avLst/>
            </a:prstGeom>
            <a:ln>
              <a:solidFill>
                <a:schemeClr val="tx1"/>
              </a:solidFill>
              <a:prstDash val="dash"/>
              <a:headEnd type="arrow"/>
            </a:ln>
          </p:spPr>
          <p:style>
            <a:lnRef idx="1">
              <a:schemeClr val="accent1"/>
            </a:lnRef>
            <a:fillRef idx="0">
              <a:schemeClr val="accent1"/>
            </a:fillRef>
            <a:effectRef idx="0">
              <a:schemeClr val="accent1"/>
            </a:effectRef>
            <a:fontRef idx="minor">
              <a:schemeClr val="tx1"/>
            </a:fontRef>
          </p:style>
        </p:cxnSp>
        <p:grpSp>
          <p:nvGrpSpPr>
            <p:cNvPr id="60" name="Group 59"/>
            <p:cNvGrpSpPr/>
            <p:nvPr/>
          </p:nvGrpSpPr>
          <p:grpSpPr>
            <a:xfrm>
              <a:off x="6934200" y="4002584"/>
              <a:ext cx="657225" cy="304800"/>
              <a:chOff x="7696200" y="2514600"/>
              <a:chExt cx="657225" cy="304800"/>
            </a:xfrm>
          </p:grpSpPr>
          <p:grpSp>
            <p:nvGrpSpPr>
              <p:cNvPr id="59" name="Group 58"/>
              <p:cNvGrpSpPr/>
              <p:nvPr/>
            </p:nvGrpSpPr>
            <p:grpSpPr>
              <a:xfrm>
                <a:off x="7800975" y="2514600"/>
                <a:ext cx="552450" cy="304800"/>
                <a:chOff x="7839075" y="2514600"/>
                <a:chExt cx="552450" cy="304800"/>
              </a:xfrm>
            </p:grpSpPr>
            <p:sp>
              <p:nvSpPr>
                <p:cNvPr id="53" name="Oval 52"/>
                <p:cNvSpPr/>
                <p:nvPr/>
              </p:nvSpPr>
              <p:spPr>
                <a:xfrm>
                  <a:off x="8010525" y="2552700"/>
                  <a:ext cx="152400" cy="2032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p:cNvSpPr/>
                <p:nvPr/>
              </p:nvSpPr>
              <p:spPr>
                <a:xfrm>
                  <a:off x="7839075" y="2514600"/>
                  <a:ext cx="228600" cy="304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p:cNvCxnSpPr/>
                <p:nvPr/>
              </p:nvCxnSpPr>
              <p:spPr>
                <a:xfrm flipH="1">
                  <a:off x="8162925" y="2654300"/>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6" name="Group 55"/>
              <p:cNvGrpSpPr/>
              <p:nvPr/>
            </p:nvGrpSpPr>
            <p:grpSpPr>
              <a:xfrm>
                <a:off x="7696200" y="2571750"/>
                <a:ext cx="381000" cy="152400"/>
                <a:chOff x="6248400" y="2133600"/>
                <a:chExt cx="381000" cy="152400"/>
              </a:xfrm>
            </p:grpSpPr>
            <p:sp>
              <p:nvSpPr>
                <p:cNvPr id="57" name="Oval 56"/>
                <p:cNvSpPr/>
                <p:nvPr/>
              </p:nvSpPr>
              <p:spPr>
                <a:xfrm>
                  <a:off x="6477000" y="2133600"/>
                  <a:ext cx="152400" cy="152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8" name="Straight Connector 57"/>
                <p:cNvCxnSpPr>
                  <a:stCxn id="57" idx="2"/>
                </p:cNvCxnSpPr>
                <p:nvPr/>
              </p:nvCxnSpPr>
              <p:spPr>
                <a:xfrm flipH="1">
                  <a:off x="6248400" y="2209800"/>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1" name="TextBox 60"/>
            <p:cNvSpPr txBox="1"/>
            <p:nvPr/>
          </p:nvSpPr>
          <p:spPr>
            <a:xfrm>
              <a:off x="5867400" y="3187720"/>
              <a:ext cx="2895600"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Dependency between required and provided interfaces is equivalent to the assembly connector.</a:t>
              </a:r>
              <a:endParaRPr lang="en-US" sz="1400" b="1" dirty="0">
                <a:solidFill>
                  <a:srgbClr val="C00000"/>
                </a:solidFill>
                <a:latin typeface="Bradley Hand ITC" pitchFamily="66" charset="0"/>
              </a:endParaRPr>
            </a:p>
          </p:txBody>
        </p:sp>
        <p:sp>
          <p:nvSpPr>
            <p:cNvPr id="62" name="Freeform 61"/>
            <p:cNvSpPr/>
            <p:nvPr/>
          </p:nvSpPr>
          <p:spPr>
            <a:xfrm rot="5400000">
              <a:off x="5900737" y="2902447"/>
              <a:ext cx="333376" cy="247650"/>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3" name="Freeform 62"/>
            <p:cNvSpPr/>
            <p:nvPr/>
          </p:nvSpPr>
          <p:spPr>
            <a:xfrm rot="16200000">
              <a:off x="8048878" y="3821861"/>
              <a:ext cx="381000" cy="285248"/>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5" name="TextBox 64"/>
            <p:cNvSpPr txBox="1"/>
            <p:nvPr/>
          </p:nvSpPr>
          <p:spPr>
            <a:xfrm>
              <a:off x="6934200" y="1868984"/>
              <a:ext cx="19050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UML Dependency</a:t>
              </a:r>
              <a:endParaRPr lang="en-US" sz="1400" b="1" dirty="0">
                <a:solidFill>
                  <a:srgbClr val="C00000"/>
                </a:solidFill>
                <a:latin typeface="Bradley Hand ITC" pitchFamily="66" charset="0"/>
              </a:endParaRPr>
            </a:p>
          </p:txBody>
        </p:sp>
        <p:cxnSp>
          <p:nvCxnSpPr>
            <p:cNvPr id="67" name="Straight Arrow Connector 66"/>
            <p:cNvCxnSpPr/>
            <p:nvPr/>
          </p:nvCxnSpPr>
          <p:spPr>
            <a:xfrm flipH="1">
              <a:off x="7391400" y="2173784"/>
              <a:ext cx="228600" cy="533400"/>
            </a:xfrm>
            <a:prstGeom prst="straightConnector1">
              <a:avLst/>
            </a:prstGeom>
            <a:ln>
              <a:solidFill>
                <a:srgbClr val="C00000"/>
              </a:solidFill>
              <a:tailEnd type="stealth"/>
            </a:ln>
          </p:spPr>
          <p:style>
            <a:lnRef idx="1">
              <a:schemeClr val="accent1"/>
            </a:lnRef>
            <a:fillRef idx="0">
              <a:schemeClr val="accent1"/>
            </a:fillRef>
            <a:effectRef idx="0">
              <a:schemeClr val="accent1"/>
            </a:effectRef>
            <a:fontRef idx="minor">
              <a:schemeClr val="tx1"/>
            </a:fontRef>
          </p:style>
        </p:cxnSp>
        <p:grpSp>
          <p:nvGrpSpPr>
            <p:cNvPr id="89" name="Group 88"/>
            <p:cNvGrpSpPr/>
            <p:nvPr/>
          </p:nvGrpSpPr>
          <p:grpSpPr>
            <a:xfrm>
              <a:off x="476250" y="1868984"/>
              <a:ext cx="6457950" cy="4379416"/>
              <a:chOff x="247650" y="2067580"/>
              <a:chExt cx="6457950" cy="4379416"/>
            </a:xfrm>
          </p:grpSpPr>
          <p:grpSp>
            <p:nvGrpSpPr>
              <p:cNvPr id="69" name="Group 68"/>
              <p:cNvGrpSpPr/>
              <p:nvPr/>
            </p:nvGrpSpPr>
            <p:grpSpPr>
              <a:xfrm>
                <a:off x="1704975" y="2067580"/>
                <a:ext cx="5000625" cy="3799820"/>
                <a:chOff x="1143000" y="2067580"/>
                <a:chExt cx="5000625" cy="3799820"/>
              </a:xfrm>
            </p:grpSpPr>
            <p:grpSp>
              <p:nvGrpSpPr>
                <p:cNvPr id="31" name="Group 30"/>
                <p:cNvGrpSpPr/>
                <p:nvPr/>
              </p:nvGrpSpPr>
              <p:grpSpPr>
                <a:xfrm>
                  <a:off x="1143000" y="2067580"/>
                  <a:ext cx="3933825" cy="3286125"/>
                  <a:chOff x="2466975" y="1971675"/>
                  <a:chExt cx="3933825" cy="3286125"/>
                </a:xfrm>
              </p:grpSpPr>
              <p:pic>
                <p:nvPicPr>
                  <p:cNvPr id="3074" name="Picture 2"/>
                  <p:cNvPicPr>
                    <a:picLocks noChangeAspect="1" noChangeArrowheads="1"/>
                  </p:cNvPicPr>
                  <p:nvPr/>
                </p:nvPicPr>
                <p:blipFill>
                  <a:blip r:embed="rId2" cstate="print"/>
                  <a:srcRect/>
                  <a:stretch>
                    <a:fillRect/>
                  </a:stretch>
                </p:blipFill>
                <p:spPr bwMode="auto">
                  <a:xfrm>
                    <a:off x="2466975" y="1971675"/>
                    <a:ext cx="3933825" cy="3286125"/>
                  </a:xfrm>
                  <a:prstGeom prst="rect">
                    <a:avLst/>
                  </a:prstGeom>
                  <a:noFill/>
                  <a:ln w="9525">
                    <a:noFill/>
                    <a:miter lim="800000"/>
                    <a:headEnd/>
                    <a:tailEnd/>
                  </a:ln>
                  <a:effectLst/>
                </p:spPr>
              </p:pic>
              <p:sp>
                <p:nvSpPr>
                  <p:cNvPr id="16" name="Rectangle 15"/>
                  <p:cNvSpPr/>
                  <p:nvPr/>
                </p:nvSpPr>
                <p:spPr>
                  <a:xfrm>
                    <a:off x="3848100" y="3981450"/>
                    <a:ext cx="1066800" cy="142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a:off x="3886200" y="4019550"/>
                    <a:ext cx="10668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a:xfrm>
                    <a:off x="3848100" y="3543300"/>
                    <a:ext cx="1104900" cy="142875"/>
                    <a:chOff x="7429500" y="4133850"/>
                    <a:chExt cx="1104900" cy="142875"/>
                  </a:xfrm>
                </p:grpSpPr>
                <p:sp>
                  <p:nvSpPr>
                    <p:cNvPr id="21" name="Rectangle 20"/>
                    <p:cNvSpPr/>
                    <p:nvPr/>
                  </p:nvSpPr>
                  <p:spPr>
                    <a:xfrm>
                      <a:off x="7429500" y="4133850"/>
                      <a:ext cx="1066800" cy="142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a:off x="7467600" y="4171950"/>
                      <a:ext cx="10668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25" name="Rectangle 24"/>
                  <p:cNvSpPr/>
                  <p:nvPr/>
                </p:nvSpPr>
                <p:spPr>
                  <a:xfrm>
                    <a:off x="3848100" y="4371975"/>
                    <a:ext cx="962025" cy="200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p:cNvCxnSpPr/>
                  <p:nvPr/>
                </p:nvCxnSpPr>
                <p:spPr>
                  <a:xfrm>
                    <a:off x="3886200" y="4448175"/>
                    <a:ext cx="9144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4048125" y="4819650"/>
                    <a:ext cx="962025" cy="200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p:cNvCxnSpPr/>
                  <p:nvPr/>
                </p:nvCxnSpPr>
                <p:spPr>
                  <a:xfrm>
                    <a:off x="4076700" y="4867275"/>
                    <a:ext cx="9144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32" name="TextBox 31"/>
                <p:cNvSpPr txBox="1"/>
                <p:nvPr/>
              </p:nvSpPr>
              <p:spPr>
                <a:xfrm>
                  <a:off x="5000625" y="5344180"/>
                  <a:ext cx="9906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Notice this is a class</a:t>
                  </a:r>
                  <a:endParaRPr lang="en-US" sz="1400" b="1" dirty="0">
                    <a:solidFill>
                      <a:srgbClr val="C00000"/>
                    </a:solidFill>
                    <a:latin typeface="Bradley Hand ITC" pitchFamily="66" charset="0"/>
                  </a:endParaRPr>
                </a:p>
              </p:txBody>
            </p:sp>
            <p:sp>
              <p:nvSpPr>
                <p:cNvPr id="35" name="Freeform 34"/>
                <p:cNvSpPr/>
                <p:nvPr/>
              </p:nvSpPr>
              <p:spPr>
                <a:xfrm>
                  <a:off x="4467225" y="5201305"/>
                  <a:ext cx="619125" cy="400050"/>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TextBox 35"/>
                <p:cNvSpPr txBox="1"/>
                <p:nvPr/>
              </p:nvSpPr>
              <p:spPr>
                <a:xfrm>
                  <a:off x="4772025" y="4667905"/>
                  <a:ext cx="13716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Notice these</a:t>
                  </a:r>
                </a:p>
                <a:p>
                  <a:pPr algn="ctr"/>
                  <a:r>
                    <a:rPr lang="en-US" sz="1400" b="1" dirty="0" smtClean="0">
                      <a:solidFill>
                        <a:srgbClr val="C00000"/>
                      </a:solidFill>
                      <a:latin typeface="Bradley Hand ITC" pitchFamily="66" charset="0"/>
                    </a:rPr>
                    <a:t>are interfaces</a:t>
                  </a:r>
                  <a:endParaRPr lang="en-US" sz="1400" b="1" dirty="0">
                    <a:solidFill>
                      <a:srgbClr val="C00000"/>
                    </a:solidFill>
                    <a:latin typeface="Bradley Hand ITC" pitchFamily="66" charset="0"/>
                  </a:endParaRPr>
                </a:p>
              </p:txBody>
            </p:sp>
            <p:sp>
              <p:nvSpPr>
                <p:cNvPr id="37" name="Freeform 36"/>
                <p:cNvSpPr/>
                <p:nvPr/>
              </p:nvSpPr>
              <p:spPr>
                <a:xfrm>
                  <a:off x="4924425" y="4334530"/>
                  <a:ext cx="485775" cy="314325"/>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70" name="TextBox 69"/>
              <p:cNvSpPr txBox="1"/>
              <p:nvPr/>
            </p:nvSpPr>
            <p:spPr>
              <a:xfrm>
                <a:off x="304800" y="2398693"/>
                <a:ext cx="1524000" cy="95410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Dependency without specifying interfaces!</a:t>
                </a:r>
                <a:endParaRPr lang="en-US" sz="1400" b="1" dirty="0">
                  <a:solidFill>
                    <a:srgbClr val="C00000"/>
                  </a:solidFill>
                  <a:latin typeface="Bradley Hand ITC" pitchFamily="66" charset="0"/>
                </a:endParaRPr>
              </a:p>
            </p:txBody>
          </p:sp>
          <p:sp>
            <p:nvSpPr>
              <p:cNvPr id="71" name="Freeform 70"/>
              <p:cNvSpPr/>
              <p:nvPr/>
            </p:nvSpPr>
            <p:spPr>
              <a:xfrm rot="10800000">
                <a:off x="1343025" y="3352800"/>
                <a:ext cx="485775" cy="314325"/>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79" name="Group 78"/>
              <p:cNvGrpSpPr/>
              <p:nvPr/>
            </p:nvGrpSpPr>
            <p:grpSpPr>
              <a:xfrm>
                <a:off x="1448332" y="5486400"/>
                <a:ext cx="1599668" cy="427196"/>
                <a:chOff x="1143000" y="5791200"/>
                <a:chExt cx="1599668" cy="427196"/>
              </a:xfrm>
            </p:grpSpPr>
            <p:sp>
              <p:nvSpPr>
                <p:cNvPr id="72" name="Rectangle 71"/>
                <p:cNvSpPr/>
                <p:nvPr/>
              </p:nvSpPr>
              <p:spPr>
                <a:xfrm>
                  <a:off x="1143000" y="5791200"/>
                  <a:ext cx="914400" cy="3048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p:cNvSpPr/>
                <p:nvPr/>
              </p:nvSpPr>
              <p:spPr>
                <a:xfrm>
                  <a:off x="2286000" y="5867400"/>
                  <a:ext cx="152400" cy="152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4" name="Straight Connector 73"/>
                <p:cNvCxnSpPr>
                  <a:stCxn id="73" idx="2"/>
                </p:cNvCxnSpPr>
                <p:nvPr/>
              </p:nvCxnSpPr>
              <p:spPr>
                <a:xfrm flipH="1">
                  <a:off x="2057400" y="5943600"/>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TextBox 74"/>
                <p:cNvSpPr txBox="1"/>
                <p:nvPr/>
              </p:nvSpPr>
              <p:spPr>
                <a:xfrm>
                  <a:off x="1143000" y="5819775"/>
                  <a:ext cx="873957" cy="246221"/>
                </a:xfrm>
                <a:prstGeom prst="rect">
                  <a:avLst/>
                </a:prstGeom>
                <a:noFill/>
              </p:spPr>
              <p:txBody>
                <a:bodyPr wrap="none" rtlCol="0">
                  <a:spAutoFit/>
                </a:bodyPr>
                <a:lstStyle/>
                <a:p>
                  <a:r>
                    <a:rPr lang="en-US" sz="1000" dirty="0" smtClean="0">
                      <a:latin typeface="+mj-lt"/>
                    </a:rPr>
                    <a:t>ComponentA</a:t>
                  </a:r>
                  <a:endParaRPr lang="en-US" sz="1000" dirty="0">
                    <a:latin typeface="+mj-lt"/>
                  </a:endParaRPr>
                </a:p>
              </p:txBody>
            </p:sp>
            <p:sp>
              <p:nvSpPr>
                <p:cNvPr id="76" name="TextBox 75"/>
                <p:cNvSpPr txBox="1"/>
                <p:nvPr/>
              </p:nvSpPr>
              <p:spPr>
                <a:xfrm>
                  <a:off x="2009775" y="5972175"/>
                  <a:ext cx="732893" cy="246221"/>
                </a:xfrm>
                <a:prstGeom prst="rect">
                  <a:avLst/>
                </a:prstGeom>
                <a:noFill/>
              </p:spPr>
              <p:txBody>
                <a:bodyPr wrap="none" rtlCol="0">
                  <a:spAutoFit/>
                </a:bodyPr>
                <a:lstStyle/>
                <a:p>
                  <a:r>
                    <a:rPr lang="en-US" sz="1000" dirty="0" smtClean="0">
                      <a:latin typeface="+mj-lt"/>
                    </a:rPr>
                    <a:t>InterfaceB</a:t>
                  </a:r>
                  <a:endParaRPr lang="en-US" sz="1000" dirty="0">
                    <a:latin typeface="+mj-lt"/>
                  </a:endParaRPr>
                </a:p>
              </p:txBody>
            </p:sp>
          </p:grpSp>
          <p:sp>
            <p:nvSpPr>
              <p:cNvPr id="77" name="Freeform 76"/>
              <p:cNvSpPr/>
              <p:nvPr/>
            </p:nvSpPr>
            <p:spPr>
              <a:xfrm>
                <a:off x="1427163" y="4572001"/>
                <a:ext cx="458787" cy="914400"/>
              </a:xfrm>
              <a:custGeom>
                <a:avLst/>
                <a:gdLst>
                  <a:gd name="connsiteX0" fmla="*/ 153987 w 458787"/>
                  <a:gd name="connsiteY0" fmla="*/ 1209675 h 1209675"/>
                  <a:gd name="connsiteX1" fmla="*/ 144462 w 458787"/>
                  <a:gd name="connsiteY1" fmla="*/ 1028700 h 1209675"/>
                  <a:gd name="connsiteX2" fmla="*/ 87312 w 458787"/>
                  <a:gd name="connsiteY2" fmla="*/ 742950 h 1209675"/>
                  <a:gd name="connsiteX3" fmla="*/ 1587 w 458787"/>
                  <a:gd name="connsiteY3" fmla="*/ 352425 h 1209675"/>
                  <a:gd name="connsiteX4" fmla="*/ 96837 w 458787"/>
                  <a:gd name="connsiteY4" fmla="*/ 114300 h 1209675"/>
                  <a:gd name="connsiteX5" fmla="*/ 458787 w 458787"/>
                  <a:gd name="connsiteY5" fmla="*/ 0 h 120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58787" h="1209675">
                    <a:moveTo>
                      <a:pt x="153987" y="1209675"/>
                    </a:moveTo>
                    <a:cubicBezTo>
                      <a:pt x="154781" y="1158081"/>
                      <a:pt x="155575" y="1106488"/>
                      <a:pt x="144462" y="1028700"/>
                    </a:cubicBezTo>
                    <a:cubicBezTo>
                      <a:pt x="133350" y="950913"/>
                      <a:pt x="111124" y="855662"/>
                      <a:pt x="87312" y="742950"/>
                    </a:cubicBezTo>
                    <a:cubicBezTo>
                      <a:pt x="63500" y="630238"/>
                      <a:pt x="0" y="457200"/>
                      <a:pt x="1587" y="352425"/>
                    </a:cubicBezTo>
                    <a:cubicBezTo>
                      <a:pt x="3175" y="247650"/>
                      <a:pt x="20637" y="173037"/>
                      <a:pt x="96837" y="114300"/>
                    </a:cubicBezTo>
                    <a:cubicBezTo>
                      <a:pt x="173037" y="55563"/>
                      <a:pt x="315912" y="27781"/>
                      <a:pt x="458787" y="0"/>
                    </a:cubicBezTo>
                  </a:path>
                </a:pathLst>
              </a:custGeom>
              <a:ln>
                <a:solidFill>
                  <a:srgbClr val="C00000"/>
                </a:solidFill>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8" name="TextBox 77"/>
              <p:cNvSpPr txBox="1"/>
              <p:nvPr/>
            </p:nvSpPr>
            <p:spPr>
              <a:xfrm>
                <a:off x="247650" y="4800600"/>
                <a:ext cx="15240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These are equivalent!</a:t>
                </a:r>
                <a:endParaRPr lang="en-US" sz="1400" b="1" dirty="0">
                  <a:solidFill>
                    <a:srgbClr val="C00000"/>
                  </a:solidFill>
                  <a:latin typeface="Bradley Hand ITC" pitchFamily="66" charset="0"/>
                </a:endParaRPr>
              </a:p>
            </p:txBody>
          </p:sp>
          <p:grpSp>
            <p:nvGrpSpPr>
              <p:cNvPr id="80" name="Group 79"/>
              <p:cNvGrpSpPr/>
              <p:nvPr/>
            </p:nvGrpSpPr>
            <p:grpSpPr>
              <a:xfrm>
                <a:off x="1447800" y="6019800"/>
                <a:ext cx="1599668" cy="427196"/>
                <a:chOff x="1143000" y="5791200"/>
                <a:chExt cx="1599668" cy="427196"/>
              </a:xfrm>
            </p:grpSpPr>
            <p:sp>
              <p:nvSpPr>
                <p:cNvPr id="81" name="Rectangle 80"/>
                <p:cNvSpPr/>
                <p:nvPr/>
              </p:nvSpPr>
              <p:spPr>
                <a:xfrm>
                  <a:off x="1143000" y="5791200"/>
                  <a:ext cx="914400" cy="3048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p:cNvSpPr/>
                <p:nvPr/>
              </p:nvSpPr>
              <p:spPr>
                <a:xfrm>
                  <a:off x="2286000" y="5867400"/>
                  <a:ext cx="152400" cy="15240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3" name="Straight Connector 82"/>
                <p:cNvCxnSpPr>
                  <a:stCxn id="82" idx="2"/>
                </p:cNvCxnSpPr>
                <p:nvPr/>
              </p:nvCxnSpPr>
              <p:spPr>
                <a:xfrm flipH="1">
                  <a:off x="2057400" y="5943600"/>
                  <a:ext cx="22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1143000" y="5819775"/>
                  <a:ext cx="873957" cy="246221"/>
                </a:xfrm>
                <a:prstGeom prst="rect">
                  <a:avLst/>
                </a:prstGeom>
                <a:noFill/>
              </p:spPr>
              <p:txBody>
                <a:bodyPr wrap="none" rtlCol="0">
                  <a:spAutoFit/>
                </a:bodyPr>
                <a:lstStyle/>
                <a:p>
                  <a:r>
                    <a:rPr lang="en-US" sz="1000" dirty="0" smtClean="0">
                      <a:latin typeface="+mj-lt"/>
                    </a:rPr>
                    <a:t>ComponentA</a:t>
                  </a:r>
                  <a:endParaRPr lang="en-US" sz="1000" dirty="0">
                    <a:latin typeface="+mj-lt"/>
                  </a:endParaRPr>
                </a:p>
              </p:txBody>
            </p:sp>
            <p:sp>
              <p:nvSpPr>
                <p:cNvPr id="85" name="TextBox 84"/>
                <p:cNvSpPr txBox="1"/>
                <p:nvPr/>
              </p:nvSpPr>
              <p:spPr>
                <a:xfrm>
                  <a:off x="2009775" y="5972175"/>
                  <a:ext cx="732893" cy="246221"/>
                </a:xfrm>
                <a:prstGeom prst="rect">
                  <a:avLst/>
                </a:prstGeom>
                <a:noFill/>
              </p:spPr>
              <p:txBody>
                <a:bodyPr wrap="none" rtlCol="0">
                  <a:spAutoFit/>
                </a:bodyPr>
                <a:lstStyle/>
                <a:p>
                  <a:r>
                    <a:rPr lang="en-US" sz="1000" dirty="0" smtClean="0">
                      <a:latin typeface="+mj-lt"/>
                    </a:rPr>
                    <a:t>InterfaceB</a:t>
                  </a:r>
                  <a:endParaRPr lang="en-US" sz="1000" dirty="0">
                    <a:latin typeface="+mj-lt"/>
                  </a:endParaRPr>
                </a:p>
              </p:txBody>
            </p:sp>
          </p:grpSp>
          <p:sp>
            <p:nvSpPr>
              <p:cNvPr id="86" name="Rectangle 85"/>
              <p:cNvSpPr/>
              <p:nvPr/>
            </p:nvSpPr>
            <p:spPr>
              <a:xfrm>
                <a:off x="2686050" y="6048375"/>
                <a:ext cx="228600"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87"/>
              <p:cNvSpPr/>
              <p:nvPr/>
            </p:nvSpPr>
            <p:spPr>
              <a:xfrm>
                <a:off x="515938" y="4057650"/>
                <a:ext cx="1350962" cy="2133600"/>
              </a:xfrm>
              <a:custGeom>
                <a:avLst/>
                <a:gdLst>
                  <a:gd name="connsiteX0" fmla="*/ 912812 w 1350962"/>
                  <a:gd name="connsiteY0" fmla="*/ 2133600 h 2133600"/>
                  <a:gd name="connsiteX1" fmla="*/ 179387 w 1350962"/>
                  <a:gd name="connsiteY1" fmla="*/ 1828800 h 2133600"/>
                  <a:gd name="connsiteX2" fmla="*/ 7937 w 1350962"/>
                  <a:gd name="connsiteY2" fmla="*/ 1028700 h 2133600"/>
                  <a:gd name="connsiteX3" fmla="*/ 227012 w 1350962"/>
                  <a:gd name="connsiteY3" fmla="*/ 419100 h 2133600"/>
                  <a:gd name="connsiteX4" fmla="*/ 884237 w 1350962"/>
                  <a:gd name="connsiteY4" fmla="*/ 66675 h 2133600"/>
                  <a:gd name="connsiteX5" fmla="*/ 1350962 w 1350962"/>
                  <a:gd name="connsiteY5" fmla="*/ 19050 h 2133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50962" h="2133600">
                    <a:moveTo>
                      <a:pt x="912812" y="2133600"/>
                    </a:moveTo>
                    <a:cubicBezTo>
                      <a:pt x="621506" y="2073275"/>
                      <a:pt x="330200" y="2012950"/>
                      <a:pt x="179387" y="1828800"/>
                    </a:cubicBezTo>
                    <a:cubicBezTo>
                      <a:pt x="28575" y="1644650"/>
                      <a:pt x="0" y="1263650"/>
                      <a:pt x="7937" y="1028700"/>
                    </a:cubicBezTo>
                    <a:cubicBezTo>
                      <a:pt x="15875" y="793750"/>
                      <a:pt x="80962" y="579437"/>
                      <a:pt x="227012" y="419100"/>
                    </a:cubicBezTo>
                    <a:cubicBezTo>
                      <a:pt x="373062" y="258763"/>
                      <a:pt x="696912" y="133350"/>
                      <a:pt x="884237" y="66675"/>
                    </a:cubicBezTo>
                    <a:cubicBezTo>
                      <a:pt x="1071562" y="0"/>
                      <a:pt x="1211262" y="9525"/>
                      <a:pt x="1350962" y="19050"/>
                    </a:cubicBezTo>
                  </a:path>
                </a:pathLst>
              </a:custGeom>
              <a:ln>
                <a:solidFill>
                  <a:srgbClr val="C00000"/>
                </a:solidFill>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Component Diagram</a:t>
            </a:r>
            <a:endParaRPr lang="en-US" dirty="0"/>
          </a:p>
        </p:txBody>
      </p:sp>
      <p:sp>
        <p:nvSpPr>
          <p:cNvPr id="3" name="Content Placeholder 2"/>
          <p:cNvSpPr>
            <a:spLocks noGrp="1"/>
          </p:cNvSpPr>
          <p:nvPr>
            <p:ph idx="1"/>
          </p:nvPr>
        </p:nvSpPr>
        <p:spPr>
          <a:xfrm>
            <a:off x="457200" y="1371601"/>
            <a:ext cx="8229600" cy="3352799"/>
          </a:xfrm>
        </p:spPr>
        <p:txBody>
          <a:bodyPr>
            <a:normAutofit fontScale="92500" lnSpcReduction="10000"/>
          </a:bodyPr>
          <a:lstStyle/>
          <a:p>
            <a:r>
              <a:rPr lang="en-US" dirty="0" smtClean="0"/>
              <a:t>Two more important concepts used in component diagrams are:</a:t>
            </a:r>
          </a:p>
          <a:p>
            <a:pPr lvl="1"/>
            <a:r>
              <a:rPr lang="en-US" dirty="0" smtClean="0"/>
              <a:t>Ports</a:t>
            </a:r>
          </a:p>
          <a:p>
            <a:pPr lvl="2"/>
            <a:r>
              <a:rPr lang="en-US" dirty="0" smtClean="0"/>
              <a:t>Abstraction used to model access points for allowing the external environment to access the component’s services and for allowing components to interact with their external environment.</a:t>
            </a:r>
          </a:p>
          <a:p>
            <a:pPr lvl="2"/>
            <a:r>
              <a:rPr lang="en-US" dirty="0" smtClean="0"/>
              <a:t>Modeled using a small square at the boundary of a </a:t>
            </a:r>
            <a:r>
              <a:rPr lang="en-US" i="1" dirty="0" smtClean="0"/>
              <a:t>classifier</a:t>
            </a:r>
            <a:r>
              <a:rPr lang="en-US" dirty="0" smtClean="0"/>
              <a:t>, in this case, a component.</a:t>
            </a:r>
          </a:p>
          <a:p>
            <a:pPr lvl="2"/>
            <a:r>
              <a:rPr lang="en-US" dirty="0" smtClean="0"/>
              <a:t>Ports can be named, e.g., port names below are Port 1 and Port 2.</a:t>
            </a:r>
          </a:p>
          <a:p>
            <a:pPr lvl="1"/>
            <a:r>
              <a:rPr lang="en-US" dirty="0" smtClean="0"/>
              <a:t>Delegation connectors</a:t>
            </a:r>
          </a:p>
          <a:p>
            <a:pPr lvl="2"/>
            <a:r>
              <a:rPr lang="en-US" dirty="0" smtClean="0"/>
              <a:t>Used to model the link between the external provided interfaces of a component to the realization of those interfaces internally within the component.</a:t>
            </a:r>
          </a:p>
          <a:p>
            <a:pPr lvl="2"/>
            <a:r>
              <a:rPr lang="en-US" dirty="0" smtClean="0"/>
              <a:t>Similarly, delegation connectors model the link between internally required interfaces to ports requiring the interface from external components.</a:t>
            </a:r>
          </a:p>
          <a:p>
            <a:pPr lvl="2"/>
            <a:r>
              <a:rPr lang="en-US" dirty="0" smtClean="0"/>
              <a:t>Modeled using a directed arrow with the stereotype &lt;&lt;delegate&gt;&gt;</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pic>
        <p:nvPicPr>
          <p:cNvPr id="4098" name="Picture 2"/>
          <p:cNvPicPr>
            <a:picLocks noChangeAspect="1" noChangeArrowheads="1"/>
          </p:cNvPicPr>
          <p:nvPr/>
        </p:nvPicPr>
        <p:blipFill>
          <a:blip r:embed="rId2" cstate="print"/>
          <a:srcRect/>
          <a:stretch>
            <a:fillRect/>
          </a:stretch>
        </p:blipFill>
        <p:spPr bwMode="auto">
          <a:xfrm>
            <a:off x="2071688" y="4873823"/>
            <a:ext cx="5000625" cy="1276350"/>
          </a:xfrm>
          <a:prstGeom prst="rect">
            <a:avLst/>
          </a:prstGeom>
          <a:noFill/>
          <a:ln w="9525">
            <a:noFill/>
            <a:miter lim="800000"/>
            <a:headEnd/>
            <a:tailEnd/>
          </a:ln>
          <a:effectLst/>
        </p:spPr>
      </p:pic>
      <p:sp>
        <p:nvSpPr>
          <p:cNvPr id="8" name="TextBox 7"/>
          <p:cNvSpPr txBox="1"/>
          <p:nvPr/>
        </p:nvSpPr>
        <p:spPr>
          <a:xfrm>
            <a:off x="1714500" y="6093023"/>
            <a:ext cx="7620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Port</a:t>
            </a:r>
            <a:endParaRPr lang="en-US" sz="1400" b="1" dirty="0">
              <a:solidFill>
                <a:srgbClr val="C00000"/>
              </a:solidFill>
              <a:latin typeface="Bradley Hand ITC" pitchFamily="66" charset="0"/>
            </a:endParaRPr>
          </a:p>
        </p:txBody>
      </p:sp>
      <p:sp>
        <p:nvSpPr>
          <p:cNvPr id="9" name="TextBox 8"/>
          <p:cNvSpPr txBox="1"/>
          <p:nvPr/>
        </p:nvSpPr>
        <p:spPr>
          <a:xfrm>
            <a:off x="6781800" y="6073973"/>
            <a:ext cx="7620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Port</a:t>
            </a:r>
            <a:endParaRPr lang="en-US" sz="1400" b="1" dirty="0">
              <a:solidFill>
                <a:srgbClr val="C00000"/>
              </a:solidFill>
              <a:latin typeface="Bradley Hand ITC" pitchFamily="66" charset="0"/>
            </a:endParaRPr>
          </a:p>
        </p:txBody>
      </p:sp>
      <p:sp>
        <p:nvSpPr>
          <p:cNvPr id="10" name="TextBox 9"/>
          <p:cNvSpPr txBox="1"/>
          <p:nvPr/>
        </p:nvSpPr>
        <p:spPr>
          <a:xfrm>
            <a:off x="3429000" y="5964524"/>
            <a:ext cx="22860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Delegate connector</a:t>
            </a:r>
            <a:endParaRPr lang="en-US" sz="1400" b="1" dirty="0">
              <a:solidFill>
                <a:srgbClr val="C00000"/>
              </a:solidFill>
              <a:latin typeface="Bradley Hand ITC" pitchFamily="66" charset="0"/>
            </a:endParaRPr>
          </a:p>
        </p:txBody>
      </p:sp>
      <p:sp>
        <p:nvSpPr>
          <p:cNvPr id="11" name="Freeform 10"/>
          <p:cNvSpPr/>
          <p:nvPr/>
        </p:nvSpPr>
        <p:spPr>
          <a:xfrm rot="21131646">
            <a:off x="6494605" y="5946125"/>
            <a:ext cx="381000" cy="285248"/>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Freeform 11"/>
          <p:cNvSpPr/>
          <p:nvPr/>
        </p:nvSpPr>
        <p:spPr>
          <a:xfrm rot="5617287">
            <a:off x="2267735" y="5994795"/>
            <a:ext cx="333375" cy="238125"/>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Freeform 12"/>
          <p:cNvSpPr/>
          <p:nvPr/>
        </p:nvSpPr>
        <p:spPr>
          <a:xfrm rot="5617287">
            <a:off x="5296666" y="5843036"/>
            <a:ext cx="333375" cy="238125"/>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Freeform 13"/>
          <p:cNvSpPr/>
          <p:nvPr/>
        </p:nvSpPr>
        <p:spPr>
          <a:xfrm>
            <a:off x="3411394" y="5846201"/>
            <a:ext cx="381000" cy="285248"/>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7239000" y="4267200"/>
            <a:ext cx="1905000" cy="1384995"/>
          </a:xfrm>
          <a:prstGeom prst="rect">
            <a:avLst/>
          </a:prstGeom>
          <a:noFill/>
        </p:spPr>
        <p:txBody>
          <a:bodyPr wrap="square" rtlCol="0">
            <a:spAutoFit/>
          </a:bodyPr>
          <a:lstStyle/>
          <a:p>
            <a:r>
              <a:rPr lang="en-US" sz="1400" b="1" dirty="0" smtClean="0">
                <a:solidFill>
                  <a:srgbClr val="C00000"/>
                </a:solidFill>
                <a:latin typeface="Bradley Hand ITC" pitchFamily="66" charset="0"/>
              </a:rPr>
              <a:t>White-box view of ComponentA shows how the external behavior is realized internally </a:t>
            </a:r>
          </a:p>
          <a:p>
            <a:pPr algn="ctr"/>
            <a:endParaRPr lang="en-US" sz="1400" b="1" dirty="0">
              <a:solidFill>
                <a:srgbClr val="C00000"/>
              </a:solidFill>
              <a:latin typeface="Bradley Hand ITC" pitchFamily="66" charset="0"/>
            </a:endParaRPr>
          </a:p>
        </p:txBody>
      </p:sp>
      <p:sp>
        <p:nvSpPr>
          <p:cNvPr id="18" name="Freeform 17"/>
          <p:cNvSpPr/>
          <p:nvPr/>
        </p:nvSpPr>
        <p:spPr>
          <a:xfrm rot="16200000">
            <a:off x="6595975" y="4550834"/>
            <a:ext cx="381000" cy="880533"/>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p:cNvSpPr txBox="1"/>
          <p:nvPr/>
        </p:nvSpPr>
        <p:spPr>
          <a:xfrm>
            <a:off x="457200" y="4953000"/>
            <a:ext cx="14478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Black-box view of ComponentB</a:t>
            </a:r>
            <a:endParaRPr lang="en-US" sz="1400" b="1" dirty="0">
              <a:solidFill>
                <a:srgbClr val="C00000"/>
              </a:solidFill>
              <a:latin typeface="Bradley Hand ITC" pitchFamily="66" charset="0"/>
            </a:endParaRPr>
          </a:p>
        </p:txBody>
      </p:sp>
      <p:sp>
        <p:nvSpPr>
          <p:cNvPr id="20" name="Freeform 19"/>
          <p:cNvSpPr/>
          <p:nvPr/>
        </p:nvSpPr>
        <p:spPr>
          <a:xfrm>
            <a:off x="1885950" y="4897438"/>
            <a:ext cx="2085975" cy="522287"/>
          </a:xfrm>
          <a:custGeom>
            <a:avLst/>
            <a:gdLst>
              <a:gd name="connsiteX0" fmla="*/ 0 w 2085975"/>
              <a:gd name="connsiteY0" fmla="*/ 293687 h 522287"/>
              <a:gd name="connsiteX1" fmla="*/ 838200 w 2085975"/>
              <a:gd name="connsiteY1" fmla="*/ 74612 h 522287"/>
              <a:gd name="connsiteX2" fmla="*/ 1476375 w 2085975"/>
              <a:gd name="connsiteY2" fmla="*/ 74612 h 522287"/>
              <a:gd name="connsiteX3" fmla="*/ 2085975 w 2085975"/>
              <a:gd name="connsiteY3" fmla="*/ 522287 h 522287"/>
            </a:gdLst>
            <a:ahLst/>
            <a:cxnLst>
              <a:cxn ang="0">
                <a:pos x="connsiteX0" y="connsiteY0"/>
              </a:cxn>
              <a:cxn ang="0">
                <a:pos x="connsiteX1" y="connsiteY1"/>
              </a:cxn>
              <a:cxn ang="0">
                <a:pos x="connsiteX2" y="connsiteY2"/>
              </a:cxn>
              <a:cxn ang="0">
                <a:pos x="connsiteX3" y="connsiteY3"/>
              </a:cxn>
            </a:cxnLst>
            <a:rect l="l" t="t" r="r" b="b"/>
            <a:pathLst>
              <a:path w="2085975" h="522287">
                <a:moveTo>
                  <a:pt x="0" y="293687"/>
                </a:moveTo>
                <a:cubicBezTo>
                  <a:pt x="296069" y="202405"/>
                  <a:pt x="592138" y="111124"/>
                  <a:pt x="838200" y="74612"/>
                </a:cubicBezTo>
                <a:cubicBezTo>
                  <a:pt x="1084262" y="38100"/>
                  <a:pt x="1268413" y="0"/>
                  <a:pt x="1476375" y="74612"/>
                </a:cubicBezTo>
                <a:cubicBezTo>
                  <a:pt x="1684338" y="149225"/>
                  <a:pt x="1885156" y="335756"/>
                  <a:pt x="2085975" y="522287"/>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Component Diagram</a:t>
            </a:r>
            <a:endParaRPr lang="en-US" dirty="0"/>
          </a:p>
        </p:txBody>
      </p:sp>
      <p:sp>
        <p:nvSpPr>
          <p:cNvPr id="3" name="Content Placeholder 2"/>
          <p:cNvSpPr>
            <a:spLocks noGrp="1"/>
          </p:cNvSpPr>
          <p:nvPr>
            <p:ph idx="1"/>
          </p:nvPr>
        </p:nvSpPr>
        <p:spPr>
          <a:xfrm>
            <a:off x="457200" y="1371601"/>
            <a:ext cx="8229600" cy="3886199"/>
          </a:xfrm>
        </p:spPr>
        <p:txBody>
          <a:bodyPr>
            <a:normAutofit fontScale="92500" lnSpcReduction="10000"/>
          </a:bodyPr>
          <a:lstStyle/>
          <a:p>
            <a:r>
              <a:rPr lang="en-US" dirty="0" smtClean="0"/>
              <a:t>Consider a system with the following desired properties:</a:t>
            </a:r>
          </a:p>
          <a:p>
            <a:pPr lvl="1"/>
            <a:r>
              <a:rPr lang="en-US" dirty="0" smtClean="0"/>
              <a:t>A data collection system equipped with:</a:t>
            </a:r>
          </a:p>
          <a:p>
            <a:pPr lvl="2"/>
            <a:r>
              <a:rPr lang="en-US" dirty="0" smtClean="0"/>
              <a:t>Sensors</a:t>
            </a:r>
          </a:p>
          <a:p>
            <a:pPr lvl="2"/>
            <a:r>
              <a:rPr lang="en-US" dirty="0" smtClean="0"/>
              <a:t>Video capture capabilities</a:t>
            </a:r>
          </a:p>
          <a:p>
            <a:pPr lvl="1"/>
            <a:r>
              <a:rPr lang="en-US" dirty="0" smtClean="0"/>
              <a:t>Automatic collection at specific times of the day.</a:t>
            </a:r>
          </a:p>
          <a:p>
            <a:pPr lvl="2"/>
            <a:r>
              <a:rPr lang="en-US" dirty="0" smtClean="0"/>
              <a:t>Collection schedules need to be provided to the system.</a:t>
            </a:r>
          </a:p>
          <a:p>
            <a:pPr lvl="1"/>
            <a:r>
              <a:rPr lang="en-US" dirty="0" smtClean="0"/>
              <a:t>It is expected that the technology used for collection can improve, therefore:</a:t>
            </a:r>
          </a:p>
          <a:p>
            <a:pPr lvl="2"/>
            <a:r>
              <a:rPr lang="en-US" dirty="0" smtClean="0"/>
              <a:t>Different sensors technology can be incorporated.</a:t>
            </a:r>
          </a:p>
          <a:p>
            <a:pPr lvl="2"/>
            <a:r>
              <a:rPr lang="en-US" dirty="0" smtClean="0"/>
              <a:t>Different video capture capabilities can be incorporated.</a:t>
            </a:r>
          </a:p>
          <a:p>
            <a:pPr lvl="2"/>
            <a:r>
              <a:rPr lang="en-US" dirty="0" smtClean="0"/>
              <a:t>This is important to the customers!</a:t>
            </a:r>
          </a:p>
          <a:p>
            <a:pPr lvl="1"/>
            <a:r>
              <a:rPr lang="en-US" dirty="0" smtClean="0"/>
              <a:t>The system must make available the data collected.</a:t>
            </a:r>
          </a:p>
          <a:p>
            <a:pPr lvl="2"/>
            <a:r>
              <a:rPr lang="en-US" dirty="0" smtClean="0"/>
              <a:t>Both sensor and video data.</a:t>
            </a:r>
          </a:p>
          <a:p>
            <a:pPr lvl="2"/>
            <a:r>
              <a:rPr lang="en-US" dirty="0" smtClean="0"/>
              <a:t>Also, health data about the system</a:t>
            </a:r>
          </a:p>
          <a:p>
            <a:pPr lvl="3"/>
            <a:r>
              <a:rPr lang="en-US" dirty="0" smtClean="0"/>
              <a:t>Events, problems, etc.</a:t>
            </a:r>
          </a:p>
          <a:p>
            <a:pPr lvl="2"/>
            <a:endParaRPr lang="en-US" dirty="0" smtClean="0"/>
          </a:p>
          <a:p>
            <a:pPr lvl="2">
              <a:buNone/>
            </a:pPr>
            <a:endParaRPr lang="en-US" dirty="0" smtClean="0"/>
          </a:p>
          <a:p>
            <a:pPr lvl="1"/>
            <a:endParaRPr lang="en-US" dirty="0" smtClean="0"/>
          </a:p>
          <a:p>
            <a:pPr lvl="2"/>
            <a:endParaRPr lang="en-US" dirty="0" smtClean="0"/>
          </a:p>
          <a:p>
            <a:pPr lvl="2">
              <a:buNone/>
            </a:pPr>
            <a:endParaRPr lang="en-US" dirty="0" smtClean="0"/>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extBox 6"/>
          <p:cNvSpPr txBox="1"/>
          <p:nvPr/>
        </p:nvSpPr>
        <p:spPr>
          <a:xfrm>
            <a:off x="1295400" y="5691426"/>
            <a:ext cx="6781800" cy="861774"/>
          </a:xfrm>
          <a:prstGeom prst="rect">
            <a:avLst/>
          </a:prstGeom>
          <a:noFill/>
        </p:spPr>
        <p:txBody>
          <a:bodyPr wrap="square" rtlCol="0">
            <a:spAutoFit/>
          </a:bodyPr>
          <a:lstStyle/>
          <a:p>
            <a:r>
              <a:rPr lang="en-US" b="1" dirty="0" smtClean="0">
                <a:solidFill>
                  <a:srgbClr val="C00000"/>
                </a:solidFill>
                <a:latin typeface="Bradley Hand ITC" pitchFamily="66" charset="0"/>
              </a:rPr>
              <a:t>Before moving on, can you model this system using the component notation discussed so far?  </a:t>
            </a:r>
            <a:r>
              <a:rPr lang="en-US" b="1" u="sng" dirty="0" smtClean="0">
                <a:solidFill>
                  <a:srgbClr val="C00000"/>
                </a:solidFill>
                <a:latin typeface="Bradley Hand ITC" pitchFamily="66" charset="0"/>
              </a:rPr>
              <a:t>Give it a try using paper and pencil</a:t>
            </a:r>
            <a:r>
              <a:rPr lang="en-US" b="1" dirty="0" smtClean="0">
                <a:solidFill>
                  <a:srgbClr val="C00000"/>
                </a:solidFill>
                <a:latin typeface="Bradley Hand ITC" pitchFamily="66" charset="0"/>
              </a:rPr>
              <a:t>!</a:t>
            </a:r>
          </a:p>
          <a:p>
            <a:pPr algn="ctr"/>
            <a:endParaRPr lang="en-US" sz="1400" b="1" dirty="0">
              <a:solidFill>
                <a:srgbClr val="C00000"/>
              </a:solidFill>
              <a:latin typeface="Bradley Hand ITC" pitchFamily="66" charset="0"/>
            </a:endParaRPr>
          </a:p>
        </p:txBody>
      </p:sp>
      <p:sp>
        <p:nvSpPr>
          <p:cNvPr id="9" name="TextBox 8"/>
          <p:cNvSpPr txBox="1"/>
          <p:nvPr/>
        </p:nvSpPr>
        <p:spPr>
          <a:xfrm>
            <a:off x="5715000" y="4595336"/>
            <a:ext cx="2667000" cy="738664"/>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400" b="1" dirty="0" smtClean="0">
                <a:solidFill>
                  <a:srgbClr val="C00000"/>
                </a:solidFill>
                <a:latin typeface="Bradley Hand ITC" pitchFamily="66" charset="0"/>
              </a:rPr>
              <a:t>Warning: </a:t>
            </a:r>
          </a:p>
          <a:p>
            <a:r>
              <a:rPr lang="en-US" sz="1400" b="1" dirty="0" smtClean="0">
                <a:solidFill>
                  <a:srgbClr val="C00000"/>
                </a:solidFill>
                <a:latin typeface="Bradley Hand ITC" pitchFamily="66" charset="0"/>
              </a:rPr>
              <a:t>There is not enough information</a:t>
            </a:r>
          </a:p>
          <a:p>
            <a:r>
              <a:rPr lang="en-US" sz="1400" b="1" dirty="0" smtClean="0">
                <a:solidFill>
                  <a:srgbClr val="C00000"/>
                </a:solidFill>
                <a:latin typeface="Bradley Hand ITC" pitchFamily="66" charset="0"/>
              </a:rPr>
              <a:t>to actually build this system.</a:t>
            </a:r>
            <a:endParaRPr lang="en-US" sz="1400" b="1" dirty="0">
              <a:solidFill>
                <a:srgbClr val="C00000"/>
              </a:solidFill>
              <a:latin typeface="Bradley Hand ITC" pitchFamily="66" charset="0"/>
            </a:endParaRPr>
          </a:p>
        </p:txBody>
      </p:sp>
      <p:sp>
        <p:nvSpPr>
          <p:cNvPr id="10" name="Rectangle 9"/>
          <p:cNvSpPr/>
          <p:nvPr/>
        </p:nvSpPr>
        <p:spPr>
          <a:xfrm>
            <a:off x="1295400" y="5117068"/>
            <a:ext cx="1330814" cy="646331"/>
          </a:xfrm>
          <a:prstGeom prst="rect">
            <a:avLst/>
          </a:prstGeom>
        </p:spPr>
        <p:txBody>
          <a:bodyPr wrap="none">
            <a:spAutoFit/>
          </a:bodyPr>
          <a:lstStyle/>
          <a:p>
            <a:r>
              <a:rPr lang="en-US" sz="3600" b="1" dirty="0" smtClean="0">
                <a:solidFill>
                  <a:srgbClr val="C00000"/>
                </a:solidFill>
                <a:latin typeface="Bradley Hand ITC" pitchFamily="66" charset="0"/>
              </a:rPr>
              <a:t>Stop! </a:t>
            </a:r>
            <a:endParaRPr lang="en-US" sz="36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pic>
        <p:nvPicPr>
          <p:cNvPr id="5122" name="Picture 2"/>
          <p:cNvPicPr>
            <a:picLocks noChangeAspect="1" noChangeArrowheads="1"/>
          </p:cNvPicPr>
          <p:nvPr/>
        </p:nvPicPr>
        <p:blipFill>
          <a:blip r:embed="rId2" cstate="print"/>
          <a:srcRect/>
          <a:stretch>
            <a:fillRect/>
          </a:stretch>
        </p:blipFill>
        <p:spPr bwMode="auto">
          <a:xfrm>
            <a:off x="2028825" y="2133600"/>
            <a:ext cx="5372100" cy="2171700"/>
          </a:xfrm>
          <a:prstGeom prst="rect">
            <a:avLst/>
          </a:prstGeom>
          <a:noFill/>
          <a:ln w="9525">
            <a:noFill/>
            <a:miter lim="800000"/>
            <a:headEnd/>
            <a:tailEnd/>
          </a:ln>
          <a:effectLst/>
        </p:spPr>
      </p:pic>
      <p:grpSp>
        <p:nvGrpSpPr>
          <p:cNvPr id="16" name="Group 15"/>
          <p:cNvGrpSpPr/>
          <p:nvPr/>
        </p:nvGrpSpPr>
        <p:grpSpPr>
          <a:xfrm>
            <a:off x="685800" y="616618"/>
            <a:ext cx="4761911" cy="1669382"/>
            <a:chOff x="572089" y="4085325"/>
            <a:chExt cx="4761911" cy="1669382"/>
          </a:xfrm>
        </p:grpSpPr>
        <p:sp>
          <p:nvSpPr>
            <p:cNvPr id="9" name="TextBox 8"/>
            <p:cNvSpPr txBox="1"/>
            <p:nvPr/>
          </p:nvSpPr>
          <p:spPr>
            <a:xfrm>
              <a:off x="762000" y="4800600"/>
              <a:ext cx="4572000" cy="954107"/>
            </a:xfrm>
            <a:prstGeom prst="rect">
              <a:avLst/>
            </a:prstGeom>
            <a:noFill/>
          </p:spPr>
          <p:txBody>
            <a:bodyPr wrap="square" rtlCol="0">
              <a:spAutoFit/>
            </a:bodyPr>
            <a:lstStyle/>
            <a:p>
              <a:r>
                <a:rPr lang="en-US" sz="1400" b="1" dirty="0" smtClean="0">
                  <a:solidFill>
                    <a:srgbClr val="C00000"/>
                  </a:solidFill>
                  <a:latin typeface="Bradley Hand ITC" pitchFamily="66" charset="0"/>
                </a:rPr>
                <a:t>Component = a modular part of a system that encapsulates its contents and whose manifestation is replaceable within its environment. </a:t>
              </a:r>
            </a:p>
            <a:p>
              <a:pPr algn="ctr"/>
              <a:endParaRPr lang="en-US" sz="1400" b="1" dirty="0">
                <a:solidFill>
                  <a:srgbClr val="C00000"/>
                </a:solidFill>
                <a:latin typeface="Bradley Hand ITC" pitchFamily="66" charset="0"/>
              </a:endParaRPr>
            </a:p>
          </p:txBody>
        </p:sp>
        <p:sp>
          <p:nvSpPr>
            <p:cNvPr id="10" name="TextBox 9"/>
            <p:cNvSpPr txBox="1"/>
            <p:nvPr/>
          </p:nvSpPr>
          <p:spPr>
            <a:xfrm rot="20920353">
              <a:off x="572089" y="4085325"/>
              <a:ext cx="1303562" cy="523220"/>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none" rtlCol="0">
              <a:spAutoFit/>
            </a:bodyPr>
            <a:lstStyle/>
            <a:p>
              <a:r>
                <a:rPr lang="en-US" sz="1400" b="1" dirty="0" smtClean="0">
                  <a:solidFill>
                    <a:srgbClr val="C00000"/>
                  </a:solidFill>
                  <a:latin typeface="Bradley Hand ITC" pitchFamily="66" charset="0"/>
                </a:rPr>
                <a:t>Remember this</a:t>
              </a:r>
            </a:p>
            <a:p>
              <a:r>
                <a:rPr lang="en-US" sz="1400" b="1" dirty="0" smtClean="0">
                  <a:solidFill>
                    <a:srgbClr val="C00000"/>
                  </a:solidFill>
                  <a:latin typeface="Bradley Hand ITC" pitchFamily="66" charset="0"/>
                </a:rPr>
                <a:t>Definition?</a:t>
              </a:r>
              <a:endParaRPr lang="en-US" sz="1400" b="1" dirty="0">
                <a:solidFill>
                  <a:srgbClr val="C00000"/>
                </a:solidFill>
                <a:latin typeface="Bradley Hand ITC" pitchFamily="66" charset="0"/>
              </a:endParaRPr>
            </a:p>
          </p:txBody>
        </p:sp>
        <p:sp>
          <p:nvSpPr>
            <p:cNvPr id="11" name="Freeform 10"/>
            <p:cNvSpPr/>
            <p:nvPr/>
          </p:nvSpPr>
          <p:spPr>
            <a:xfrm rot="11960949">
              <a:off x="1865295" y="4474661"/>
              <a:ext cx="381000" cy="285248"/>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4" name="TextBox 13"/>
          <p:cNvSpPr txBox="1"/>
          <p:nvPr/>
        </p:nvSpPr>
        <p:spPr>
          <a:xfrm>
            <a:off x="581025" y="4724400"/>
            <a:ext cx="3200400" cy="954107"/>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400" b="1" u="sng" dirty="0" smtClean="0">
                <a:latin typeface="Bradley Hand ITC" pitchFamily="66" charset="0"/>
              </a:rPr>
              <a:t>Abstraction Principle</a:t>
            </a:r>
            <a:r>
              <a:rPr lang="en-US" sz="1400" b="1" dirty="0" smtClean="0">
                <a:latin typeface="Bradley Hand ITC" pitchFamily="66" charset="0"/>
              </a:rPr>
              <a:t>:</a:t>
            </a:r>
          </a:p>
          <a:p>
            <a:r>
              <a:rPr lang="en-US" sz="1400" b="1" dirty="0" smtClean="0">
                <a:latin typeface="Bradley Hand ITC" pitchFamily="66" charset="0"/>
              </a:rPr>
              <a:t>Focuses on essential characteristics of entities—in their active context—while deferring unnecessary details</a:t>
            </a:r>
            <a:endParaRPr lang="en-US" sz="1400" b="1" dirty="0">
              <a:latin typeface="Bradley Hand ITC" pitchFamily="66" charset="0"/>
            </a:endParaRPr>
          </a:p>
        </p:txBody>
      </p:sp>
      <p:sp>
        <p:nvSpPr>
          <p:cNvPr id="18" name="Freeform 17"/>
          <p:cNvSpPr/>
          <p:nvPr/>
        </p:nvSpPr>
        <p:spPr>
          <a:xfrm rot="5617287">
            <a:off x="4929902" y="1324981"/>
            <a:ext cx="503393" cy="273550"/>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p:cNvSpPr txBox="1"/>
          <p:nvPr/>
        </p:nvSpPr>
        <p:spPr>
          <a:xfrm>
            <a:off x="4267200" y="533400"/>
            <a:ext cx="4572000" cy="954107"/>
          </a:xfrm>
          <a:prstGeom prst="rect">
            <a:avLst/>
          </a:prstGeom>
          <a:noFill/>
        </p:spPr>
        <p:txBody>
          <a:bodyPr wrap="square" rtlCol="0">
            <a:spAutoFit/>
          </a:bodyPr>
          <a:lstStyle/>
          <a:p>
            <a:r>
              <a:rPr lang="en-US" sz="1400" b="1" dirty="0" smtClean="0">
                <a:solidFill>
                  <a:srgbClr val="C00000"/>
                </a:solidFill>
                <a:latin typeface="Bradley Hand ITC" pitchFamily="66" charset="0"/>
              </a:rPr>
              <a:t>Therefore, we really can’t say at this point what the </a:t>
            </a:r>
            <a:r>
              <a:rPr lang="en-US" sz="1400" b="1" u="sng" dirty="0" smtClean="0">
                <a:solidFill>
                  <a:srgbClr val="C00000"/>
                </a:solidFill>
                <a:latin typeface="Bradley Hand ITC" pitchFamily="66" charset="0"/>
              </a:rPr>
              <a:t>SensorManager </a:t>
            </a:r>
            <a:r>
              <a:rPr lang="en-US" sz="1400" b="1" dirty="0" smtClean="0">
                <a:solidFill>
                  <a:srgbClr val="C00000"/>
                </a:solidFill>
                <a:latin typeface="Bradley Hand ITC" pitchFamily="66" charset="0"/>
              </a:rPr>
              <a:t>will be!  It could end up being one class, a bunch of classes, one function, etc. </a:t>
            </a:r>
          </a:p>
          <a:p>
            <a:pPr algn="ctr"/>
            <a:endParaRPr lang="en-US" sz="1400" b="1" dirty="0">
              <a:solidFill>
                <a:srgbClr val="C00000"/>
              </a:solidFill>
              <a:latin typeface="Bradley Hand ITC" pitchFamily="66" charset="0"/>
            </a:endParaRPr>
          </a:p>
        </p:txBody>
      </p:sp>
      <p:sp>
        <p:nvSpPr>
          <p:cNvPr id="20" name="Freeform 19"/>
          <p:cNvSpPr/>
          <p:nvPr/>
        </p:nvSpPr>
        <p:spPr>
          <a:xfrm rot="11960949">
            <a:off x="7046895" y="1183690"/>
            <a:ext cx="381000" cy="285248"/>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p:cNvSpPr txBox="1"/>
          <p:nvPr/>
        </p:nvSpPr>
        <p:spPr>
          <a:xfrm>
            <a:off x="6400800" y="1524000"/>
            <a:ext cx="2590800" cy="738664"/>
          </a:xfrm>
          <a:prstGeom prst="rect">
            <a:avLst/>
          </a:prstGeom>
          <a:noFill/>
        </p:spPr>
        <p:txBody>
          <a:bodyPr wrap="square" rtlCol="0">
            <a:spAutoFit/>
          </a:bodyPr>
          <a:lstStyle/>
          <a:p>
            <a:r>
              <a:rPr lang="en-US" sz="1400" b="1" dirty="0" smtClean="0">
                <a:solidFill>
                  <a:srgbClr val="C00000"/>
                </a:solidFill>
                <a:latin typeface="Bradley Hand ITC" pitchFamily="66" charset="0"/>
              </a:rPr>
              <a:t>The same applies to all other components!</a:t>
            </a:r>
          </a:p>
          <a:p>
            <a:pPr algn="ctr"/>
            <a:endParaRPr lang="en-US" sz="1400" b="1" dirty="0">
              <a:solidFill>
                <a:srgbClr val="C00000"/>
              </a:solidFill>
              <a:latin typeface="Bradley Hand ITC" pitchFamily="66" charset="0"/>
            </a:endParaRPr>
          </a:p>
        </p:txBody>
      </p:sp>
      <p:sp>
        <p:nvSpPr>
          <p:cNvPr id="22" name="TextBox 21"/>
          <p:cNvSpPr txBox="1"/>
          <p:nvPr/>
        </p:nvSpPr>
        <p:spPr>
          <a:xfrm>
            <a:off x="2257425" y="4114800"/>
            <a:ext cx="1524000" cy="523220"/>
          </a:xfrm>
          <a:prstGeom prst="rect">
            <a:avLst/>
          </a:prstGeom>
          <a:noFill/>
        </p:spPr>
        <p:txBody>
          <a:bodyPr wrap="square" rtlCol="0">
            <a:spAutoFit/>
          </a:bodyPr>
          <a:lstStyle/>
          <a:p>
            <a:r>
              <a:rPr lang="en-US" sz="1400" b="1" dirty="0" smtClean="0">
                <a:solidFill>
                  <a:srgbClr val="C00000"/>
                </a:solidFill>
                <a:latin typeface="Bradley Hand ITC" pitchFamily="66" charset="0"/>
              </a:rPr>
              <a:t>Sensor functions</a:t>
            </a:r>
          </a:p>
          <a:p>
            <a:pPr algn="ctr"/>
            <a:endParaRPr lang="en-US" sz="1400" b="1" dirty="0">
              <a:solidFill>
                <a:srgbClr val="C00000"/>
              </a:solidFill>
              <a:latin typeface="Bradley Hand ITC" pitchFamily="66" charset="0"/>
            </a:endParaRPr>
          </a:p>
        </p:txBody>
      </p:sp>
      <p:sp>
        <p:nvSpPr>
          <p:cNvPr id="23" name="TextBox 22"/>
          <p:cNvSpPr txBox="1"/>
          <p:nvPr/>
        </p:nvSpPr>
        <p:spPr>
          <a:xfrm>
            <a:off x="5457825" y="4114800"/>
            <a:ext cx="2057400" cy="523220"/>
          </a:xfrm>
          <a:prstGeom prst="rect">
            <a:avLst/>
          </a:prstGeom>
          <a:noFill/>
        </p:spPr>
        <p:txBody>
          <a:bodyPr wrap="square" rtlCol="0">
            <a:spAutoFit/>
          </a:bodyPr>
          <a:lstStyle/>
          <a:p>
            <a:r>
              <a:rPr lang="en-US" sz="1400" b="1" dirty="0" smtClean="0">
                <a:solidFill>
                  <a:srgbClr val="C00000"/>
                </a:solidFill>
                <a:latin typeface="Bradley Hand ITC" pitchFamily="66" charset="0"/>
              </a:rPr>
              <a:t>Video capture functions</a:t>
            </a:r>
          </a:p>
          <a:p>
            <a:pPr algn="ctr"/>
            <a:endParaRPr lang="en-US" sz="1400" b="1" dirty="0">
              <a:solidFill>
                <a:srgbClr val="C00000"/>
              </a:solidFill>
              <a:latin typeface="Bradley Hand ITC" pitchFamily="66" charset="0"/>
            </a:endParaRPr>
          </a:p>
        </p:txBody>
      </p:sp>
      <p:sp>
        <p:nvSpPr>
          <p:cNvPr id="24" name="Freeform 23"/>
          <p:cNvSpPr/>
          <p:nvPr/>
        </p:nvSpPr>
        <p:spPr>
          <a:xfrm rot="21300615">
            <a:off x="5136134" y="3975448"/>
            <a:ext cx="381000" cy="285248"/>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Freeform 24"/>
          <p:cNvSpPr/>
          <p:nvPr/>
        </p:nvSpPr>
        <p:spPr>
          <a:xfrm rot="5617287">
            <a:off x="3721968" y="3991720"/>
            <a:ext cx="337003" cy="273550"/>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p:cNvSpPr txBox="1"/>
          <p:nvPr/>
        </p:nvSpPr>
        <p:spPr>
          <a:xfrm>
            <a:off x="6553200" y="3429000"/>
            <a:ext cx="2286000" cy="523220"/>
          </a:xfrm>
          <a:prstGeom prst="rect">
            <a:avLst/>
          </a:prstGeom>
          <a:noFill/>
        </p:spPr>
        <p:txBody>
          <a:bodyPr wrap="square" rtlCol="0">
            <a:spAutoFit/>
          </a:bodyPr>
          <a:lstStyle/>
          <a:p>
            <a:r>
              <a:rPr lang="en-US" sz="1400" b="1" dirty="0" smtClean="0">
                <a:solidFill>
                  <a:srgbClr val="C00000"/>
                </a:solidFill>
                <a:latin typeface="Bradley Hand ITC" pitchFamily="66" charset="0"/>
              </a:rPr>
              <a:t>Requires collection schedule</a:t>
            </a:r>
          </a:p>
          <a:p>
            <a:pPr algn="ctr"/>
            <a:endParaRPr lang="en-US" sz="1400" b="1" dirty="0">
              <a:solidFill>
                <a:srgbClr val="C00000"/>
              </a:solidFill>
              <a:latin typeface="Bradley Hand ITC" pitchFamily="66" charset="0"/>
            </a:endParaRPr>
          </a:p>
        </p:txBody>
      </p:sp>
      <p:sp>
        <p:nvSpPr>
          <p:cNvPr id="27" name="Freeform 26"/>
          <p:cNvSpPr/>
          <p:nvPr/>
        </p:nvSpPr>
        <p:spPr>
          <a:xfrm rot="997714">
            <a:off x="6917528" y="3090500"/>
            <a:ext cx="337003" cy="273550"/>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p:cNvSpPr txBox="1"/>
          <p:nvPr/>
        </p:nvSpPr>
        <p:spPr>
          <a:xfrm>
            <a:off x="1343025" y="3299936"/>
            <a:ext cx="1676400" cy="738664"/>
          </a:xfrm>
          <a:prstGeom prst="rect">
            <a:avLst/>
          </a:prstGeom>
          <a:noFill/>
        </p:spPr>
        <p:txBody>
          <a:bodyPr wrap="square" rtlCol="0">
            <a:spAutoFit/>
          </a:bodyPr>
          <a:lstStyle/>
          <a:p>
            <a:r>
              <a:rPr lang="en-US" sz="1400" b="1" dirty="0" smtClean="0">
                <a:solidFill>
                  <a:srgbClr val="C00000"/>
                </a:solidFill>
                <a:latin typeface="Bradley Hand ITC" pitchFamily="66" charset="0"/>
              </a:rPr>
              <a:t>Provides collection and health data</a:t>
            </a:r>
          </a:p>
          <a:p>
            <a:pPr algn="ctr"/>
            <a:endParaRPr lang="en-US" sz="1400" b="1" dirty="0">
              <a:solidFill>
                <a:srgbClr val="C00000"/>
              </a:solidFill>
              <a:latin typeface="Bradley Hand ITC" pitchFamily="66" charset="0"/>
            </a:endParaRPr>
          </a:p>
        </p:txBody>
      </p:sp>
      <p:sp>
        <p:nvSpPr>
          <p:cNvPr id="29" name="Freeform 28"/>
          <p:cNvSpPr/>
          <p:nvPr/>
        </p:nvSpPr>
        <p:spPr>
          <a:xfrm rot="5400000">
            <a:off x="2000501" y="3019676"/>
            <a:ext cx="381000" cy="285248"/>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TextBox 29"/>
          <p:cNvSpPr txBox="1"/>
          <p:nvPr/>
        </p:nvSpPr>
        <p:spPr>
          <a:xfrm>
            <a:off x="3962400" y="5029200"/>
            <a:ext cx="4114800" cy="738664"/>
          </a:xfrm>
          <a:prstGeom prst="rect">
            <a:avLst/>
          </a:prstGeom>
          <a:noFill/>
        </p:spPr>
        <p:txBody>
          <a:bodyPr wrap="square" rtlCol="0">
            <a:spAutoFit/>
          </a:bodyPr>
          <a:lstStyle/>
          <a:p>
            <a:r>
              <a:rPr lang="en-US" sz="1400" b="1" dirty="0" smtClean="0">
                <a:solidFill>
                  <a:srgbClr val="C00000"/>
                </a:solidFill>
                <a:latin typeface="Bradley Hand ITC" pitchFamily="66" charset="0"/>
              </a:rPr>
              <a:t>Everything that you see in the component diagram</a:t>
            </a:r>
          </a:p>
          <a:p>
            <a:r>
              <a:rPr lang="en-US" sz="1400" b="1" dirty="0" smtClean="0">
                <a:solidFill>
                  <a:srgbClr val="C00000"/>
                </a:solidFill>
                <a:latin typeface="Bradley Hand ITC" pitchFamily="66" charset="0"/>
              </a:rPr>
              <a:t>is an abstraction!</a:t>
            </a:r>
          </a:p>
          <a:p>
            <a:pPr algn="ctr"/>
            <a:endParaRPr lang="en-US" sz="1400" b="1" dirty="0">
              <a:solidFill>
                <a:srgbClr val="C00000"/>
              </a:solidFill>
              <a:latin typeface="Bradley Hand ITC" pitchFamily="66" charset="0"/>
            </a:endParaRPr>
          </a:p>
        </p:txBody>
      </p:sp>
      <p:sp>
        <p:nvSpPr>
          <p:cNvPr id="33" name="TextBox 32"/>
          <p:cNvSpPr txBox="1"/>
          <p:nvPr/>
        </p:nvSpPr>
        <p:spPr>
          <a:xfrm>
            <a:off x="4648200" y="5814536"/>
            <a:ext cx="3505200" cy="738664"/>
          </a:xfrm>
          <a:prstGeom prst="rect">
            <a:avLst/>
          </a:prstGeom>
          <a:noFill/>
        </p:spPr>
        <p:txBody>
          <a:bodyPr wrap="square" rtlCol="0">
            <a:spAutoFit/>
          </a:bodyPr>
          <a:lstStyle/>
          <a:p>
            <a:r>
              <a:rPr lang="en-US" sz="1400" b="1" dirty="0" smtClean="0">
                <a:solidFill>
                  <a:srgbClr val="C00000"/>
                </a:solidFill>
                <a:latin typeface="Bradley Hand ITC" pitchFamily="66" charset="0"/>
              </a:rPr>
              <a:t>Although a good start, too many details are still missing to be able to build this system!</a:t>
            </a:r>
          </a:p>
          <a:p>
            <a:pPr algn="ctr"/>
            <a:endParaRPr lang="en-US" sz="1400" b="1" dirty="0">
              <a:solidFill>
                <a:srgbClr val="C00000"/>
              </a:solidFill>
              <a:latin typeface="Bradley Hand ITC" pitchFamily="66" charset="0"/>
            </a:endParaRPr>
          </a:p>
        </p:txBody>
      </p:sp>
      <p:sp>
        <p:nvSpPr>
          <p:cNvPr id="34" name="Freeform 33"/>
          <p:cNvSpPr/>
          <p:nvPr/>
        </p:nvSpPr>
        <p:spPr>
          <a:xfrm rot="10113869">
            <a:off x="3883633" y="4841949"/>
            <a:ext cx="637846" cy="285248"/>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Freeform 34"/>
          <p:cNvSpPr/>
          <p:nvPr/>
        </p:nvSpPr>
        <p:spPr>
          <a:xfrm rot="11370606">
            <a:off x="5438972" y="5455219"/>
            <a:ext cx="637846" cy="285248"/>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Component Diagrams</a:t>
            </a:r>
            <a:endParaRPr lang="en-US" dirty="0"/>
          </a:p>
        </p:txBody>
      </p:sp>
      <p:sp>
        <p:nvSpPr>
          <p:cNvPr id="3" name="Content Placeholder 2"/>
          <p:cNvSpPr>
            <a:spLocks noGrp="1"/>
          </p:cNvSpPr>
          <p:nvPr>
            <p:ph idx="1"/>
          </p:nvPr>
        </p:nvSpPr>
        <p:spPr>
          <a:xfrm>
            <a:off x="457200" y="1371601"/>
            <a:ext cx="8229600" cy="4343399"/>
          </a:xfrm>
        </p:spPr>
        <p:txBody>
          <a:bodyPr>
            <a:normAutofit fontScale="85000" lnSpcReduction="20000"/>
          </a:bodyPr>
          <a:lstStyle/>
          <a:p>
            <a:r>
              <a:rPr lang="en-US" dirty="0" smtClean="0"/>
              <a:t>A few last comments on UML components:</a:t>
            </a:r>
          </a:p>
          <a:p>
            <a:pPr lvl="1"/>
            <a:r>
              <a:rPr lang="en-US" dirty="0" smtClean="0"/>
              <a:t>In previous versions of UML (i.e., 1.x), components were reserved exclusively for modeling deployable physical entities. </a:t>
            </a:r>
          </a:p>
          <a:p>
            <a:pPr lvl="2"/>
            <a:r>
              <a:rPr lang="en-US" dirty="0" smtClean="0"/>
              <a:t>So, if you read an older book covering UML 1.x, discussions about components will differ from what we’ve presented so far.  </a:t>
            </a:r>
          </a:p>
          <a:p>
            <a:pPr lvl="1"/>
            <a:r>
              <a:rPr lang="en-US" dirty="0" smtClean="0"/>
              <a:t>A clear distinction between physical and logical components can be made by identifying the context in which they are relevant.</a:t>
            </a:r>
          </a:p>
          <a:p>
            <a:pPr lvl="1"/>
            <a:r>
              <a:rPr lang="en-US" dirty="0" smtClean="0"/>
              <a:t>Both physical and logical components are modular parts of a system that encapsulate their contents and whose manifestation are replaceable within their </a:t>
            </a:r>
            <a:r>
              <a:rPr lang="en-US" i="1" u="sng" dirty="0" smtClean="0"/>
              <a:t>environment</a:t>
            </a:r>
            <a:r>
              <a:rPr lang="en-US" dirty="0" smtClean="0"/>
              <a:t>. </a:t>
            </a:r>
          </a:p>
          <a:p>
            <a:pPr lvl="1"/>
            <a:endParaRPr lang="en-US" dirty="0" smtClean="0"/>
          </a:p>
          <a:p>
            <a:pPr lvl="1"/>
            <a:endParaRPr lang="en-US" dirty="0" smtClean="0"/>
          </a:p>
          <a:p>
            <a:pPr lvl="1"/>
            <a:endParaRPr lang="en-US" dirty="0" smtClean="0"/>
          </a:p>
          <a:p>
            <a:pPr lvl="1"/>
            <a:endParaRPr lang="en-US" dirty="0" smtClean="0"/>
          </a:p>
          <a:p>
            <a:pPr lvl="1"/>
            <a:endParaRPr lang="en-US" dirty="0" smtClean="0"/>
          </a:p>
          <a:p>
            <a:pPr lvl="1"/>
            <a:endParaRPr lang="en-US" dirty="0" smtClean="0"/>
          </a:p>
          <a:p>
            <a:pPr lvl="1"/>
            <a:r>
              <a:rPr lang="en-US" dirty="0" smtClean="0"/>
              <a:t>To eliminate confusion, UML 2.x supports the specification of these physical components as artifacts.</a:t>
            </a:r>
          </a:p>
          <a:p>
            <a:pPr lvl="1"/>
            <a:r>
              <a:rPr lang="en-US" dirty="0" smtClean="0"/>
              <a:t>This new paradigm allows designers to model physical deployment aspects of components using artifacts classifier deployed on a node.</a:t>
            </a:r>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pic>
        <p:nvPicPr>
          <p:cNvPr id="1026" name="Picture 2"/>
          <p:cNvPicPr>
            <a:picLocks noChangeAspect="1" noChangeArrowheads="1"/>
          </p:cNvPicPr>
          <p:nvPr/>
        </p:nvPicPr>
        <p:blipFill>
          <a:blip r:embed="rId2" cstate="print"/>
          <a:srcRect/>
          <a:stretch>
            <a:fillRect/>
          </a:stretch>
        </p:blipFill>
        <p:spPr bwMode="auto">
          <a:xfrm>
            <a:off x="6629400" y="5257800"/>
            <a:ext cx="1762125" cy="800100"/>
          </a:xfrm>
          <a:prstGeom prst="rect">
            <a:avLst/>
          </a:prstGeom>
          <a:noFill/>
          <a:ln w="9525">
            <a:noFill/>
            <a:miter lim="800000"/>
            <a:headEnd/>
            <a:tailEnd/>
          </a:ln>
          <a:effectLst/>
        </p:spPr>
      </p:pic>
      <p:sp>
        <p:nvSpPr>
          <p:cNvPr id="8" name="TextBox 7"/>
          <p:cNvSpPr txBox="1"/>
          <p:nvPr/>
        </p:nvSpPr>
        <p:spPr>
          <a:xfrm>
            <a:off x="6248400" y="5890736"/>
            <a:ext cx="2286000" cy="738664"/>
          </a:xfrm>
          <a:prstGeom prst="rect">
            <a:avLst/>
          </a:prstGeom>
          <a:noFill/>
        </p:spPr>
        <p:txBody>
          <a:bodyPr wrap="square" rtlCol="0">
            <a:spAutoFit/>
          </a:bodyPr>
          <a:lstStyle/>
          <a:p>
            <a:r>
              <a:rPr lang="en-US" sz="1400" b="1" dirty="0" smtClean="0">
                <a:solidFill>
                  <a:srgbClr val="C00000"/>
                </a:solidFill>
                <a:latin typeface="Bradley Hand ITC" pitchFamily="66" charset="0"/>
              </a:rPr>
              <a:t>This is how UML 1.x components look like</a:t>
            </a:r>
          </a:p>
          <a:p>
            <a:pPr algn="ctr"/>
            <a:endParaRPr lang="en-US" sz="1400" b="1" dirty="0">
              <a:solidFill>
                <a:srgbClr val="C00000"/>
              </a:solidFill>
              <a:latin typeface="Bradley Hand ITC" pitchFamily="66" charset="0"/>
            </a:endParaRPr>
          </a:p>
        </p:txBody>
      </p:sp>
      <p:sp>
        <p:nvSpPr>
          <p:cNvPr id="9" name="Freeform 8"/>
          <p:cNvSpPr/>
          <p:nvPr/>
        </p:nvSpPr>
        <p:spPr>
          <a:xfrm rot="3951370">
            <a:off x="7880694" y="5986099"/>
            <a:ext cx="337003" cy="273550"/>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1219200" y="3339405"/>
            <a:ext cx="7162800" cy="1384995"/>
          </a:xfrm>
          <a:prstGeom prst="rect">
            <a:avLst/>
          </a:prstGeom>
          <a:noFill/>
        </p:spPr>
        <p:txBody>
          <a:bodyPr wrap="square" rtlCol="0">
            <a:spAutoFit/>
          </a:bodyPr>
          <a:lstStyle/>
          <a:p>
            <a:r>
              <a:rPr lang="en-US" sz="1400" b="1" dirty="0" smtClean="0">
                <a:solidFill>
                  <a:srgbClr val="C00000"/>
                </a:solidFill>
                <a:latin typeface="Bradley Hand ITC" pitchFamily="66" charset="0"/>
              </a:rPr>
              <a:t>A major difference is that </a:t>
            </a:r>
            <a:r>
              <a:rPr lang="en-US" sz="1400" b="1" u="sng" dirty="0" smtClean="0">
                <a:solidFill>
                  <a:srgbClr val="C00000"/>
                </a:solidFill>
                <a:latin typeface="Bradley Hand ITC" pitchFamily="66" charset="0"/>
              </a:rPr>
              <a:t>physical components</a:t>
            </a:r>
            <a:r>
              <a:rPr lang="en-US" sz="1400" b="1" dirty="0" smtClean="0">
                <a:solidFill>
                  <a:srgbClr val="C00000"/>
                </a:solidFill>
                <a:latin typeface="Bradley Hand ITC" pitchFamily="66" charset="0"/>
              </a:rPr>
              <a:t> exist in a </a:t>
            </a:r>
            <a:r>
              <a:rPr lang="en-US" sz="1400" b="1" u="sng" dirty="0" smtClean="0">
                <a:solidFill>
                  <a:srgbClr val="C00000"/>
                </a:solidFill>
                <a:latin typeface="Bradley Hand ITC" pitchFamily="66" charset="0"/>
              </a:rPr>
              <a:t>run-time  environment </a:t>
            </a:r>
            <a:r>
              <a:rPr lang="en-US" sz="1400" b="1" dirty="0" smtClean="0">
                <a:solidFill>
                  <a:srgbClr val="C00000"/>
                </a:solidFill>
                <a:latin typeface="Bradley Hand ITC" pitchFamily="66" charset="0"/>
              </a:rPr>
              <a:t>, whereas </a:t>
            </a:r>
            <a:r>
              <a:rPr lang="en-US" sz="1400" b="1" u="sng" dirty="0" smtClean="0">
                <a:solidFill>
                  <a:srgbClr val="C00000"/>
                </a:solidFill>
                <a:latin typeface="Bradley Hand ITC" pitchFamily="66" charset="0"/>
              </a:rPr>
              <a:t>logical components</a:t>
            </a:r>
            <a:r>
              <a:rPr lang="en-US" sz="1400" b="1" dirty="0" smtClean="0">
                <a:solidFill>
                  <a:srgbClr val="C00000"/>
                </a:solidFill>
                <a:latin typeface="Bradley Hand ITC" pitchFamily="66" charset="0"/>
              </a:rPr>
              <a:t> exist in a </a:t>
            </a:r>
            <a:r>
              <a:rPr lang="en-US" sz="1400" b="1" u="sng" dirty="0" smtClean="0">
                <a:solidFill>
                  <a:srgbClr val="C00000"/>
                </a:solidFill>
                <a:latin typeface="Bradley Hand ITC" pitchFamily="66" charset="0"/>
              </a:rPr>
              <a:t>design-time environment</a:t>
            </a:r>
            <a:r>
              <a:rPr lang="en-US" sz="1400" b="1" dirty="0" smtClean="0">
                <a:solidFill>
                  <a:srgbClr val="C00000"/>
                </a:solidFill>
                <a:latin typeface="Bradley Hand ITC" pitchFamily="66" charset="0"/>
              </a:rPr>
              <a:t>!</a:t>
            </a:r>
          </a:p>
          <a:p>
            <a:endParaRPr lang="en-US" sz="1400" b="1" dirty="0" smtClean="0">
              <a:solidFill>
                <a:srgbClr val="C00000"/>
              </a:solidFill>
              <a:latin typeface="Bradley Hand ITC" pitchFamily="66" charset="0"/>
            </a:endParaRPr>
          </a:p>
          <a:p>
            <a:r>
              <a:rPr lang="en-US" sz="1400" b="1" dirty="0" smtClean="0">
                <a:solidFill>
                  <a:srgbClr val="C00000"/>
                </a:solidFill>
                <a:latin typeface="Bradley Hand ITC" pitchFamily="66" charset="0"/>
              </a:rPr>
              <a:t>This can be confusing because the design of a physical component may include one or more logical components!!!</a:t>
            </a:r>
          </a:p>
          <a:p>
            <a:pPr algn="ctr"/>
            <a:endParaRPr lang="en-US" sz="14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Class Diagram</a:t>
            </a:r>
            <a:endParaRPr lang="en-US" dirty="0"/>
          </a:p>
        </p:txBody>
      </p:sp>
      <p:sp>
        <p:nvSpPr>
          <p:cNvPr id="3" name="Content Placeholder 2"/>
          <p:cNvSpPr>
            <a:spLocks noGrp="1"/>
          </p:cNvSpPr>
          <p:nvPr>
            <p:ph idx="1"/>
          </p:nvPr>
        </p:nvSpPr>
        <p:spPr>
          <a:xfrm>
            <a:off x="457200" y="1371601"/>
            <a:ext cx="8229600" cy="3581399"/>
          </a:xfrm>
        </p:spPr>
        <p:txBody>
          <a:bodyPr>
            <a:normAutofit fontScale="85000" lnSpcReduction="10000"/>
          </a:bodyPr>
          <a:lstStyle/>
          <a:p>
            <a:r>
              <a:rPr lang="en-US" dirty="0" smtClean="0"/>
              <a:t>Class diagrams exist at a lower level of abstraction than component diagrams.</a:t>
            </a:r>
          </a:p>
          <a:p>
            <a:pPr lvl="1"/>
            <a:r>
              <a:rPr lang="en-US" dirty="0" smtClean="0"/>
              <a:t>Models consisting of classes and relationships between them necessary to achieve a system’s functionality.</a:t>
            </a:r>
          </a:p>
          <a:p>
            <a:pPr lvl="1"/>
            <a:r>
              <a:rPr lang="en-US" dirty="0" smtClean="0"/>
              <a:t>Weather a class diagram is created or not, the code of an object-oriented systems will always reflect some class design.</a:t>
            </a:r>
          </a:p>
          <a:p>
            <a:pPr lvl="1"/>
            <a:r>
              <a:rPr lang="en-US" dirty="0" smtClean="0"/>
              <a:t>Therefore, there is two-way relationship between class diagrams and object-oriented code.</a:t>
            </a:r>
          </a:p>
          <a:p>
            <a:pPr lvl="2"/>
            <a:r>
              <a:rPr lang="en-US" dirty="0" smtClean="0"/>
              <a:t>Class diagrams can be transformed to code (i.e., forward engineering)</a:t>
            </a:r>
          </a:p>
          <a:p>
            <a:pPr lvl="2"/>
            <a:r>
              <a:rPr lang="en-US" dirty="0" smtClean="0"/>
              <a:t>Code can be transformed into class diagrams (i.e., reverse engineering)</a:t>
            </a:r>
          </a:p>
          <a:p>
            <a:pPr lvl="1"/>
            <a:r>
              <a:rPr lang="en-US" dirty="0" smtClean="0"/>
              <a:t>This makes class diagrams the most powerful tool for designers to model the characteristics of object-oriented software before the construction phase.</a:t>
            </a:r>
          </a:p>
          <a:p>
            <a:endParaRPr lang="en-US" dirty="0" smtClean="0"/>
          </a:p>
          <a:p>
            <a:r>
              <a:rPr lang="en-US" dirty="0" smtClean="0"/>
              <a:t>To become an effective designer, it is essential to understand the direct mapping between class diagrams and code.  Let’s take a closer look at the fundamental unit of the UML class diagram: the class.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pic>
        <p:nvPicPr>
          <p:cNvPr id="8" name="Picture 2"/>
          <p:cNvPicPr>
            <a:picLocks noChangeAspect="1" noChangeArrowheads="1"/>
          </p:cNvPicPr>
          <p:nvPr/>
        </p:nvPicPr>
        <p:blipFill>
          <a:blip r:embed="rId2" cstate="print"/>
          <a:srcRect/>
          <a:stretch>
            <a:fillRect/>
          </a:stretch>
        </p:blipFill>
        <p:spPr bwMode="auto">
          <a:xfrm>
            <a:off x="3657600" y="4800600"/>
            <a:ext cx="2352675" cy="1524000"/>
          </a:xfrm>
          <a:prstGeom prst="rect">
            <a:avLst/>
          </a:prstGeom>
          <a:noFill/>
          <a:ln w="9525">
            <a:noFill/>
            <a:miter lim="800000"/>
            <a:headEnd/>
            <a:tailEnd/>
          </a:ln>
          <a:effectLst/>
        </p:spPr>
      </p:pic>
      <p:sp>
        <p:nvSpPr>
          <p:cNvPr id="9" name="TextBox 8"/>
          <p:cNvSpPr txBox="1"/>
          <p:nvPr/>
        </p:nvSpPr>
        <p:spPr>
          <a:xfrm>
            <a:off x="2438400" y="4953000"/>
            <a:ext cx="1371600"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Name compartment</a:t>
            </a:r>
          </a:p>
          <a:p>
            <a:pPr algn="ctr"/>
            <a:endParaRPr lang="en-US" sz="1400" b="1" dirty="0">
              <a:solidFill>
                <a:srgbClr val="C00000"/>
              </a:solidFill>
              <a:latin typeface="Bradley Hand ITC" pitchFamily="66" charset="0"/>
            </a:endParaRPr>
          </a:p>
        </p:txBody>
      </p:sp>
      <p:sp>
        <p:nvSpPr>
          <p:cNvPr id="10" name="Freeform 9"/>
          <p:cNvSpPr/>
          <p:nvPr/>
        </p:nvSpPr>
        <p:spPr>
          <a:xfrm rot="8589367">
            <a:off x="3533925" y="5039207"/>
            <a:ext cx="381000" cy="285248"/>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5791200" y="5410200"/>
            <a:ext cx="1371600"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Attribute compartment</a:t>
            </a:r>
          </a:p>
          <a:p>
            <a:pPr algn="ctr"/>
            <a:endParaRPr lang="en-US" sz="1400" b="1" dirty="0">
              <a:solidFill>
                <a:srgbClr val="C00000"/>
              </a:solidFill>
              <a:latin typeface="Bradley Hand ITC" pitchFamily="66" charset="0"/>
            </a:endParaRPr>
          </a:p>
        </p:txBody>
      </p:sp>
      <p:sp>
        <p:nvSpPr>
          <p:cNvPr id="12" name="Freeform 11"/>
          <p:cNvSpPr/>
          <p:nvPr/>
        </p:nvSpPr>
        <p:spPr>
          <a:xfrm rot="19899402">
            <a:off x="5683535" y="5377850"/>
            <a:ext cx="337003" cy="273550"/>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2286000" y="5662136"/>
            <a:ext cx="1371600"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Operation compartment</a:t>
            </a:r>
          </a:p>
          <a:p>
            <a:pPr algn="ctr"/>
            <a:endParaRPr lang="en-US" sz="1400" b="1" dirty="0">
              <a:solidFill>
                <a:srgbClr val="C00000"/>
              </a:solidFill>
              <a:latin typeface="Bradley Hand ITC" pitchFamily="66" charset="0"/>
            </a:endParaRPr>
          </a:p>
        </p:txBody>
      </p:sp>
      <p:sp>
        <p:nvSpPr>
          <p:cNvPr id="14" name="Freeform 13"/>
          <p:cNvSpPr/>
          <p:nvPr/>
        </p:nvSpPr>
        <p:spPr>
          <a:xfrm rot="8589367">
            <a:off x="3457725" y="5748343"/>
            <a:ext cx="381000" cy="285248"/>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Class Diagram</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Name compartment</a:t>
            </a:r>
          </a:p>
          <a:p>
            <a:pPr lvl="1"/>
            <a:r>
              <a:rPr lang="en-US" dirty="0" smtClean="0"/>
              <a:t>Reserved for the class name and its stereotype</a:t>
            </a:r>
          </a:p>
          <a:p>
            <a:pPr lvl="1"/>
            <a:r>
              <a:rPr lang="en-US" dirty="0" smtClean="0"/>
              <a:t>Class names can be qualified to show the package that they belong to in the form of Owner::</a:t>
            </a:r>
            <a:r>
              <a:rPr lang="en-US" dirty="0" err="1" smtClean="0"/>
              <a:t>ClassName</a:t>
            </a:r>
            <a:r>
              <a:rPr lang="en-US" dirty="0" smtClean="0"/>
              <a:t>.</a:t>
            </a:r>
          </a:p>
          <a:p>
            <a:pPr lvl="1"/>
            <a:r>
              <a:rPr lang="en-US" dirty="0" smtClean="0"/>
              <a:t>Commonly used stereotypes include:</a:t>
            </a:r>
          </a:p>
          <a:p>
            <a:pPr lvl="2"/>
            <a:r>
              <a:rPr lang="en-US" dirty="0" smtClean="0"/>
              <a:t>&lt;&lt;interface&gt;&gt;</a:t>
            </a:r>
          </a:p>
          <a:p>
            <a:pPr lvl="3"/>
            <a:r>
              <a:rPr lang="en-US" dirty="0" smtClean="0"/>
              <a:t>Used to model interfaces.</a:t>
            </a:r>
          </a:p>
          <a:p>
            <a:pPr lvl="2"/>
            <a:r>
              <a:rPr lang="en-US" dirty="0" smtClean="0"/>
              <a:t>&lt;&lt;utility&gt;&gt;</a:t>
            </a:r>
          </a:p>
          <a:p>
            <a:pPr lvl="3"/>
            <a:r>
              <a:rPr lang="en-US" dirty="0" smtClean="0"/>
              <a:t>Used to model static classes.</a:t>
            </a:r>
          </a:p>
          <a:p>
            <a:r>
              <a:rPr lang="en-US" dirty="0" smtClean="0"/>
              <a:t>Attribute compartment</a:t>
            </a:r>
          </a:p>
          <a:p>
            <a:pPr lvl="1"/>
            <a:r>
              <a:rPr lang="en-US" dirty="0" smtClean="0"/>
              <a:t>Reserved for the class’ attribute specification.</a:t>
            </a:r>
          </a:p>
          <a:p>
            <a:pPr lvl="2"/>
            <a:r>
              <a:rPr lang="en-US" dirty="0" smtClean="0"/>
              <a:t>Including name, type, visibility, etc.</a:t>
            </a:r>
          </a:p>
          <a:p>
            <a:pPr lvl="2"/>
            <a:endParaRPr lang="en-US" dirty="0" smtClean="0"/>
          </a:p>
          <a:p>
            <a:r>
              <a:rPr lang="en-US" dirty="0" smtClean="0"/>
              <a:t>Operation compartment</a:t>
            </a:r>
          </a:p>
          <a:p>
            <a:pPr lvl="1"/>
            <a:r>
              <a:rPr lang="en-US" dirty="0" smtClean="0"/>
              <a:t>Reserved for the class’ operations specification.</a:t>
            </a:r>
          </a:p>
          <a:p>
            <a:pPr lvl="2"/>
            <a:r>
              <a:rPr lang="en-US" dirty="0" smtClean="0"/>
              <a:t>Including name, return type, parameters, visibility, etc.</a:t>
            </a:r>
          </a:p>
          <a:p>
            <a:pPr lvl="2"/>
            <a:endParaRPr lang="en-US" dirty="0" smtClean="0"/>
          </a:p>
          <a:p>
            <a:r>
              <a:rPr lang="en-US" dirty="0" smtClean="0"/>
              <a:t>Everything specified in the UML class can be directly translated to code… let’s see an example in the next slide…</a:t>
            </a:r>
          </a:p>
          <a:p>
            <a:pPr lvl="2"/>
            <a:endParaRPr lang="en-US" dirty="0" smtClean="0"/>
          </a:p>
          <a:p>
            <a:pPr lvl="1">
              <a:buNone/>
            </a:pP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pic>
        <p:nvPicPr>
          <p:cNvPr id="7" name="Picture 2"/>
          <p:cNvPicPr>
            <a:picLocks noChangeAspect="1" noChangeArrowheads="1"/>
          </p:cNvPicPr>
          <p:nvPr/>
        </p:nvPicPr>
        <p:blipFill>
          <a:blip r:embed="rId2" cstate="print"/>
          <a:srcRect/>
          <a:stretch>
            <a:fillRect/>
          </a:stretch>
        </p:blipFill>
        <p:spPr bwMode="auto">
          <a:xfrm>
            <a:off x="6248400" y="3276600"/>
            <a:ext cx="2352675" cy="15240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Class Diagram</a:t>
            </a:r>
            <a:endParaRPr lang="en-US" dirty="0"/>
          </a:p>
        </p:txBody>
      </p:sp>
      <p:sp>
        <p:nvSpPr>
          <p:cNvPr id="3" name="Content Placeholder 2"/>
          <p:cNvSpPr>
            <a:spLocks noGrp="1"/>
          </p:cNvSpPr>
          <p:nvPr>
            <p:ph idx="1"/>
          </p:nvPr>
        </p:nvSpPr>
        <p:spPr/>
        <p:txBody>
          <a:bodyPr/>
          <a:lstStyle/>
          <a:p>
            <a:r>
              <a:rPr lang="en-US" dirty="0" smtClean="0"/>
              <a:t>Example of the </a:t>
            </a:r>
            <a:r>
              <a:rPr lang="en-US" i="1" dirty="0" smtClean="0"/>
              <a:t>forward engineering </a:t>
            </a:r>
            <a:r>
              <a:rPr lang="en-US" dirty="0" smtClean="0"/>
              <a:t>of a UML class to C++ and Java.</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pic>
        <p:nvPicPr>
          <p:cNvPr id="6148" name="Picture 4"/>
          <p:cNvPicPr>
            <a:picLocks noChangeAspect="1" noChangeArrowheads="1"/>
          </p:cNvPicPr>
          <p:nvPr/>
        </p:nvPicPr>
        <p:blipFill>
          <a:blip r:embed="rId2" cstate="print"/>
          <a:srcRect/>
          <a:stretch>
            <a:fillRect/>
          </a:stretch>
        </p:blipFill>
        <p:spPr bwMode="auto">
          <a:xfrm>
            <a:off x="457200" y="2057400"/>
            <a:ext cx="2695575" cy="3505200"/>
          </a:xfrm>
          <a:prstGeom prst="rect">
            <a:avLst/>
          </a:prstGeom>
          <a:noFill/>
          <a:ln w="9525">
            <a:noFill/>
            <a:miter lim="800000"/>
            <a:headEnd/>
            <a:tailEnd/>
          </a:ln>
        </p:spPr>
      </p:pic>
      <p:pic>
        <p:nvPicPr>
          <p:cNvPr id="6149" name="Picture 5"/>
          <p:cNvPicPr>
            <a:picLocks noChangeAspect="1" noChangeArrowheads="1"/>
          </p:cNvPicPr>
          <p:nvPr/>
        </p:nvPicPr>
        <p:blipFill>
          <a:blip r:embed="rId3" cstate="print"/>
          <a:srcRect/>
          <a:stretch>
            <a:fillRect/>
          </a:stretch>
        </p:blipFill>
        <p:spPr bwMode="auto">
          <a:xfrm>
            <a:off x="3581400" y="3200400"/>
            <a:ext cx="1647825" cy="1152525"/>
          </a:xfrm>
          <a:prstGeom prst="rect">
            <a:avLst/>
          </a:prstGeom>
          <a:noFill/>
          <a:ln w="9525">
            <a:noFill/>
            <a:miter lim="800000"/>
            <a:headEnd/>
            <a:tailEnd/>
          </a:ln>
          <a:effectLst/>
        </p:spPr>
      </p:pic>
      <p:pic>
        <p:nvPicPr>
          <p:cNvPr id="6150" name="Picture 6"/>
          <p:cNvPicPr>
            <a:picLocks noChangeAspect="1" noChangeArrowheads="1"/>
          </p:cNvPicPr>
          <p:nvPr/>
        </p:nvPicPr>
        <p:blipFill>
          <a:blip r:embed="rId4" cstate="print"/>
          <a:srcRect/>
          <a:stretch>
            <a:fillRect/>
          </a:stretch>
        </p:blipFill>
        <p:spPr bwMode="auto">
          <a:xfrm>
            <a:off x="5743575" y="2057400"/>
            <a:ext cx="3095625" cy="3238500"/>
          </a:xfrm>
          <a:prstGeom prst="rect">
            <a:avLst/>
          </a:prstGeom>
          <a:noFill/>
          <a:ln w="9525">
            <a:noFill/>
            <a:miter lim="800000"/>
            <a:headEnd/>
            <a:tailEnd/>
          </a:ln>
        </p:spPr>
      </p:pic>
      <p:sp>
        <p:nvSpPr>
          <p:cNvPr id="14" name="TextBox 13"/>
          <p:cNvSpPr txBox="1"/>
          <p:nvPr/>
        </p:nvSpPr>
        <p:spPr>
          <a:xfrm>
            <a:off x="3305175" y="2438400"/>
            <a:ext cx="2209800" cy="523220"/>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pPr algn="ctr"/>
            <a:r>
              <a:rPr lang="en-US" sz="1400" b="1" dirty="0" smtClean="0">
                <a:solidFill>
                  <a:srgbClr val="C00000"/>
                </a:solidFill>
                <a:latin typeface="Bradley Hand ITC" pitchFamily="66" charset="0"/>
              </a:rPr>
              <a:t>Code generated by free open source Star UML tool.</a:t>
            </a:r>
            <a:endParaRPr lang="en-US" sz="1400" b="1" dirty="0">
              <a:solidFill>
                <a:srgbClr val="C00000"/>
              </a:solidFill>
              <a:latin typeface="Bradley Hand ITC" pitchFamily="66" charset="0"/>
            </a:endParaRPr>
          </a:p>
        </p:txBody>
      </p:sp>
      <p:sp>
        <p:nvSpPr>
          <p:cNvPr id="20" name="Freeform 19"/>
          <p:cNvSpPr/>
          <p:nvPr/>
        </p:nvSpPr>
        <p:spPr>
          <a:xfrm rot="21276757">
            <a:off x="1491771" y="3573618"/>
            <a:ext cx="2478802" cy="457914"/>
          </a:xfrm>
          <a:custGeom>
            <a:avLst/>
            <a:gdLst>
              <a:gd name="connsiteX0" fmla="*/ 2333625 w 2333625"/>
              <a:gd name="connsiteY0" fmla="*/ 74612 h 731837"/>
              <a:gd name="connsiteX1" fmla="*/ 1733550 w 2333625"/>
              <a:gd name="connsiteY1" fmla="*/ 74612 h 731837"/>
              <a:gd name="connsiteX2" fmla="*/ 857250 w 2333625"/>
              <a:gd name="connsiteY2" fmla="*/ 522287 h 731837"/>
              <a:gd name="connsiteX3" fmla="*/ 0 w 2333625"/>
              <a:gd name="connsiteY3" fmla="*/ 731837 h 731837"/>
            </a:gdLst>
            <a:ahLst/>
            <a:cxnLst>
              <a:cxn ang="0">
                <a:pos x="connsiteX0" y="connsiteY0"/>
              </a:cxn>
              <a:cxn ang="0">
                <a:pos x="connsiteX1" y="connsiteY1"/>
              </a:cxn>
              <a:cxn ang="0">
                <a:pos x="connsiteX2" y="connsiteY2"/>
              </a:cxn>
              <a:cxn ang="0">
                <a:pos x="connsiteX3" y="connsiteY3"/>
              </a:cxn>
            </a:cxnLst>
            <a:rect l="l" t="t" r="r" b="b"/>
            <a:pathLst>
              <a:path w="2333625" h="731837">
                <a:moveTo>
                  <a:pt x="2333625" y="74612"/>
                </a:moveTo>
                <a:cubicBezTo>
                  <a:pt x="2156618" y="37306"/>
                  <a:pt x="1979612" y="0"/>
                  <a:pt x="1733550" y="74612"/>
                </a:cubicBezTo>
                <a:cubicBezTo>
                  <a:pt x="1487488" y="149224"/>
                  <a:pt x="1146175" y="412749"/>
                  <a:pt x="857250" y="522287"/>
                </a:cubicBezTo>
                <a:cubicBezTo>
                  <a:pt x="568325" y="631825"/>
                  <a:pt x="284162" y="681831"/>
                  <a:pt x="0" y="731837"/>
                </a:cubicBezTo>
              </a:path>
            </a:pathLst>
          </a:custGeom>
          <a:ln>
            <a:solidFill>
              <a:srgbClr val="C00000"/>
            </a:solidFill>
            <a:headEnd type="diamo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p:cNvSpPr txBox="1"/>
          <p:nvPr/>
        </p:nvSpPr>
        <p:spPr>
          <a:xfrm rot="20426882">
            <a:off x="1827575" y="3547981"/>
            <a:ext cx="18288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Class name</a:t>
            </a:r>
            <a:endParaRPr lang="en-US" sz="1400" b="1" dirty="0">
              <a:solidFill>
                <a:srgbClr val="C00000"/>
              </a:solidFill>
              <a:latin typeface="Bradley Hand ITC" pitchFamily="66" charset="0"/>
            </a:endParaRPr>
          </a:p>
        </p:txBody>
      </p:sp>
      <p:sp>
        <p:nvSpPr>
          <p:cNvPr id="22" name="Left Brace 21"/>
          <p:cNvSpPr/>
          <p:nvPr/>
        </p:nvSpPr>
        <p:spPr>
          <a:xfrm>
            <a:off x="3581400" y="3581400"/>
            <a:ext cx="152400" cy="533400"/>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Freeform 22"/>
          <p:cNvSpPr/>
          <p:nvPr/>
        </p:nvSpPr>
        <p:spPr>
          <a:xfrm rot="21072132">
            <a:off x="1961948" y="3885037"/>
            <a:ext cx="1681867" cy="843369"/>
          </a:xfrm>
          <a:custGeom>
            <a:avLst/>
            <a:gdLst>
              <a:gd name="connsiteX0" fmla="*/ 2333625 w 2333625"/>
              <a:gd name="connsiteY0" fmla="*/ 74612 h 731837"/>
              <a:gd name="connsiteX1" fmla="*/ 1733550 w 2333625"/>
              <a:gd name="connsiteY1" fmla="*/ 74612 h 731837"/>
              <a:gd name="connsiteX2" fmla="*/ 857250 w 2333625"/>
              <a:gd name="connsiteY2" fmla="*/ 522287 h 731837"/>
              <a:gd name="connsiteX3" fmla="*/ 0 w 2333625"/>
              <a:gd name="connsiteY3" fmla="*/ 731837 h 731837"/>
            </a:gdLst>
            <a:ahLst/>
            <a:cxnLst>
              <a:cxn ang="0">
                <a:pos x="connsiteX0" y="connsiteY0"/>
              </a:cxn>
              <a:cxn ang="0">
                <a:pos x="connsiteX1" y="connsiteY1"/>
              </a:cxn>
              <a:cxn ang="0">
                <a:pos x="connsiteX2" y="connsiteY2"/>
              </a:cxn>
              <a:cxn ang="0">
                <a:pos x="connsiteX3" y="connsiteY3"/>
              </a:cxn>
            </a:cxnLst>
            <a:rect l="l" t="t" r="r" b="b"/>
            <a:pathLst>
              <a:path w="2333625" h="731837">
                <a:moveTo>
                  <a:pt x="2333625" y="74612"/>
                </a:moveTo>
                <a:cubicBezTo>
                  <a:pt x="2156618" y="37306"/>
                  <a:pt x="1979612" y="0"/>
                  <a:pt x="1733550" y="74612"/>
                </a:cubicBezTo>
                <a:cubicBezTo>
                  <a:pt x="1487488" y="149224"/>
                  <a:pt x="1146175" y="412749"/>
                  <a:pt x="857250" y="522287"/>
                </a:cubicBezTo>
                <a:cubicBezTo>
                  <a:pt x="568325" y="631825"/>
                  <a:pt x="284162" y="681831"/>
                  <a:pt x="0" y="731837"/>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TextBox 23"/>
          <p:cNvSpPr txBox="1"/>
          <p:nvPr/>
        </p:nvSpPr>
        <p:spPr>
          <a:xfrm rot="20426882">
            <a:off x="2204476" y="4463017"/>
            <a:ext cx="1828800"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Private and public attributes and operations</a:t>
            </a:r>
            <a:endParaRPr lang="en-US" sz="1400" b="1" dirty="0">
              <a:solidFill>
                <a:srgbClr val="C00000"/>
              </a:solidFill>
              <a:latin typeface="Bradley Hand ITC" pitchFamily="66" charset="0"/>
            </a:endParaRPr>
          </a:p>
        </p:txBody>
      </p:sp>
      <p:sp>
        <p:nvSpPr>
          <p:cNvPr id="25" name="TextBox 24"/>
          <p:cNvSpPr txBox="1"/>
          <p:nvPr/>
        </p:nvSpPr>
        <p:spPr>
          <a:xfrm>
            <a:off x="2743200" y="5562600"/>
            <a:ext cx="3505200" cy="738664"/>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400" b="1" u="sng" dirty="0" smtClean="0">
                <a:solidFill>
                  <a:srgbClr val="C00000"/>
                </a:solidFill>
                <a:latin typeface="Bradley Hand ITC" pitchFamily="66" charset="0"/>
              </a:rPr>
              <a:t>Important</a:t>
            </a:r>
            <a:r>
              <a:rPr lang="en-US" sz="1400" b="1" dirty="0" smtClean="0">
                <a:solidFill>
                  <a:srgbClr val="C00000"/>
                </a:solidFill>
                <a:latin typeface="Bradley Hand ITC" pitchFamily="66" charset="0"/>
              </a:rPr>
              <a:t>:</a:t>
            </a:r>
          </a:p>
          <a:p>
            <a:r>
              <a:rPr lang="en-US" sz="1400" b="1" dirty="0" smtClean="0">
                <a:solidFill>
                  <a:srgbClr val="C00000"/>
                </a:solidFill>
                <a:latin typeface="Bradley Hand ITC" pitchFamily="66" charset="0"/>
              </a:rPr>
              <a:t>Notice how the modeled visibility {-, +} next to attribute and operations translate to code!  </a:t>
            </a:r>
            <a:endParaRPr lang="en-US" sz="1400" b="1" dirty="0">
              <a:solidFill>
                <a:srgbClr val="C00000"/>
              </a:solidFill>
              <a:latin typeface="Bradley Hand ITC" pitchFamily="66" charset="0"/>
            </a:endParaRPr>
          </a:p>
        </p:txBody>
      </p:sp>
      <p:sp>
        <p:nvSpPr>
          <p:cNvPr id="26" name="Freeform 25"/>
          <p:cNvSpPr/>
          <p:nvPr/>
        </p:nvSpPr>
        <p:spPr>
          <a:xfrm>
            <a:off x="4914900" y="3663950"/>
            <a:ext cx="1076325" cy="184150"/>
          </a:xfrm>
          <a:custGeom>
            <a:avLst/>
            <a:gdLst>
              <a:gd name="connsiteX0" fmla="*/ 0 w 1076325"/>
              <a:gd name="connsiteY0" fmla="*/ 22225 h 184150"/>
              <a:gd name="connsiteX1" fmla="*/ 323850 w 1076325"/>
              <a:gd name="connsiteY1" fmla="*/ 22225 h 184150"/>
              <a:gd name="connsiteX2" fmla="*/ 647700 w 1076325"/>
              <a:gd name="connsiteY2" fmla="*/ 155575 h 184150"/>
              <a:gd name="connsiteX3" fmla="*/ 1076325 w 1076325"/>
              <a:gd name="connsiteY3" fmla="*/ 184150 h 184150"/>
            </a:gdLst>
            <a:ahLst/>
            <a:cxnLst>
              <a:cxn ang="0">
                <a:pos x="connsiteX0" y="connsiteY0"/>
              </a:cxn>
              <a:cxn ang="0">
                <a:pos x="connsiteX1" y="connsiteY1"/>
              </a:cxn>
              <a:cxn ang="0">
                <a:pos x="connsiteX2" y="connsiteY2"/>
              </a:cxn>
              <a:cxn ang="0">
                <a:pos x="connsiteX3" y="connsiteY3"/>
              </a:cxn>
            </a:cxnLst>
            <a:rect l="l" t="t" r="r" b="b"/>
            <a:pathLst>
              <a:path w="1076325" h="184150">
                <a:moveTo>
                  <a:pt x="0" y="22225"/>
                </a:moveTo>
                <a:cubicBezTo>
                  <a:pt x="107950" y="11112"/>
                  <a:pt x="215900" y="0"/>
                  <a:pt x="323850" y="22225"/>
                </a:cubicBezTo>
                <a:cubicBezTo>
                  <a:pt x="431800" y="44450"/>
                  <a:pt x="522288" y="128588"/>
                  <a:pt x="647700" y="155575"/>
                </a:cubicBezTo>
                <a:cubicBezTo>
                  <a:pt x="773113" y="182563"/>
                  <a:pt x="924719" y="183356"/>
                  <a:pt x="1076325" y="184150"/>
                </a:cubicBezTo>
              </a:path>
            </a:pathLst>
          </a:custGeom>
          <a:ln>
            <a:solidFill>
              <a:srgbClr val="C00000"/>
            </a:solidFill>
            <a:headEnd type="diamond"/>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TextBox 26"/>
          <p:cNvSpPr txBox="1"/>
          <p:nvPr/>
        </p:nvSpPr>
        <p:spPr>
          <a:xfrm rot="889377">
            <a:off x="4416822" y="4264450"/>
            <a:ext cx="1265988"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Attribute name, type, and visibility</a:t>
            </a:r>
            <a:endParaRPr lang="en-US" sz="1400" b="1" dirty="0">
              <a:solidFill>
                <a:srgbClr val="C00000"/>
              </a:solidFill>
              <a:latin typeface="Bradley Hand ITC" pitchFamily="66" charset="0"/>
            </a:endParaRPr>
          </a:p>
        </p:txBody>
      </p:sp>
      <p:sp>
        <p:nvSpPr>
          <p:cNvPr id="28" name="Freeform 27"/>
          <p:cNvSpPr/>
          <p:nvPr/>
        </p:nvSpPr>
        <p:spPr>
          <a:xfrm>
            <a:off x="5114925" y="3771900"/>
            <a:ext cx="304800" cy="514350"/>
          </a:xfrm>
          <a:custGeom>
            <a:avLst/>
            <a:gdLst>
              <a:gd name="connsiteX0" fmla="*/ 304800 w 304800"/>
              <a:gd name="connsiteY0" fmla="*/ 0 h 514350"/>
              <a:gd name="connsiteX1" fmla="*/ 171450 w 304800"/>
              <a:gd name="connsiteY1" fmla="*/ 114300 h 514350"/>
              <a:gd name="connsiteX2" fmla="*/ 0 w 304800"/>
              <a:gd name="connsiteY2" fmla="*/ 514350 h 514350"/>
            </a:gdLst>
            <a:ahLst/>
            <a:cxnLst>
              <a:cxn ang="0">
                <a:pos x="connsiteX0" y="connsiteY0"/>
              </a:cxn>
              <a:cxn ang="0">
                <a:pos x="connsiteX1" y="connsiteY1"/>
              </a:cxn>
              <a:cxn ang="0">
                <a:pos x="connsiteX2" y="connsiteY2"/>
              </a:cxn>
            </a:cxnLst>
            <a:rect l="l" t="t" r="r" b="b"/>
            <a:pathLst>
              <a:path w="304800" h="514350">
                <a:moveTo>
                  <a:pt x="304800" y="0"/>
                </a:moveTo>
                <a:cubicBezTo>
                  <a:pt x="263525" y="14287"/>
                  <a:pt x="222250" y="28575"/>
                  <a:pt x="171450" y="114300"/>
                </a:cubicBezTo>
                <a:cubicBezTo>
                  <a:pt x="120650" y="200025"/>
                  <a:pt x="60325" y="357187"/>
                  <a:pt x="0" y="514350"/>
                </a:cubicBezTo>
              </a:path>
            </a:pathLst>
          </a:custGeom>
          <a:ln>
            <a:solidFill>
              <a:srgbClr val="C0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Class Diagram</a:t>
            </a:r>
            <a:endParaRPr lang="en-US" dirty="0"/>
          </a:p>
        </p:txBody>
      </p:sp>
      <p:sp>
        <p:nvSpPr>
          <p:cNvPr id="3" name="Content Placeholder 2"/>
          <p:cNvSpPr>
            <a:spLocks noGrp="1"/>
          </p:cNvSpPr>
          <p:nvPr>
            <p:ph idx="1"/>
          </p:nvPr>
        </p:nvSpPr>
        <p:spPr/>
        <p:txBody>
          <a:bodyPr/>
          <a:lstStyle/>
          <a:p>
            <a:r>
              <a:rPr lang="en-US" dirty="0" smtClean="0"/>
              <a:t>In the previous slide, we presented two different types of UML visibility specification.  </a:t>
            </a:r>
          </a:p>
          <a:p>
            <a:pPr lvl="1"/>
            <a:r>
              <a:rPr lang="en-US" dirty="0" smtClean="0"/>
              <a:t>Visibility types specify policies on how attributes and operations are accessed by clients.</a:t>
            </a:r>
          </a:p>
          <a:p>
            <a:pPr lvl="1"/>
            <a:r>
              <a:rPr lang="en-US" dirty="0" smtClean="0"/>
              <a:t>Common types of visibility are presented below.</a:t>
            </a:r>
          </a:p>
          <a:p>
            <a:pPr lvl="1"/>
            <a:endParaRPr lang="en-US" dirty="0" smtClean="0"/>
          </a:p>
          <a:p>
            <a:pPr lvl="1">
              <a:buNone/>
            </a:pP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graphicFrame>
        <p:nvGraphicFramePr>
          <p:cNvPr id="7" name="Table 6"/>
          <p:cNvGraphicFramePr>
            <a:graphicFrameLocks noGrp="1"/>
          </p:cNvGraphicFramePr>
          <p:nvPr/>
        </p:nvGraphicFramePr>
        <p:xfrm>
          <a:off x="1219199" y="3276600"/>
          <a:ext cx="6934201" cy="1586180"/>
        </p:xfrm>
        <a:graphic>
          <a:graphicData uri="http://schemas.openxmlformats.org/drawingml/2006/table">
            <a:tbl>
              <a:tblPr firstRow="1" bandRow="1">
                <a:tableStyleId>{5C22544A-7EE6-4342-B048-85BDC9FD1C3A}</a:tableStyleId>
              </a:tblPr>
              <a:tblGrid>
                <a:gridCol w="1243745"/>
                <a:gridCol w="653287"/>
                <a:gridCol w="5037169"/>
              </a:tblGrid>
              <a:tr h="255118">
                <a:tc>
                  <a:txBody>
                    <a:bodyPr/>
                    <a:lstStyle/>
                    <a:p>
                      <a:r>
                        <a:rPr lang="en-US" sz="1200" dirty="0" smtClean="0"/>
                        <a:t>Visibility</a:t>
                      </a:r>
                      <a:endParaRPr lang="en-US" sz="1200" dirty="0"/>
                    </a:p>
                  </a:txBody>
                  <a:tcPr>
                    <a:solidFill>
                      <a:srgbClr val="C00000"/>
                    </a:solidFill>
                  </a:tcPr>
                </a:tc>
                <a:tc>
                  <a:txBody>
                    <a:bodyPr/>
                    <a:lstStyle/>
                    <a:p>
                      <a:r>
                        <a:rPr lang="en-US" sz="1200" dirty="0" smtClean="0"/>
                        <a:t>Symbol</a:t>
                      </a:r>
                      <a:endParaRPr lang="en-US" sz="1200" dirty="0"/>
                    </a:p>
                  </a:txBody>
                  <a:tcPr>
                    <a:solidFill>
                      <a:srgbClr val="C00000"/>
                    </a:solidFill>
                  </a:tcPr>
                </a:tc>
                <a:tc>
                  <a:txBody>
                    <a:bodyPr/>
                    <a:lstStyle/>
                    <a:p>
                      <a:r>
                        <a:rPr lang="en-US" sz="1200" dirty="0" smtClean="0"/>
                        <a:t>Description</a:t>
                      </a:r>
                      <a:endParaRPr lang="en-US" sz="1200" dirty="0"/>
                    </a:p>
                  </a:txBody>
                  <a:tcPr>
                    <a:solidFill>
                      <a:srgbClr val="C00000"/>
                    </a:solidFill>
                  </a:tcPr>
                </a:tc>
              </a:tr>
              <a:tr h="396850">
                <a:tc>
                  <a:txBody>
                    <a:bodyPr/>
                    <a:lstStyle/>
                    <a:p>
                      <a:r>
                        <a:rPr lang="en-US" sz="1100" dirty="0" smtClean="0"/>
                        <a:t>Public</a:t>
                      </a:r>
                      <a:endParaRPr lang="en-US" sz="1100" dirty="0"/>
                    </a:p>
                  </a:txBody>
                  <a:tcPr/>
                </a:tc>
                <a:tc>
                  <a:txBody>
                    <a:bodyPr/>
                    <a:lstStyle/>
                    <a:p>
                      <a:pPr algn="ctr"/>
                      <a:r>
                        <a:rPr lang="en-US" sz="1100" dirty="0" smtClean="0"/>
                        <a:t>+</a:t>
                      </a:r>
                      <a:endParaRPr lang="en-US" sz="1100" dirty="0"/>
                    </a:p>
                  </a:txBody>
                  <a:tcPr/>
                </a:tc>
                <a:tc>
                  <a:txBody>
                    <a:bodyPr/>
                    <a:lstStyle/>
                    <a:p>
                      <a:r>
                        <a:rPr lang="en-US" sz="1100" dirty="0" smtClean="0"/>
                        <a:t>Allows</a:t>
                      </a:r>
                      <a:r>
                        <a:rPr lang="en-US" sz="1100" baseline="0" dirty="0" smtClean="0"/>
                        <a:t> access to external clients.</a:t>
                      </a:r>
                      <a:endParaRPr lang="en-US" sz="1100" dirty="0"/>
                    </a:p>
                  </a:txBody>
                  <a:tcPr/>
                </a:tc>
              </a:tr>
              <a:tr h="240944">
                <a:tc>
                  <a:txBody>
                    <a:bodyPr/>
                    <a:lstStyle/>
                    <a:p>
                      <a:r>
                        <a:rPr lang="en-US" sz="1100" dirty="0" smtClean="0"/>
                        <a:t>Private</a:t>
                      </a:r>
                      <a:endParaRPr lang="en-US" sz="1100" dirty="0"/>
                    </a:p>
                  </a:txBody>
                  <a:tcPr/>
                </a:tc>
                <a:tc>
                  <a:txBody>
                    <a:bodyPr/>
                    <a:lstStyle/>
                    <a:p>
                      <a:pPr algn="ctr"/>
                      <a:r>
                        <a:rPr lang="en-US" sz="1100" dirty="0" smtClean="0"/>
                        <a:t>-</a:t>
                      </a:r>
                      <a:endParaRPr lang="en-US" sz="1100" dirty="0"/>
                    </a:p>
                  </a:txBody>
                  <a:tcPr/>
                </a:tc>
                <a:tc>
                  <a:txBody>
                    <a:bodyPr/>
                    <a:lstStyle/>
                    <a:p>
                      <a:r>
                        <a:rPr lang="en-US" sz="1100" dirty="0" smtClean="0"/>
                        <a:t>Prevents access</a:t>
                      </a:r>
                      <a:r>
                        <a:rPr lang="en-US" sz="1100" baseline="0" dirty="0" smtClean="0"/>
                        <a:t> to external clients.  Accessible only internally within the class.</a:t>
                      </a:r>
                      <a:endParaRPr lang="en-US" sz="1100" dirty="0"/>
                    </a:p>
                  </a:txBody>
                  <a:tcPr/>
                </a:tc>
              </a:tr>
              <a:tr h="396850">
                <a:tc>
                  <a:txBody>
                    <a:bodyPr/>
                    <a:lstStyle/>
                    <a:p>
                      <a:r>
                        <a:rPr lang="en-US" sz="1100" dirty="0" smtClean="0"/>
                        <a:t>Protected</a:t>
                      </a:r>
                      <a:endParaRPr lang="en-US" sz="1100" dirty="0"/>
                    </a:p>
                  </a:txBody>
                  <a:tcPr/>
                </a:tc>
                <a:tc>
                  <a:txBody>
                    <a:bodyPr/>
                    <a:lstStyle/>
                    <a:p>
                      <a:pPr algn="ctr"/>
                      <a:r>
                        <a:rPr lang="en-US" sz="1100" i="1" dirty="0" smtClean="0"/>
                        <a:t>#</a:t>
                      </a:r>
                      <a:endParaRPr lang="en-US" sz="1100" i="1" dirty="0"/>
                    </a:p>
                  </a:txBody>
                  <a:tcPr/>
                </a:tc>
                <a:tc>
                  <a:txBody>
                    <a:bodyPr/>
                    <a:lstStyle/>
                    <a:p>
                      <a:r>
                        <a:rPr lang="en-US" sz="1100" dirty="0" smtClean="0"/>
                        <a:t>Allows access internally within the class</a:t>
                      </a:r>
                      <a:r>
                        <a:rPr lang="en-US" sz="1100" baseline="0" dirty="0" smtClean="0"/>
                        <a:t> and to derived classes.</a:t>
                      </a:r>
                      <a:endParaRPr lang="en-US" sz="1100" dirty="0"/>
                    </a:p>
                  </a:txBody>
                  <a:tcPr/>
                </a:tc>
              </a:tr>
              <a:tr h="240944">
                <a:tc>
                  <a:txBody>
                    <a:bodyPr/>
                    <a:lstStyle/>
                    <a:p>
                      <a:r>
                        <a:rPr lang="en-US" sz="1100" dirty="0" smtClean="0"/>
                        <a:t>Package</a:t>
                      </a:r>
                      <a:endParaRPr lang="en-US" sz="1100" dirty="0"/>
                    </a:p>
                  </a:txBody>
                  <a:tcPr/>
                </a:tc>
                <a:tc>
                  <a:txBody>
                    <a:bodyPr/>
                    <a:lstStyle/>
                    <a:p>
                      <a:pPr algn="ctr"/>
                      <a:r>
                        <a:rPr lang="en-US" sz="1100" dirty="0" smtClean="0"/>
                        <a:t>~</a:t>
                      </a:r>
                      <a:endParaRPr lang="en-US" sz="1100" dirty="0"/>
                    </a:p>
                  </a:txBody>
                  <a:tcPr/>
                </a:tc>
                <a:tc>
                  <a:txBody>
                    <a:bodyPr/>
                    <a:lstStyle/>
                    <a:p>
                      <a:r>
                        <a:rPr lang="en-US" sz="1100" dirty="0" smtClean="0"/>
                        <a:t>Allows</a:t>
                      </a:r>
                      <a:r>
                        <a:rPr lang="en-US" sz="1100" baseline="0" dirty="0" smtClean="0"/>
                        <a:t> access to entities within the same package.</a:t>
                      </a:r>
                      <a:endParaRPr lang="en-US" sz="1100" dirty="0"/>
                    </a:p>
                  </a:txBody>
                  <a:tcPr/>
                </a:tc>
              </a:tr>
            </a:tbl>
          </a:graphicData>
        </a:graphic>
      </p:graphicFrame>
      <p:sp>
        <p:nvSpPr>
          <p:cNvPr id="8" name="TextBox 7"/>
          <p:cNvSpPr txBox="1"/>
          <p:nvPr/>
        </p:nvSpPr>
        <p:spPr>
          <a:xfrm>
            <a:off x="2971800" y="5334000"/>
            <a:ext cx="3200400" cy="738664"/>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400" b="1" u="sng" dirty="0" smtClean="0">
                <a:solidFill>
                  <a:srgbClr val="C00000"/>
                </a:solidFill>
                <a:latin typeface="Bradley Hand ITC" pitchFamily="66" charset="0"/>
              </a:rPr>
              <a:t>Important</a:t>
            </a:r>
            <a:r>
              <a:rPr lang="en-US" sz="1400" b="1" dirty="0" smtClean="0">
                <a:solidFill>
                  <a:srgbClr val="C00000"/>
                </a:solidFill>
                <a:latin typeface="Bradley Hand ITC" pitchFamily="66" charset="0"/>
              </a:rPr>
              <a:t>:</a:t>
            </a:r>
          </a:p>
          <a:p>
            <a:r>
              <a:rPr lang="en-US" sz="1400" b="1" dirty="0" smtClean="0">
                <a:solidFill>
                  <a:srgbClr val="C00000"/>
                </a:solidFill>
                <a:latin typeface="Bradley Hand ITC" pitchFamily="66" charset="0"/>
              </a:rPr>
              <a:t>Visibility allows us to apply the Encapsulation principle in our designs!</a:t>
            </a:r>
            <a:endParaRPr lang="en-US" sz="14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Class Diagram</a:t>
            </a:r>
            <a:endParaRPr lang="en-US" dirty="0"/>
          </a:p>
        </p:txBody>
      </p:sp>
      <p:sp>
        <p:nvSpPr>
          <p:cNvPr id="3" name="Content Placeholder 2"/>
          <p:cNvSpPr>
            <a:spLocks noGrp="1"/>
          </p:cNvSpPr>
          <p:nvPr>
            <p:ph idx="1"/>
          </p:nvPr>
        </p:nvSpPr>
        <p:spPr/>
        <p:txBody>
          <a:bodyPr/>
          <a:lstStyle/>
          <a:p>
            <a:r>
              <a:rPr lang="en-US" dirty="0" smtClean="0"/>
              <a:t>UML relationships applied to the class classifier</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
        <p:nvSpPr>
          <p:cNvPr id="9" name="TextBox 8"/>
          <p:cNvSpPr txBox="1"/>
          <p:nvPr/>
        </p:nvSpPr>
        <p:spPr>
          <a:xfrm>
            <a:off x="3581400" y="2196405"/>
            <a:ext cx="2667000" cy="1384995"/>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400" b="1" u="sng" dirty="0" smtClean="0">
                <a:solidFill>
                  <a:srgbClr val="C00000"/>
                </a:solidFill>
                <a:latin typeface="Bradley Hand ITC" pitchFamily="66" charset="0"/>
              </a:rPr>
              <a:t>Important</a:t>
            </a:r>
            <a:r>
              <a:rPr lang="en-US" sz="1400" b="1" dirty="0" smtClean="0">
                <a:solidFill>
                  <a:srgbClr val="C00000"/>
                </a:solidFill>
                <a:latin typeface="Bradley Hand ITC" pitchFamily="66" charset="0"/>
              </a:rPr>
              <a:t>: </a:t>
            </a:r>
          </a:p>
          <a:p>
            <a:r>
              <a:rPr lang="en-US" sz="1400" b="1" dirty="0" smtClean="0">
                <a:solidFill>
                  <a:srgbClr val="C00000"/>
                </a:solidFill>
                <a:latin typeface="Bradley Hand ITC" pitchFamily="66" charset="0"/>
              </a:rPr>
              <a:t>All of these relationships mean something in code, so that when you define these relationships, you’re actually beginning to structure your code!</a:t>
            </a:r>
            <a:endParaRPr lang="en-US" sz="1400" b="1" dirty="0">
              <a:solidFill>
                <a:srgbClr val="C00000"/>
              </a:solidFill>
              <a:latin typeface="Bradley Hand ITC" pitchFamily="66" charset="0"/>
            </a:endParaRPr>
          </a:p>
        </p:txBody>
      </p:sp>
      <p:sp>
        <p:nvSpPr>
          <p:cNvPr id="20" name="Freeform 19"/>
          <p:cNvSpPr/>
          <p:nvPr/>
        </p:nvSpPr>
        <p:spPr>
          <a:xfrm rot="12637603">
            <a:off x="7754153" y="3593656"/>
            <a:ext cx="486612" cy="508887"/>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p:cNvSpPr txBox="1"/>
          <p:nvPr/>
        </p:nvSpPr>
        <p:spPr>
          <a:xfrm>
            <a:off x="6553200" y="3048000"/>
            <a:ext cx="1371600" cy="1169551"/>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This is how a sample class diagram would look like</a:t>
            </a:r>
          </a:p>
          <a:p>
            <a:pPr algn="ctr"/>
            <a:endParaRPr lang="en-US" sz="1400" b="1" dirty="0">
              <a:solidFill>
                <a:srgbClr val="C00000"/>
              </a:solidFill>
              <a:latin typeface="Bradley Hand ITC" pitchFamily="66" charset="0"/>
            </a:endParaRPr>
          </a:p>
        </p:txBody>
      </p:sp>
      <p:grpSp>
        <p:nvGrpSpPr>
          <p:cNvPr id="23" name="Group 22"/>
          <p:cNvGrpSpPr/>
          <p:nvPr/>
        </p:nvGrpSpPr>
        <p:grpSpPr>
          <a:xfrm>
            <a:off x="3810000" y="4114800"/>
            <a:ext cx="4038600" cy="1778353"/>
            <a:chOff x="3810000" y="4114800"/>
            <a:chExt cx="4038600" cy="1778353"/>
          </a:xfrm>
        </p:grpSpPr>
        <p:pic>
          <p:nvPicPr>
            <p:cNvPr id="19" name="Picture 2"/>
            <p:cNvPicPr>
              <a:picLocks noChangeAspect="1" noChangeArrowheads="1"/>
            </p:cNvPicPr>
            <p:nvPr/>
          </p:nvPicPr>
          <p:blipFill>
            <a:blip r:embed="rId2" cstate="print"/>
            <a:srcRect/>
            <a:stretch>
              <a:fillRect/>
            </a:stretch>
          </p:blipFill>
          <p:spPr bwMode="auto">
            <a:xfrm>
              <a:off x="3810000" y="4191000"/>
              <a:ext cx="4038600" cy="1702153"/>
            </a:xfrm>
            <a:prstGeom prst="rect">
              <a:avLst/>
            </a:prstGeom>
            <a:noFill/>
            <a:ln w="9525">
              <a:noFill/>
              <a:miter lim="800000"/>
              <a:headEnd/>
              <a:tailEnd/>
            </a:ln>
          </p:spPr>
        </p:pic>
        <p:sp>
          <p:nvSpPr>
            <p:cNvPr id="22" name="Rectangle 21"/>
            <p:cNvSpPr/>
            <p:nvPr/>
          </p:nvSpPr>
          <p:spPr>
            <a:xfrm>
              <a:off x="7315200" y="4114800"/>
              <a:ext cx="533400" cy="304800"/>
            </a:xfrm>
            <a:prstGeom prst="rect">
              <a:avLst/>
            </a:prstGeom>
            <a:solidFill>
              <a:schemeClr val="bg1"/>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p:cNvGrpSpPr/>
          <p:nvPr/>
        </p:nvGrpSpPr>
        <p:grpSpPr>
          <a:xfrm>
            <a:off x="752475" y="1828800"/>
            <a:ext cx="2371725" cy="3505200"/>
            <a:chOff x="752475" y="1828800"/>
            <a:chExt cx="2371725" cy="3505200"/>
          </a:xfrm>
        </p:grpSpPr>
        <p:pic>
          <p:nvPicPr>
            <p:cNvPr id="7170" name="Picture 2"/>
            <p:cNvPicPr>
              <a:picLocks noChangeAspect="1" noChangeArrowheads="1"/>
            </p:cNvPicPr>
            <p:nvPr/>
          </p:nvPicPr>
          <p:blipFill>
            <a:blip r:embed="rId3" cstate="print"/>
            <a:srcRect/>
            <a:stretch>
              <a:fillRect/>
            </a:stretch>
          </p:blipFill>
          <p:spPr bwMode="auto">
            <a:xfrm>
              <a:off x="752475" y="1828800"/>
              <a:ext cx="2371725" cy="3505200"/>
            </a:xfrm>
            <a:prstGeom prst="rect">
              <a:avLst/>
            </a:prstGeom>
            <a:noFill/>
            <a:ln w="9525">
              <a:noFill/>
              <a:miter lim="800000"/>
              <a:headEnd/>
              <a:tailEnd/>
            </a:ln>
            <a:effectLst/>
          </p:spPr>
        </p:pic>
        <p:sp>
          <p:nvSpPr>
            <p:cNvPr id="24" name="Rectangle 23"/>
            <p:cNvSpPr/>
            <p:nvPr/>
          </p:nvSpPr>
          <p:spPr>
            <a:xfrm>
              <a:off x="1400175" y="4876800"/>
              <a:ext cx="885825" cy="200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p:cNvCxnSpPr/>
            <p:nvPr/>
          </p:nvCxnSpPr>
          <p:spPr>
            <a:xfrm>
              <a:off x="1390650" y="4933950"/>
              <a:ext cx="9144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7" name="Rectangle 26"/>
            <p:cNvSpPr/>
            <p:nvPr/>
          </p:nvSpPr>
          <p:spPr>
            <a:xfrm>
              <a:off x="1381125" y="2162175"/>
              <a:ext cx="981075" cy="2000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p:cNvCxnSpPr/>
            <p:nvPr/>
          </p:nvCxnSpPr>
          <p:spPr>
            <a:xfrm>
              <a:off x="1390650" y="2219325"/>
              <a:ext cx="9906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Class Diagram – Code Generation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pic>
        <p:nvPicPr>
          <p:cNvPr id="4101" name="Picture 5"/>
          <p:cNvPicPr>
            <a:picLocks noChangeAspect="1" noChangeArrowheads="1"/>
          </p:cNvPicPr>
          <p:nvPr/>
        </p:nvPicPr>
        <p:blipFill>
          <a:blip r:embed="rId2" cstate="print"/>
          <a:srcRect/>
          <a:stretch>
            <a:fillRect/>
          </a:stretch>
        </p:blipFill>
        <p:spPr bwMode="auto">
          <a:xfrm>
            <a:off x="5181600" y="1524000"/>
            <a:ext cx="3600450" cy="2876550"/>
          </a:xfrm>
          <a:prstGeom prst="rect">
            <a:avLst/>
          </a:prstGeom>
          <a:noFill/>
          <a:ln w="9525">
            <a:noFill/>
            <a:miter lim="800000"/>
            <a:headEnd/>
            <a:tailEnd/>
          </a:ln>
        </p:spPr>
      </p:pic>
      <p:pic>
        <p:nvPicPr>
          <p:cNvPr id="4105" name="Picture 9"/>
          <p:cNvPicPr>
            <a:picLocks noChangeAspect="1" noChangeArrowheads="1"/>
          </p:cNvPicPr>
          <p:nvPr/>
        </p:nvPicPr>
        <p:blipFill>
          <a:blip r:embed="rId3" cstate="print"/>
          <a:srcRect/>
          <a:stretch>
            <a:fillRect/>
          </a:stretch>
        </p:blipFill>
        <p:spPr bwMode="auto">
          <a:xfrm>
            <a:off x="4572000" y="5118156"/>
            <a:ext cx="4219575" cy="809625"/>
          </a:xfrm>
          <a:prstGeom prst="rect">
            <a:avLst/>
          </a:prstGeom>
          <a:noFill/>
          <a:ln w="9525">
            <a:noFill/>
            <a:miter lim="800000"/>
            <a:headEnd/>
            <a:tailEnd/>
          </a:ln>
        </p:spPr>
      </p:pic>
      <p:sp>
        <p:nvSpPr>
          <p:cNvPr id="18" name="TextBox 17"/>
          <p:cNvSpPr txBox="1"/>
          <p:nvPr/>
        </p:nvSpPr>
        <p:spPr>
          <a:xfrm>
            <a:off x="6477000" y="1143000"/>
            <a:ext cx="2362200"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Notice that dependency on Class6 is not generated!</a:t>
            </a:r>
          </a:p>
          <a:p>
            <a:pPr algn="ctr"/>
            <a:endParaRPr lang="en-US" sz="1400" b="1" dirty="0">
              <a:solidFill>
                <a:srgbClr val="C00000"/>
              </a:solidFill>
              <a:latin typeface="Bradley Hand ITC" pitchFamily="66" charset="0"/>
            </a:endParaRPr>
          </a:p>
        </p:txBody>
      </p:sp>
      <p:sp>
        <p:nvSpPr>
          <p:cNvPr id="19" name="TextBox 18"/>
          <p:cNvSpPr txBox="1"/>
          <p:nvPr/>
        </p:nvSpPr>
        <p:spPr>
          <a:xfrm>
            <a:off x="990600" y="1219200"/>
            <a:ext cx="3276600" cy="523220"/>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pPr algn="ctr"/>
            <a:r>
              <a:rPr lang="en-US" sz="1400" b="1" dirty="0" smtClean="0">
                <a:solidFill>
                  <a:srgbClr val="C00000"/>
                </a:solidFill>
                <a:latin typeface="Bradley Hand ITC" pitchFamily="66" charset="0"/>
              </a:rPr>
              <a:t>Model and Code generated by commercial Enterprise Architect UML tool.</a:t>
            </a:r>
            <a:endParaRPr lang="en-US" sz="1400" b="1" dirty="0">
              <a:solidFill>
                <a:srgbClr val="C00000"/>
              </a:solidFill>
              <a:latin typeface="Bradley Hand ITC" pitchFamily="66" charset="0"/>
            </a:endParaRPr>
          </a:p>
        </p:txBody>
      </p:sp>
      <p:sp>
        <p:nvSpPr>
          <p:cNvPr id="20" name="Freeform 19"/>
          <p:cNvSpPr/>
          <p:nvPr/>
        </p:nvSpPr>
        <p:spPr>
          <a:xfrm rot="15885011">
            <a:off x="6737932" y="1611323"/>
            <a:ext cx="486612" cy="508887"/>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Freeform 21"/>
          <p:cNvSpPr/>
          <p:nvPr/>
        </p:nvSpPr>
        <p:spPr>
          <a:xfrm rot="12362974">
            <a:off x="4344449" y="5089303"/>
            <a:ext cx="337003" cy="273550"/>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Freeform 23"/>
          <p:cNvSpPr/>
          <p:nvPr/>
        </p:nvSpPr>
        <p:spPr>
          <a:xfrm rot="2299254">
            <a:off x="6548691" y="4071036"/>
            <a:ext cx="337003" cy="273550"/>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p:cNvSpPr txBox="1"/>
          <p:nvPr/>
        </p:nvSpPr>
        <p:spPr>
          <a:xfrm>
            <a:off x="838200" y="5181600"/>
            <a:ext cx="3352800" cy="954107"/>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400" b="1" u="sng" dirty="0" smtClean="0">
                <a:solidFill>
                  <a:srgbClr val="C00000"/>
                </a:solidFill>
                <a:latin typeface="Bradley Hand ITC" pitchFamily="66" charset="0"/>
              </a:rPr>
              <a:t>Important</a:t>
            </a:r>
            <a:r>
              <a:rPr lang="en-US" sz="1400" b="1" dirty="0" smtClean="0">
                <a:solidFill>
                  <a:srgbClr val="C00000"/>
                </a:solidFill>
                <a:latin typeface="Bradley Hand ITC" pitchFamily="66" charset="0"/>
              </a:rPr>
              <a:t>:</a:t>
            </a:r>
          </a:p>
          <a:p>
            <a:r>
              <a:rPr lang="en-US" sz="1400" b="1" dirty="0" smtClean="0">
                <a:solidFill>
                  <a:srgbClr val="C00000"/>
                </a:solidFill>
                <a:latin typeface="Bradley Hand ITC" pitchFamily="66" charset="0"/>
              </a:rPr>
              <a:t>Code generation varies from tool-to-tool.  Some need to be configured appropriately to be useful in production environments!</a:t>
            </a:r>
            <a:endParaRPr lang="en-US" sz="1400" b="1" dirty="0">
              <a:solidFill>
                <a:srgbClr val="C00000"/>
              </a:solidFill>
              <a:latin typeface="Bradley Hand ITC" pitchFamily="66" charset="0"/>
            </a:endParaRPr>
          </a:p>
        </p:txBody>
      </p:sp>
      <p:grpSp>
        <p:nvGrpSpPr>
          <p:cNvPr id="29" name="Group 28"/>
          <p:cNvGrpSpPr/>
          <p:nvPr/>
        </p:nvGrpSpPr>
        <p:grpSpPr>
          <a:xfrm>
            <a:off x="733425" y="1905000"/>
            <a:ext cx="3762375" cy="3152775"/>
            <a:chOff x="733425" y="1905000"/>
            <a:chExt cx="3762375" cy="3152775"/>
          </a:xfrm>
        </p:grpSpPr>
        <p:pic>
          <p:nvPicPr>
            <p:cNvPr id="4107" name="Picture 11"/>
            <p:cNvPicPr>
              <a:picLocks noChangeAspect="1" noChangeArrowheads="1"/>
            </p:cNvPicPr>
            <p:nvPr/>
          </p:nvPicPr>
          <p:blipFill>
            <a:blip r:embed="rId4" cstate="print"/>
            <a:srcRect/>
            <a:stretch>
              <a:fillRect/>
            </a:stretch>
          </p:blipFill>
          <p:spPr bwMode="auto">
            <a:xfrm>
              <a:off x="733425" y="1905000"/>
              <a:ext cx="3762375" cy="3152775"/>
            </a:xfrm>
            <a:prstGeom prst="rect">
              <a:avLst/>
            </a:prstGeom>
            <a:noFill/>
            <a:ln w="9525">
              <a:noFill/>
              <a:miter lim="800000"/>
              <a:headEnd/>
              <a:tailEnd/>
            </a:ln>
          </p:spPr>
        </p:pic>
        <p:sp>
          <p:nvSpPr>
            <p:cNvPr id="26" name="TextBox 25"/>
            <p:cNvSpPr txBox="1"/>
            <p:nvPr/>
          </p:nvSpPr>
          <p:spPr>
            <a:xfrm>
              <a:off x="2466975" y="3971925"/>
              <a:ext cx="235962" cy="215444"/>
            </a:xfrm>
            <a:prstGeom prst="rect">
              <a:avLst/>
            </a:prstGeom>
            <a:noFill/>
          </p:spPr>
          <p:txBody>
            <a:bodyPr wrap="none" rtlCol="0">
              <a:spAutoFit/>
            </a:bodyPr>
            <a:lstStyle/>
            <a:p>
              <a:r>
                <a:rPr lang="en-US" sz="800" dirty="0" smtClean="0"/>
                <a:t>+</a:t>
              </a:r>
              <a:endParaRPr lang="en-US" sz="800" dirty="0"/>
            </a:p>
          </p:txBody>
        </p:sp>
        <p:sp>
          <p:nvSpPr>
            <p:cNvPr id="27" name="TextBox 26"/>
            <p:cNvSpPr txBox="1"/>
            <p:nvPr/>
          </p:nvSpPr>
          <p:spPr>
            <a:xfrm>
              <a:off x="1526163" y="3381375"/>
              <a:ext cx="235962" cy="215444"/>
            </a:xfrm>
            <a:prstGeom prst="rect">
              <a:avLst/>
            </a:prstGeom>
            <a:noFill/>
          </p:spPr>
          <p:txBody>
            <a:bodyPr wrap="none" rtlCol="0">
              <a:spAutoFit/>
            </a:bodyPr>
            <a:lstStyle/>
            <a:p>
              <a:r>
                <a:rPr lang="en-US" sz="800" dirty="0" smtClean="0"/>
                <a:t>+</a:t>
              </a:r>
              <a:endParaRPr lang="en-US" sz="800" dirty="0"/>
            </a:p>
          </p:txBody>
        </p:sp>
        <p:sp>
          <p:nvSpPr>
            <p:cNvPr id="28" name="TextBox 27"/>
            <p:cNvSpPr txBox="1"/>
            <p:nvPr/>
          </p:nvSpPr>
          <p:spPr>
            <a:xfrm>
              <a:off x="2974149" y="3495675"/>
              <a:ext cx="216726" cy="215444"/>
            </a:xfrm>
            <a:prstGeom prst="rect">
              <a:avLst/>
            </a:prstGeom>
            <a:noFill/>
          </p:spPr>
          <p:txBody>
            <a:bodyPr wrap="none" rtlCol="0">
              <a:spAutoFit/>
            </a:bodyPr>
            <a:lstStyle/>
            <a:p>
              <a:r>
                <a:rPr lang="en-US" sz="800" dirty="0" smtClean="0"/>
                <a:t>-</a:t>
              </a:r>
              <a:endParaRPr lang="en-US" sz="800" dirty="0"/>
            </a:p>
          </p:txBody>
        </p:sp>
      </p:grpSp>
      <p:sp>
        <p:nvSpPr>
          <p:cNvPr id="23" name="TextBox 22"/>
          <p:cNvSpPr txBox="1"/>
          <p:nvPr/>
        </p:nvSpPr>
        <p:spPr>
          <a:xfrm>
            <a:off x="6096000" y="4343400"/>
            <a:ext cx="2667000" cy="523220"/>
          </a:xfrm>
          <a:prstGeom prst="rect">
            <a:avLst/>
          </a:prstGeom>
          <a:noFill/>
        </p:spPr>
        <p:txBody>
          <a:bodyPr wrap="square" rtlCol="0">
            <a:spAutoFit/>
          </a:bodyPr>
          <a:lstStyle/>
          <a:p>
            <a:r>
              <a:rPr lang="en-US" sz="1400" b="1" dirty="0" smtClean="0">
                <a:solidFill>
                  <a:srgbClr val="C00000"/>
                </a:solidFill>
                <a:latin typeface="Bradley Hand ITC" pitchFamily="66" charset="0"/>
              </a:rPr>
              <a:t>C++ code generation of model</a:t>
            </a:r>
          </a:p>
          <a:p>
            <a:pPr algn="ctr"/>
            <a:endParaRPr lang="en-US" sz="1400" b="1" dirty="0">
              <a:solidFill>
                <a:srgbClr val="C00000"/>
              </a:solidFill>
              <a:latin typeface="Bradley Hand ITC" pitchFamily="66" charset="0"/>
            </a:endParaRPr>
          </a:p>
        </p:txBody>
      </p:sp>
      <p:sp>
        <p:nvSpPr>
          <p:cNvPr id="21" name="TextBox 20"/>
          <p:cNvSpPr txBox="1"/>
          <p:nvPr/>
        </p:nvSpPr>
        <p:spPr>
          <a:xfrm>
            <a:off x="4267200" y="4800600"/>
            <a:ext cx="4419600" cy="523220"/>
          </a:xfrm>
          <a:prstGeom prst="rect">
            <a:avLst/>
          </a:prstGeom>
          <a:noFill/>
        </p:spPr>
        <p:txBody>
          <a:bodyPr wrap="square" rtlCol="0">
            <a:spAutoFit/>
          </a:bodyPr>
          <a:lstStyle/>
          <a:p>
            <a:r>
              <a:rPr lang="en-US" sz="1400" b="1" dirty="0" smtClean="0">
                <a:solidFill>
                  <a:srgbClr val="C00000"/>
                </a:solidFill>
                <a:latin typeface="Bradley Hand ITC" pitchFamily="66" charset="0"/>
              </a:rPr>
              <a:t>Java code generation of same model</a:t>
            </a:r>
          </a:p>
          <a:p>
            <a:pPr algn="ctr"/>
            <a:endParaRPr lang="en-US" sz="14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Deployment Diagrams</a:t>
            </a:r>
            <a:endParaRPr lang="en-US" dirty="0"/>
          </a:p>
        </p:txBody>
      </p:sp>
      <p:sp>
        <p:nvSpPr>
          <p:cNvPr id="3" name="Content Placeholder 2"/>
          <p:cNvSpPr>
            <a:spLocks noGrp="1"/>
          </p:cNvSpPr>
          <p:nvPr>
            <p:ph idx="1"/>
          </p:nvPr>
        </p:nvSpPr>
        <p:spPr>
          <a:xfrm>
            <a:off x="457200" y="1371601"/>
            <a:ext cx="8229600" cy="2514599"/>
          </a:xfrm>
        </p:spPr>
        <p:txBody>
          <a:bodyPr>
            <a:normAutofit fontScale="77500" lnSpcReduction="20000"/>
          </a:bodyPr>
          <a:lstStyle/>
          <a:p>
            <a:r>
              <a:rPr lang="en-US" dirty="0" smtClean="0"/>
              <a:t>Deployment diagrams are structural diagrams used to model the physical realization of software systems.</a:t>
            </a:r>
          </a:p>
          <a:p>
            <a:pPr lvl="1"/>
            <a:r>
              <a:rPr lang="en-US" dirty="0" smtClean="0"/>
              <a:t>They provide the means to visualize and evaluate the environment in which software executes.</a:t>
            </a:r>
          </a:p>
          <a:p>
            <a:pPr lvl="1"/>
            <a:r>
              <a:rPr lang="en-US" dirty="0" smtClean="0"/>
              <a:t>They model nodes and the interfaces between them.</a:t>
            </a:r>
          </a:p>
          <a:p>
            <a:pPr lvl="2"/>
            <a:r>
              <a:rPr lang="en-US" dirty="0" smtClean="0"/>
              <a:t>A </a:t>
            </a:r>
            <a:r>
              <a:rPr lang="en-US" i="1" dirty="0" smtClean="0"/>
              <a:t>Node</a:t>
            </a:r>
            <a:r>
              <a:rPr lang="en-US" dirty="0" smtClean="0"/>
              <a:t> is a computational resource that host software artifacts for execution.</a:t>
            </a:r>
          </a:p>
          <a:p>
            <a:pPr lvl="2"/>
            <a:r>
              <a:rPr lang="en-US" dirty="0" smtClean="0"/>
              <a:t>As seen before, in UML, a </a:t>
            </a:r>
            <a:r>
              <a:rPr lang="en-US" i="1" dirty="0" smtClean="0"/>
              <a:t>Node</a:t>
            </a:r>
            <a:r>
              <a:rPr lang="en-US" dirty="0" smtClean="0"/>
              <a:t> is a named classifier modeled as a cube.</a:t>
            </a:r>
          </a:p>
          <a:p>
            <a:endParaRPr lang="en-US" dirty="0" smtClean="0"/>
          </a:p>
          <a:p>
            <a:r>
              <a:rPr lang="en-US" dirty="0" smtClean="0"/>
              <a:t>Deployment diagrams also include artifact and components and depicts how all of these work together from a system deployment perspective.</a:t>
            </a:r>
          </a:p>
          <a:p>
            <a:endParaRPr lang="en-US" dirty="0" smtClean="0"/>
          </a:p>
          <a:p>
            <a:r>
              <a:rPr lang="en-US" dirty="0" smtClean="0"/>
              <a:t>UML relationships applied to the these classifier is presented below.</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pic>
        <p:nvPicPr>
          <p:cNvPr id="7170" name="Picture 2"/>
          <p:cNvPicPr>
            <a:picLocks noChangeAspect="1" noChangeArrowheads="1"/>
          </p:cNvPicPr>
          <p:nvPr/>
        </p:nvPicPr>
        <p:blipFill>
          <a:blip r:embed="rId2" cstate="print"/>
          <a:srcRect/>
          <a:stretch>
            <a:fillRect/>
          </a:stretch>
        </p:blipFill>
        <p:spPr bwMode="auto">
          <a:xfrm>
            <a:off x="4114800" y="4219575"/>
            <a:ext cx="3743325" cy="2257425"/>
          </a:xfrm>
          <a:prstGeom prst="rect">
            <a:avLst/>
          </a:prstGeom>
          <a:noFill/>
          <a:ln w="9525">
            <a:noFill/>
            <a:miter lim="800000"/>
            <a:headEnd/>
            <a:tailEnd/>
          </a:ln>
          <a:effectLst/>
        </p:spPr>
      </p:pic>
      <p:sp>
        <p:nvSpPr>
          <p:cNvPr id="8" name="TextBox 7"/>
          <p:cNvSpPr txBox="1"/>
          <p:nvPr/>
        </p:nvSpPr>
        <p:spPr>
          <a:xfrm>
            <a:off x="609600" y="3962400"/>
            <a:ext cx="3352800" cy="1384995"/>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400" b="1" u="sng" dirty="0" smtClean="0">
                <a:solidFill>
                  <a:srgbClr val="C00000"/>
                </a:solidFill>
                <a:latin typeface="Bradley Hand ITC" pitchFamily="66" charset="0"/>
              </a:rPr>
              <a:t>Important</a:t>
            </a:r>
            <a:r>
              <a:rPr lang="en-US" sz="1400" b="1" dirty="0" smtClean="0">
                <a:solidFill>
                  <a:srgbClr val="C00000"/>
                </a:solidFill>
                <a:latin typeface="Bradley Hand ITC" pitchFamily="66" charset="0"/>
              </a:rPr>
              <a:t>:</a:t>
            </a:r>
          </a:p>
          <a:p>
            <a:r>
              <a:rPr lang="en-US" sz="1400" b="1" dirty="0" smtClean="0">
                <a:solidFill>
                  <a:srgbClr val="C00000"/>
                </a:solidFill>
                <a:latin typeface="Bradley Hand ITC" pitchFamily="66" charset="0"/>
              </a:rPr>
              <a:t>A UML Artifact is a classifier used to model physical units of information that form part of the software system, such as binary executable files, configuration files, scripts, .jar files, .</a:t>
            </a:r>
            <a:r>
              <a:rPr lang="en-US" sz="1400" b="1" dirty="0" err="1" smtClean="0">
                <a:solidFill>
                  <a:srgbClr val="C00000"/>
                </a:solidFill>
                <a:latin typeface="Bradley Hand ITC" pitchFamily="66" charset="0"/>
              </a:rPr>
              <a:t>dll</a:t>
            </a:r>
            <a:r>
              <a:rPr lang="en-US" sz="1400" b="1" dirty="0" smtClean="0">
                <a:solidFill>
                  <a:srgbClr val="C00000"/>
                </a:solidFill>
                <a:latin typeface="Bradley Hand ITC" pitchFamily="66" charset="0"/>
              </a:rPr>
              <a:t>, etc.</a:t>
            </a:r>
            <a:endParaRPr lang="en-US" sz="1400" b="1" dirty="0">
              <a:solidFill>
                <a:srgbClr val="C00000"/>
              </a:solidFill>
              <a:latin typeface="Bradley Hand ITC" pitchFamily="66" charset="0"/>
            </a:endParaRPr>
          </a:p>
        </p:txBody>
      </p:sp>
      <p:sp>
        <p:nvSpPr>
          <p:cNvPr id="9" name="Freeform 8"/>
          <p:cNvSpPr/>
          <p:nvPr/>
        </p:nvSpPr>
        <p:spPr>
          <a:xfrm rot="8061764">
            <a:off x="3962401" y="6199399"/>
            <a:ext cx="337003" cy="273550"/>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7391400" y="4448175"/>
            <a:ext cx="1676400" cy="523220"/>
          </a:xfrm>
          <a:prstGeom prst="rect">
            <a:avLst/>
          </a:prstGeom>
          <a:noFill/>
        </p:spPr>
        <p:txBody>
          <a:bodyPr wrap="square" rtlCol="0">
            <a:spAutoFit/>
          </a:bodyPr>
          <a:lstStyle/>
          <a:p>
            <a:r>
              <a:rPr lang="en-US" sz="1400" b="1" dirty="0" smtClean="0">
                <a:solidFill>
                  <a:srgbClr val="C00000"/>
                </a:solidFill>
                <a:latin typeface="Bradley Hand ITC" pitchFamily="66" charset="0"/>
              </a:rPr>
              <a:t>ArtifactA is deployed on NodeB</a:t>
            </a:r>
            <a:endParaRPr lang="en-US" sz="1400" b="1" dirty="0">
              <a:solidFill>
                <a:srgbClr val="C00000"/>
              </a:solidFill>
              <a:latin typeface="Bradley Hand ITC" pitchFamily="66" charset="0"/>
            </a:endParaRPr>
          </a:p>
        </p:txBody>
      </p:sp>
      <p:sp>
        <p:nvSpPr>
          <p:cNvPr id="11" name="Freeform 10"/>
          <p:cNvSpPr/>
          <p:nvPr/>
        </p:nvSpPr>
        <p:spPr>
          <a:xfrm rot="15885011">
            <a:off x="7366708" y="4876812"/>
            <a:ext cx="220780" cy="304874"/>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6553200" y="3533775"/>
            <a:ext cx="2362200" cy="738664"/>
          </a:xfrm>
          <a:prstGeom prst="rect">
            <a:avLst/>
          </a:prstGeom>
          <a:noFill/>
        </p:spPr>
        <p:txBody>
          <a:bodyPr wrap="square" rtlCol="0">
            <a:spAutoFit/>
          </a:bodyPr>
          <a:lstStyle/>
          <a:p>
            <a:r>
              <a:rPr lang="en-US" sz="1400" b="1" dirty="0" smtClean="0">
                <a:solidFill>
                  <a:srgbClr val="C00000"/>
                </a:solidFill>
                <a:latin typeface="Bradley Hand ITC" pitchFamily="66" charset="0"/>
              </a:rPr>
              <a:t>There is a communication path between Nodes A and B</a:t>
            </a:r>
          </a:p>
          <a:p>
            <a:pPr algn="ctr"/>
            <a:endParaRPr lang="en-US" sz="1400" b="1" dirty="0">
              <a:solidFill>
                <a:srgbClr val="C00000"/>
              </a:solidFill>
              <a:latin typeface="Bradley Hand ITC" pitchFamily="66" charset="0"/>
            </a:endParaRPr>
          </a:p>
        </p:txBody>
      </p:sp>
      <p:sp>
        <p:nvSpPr>
          <p:cNvPr id="13" name="Freeform 12"/>
          <p:cNvSpPr/>
          <p:nvPr/>
        </p:nvSpPr>
        <p:spPr>
          <a:xfrm rot="14169980">
            <a:off x="7287585" y="4102232"/>
            <a:ext cx="245720" cy="302319"/>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1447800" y="5638800"/>
            <a:ext cx="2819400" cy="523220"/>
          </a:xfrm>
          <a:prstGeom prst="rect">
            <a:avLst/>
          </a:prstGeom>
          <a:noFill/>
        </p:spPr>
        <p:txBody>
          <a:bodyPr wrap="square" rtlCol="0">
            <a:spAutoFit/>
          </a:bodyPr>
          <a:lstStyle/>
          <a:p>
            <a:r>
              <a:rPr lang="en-US" sz="1400" b="1" dirty="0" smtClean="0">
                <a:solidFill>
                  <a:srgbClr val="C00000"/>
                </a:solidFill>
                <a:latin typeface="Bradley Hand ITC" pitchFamily="66" charset="0"/>
              </a:rPr>
              <a:t>ArtifactA embodies ComponentA</a:t>
            </a:r>
          </a:p>
          <a:p>
            <a:pPr algn="ctr"/>
            <a:endParaRPr lang="en-US" sz="1400" b="1" dirty="0">
              <a:solidFill>
                <a:srgbClr val="C00000"/>
              </a:solidFill>
              <a:latin typeface="Bradley Hand ITC" pitchFamily="66" charset="0"/>
            </a:endParaRPr>
          </a:p>
        </p:txBody>
      </p:sp>
      <p:sp>
        <p:nvSpPr>
          <p:cNvPr id="15" name="Freeform 14"/>
          <p:cNvSpPr/>
          <p:nvPr/>
        </p:nvSpPr>
        <p:spPr>
          <a:xfrm rot="6466817">
            <a:off x="3990216" y="5452212"/>
            <a:ext cx="200417" cy="373175"/>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1524000" y="6096000"/>
            <a:ext cx="2819400" cy="523220"/>
          </a:xfrm>
          <a:prstGeom prst="rect">
            <a:avLst/>
          </a:prstGeom>
          <a:noFill/>
        </p:spPr>
        <p:txBody>
          <a:bodyPr wrap="square" rtlCol="0">
            <a:spAutoFit/>
          </a:bodyPr>
          <a:lstStyle/>
          <a:p>
            <a:r>
              <a:rPr lang="en-US" sz="1400" b="1" dirty="0" smtClean="0">
                <a:solidFill>
                  <a:srgbClr val="C00000"/>
                </a:solidFill>
                <a:latin typeface="Bradley Hand ITC" pitchFamily="66" charset="0"/>
              </a:rPr>
              <a:t>ArtifactA depends on ArtifactB</a:t>
            </a:r>
          </a:p>
          <a:p>
            <a:pPr algn="ctr"/>
            <a:endParaRPr lang="en-US" sz="1400" b="1" dirty="0">
              <a:solidFill>
                <a:srgbClr val="C00000"/>
              </a:solidFill>
              <a:latin typeface="Bradley Hand ITC" pitchFamily="66" charset="0"/>
            </a:endParaRPr>
          </a:p>
        </p:txBody>
      </p:sp>
      <p:sp>
        <p:nvSpPr>
          <p:cNvPr id="17" name="Rectangle 16"/>
          <p:cNvSpPr/>
          <p:nvPr/>
        </p:nvSpPr>
        <p:spPr>
          <a:xfrm>
            <a:off x="5448300" y="5038725"/>
            <a:ext cx="9144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5448300" y="5543550"/>
            <a:ext cx="9144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5448300" y="6076950"/>
            <a:ext cx="9144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p:cNvCxnSpPr/>
          <p:nvPr/>
        </p:nvCxnSpPr>
        <p:spPr>
          <a:xfrm>
            <a:off x="5457825" y="5114925"/>
            <a:ext cx="9144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5448300" y="5600700"/>
            <a:ext cx="9144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5438775" y="6115050"/>
            <a:ext cx="9144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Deployment Diagrams</a:t>
            </a:r>
            <a:endParaRPr lang="en-US" dirty="0"/>
          </a:p>
        </p:txBody>
      </p:sp>
      <p:sp>
        <p:nvSpPr>
          <p:cNvPr id="3" name="Content Placeholder 2"/>
          <p:cNvSpPr>
            <a:spLocks noGrp="1"/>
          </p:cNvSpPr>
          <p:nvPr>
            <p:ph idx="1"/>
          </p:nvPr>
        </p:nvSpPr>
        <p:spPr/>
        <p:txBody>
          <a:bodyPr/>
          <a:lstStyle/>
          <a:p>
            <a:r>
              <a:rPr lang="en-US" dirty="0" smtClean="0"/>
              <a:t>Example of UML Deployment Diagram.</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pic>
        <p:nvPicPr>
          <p:cNvPr id="8194" name="Picture 2"/>
          <p:cNvPicPr>
            <a:picLocks noChangeAspect="1" noChangeArrowheads="1"/>
          </p:cNvPicPr>
          <p:nvPr/>
        </p:nvPicPr>
        <p:blipFill>
          <a:blip r:embed="rId2" cstate="print"/>
          <a:srcRect/>
          <a:stretch>
            <a:fillRect/>
          </a:stretch>
        </p:blipFill>
        <p:spPr bwMode="auto">
          <a:xfrm>
            <a:off x="1905000" y="1771650"/>
            <a:ext cx="5286375" cy="4552950"/>
          </a:xfrm>
          <a:prstGeom prst="rect">
            <a:avLst/>
          </a:prstGeom>
          <a:noFill/>
          <a:ln w="9525">
            <a:noFill/>
            <a:miter lim="800000"/>
            <a:headEnd/>
            <a:tailEnd/>
          </a:ln>
          <a:effectLst/>
        </p:spPr>
      </p:pic>
      <p:pic>
        <p:nvPicPr>
          <p:cNvPr id="1026" name="Picture 2"/>
          <p:cNvPicPr>
            <a:picLocks noChangeAspect="1" noChangeArrowheads="1"/>
          </p:cNvPicPr>
          <p:nvPr/>
        </p:nvPicPr>
        <p:blipFill>
          <a:blip r:embed="rId3" cstate="print"/>
          <a:srcRect/>
          <a:stretch>
            <a:fillRect/>
          </a:stretch>
        </p:blipFill>
        <p:spPr bwMode="auto">
          <a:xfrm>
            <a:off x="2057400" y="1905000"/>
            <a:ext cx="4933950" cy="42862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Next…</a:t>
            </a:r>
            <a:endParaRPr lang="en-US" dirty="0"/>
          </a:p>
        </p:txBody>
      </p:sp>
      <p:sp>
        <p:nvSpPr>
          <p:cNvPr id="3" name="Content Placeholder 2"/>
          <p:cNvSpPr>
            <a:spLocks noGrp="1"/>
          </p:cNvSpPr>
          <p:nvPr>
            <p:ph idx="1"/>
          </p:nvPr>
        </p:nvSpPr>
        <p:spPr/>
        <p:txBody>
          <a:bodyPr>
            <a:normAutofit/>
          </a:bodyPr>
          <a:lstStyle/>
          <a:p>
            <a:r>
              <a:rPr lang="en-US" dirty="0" smtClean="0"/>
              <a:t>In the next session we will discuss how UML classifiers, relationships, and enhancement features can be used to create behavioral diagrams.  Specifically, we will focus on:</a:t>
            </a:r>
          </a:p>
          <a:p>
            <a:pPr lvl="1"/>
            <a:r>
              <a:rPr lang="en-US" dirty="0" smtClean="0"/>
              <a:t>UML behavioral modeling</a:t>
            </a:r>
          </a:p>
          <a:p>
            <a:pPr lvl="2"/>
            <a:r>
              <a:rPr lang="en-US" dirty="0" smtClean="0"/>
              <a:t>What is behavioral modeling?</a:t>
            </a:r>
          </a:p>
          <a:p>
            <a:pPr lvl="2"/>
            <a:r>
              <a:rPr lang="en-US" dirty="0" smtClean="0"/>
              <a:t>Why is it important?</a:t>
            </a:r>
          </a:p>
          <a:p>
            <a:pPr lvl="1"/>
            <a:r>
              <a:rPr lang="en-US" dirty="0" smtClean="0"/>
              <a:t>Use case diagrams</a:t>
            </a:r>
          </a:p>
          <a:p>
            <a:pPr lvl="2"/>
            <a:r>
              <a:rPr lang="en-US" dirty="0" smtClean="0"/>
              <a:t>Actors </a:t>
            </a:r>
          </a:p>
          <a:p>
            <a:pPr lvl="2"/>
            <a:r>
              <a:rPr lang="en-US" dirty="0" smtClean="0"/>
              <a:t>System boundary</a:t>
            </a:r>
          </a:p>
          <a:p>
            <a:pPr lvl="2"/>
            <a:r>
              <a:rPr lang="en-US" dirty="0" smtClean="0"/>
              <a:t>Common relationships</a:t>
            </a:r>
          </a:p>
          <a:p>
            <a:pPr lvl="1"/>
            <a:r>
              <a:rPr lang="en-US" dirty="0" smtClean="0"/>
              <a:t>Interaction diagrams</a:t>
            </a:r>
          </a:p>
          <a:p>
            <a:pPr lvl="2"/>
            <a:r>
              <a:rPr lang="en-US" dirty="0" smtClean="0"/>
              <a:t>Communication diagrams</a:t>
            </a:r>
          </a:p>
          <a:p>
            <a:pPr lvl="2"/>
            <a:r>
              <a:rPr lang="en-US" dirty="0" smtClean="0"/>
              <a:t>Sequence diagrams</a:t>
            </a:r>
          </a:p>
          <a:p>
            <a:pPr lvl="2"/>
            <a:r>
              <a:rPr lang="en-US" dirty="0" smtClean="0"/>
              <a:t>Concurrency modeling</a:t>
            </a:r>
          </a:p>
          <a:p>
            <a:pPr lvl="1"/>
            <a:r>
              <a:rPr lang="en-US" dirty="0" smtClean="0"/>
              <a:t>Summary and conclusion of UML coverage</a:t>
            </a:r>
          </a:p>
          <a:p>
            <a:endParaRPr lang="en-US" dirty="0" smtClean="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8394</TotalTime>
  <Words>2514</Words>
  <Application>Microsoft Office PowerPoint</Application>
  <PresentationFormat>On-screen Show (4:3)</PresentationFormat>
  <Paragraphs>396</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UVa-Wise-Clean-BW</vt:lpstr>
      <vt:lpstr>Chapter 2: Software Design with the Unified Modeling Language </vt:lpstr>
      <vt:lpstr>Session’s Agenda</vt:lpstr>
      <vt:lpstr>Fundamentals of UML Structural Modeling</vt:lpstr>
      <vt:lpstr>Fundamentals of UML Structural Modeling</vt:lpstr>
      <vt:lpstr>Fundamentals of UML Structural Modeling</vt:lpstr>
      <vt:lpstr>UML Component Diagrams</vt:lpstr>
      <vt:lpstr>UML Component Diagram</vt:lpstr>
      <vt:lpstr>UML Component Diagram</vt:lpstr>
      <vt:lpstr>UML Component Diagram</vt:lpstr>
      <vt:lpstr>Slide 10</vt:lpstr>
      <vt:lpstr>UML Component Diagrams</vt:lpstr>
      <vt:lpstr>UML Class Diagram</vt:lpstr>
      <vt:lpstr>UML Class Diagram</vt:lpstr>
      <vt:lpstr>UML Class Diagram</vt:lpstr>
      <vt:lpstr>UML Class Diagram</vt:lpstr>
      <vt:lpstr>UML Class Diagram</vt:lpstr>
      <vt:lpstr>UML Class Diagram – Code Generation</vt:lpstr>
      <vt:lpstr>UML Deployment Diagrams</vt:lpstr>
      <vt:lpstr>UML Deployment Diagrams</vt:lpstr>
      <vt:lpstr>What’s Next…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and Simulation</dc:title>
  <dc:creator>ceo7k</dc:creator>
  <cp:lastModifiedBy>cotero</cp:lastModifiedBy>
  <cp:revision>541</cp:revision>
  <dcterms:created xsi:type="dcterms:W3CDTF">2006-08-16T00:00:00Z</dcterms:created>
  <dcterms:modified xsi:type="dcterms:W3CDTF">2012-10-03T10:58:36Z</dcterms:modified>
</cp:coreProperties>
</file>
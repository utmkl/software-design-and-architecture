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256" r:id="rId2"/>
    <p:sldId id="341" r:id="rId3"/>
    <p:sldId id="353" r:id="rId4"/>
    <p:sldId id="355" r:id="rId5"/>
    <p:sldId id="356" r:id="rId6"/>
    <p:sldId id="357" r:id="rId7"/>
    <p:sldId id="358" r:id="rId8"/>
    <p:sldId id="359" r:id="rId9"/>
    <p:sldId id="360" r:id="rId10"/>
    <p:sldId id="361" r:id="rId11"/>
    <p:sldId id="362" r:id="rId12"/>
    <p:sldId id="363" r:id="rId13"/>
    <p:sldId id="364" r:id="rId14"/>
    <p:sldId id="365" r:id="rId15"/>
    <p:sldId id="366" r:id="rId16"/>
    <p:sldId id="367" r:id="rId17"/>
    <p:sldId id="369" r:id="rId18"/>
    <p:sldId id="368" r:id="rId19"/>
    <p:sldId id="370" r:id="rId20"/>
    <p:sldId id="373" r:id="rId21"/>
    <p:sldId id="374" r:id="rId22"/>
    <p:sldId id="375" r:id="rId23"/>
    <p:sldId id="376" r:id="rId24"/>
    <p:sldId id="377" r:id="rId25"/>
    <p:sldId id="378" r:id="rId26"/>
    <p:sldId id="380" r:id="rId27"/>
    <p:sldId id="379" r:id="rId28"/>
    <p:sldId id="371" r:id="rId29"/>
    <p:sldId id="381" r:id="rId30"/>
    <p:sldId id="372" r:id="rId31"/>
    <p:sldId id="383" r:id="rId32"/>
    <p:sldId id="384" r:id="rId33"/>
    <p:sldId id="386" r:id="rId34"/>
    <p:sldId id="387" r:id="rId35"/>
    <p:sldId id="382" r:id="rId36"/>
    <p:sldId id="388" r:id="rId37"/>
    <p:sldId id="351" r:id="rId38"/>
    <p:sldId id="352" r:id="rId39"/>
    <p:sldId id="385"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017" autoAdjust="0"/>
    <p:restoredTop sz="87011" autoAdjust="0"/>
  </p:normalViewPr>
  <p:slideViewPr>
    <p:cSldViewPr>
      <p:cViewPr>
        <p:scale>
          <a:sx n="100" d="100"/>
          <a:sy n="100" d="100"/>
        </p:scale>
        <p:origin x="-194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27" tIns="45714" rIns="91427" bIns="45714"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27" tIns="45714" rIns="91427" bIns="45714" rtlCol="0"/>
          <a:lstStyle>
            <a:lvl1pPr algn="r">
              <a:defRPr sz="1200"/>
            </a:lvl1pPr>
          </a:lstStyle>
          <a:p>
            <a:fld id="{26E96256-41CF-4671-AFBD-B3C5DBE5BCD7}" type="datetimeFigureOut">
              <a:rPr lang="en-US" smtClean="0"/>
              <a:pPr/>
              <a:t>11/15/2012</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27" tIns="45714" rIns="91427" bIns="45714"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27" tIns="45714" rIns="91427" bIns="45714" rtlCol="0" anchor="b"/>
          <a:lstStyle>
            <a:lvl1pPr algn="r">
              <a:defRPr sz="1200"/>
            </a:lvl1pPr>
          </a:lstStyle>
          <a:p>
            <a:fld id="{7B0AF5A9-246F-454B-A86E-D7AAB8A76C8C}" type="slidenum">
              <a:rPr lang="en-US" smtClean="0"/>
              <a:pPr/>
              <a:t>‹#›</a:t>
            </a:fld>
            <a:endParaRPr lang="en-US"/>
          </a:p>
        </p:txBody>
      </p:sp>
    </p:spTree>
    <p:extLst>
      <p:ext uri="{BB962C8B-B14F-4D97-AF65-F5344CB8AC3E}">
        <p14:creationId xmlns="" xmlns:p14="http://schemas.microsoft.com/office/powerpoint/2010/main" val="3921987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49B3061A-7F4E-4E3A-A627-E1FC384385A9}" type="datetimeFigureOut">
              <a:rPr lang="en-US" smtClean="0"/>
              <a:pPr/>
              <a:t>11/15/2012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 xmlns:p14="http://schemas.microsoft.com/office/powerpoint/2010/main" val="2067202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11/15/2012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11/15/2012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11/15/2012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11/15/2012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11/15/2012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11/15/2012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11/15/2012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11/15/2012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11/15/2012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11/15/2012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11/15/2012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11/15/2012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10: </a:t>
            </a:r>
            <a:r>
              <a:rPr lang="en-US" dirty="0" smtClean="0"/>
              <a:t>Management, </a:t>
            </a:r>
            <a:r>
              <a:rPr lang="en-US" dirty="0" smtClean="0"/>
              <a:t>Leadership, &amp; Ethics</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 Planning, Implementation, and Termination</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11/15/2012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
        <p:nvSpPr>
          <p:cNvPr id="7" name="TextBox 6"/>
          <p:cNvSpPr txBox="1"/>
          <p:nvPr/>
        </p:nvSpPr>
        <p:spPr>
          <a:xfrm>
            <a:off x="1066800" y="1219200"/>
            <a:ext cx="7086600" cy="261610"/>
          </a:xfrm>
          <a:prstGeom prst="rect">
            <a:avLst/>
          </a:prstGeom>
          <a:noFill/>
        </p:spPr>
        <p:txBody>
          <a:bodyPr wrap="square" rtlCol="0">
            <a:spAutoFit/>
          </a:bodyPr>
          <a:lstStyle/>
          <a:p>
            <a:pPr algn="ctr"/>
            <a:r>
              <a:rPr lang="en-US" sz="1100" dirty="0" smtClean="0">
                <a:latin typeface="Times New Roman" pitchFamily="18" charset="0"/>
                <a:cs typeface="Times New Roman" pitchFamily="18" charset="0"/>
              </a:rPr>
              <a:t>-- Dr. L. Daniel Otero, Florida Institute of Technology --</a:t>
            </a:r>
            <a:endParaRPr lang="en-US" sz="11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lnSpcReduction="10000"/>
          </a:bodyPr>
          <a:lstStyle/>
          <a:p>
            <a:r>
              <a:rPr lang="en-US" dirty="0" smtClean="0"/>
              <a:t>The Planning Stage</a:t>
            </a:r>
          </a:p>
          <a:p>
            <a:pPr lvl="1"/>
            <a:r>
              <a:rPr lang="en-US" dirty="0" smtClean="0"/>
              <a:t>Scoping</a:t>
            </a:r>
          </a:p>
          <a:p>
            <a:pPr lvl="2"/>
            <a:r>
              <a:rPr lang="en-US" dirty="0" smtClean="0"/>
              <a:t>Work breakdown structure</a:t>
            </a:r>
          </a:p>
          <a:p>
            <a:pPr lvl="2"/>
            <a:r>
              <a:rPr lang="en-US" dirty="0" smtClean="0"/>
              <a:t>Budgeting</a:t>
            </a:r>
          </a:p>
          <a:p>
            <a:pPr lvl="1"/>
            <a:r>
              <a:rPr lang="en-US" dirty="0" smtClean="0"/>
              <a:t>Organizing</a:t>
            </a:r>
          </a:p>
          <a:p>
            <a:pPr lvl="2"/>
            <a:r>
              <a:rPr lang="en-US" dirty="0" smtClean="0"/>
              <a:t>Linear responsibility chart</a:t>
            </a:r>
          </a:p>
          <a:p>
            <a:pPr lvl="2"/>
            <a:r>
              <a:rPr lang="en-US" dirty="0" smtClean="0"/>
              <a:t>Scheduling</a:t>
            </a:r>
          </a:p>
          <a:p>
            <a:pPr lvl="1"/>
            <a:r>
              <a:rPr lang="en-US" dirty="0" smtClean="0"/>
              <a:t>Establish change control policy</a:t>
            </a:r>
          </a:p>
          <a:p>
            <a:pPr lvl="1"/>
            <a:endParaRPr lang="en-US" dirty="0"/>
          </a:p>
          <a:p>
            <a:r>
              <a:rPr lang="en-US" dirty="0" smtClean="0"/>
              <a:t>Implementation Stage</a:t>
            </a:r>
          </a:p>
          <a:p>
            <a:pPr lvl="1"/>
            <a:r>
              <a:rPr lang="en-US" dirty="0" smtClean="0"/>
              <a:t>Earned value management</a:t>
            </a:r>
          </a:p>
          <a:p>
            <a:pPr lvl="1"/>
            <a:endParaRPr lang="en-US" dirty="0" smtClean="0"/>
          </a:p>
          <a:p>
            <a:r>
              <a:rPr lang="en-US" dirty="0" smtClean="0"/>
              <a:t>Termination Stage</a:t>
            </a:r>
          </a:p>
          <a:p>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 xmlns:p14="http://schemas.microsoft.com/office/powerpoint/2010/main" val="16144751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Scoping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planning stage is critical to the success of any major project.</a:t>
            </a:r>
          </a:p>
          <a:p>
            <a:pPr lvl="1"/>
            <a:r>
              <a:rPr lang="en-US" dirty="0" smtClean="0"/>
              <a:t>Planning exists to lay out a strong foundation for a successful project.</a:t>
            </a:r>
          </a:p>
          <a:p>
            <a:pPr lvl="1"/>
            <a:r>
              <a:rPr lang="en-US" dirty="0" smtClean="0"/>
              <a:t>Planning establishes the directions to follow to complete the project and improve its probability of success.</a:t>
            </a:r>
          </a:p>
          <a:p>
            <a:pPr lvl="1"/>
            <a:endParaRPr lang="en-US" dirty="0" smtClean="0"/>
          </a:p>
          <a:p>
            <a:r>
              <a:rPr lang="en-US" dirty="0" smtClean="0"/>
              <a:t>The key functions in the project planning stage are:</a:t>
            </a:r>
          </a:p>
          <a:p>
            <a:pPr lvl="1"/>
            <a:r>
              <a:rPr lang="en-US" i="1" dirty="0" smtClean="0"/>
              <a:t>Scoping</a:t>
            </a:r>
            <a:r>
              <a:rPr lang="en-US" dirty="0" smtClean="0"/>
              <a:t> </a:t>
            </a:r>
          </a:p>
          <a:p>
            <a:pPr lvl="1"/>
            <a:r>
              <a:rPr lang="en-US" i="1" dirty="0" smtClean="0"/>
              <a:t>Organizing</a:t>
            </a:r>
            <a:endParaRPr lang="en-US" dirty="0" smtClean="0"/>
          </a:p>
          <a:p>
            <a:pPr lvl="1"/>
            <a:endParaRPr lang="en-US" dirty="0" smtClean="0"/>
          </a:p>
          <a:p>
            <a:r>
              <a:rPr lang="en-US" dirty="0" smtClean="0"/>
              <a:t>Project scoping is the first key function of the planning stage.</a:t>
            </a:r>
          </a:p>
          <a:p>
            <a:pPr lvl="1"/>
            <a:r>
              <a:rPr lang="en-US" dirty="0" smtClean="0"/>
              <a:t>It involves two main activities:</a:t>
            </a:r>
          </a:p>
          <a:p>
            <a:pPr lvl="2"/>
            <a:r>
              <a:rPr lang="en-US" dirty="0" smtClean="0"/>
              <a:t>Identify the tasks</a:t>
            </a:r>
          </a:p>
          <a:p>
            <a:pPr lvl="2"/>
            <a:r>
              <a:rPr lang="en-US" dirty="0" smtClean="0"/>
              <a:t>Develop the budget</a:t>
            </a:r>
          </a:p>
          <a:p>
            <a:pPr lvl="1"/>
            <a:endParaRPr lang="en-US" dirty="0" smtClean="0"/>
          </a:p>
          <a:p>
            <a:r>
              <a:rPr lang="en-US" dirty="0" smtClean="0"/>
              <a:t>Two commonly used techniques for project scoping are:</a:t>
            </a:r>
          </a:p>
          <a:p>
            <a:pPr lvl="1"/>
            <a:r>
              <a:rPr lang="en-US" dirty="0" smtClean="0"/>
              <a:t>The work breakdown structure (WBS)</a:t>
            </a:r>
          </a:p>
          <a:p>
            <a:pPr lvl="1"/>
            <a:r>
              <a:rPr lang="en-US" dirty="0" smtClean="0"/>
              <a:t>Budgeting</a:t>
            </a:r>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Scoping: Work Breakdown Structure -</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20000"/>
          </a:bodyPr>
          <a:lstStyle/>
          <a:p>
            <a:r>
              <a:rPr lang="en-US" dirty="0" smtClean="0"/>
              <a:t>The work breakdown structure (WBS) is a technique to represent, either graphically or in list format, a project modularized into task activities.</a:t>
            </a:r>
          </a:p>
          <a:p>
            <a:pPr lvl="1"/>
            <a:r>
              <a:rPr lang="en-US" dirty="0" smtClean="0"/>
              <a:t>From the project management point of view, a project begins as a statement of work (SOW), which mainly consists as the set of main objectives to be achieved.</a:t>
            </a:r>
          </a:p>
          <a:p>
            <a:pPr lvl="1"/>
            <a:r>
              <a:rPr lang="en-US" dirty="0" smtClean="0"/>
              <a:t>The SOW is decomposed into </a:t>
            </a:r>
            <a:r>
              <a:rPr lang="en-US" i="1" dirty="0" smtClean="0"/>
              <a:t>tasks</a:t>
            </a:r>
            <a:r>
              <a:rPr lang="en-US" dirty="0" smtClean="0"/>
              <a:t> where these tasks are decomposed into </a:t>
            </a:r>
            <a:r>
              <a:rPr lang="en-US" i="1" dirty="0" smtClean="0"/>
              <a:t>subtasks</a:t>
            </a:r>
            <a:r>
              <a:rPr lang="en-US" dirty="0" smtClean="0"/>
              <a:t>, and subtasks into </a:t>
            </a:r>
            <a:r>
              <a:rPr lang="en-US" i="1" dirty="0" smtClean="0"/>
              <a:t>work packages</a:t>
            </a:r>
            <a:r>
              <a:rPr lang="en-US" dirty="0" smtClean="0"/>
              <a:t>.</a:t>
            </a:r>
          </a:p>
          <a:p>
            <a:pPr lvl="1"/>
            <a:r>
              <a:rPr lang="en-US" dirty="0" smtClean="0"/>
              <a:t>WBS represents these tasks.</a:t>
            </a:r>
          </a:p>
          <a:p>
            <a:pPr lvl="1"/>
            <a:endParaRPr lang="en-US" dirty="0" smtClean="0"/>
          </a:p>
          <a:p>
            <a:r>
              <a:rPr lang="en-US" dirty="0" smtClean="0"/>
              <a:t>WBS is a simple but powerful technique that helps to plan, clearly define, and organize the activities related to reach specific milestones and complete a project. </a:t>
            </a:r>
          </a:p>
          <a:p>
            <a:pPr lvl="1"/>
            <a:r>
              <a:rPr lang="en-US" dirty="0" smtClean="0"/>
              <a:t>Milestones are defined as specific events to be reached at specific points in time.</a:t>
            </a:r>
          </a:p>
          <a:p>
            <a:pPr lvl="1"/>
            <a:endParaRPr lang="en-US" dirty="0" smtClean="0"/>
          </a:p>
          <a:p>
            <a:r>
              <a:rPr lang="en-US" dirty="0" smtClean="0"/>
              <a:t>For example, completion of the major design activities, e.g., architectural design, detailed design, and documentation can constitute the main project milestones of a design project.</a:t>
            </a:r>
          </a:p>
          <a:p>
            <a:pPr lvl="1"/>
            <a:r>
              <a:rPr lang="en-US" dirty="0" smtClean="0"/>
              <a:t>Note that HCI design can be carried out as part of architectural or detailed design.  </a:t>
            </a:r>
          </a:p>
          <a:p>
            <a:pPr lvl="1"/>
            <a:r>
              <a:rPr lang="en-US" dirty="0" smtClean="0"/>
              <a:t>Construction design typically occurs during construction.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 Scoping: Work Breakdown Structure -</a:t>
            </a:r>
            <a:endParaRPr lang="en-US" dirty="0"/>
          </a:p>
        </p:txBody>
      </p:sp>
      <p:sp>
        <p:nvSpPr>
          <p:cNvPr id="3" name="Content Placeholder 2"/>
          <p:cNvSpPr>
            <a:spLocks noGrp="1"/>
          </p:cNvSpPr>
          <p:nvPr>
            <p:ph idx="1"/>
          </p:nvPr>
        </p:nvSpPr>
        <p:spPr/>
        <p:txBody>
          <a:bodyPr/>
          <a:lstStyle/>
          <a:p>
            <a:r>
              <a:rPr lang="en-US" dirty="0" smtClean="0"/>
              <a:t>A very simple example of a WBS for the design of a software application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2667000" y="2057400"/>
            <a:ext cx="3943350" cy="39528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 Scoping: Work Breakdown Structure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Evaluating the usefulness of a WBS is often more a matter of subjective assessments than not.</a:t>
            </a:r>
          </a:p>
          <a:p>
            <a:pPr lvl="1"/>
            <a:r>
              <a:rPr lang="en-US" dirty="0" smtClean="0"/>
              <a:t>We can specify a criteria for this evaluation.</a:t>
            </a:r>
          </a:p>
          <a:p>
            <a:pPr lvl="2"/>
            <a:r>
              <a:rPr lang="en-US" dirty="0" smtClean="0"/>
              <a:t>Scope accuracy</a:t>
            </a:r>
          </a:p>
          <a:p>
            <a:pPr lvl="2"/>
            <a:r>
              <a:rPr lang="en-US" dirty="0" smtClean="0"/>
              <a:t>Completeness</a:t>
            </a:r>
          </a:p>
          <a:p>
            <a:pPr lvl="2"/>
            <a:r>
              <a:rPr lang="en-US" dirty="0" smtClean="0"/>
              <a:t>Level of detail</a:t>
            </a:r>
          </a:p>
          <a:p>
            <a:endParaRPr lang="en-US" dirty="0" smtClean="0"/>
          </a:p>
          <a:p>
            <a:r>
              <a:rPr lang="en-US" dirty="0" smtClean="0"/>
              <a:t>Scope accuracy</a:t>
            </a:r>
          </a:p>
          <a:p>
            <a:pPr lvl="1"/>
            <a:r>
              <a:rPr lang="en-US" dirty="0" smtClean="0"/>
              <a:t>We need to agree that the WBS serves its overall objective of being a breakdown of the project into tasks, and nothing else.</a:t>
            </a:r>
          </a:p>
          <a:p>
            <a:pPr lvl="1"/>
            <a:r>
              <a:rPr lang="en-US" dirty="0" smtClean="0"/>
              <a:t>A WBS does not contain information regarding tasks’ relationships such as task precedence or task durations, and it does not include personnel skills required for the completion of tasks.</a:t>
            </a:r>
          </a:p>
          <a:p>
            <a:pPr lvl="1"/>
            <a:r>
              <a:rPr lang="en-US" dirty="0" smtClean="0"/>
              <a:t>Instead, each element of a WBS represents an activity that consumes resources’ time and effort.</a:t>
            </a:r>
          </a:p>
          <a:p>
            <a:endParaRPr lang="en-US" dirty="0" smtClean="0"/>
          </a:p>
          <a:p>
            <a:r>
              <a:rPr lang="en-US" dirty="0" smtClean="0"/>
              <a:t>Completeness</a:t>
            </a:r>
          </a:p>
          <a:p>
            <a:pPr lvl="1"/>
            <a:r>
              <a:rPr lang="en-US" dirty="0" smtClean="0"/>
              <a:t>Ensure that the WBS includes the complete set of tasks necessary to complete the project.</a:t>
            </a:r>
          </a:p>
          <a:p>
            <a:endParaRPr lang="en-US" dirty="0" smtClean="0"/>
          </a:p>
          <a:p>
            <a:r>
              <a:rPr lang="en-US" dirty="0" smtClean="0"/>
              <a:t>Level of detail</a:t>
            </a:r>
          </a:p>
          <a:p>
            <a:pPr lvl="1"/>
            <a:r>
              <a:rPr lang="en-US" dirty="0" smtClean="0"/>
              <a:t>Evaluates if the WBS breaks down the project’s tasks into appropriate levels such that it facilitates the estimation of effort for each task.</a:t>
            </a:r>
          </a:p>
          <a:p>
            <a:pPr lvl="2"/>
            <a:endParaRPr lang="en-US" dirty="0" smtClean="0"/>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 Scoping: Budgeting -</a:t>
            </a:r>
            <a:endParaRPr lang="en-US" dirty="0"/>
          </a:p>
        </p:txBody>
      </p:sp>
      <p:sp>
        <p:nvSpPr>
          <p:cNvPr id="3" name="Content Placeholder 2"/>
          <p:cNvSpPr>
            <a:spLocks noGrp="1"/>
          </p:cNvSpPr>
          <p:nvPr>
            <p:ph idx="1"/>
          </p:nvPr>
        </p:nvSpPr>
        <p:spPr>
          <a:xfrm>
            <a:off x="457200" y="1371601"/>
            <a:ext cx="8229600" cy="4724399"/>
          </a:xfrm>
        </p:spPr>
        <p:txBody>
          <a:bodyPr>
            <a:normAutofit lnSpcReduction="10000"/>
          </a:bodyPr>
          <a:lstStyle/>
          <a:p>
            <a:r>
              <a:rPr lang="en-US" dirty="0" smtClean="0"/>
              <a:t>Budgeting is the process of estimating the cost of a project.</a:t>
            </a:r>
          </a:p>
          <a:p>
            <a:pPr lvl="1"/>
            <a:r>
              <a:rPr lang="en-US" dirty="0" smtClean="0"/>
              <a:t>It is basically a forecasting problem, since cost is a function of various parameters that are uncertain.</a:t>
            </a:r>
          </a:p>
          <a:p>
            <a:pPr lvl="1"/>
            <a:endParaRPr lang="en-US" dirty="0" smtClean="0"/>
          </a:p>
          <a:p>
            <a:r>
              <a:rPr lang="en-US" dirty="0" smtClean="0"/>
              <a:t>Conceptually, a common strategy to develop a budget is to simply cost each element in the WBS.</a:t>
            </a:r>
          </a:p>
          <a:p>
            <a:pPr lvl="1"/>
            <a:r>
              <a:rPr lang="en-US" dirty="0" smtClean="0"/>
              <a:t>To accomplish this, elements are associated with </a:t>
            </a:r>
            <a:r>
              <a:rPr lang="en-US" i="1" dirty="0" smtClean="0"/>
              <a:t>direct</a:t>
            </a:r>
            <a:r>
              <a:rPr lang="en-US" dirty="0" smtClean="0"/>
              <a:t> and </a:t>
            </a:r>
            <a:r>
              <a:rPr lang="en-US" i="1" dirty="0" smtClean="0"/>
              <a:t>indirect costs</a:t>
            </a:r>
            <a:r>
              <a:rPr lang="en-US" dirty="0" smtClean="0"/>
              <a:t>.</a:t>
            </a:r>
          </a:p>
          <a:p>
            <a:pPr lvl="1"/>
            <a:endParaRPr lang="en-US" dirty="0" smtClean="0"/>
          </a:p>
          <a:p>
            <a:r>
              <a:rPr lang="en-US" dirty="0" smtClean="0"/>
              <a:t>Direct costs are those that can be directly tied to the development of the design.</a:t>
            </a:r>
          </a:p>
          <a:p>
            <a:pPr lvl="1"/>
            <a:r>
              <a:rPr lang="en-US" dirty="0" smtClean="0"/>
              <a:t>The most often used direct costs are labor and equipment (i.e., hardware/software equipment).</a:t>
            </a:r>
          </a:p>
          <a:p>
            <a:pPr lvl="1">
              <a:buNone/>
            </a:pPr>
            <a:endParaRPr lang="en-US" dirty="0" smtClean="0"/>
          </a:p>
          <a:p>
            <a:r>
              <a:rPr lang="en-US" dirty="0" smtClean="0"/>
              <a:t>Indirect costs, on the other hand, include costs such as fringe benefits and administrative expenses.</a:t>
            </a:r>
          </a:p>
          <a:p>
            <a:endParaRPr lang="en-US" dirty="0" smtClean="0"/>
          </a:p>
          <a:p>
            <a:pPr lvl="1"/>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 Scoping: Budgeting -</a:t>
            </a:r>
            <a:endParaRPr lang="en-US" dirty="0"/>
          </a:p>
        </p:txBody>
      </p:sp>
      <p:sp>
        <p:nvSpPr>
          <p:cNvPr id="3" name="Content Placeholder 2"/>
          <p:cNvSpPr>
            <a:spLocks noGrp="1"/>
          </p:cNvSpPr>
          <p:nvPr>
            <p:ph idx="1"/>
          </p:nvPr>
        </p:nvSpPr>
        <p:spPr/>
        <p:txBody>
          <a:bodyPr>
            <a:normAutofit fontScale="92500"/>
          </a:bodyPr>
          <a:lstStyle/>
          <a:p>
            <a:r>
              <a:rPr lang="en-US" dirty="0" smtClean="0"/>
              <a:t>One of the most significant and hard to estimate direct costs for each task is the cost of the staff that will be directly working on the completion of the task.</a:t>
            </a:r>
          </a:p>
          <a:p>
            <a:pPr lvl="1"/>
            <a:r>
              <a:rPr lang="en-US" dirty="0" smtClean="0"/>
              <a:t>Given that software projects are typically custom-made solutions to particular problems, tasks are considered non-repetitive and often involve </a:t>
            </a:r>
            <a:r>
              <a:rPr lang="en-US" i="1" dirty="0" smtClean="0"/>
              <a:t>learning rates</a:t>
            </a:r>
            <a:r>
              <a:rPr lang="en-US" dirty="0" smtClean="0"/>
              <a:t>.</a:t>
            </a:r>
          </a:p>
          <a:p>
            <a:pPr lvl="2"/>
            <a:r>
              <a:rPr lang="en-US" dirty="0" smtClean="0"/>
              <a:t>This is particularly true for tasks that involve new technologies or the use of skills that the staff is unfamiliar with.</a:t>
            </a:r>
          </a:p>
          <a:p>
            <a:pPr lvl="2"/>
            <a:r>
              <a:rPr lang="en-US" dirty="0" smtClean="0"/>
              <a:t>Therefore, it is important to account for learning rates in the budgeting process.</a:t>
            </a:r>
          </a:p>
          <a:p>
            <a:pPr lvl="2"/>
            <a:endParaRPr lang="en-US" dirty="0" smtClean="0"/>
          </a:p>
          <a:p>
            <a:r>
              <a:rPr lang="en-US" dirty="0" smtClean="0"/>
              <a:t>It is important to understand that developing accurate budgets for software projects is often very difficult due to the complexity of the projects.</a:t>
            </a:r>
          </a:p>
          <a:p>
            <a:pPr lvl="1"/>
            <a:r>
              <a:rPr lang="en-US" dirty="0" smtClean="0"/>
              <a:t>Data from previous similar projects, as well as input from experienced personnel, are used as resources to prepare budgets.</a:t>
            </a:r>
          </a:p>
          <a:p>
            <a:pPr lvl="1"/>
            <a:endParaRPr lang="en-US" dirty="0" smtClean="0"/>
          </a:p>
          <a:p>
            <a:r>
              <a:rPr lang="en-US" dirty="0" smtClean="0"/>
              <a:t>After the budget for a project is created and approved, it becomes more of a control mechanism for managers because it establishes the cost threshold for the entire project.</a:t>
            </a:r>
          </a:p>
          <a:p>
            <a:pPr lvl="1"/>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Organizing -</a:t>
            </a:r>
            <a:endParaRPr lang="en-US" dirty="0"/>
          </a:p>
        </p:txBody>
      </p:sp>
      <p:sp>
        <p:nvSpPr>
          <p:cNvPr id="3" name="Content Placeholder 2"/>
          <p:cNvSpPr>
            <a:spLocks noGrp="1"/>
          </p:cNvSpPr>
          <p:nvPr>
            <p:ph idx="1"/>
          </p:nvPr>
        </p:nvSpPr>
        <p:spPr>
          <a:xfrm>
            <a:off x="457200" y="1371601"/>
            <a:ext cx="8229600" cy="5029199"/>
          </a:xfrm>
        </p:spPr>
        <p:txBody>
          <a:bodyPr>
            <a:normAutofit fontScale="92500" lnSpcReduction="10000"/>
          </a:bodyPr>
          <a:lstStyle/>
          <a:p>
            <a:r>
              <a:rPr lang="en-US" dirty="0" smtClean="0"/>
              <a:t>Organizing is the second key function of the planning stage.</a:t>
            </a:r>
          </a:p>
          <a:p>
            <a:pPr lvl="1"/>
            <a:r>
              <a:rPr lang="en-US" dirty="0" smtClean="0"/>
              <a:t>It involves two main activities:</a:t>
            </a:r>
          </a:p>
          <a:p>
            <a:pPr lvl="2"/>
            <a:r>
              <a:rPr lang="en-US" dirty="0" smtClean="0"/>
              <a:t>Responsibility assignments</a:t>
            </a:r>
          </a:p>
          <a:p>
            <a:pPr lvl="2"/>
            <a:r>
              <a:rPr lang="en-US" dirty="0" smtClean="0"/>
              <a:t>Scheduling</a:t>
            </a:r>
          </a:p>
          <a:p>
            <a:pPr lvl="2"/>
            <a:endParaRPr lang="en-US" dirty="0" smtClean="0"/>
          </a:p>
          <a:p>
            <a:r>
              <a:rPr lang="en-US" dirty="0" smtClean="0"/>
              <a:t>That is, after identifying and organizing the tasks in the scoping function with the WBS, the organizing function:</a:t>
            </a:r>
          </a:p>
          <a:p>
            <a:pPr lvl="1"/>
            <a:r>
              <a:rPr lang="en-US" dirty="0" smtClean="0"/>
              <a:t>Conducts task assignments</a:t>
            </a:r>
          </a:p>
          <a:p>
            <a:pPr lvl="1"/>
            <a:r>
              <a:rPr lang="en-US" dirty="0" smtClean="0"/>
              <a:t>Establishes task durations</a:t>
            </a:r>
          </a:p>
          <a:p>
            <a:pPr lvl="2"/>
            <a:r>
              <a:rPr lang="en-US" dirty="0" smtClean="0"/>
              <a:t>Task durations are critical because they are integral part of the monitoring and controlling mechanisms in the implementation stage.</a:t>
            </a:r>
          </a:p>
          <a:p>
            <a:pPr lvl="1"/>
            <a:r>
              <a:rPr lang="en-US" dirty="0" smtClean="0"/>
              <a:t>Identifies any predecessors</a:t>
            </a:r>
          </a:p>
          <a:p>
            <a:pPr lvl="2"/>
            <a:r>
              <a:rPr lang="en-US" dirty="0" smtClean="0"/>
              <a:t>For each task A, predecessor is a task that must be completed before another task can begin.</a:t>
            </a:r>
          </a:p>
          <a:p>
            <a:endParaRPr lang="en-US" dirty="0" smtClean="0"/>
          </a:p>
          <a:p>
            <a:r>
              <a:rPr lang="en-US" dirty="0" smtClean="0"/>
              <a:t>Project management tools that are applicable for organizing include:</a:t>
            </a:r>
          </a:p>
          <a:p>
            <a:pPr lvl="1"/>
            <a:r>
              <a:rPr lang="en-US" dirty="0" smtClean="0"/>
              <a:t>Linear Responsibility Chart</a:t>
            </a:r>
          </a:p>
          <a:p>
            <a:pPr lvl="1"/>
            <a:r>
              <a:rPr lang="en-US" dirty="0" smtClean="0"/>
              <a:t>Scheduling with Gantt Charts and Network Diagrams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Linear Responsibility Chart -</a:t>
            </a:r>
            <a:endParaRPr lang="en-US" dirty="0"/>
          </a:p>
        </p:txBody>
      </p:sp>
      <p:sp>
        <p:nvSpPr>
          <p:cNvPr id="3" name="Content Placeholder 2"/>
          <p:cNvSpPr>
            <a:spLocks noGrp="1"/>
          </p:cNvSpPr>
          <p:nvPr>
            <p:ph idx="1"/>
          </p:nvPr>
        </p:nvSpPr>
        <p:spPr/>
        <p:txBody>
          <a:bodyPr/>
          <a:lstStyle/>
          <a:p>
            <a:r>
              <a:rPr lang="en-US" dirty="0" smtClean="0"/>
              <a:t>An important outcome of the planning stage is to have a clear understanding of the roles that each staff member plays in the process of completing each element of the WBS.</a:t>
            </a:r>
          </a:p>
          <a:p>
            <a:pPr lvl="1"/>
            <a:r>
              <a:rPr lang="en-US" dirty="0" smtClean="0"/>
              <a:t>This can be viewed as a plan for task assignments.</a:t>
            </a:r>
          </a:p>
          <a:p>
            <a:pPr lvl="1"/>
            <a:r>
              <a:rPr lang="en-US" dirty="0" smtClean="0"/>
              <a:t>The goal here is to clearly identify the staff members that will be mainly responsible for each task, and those that will serve as reviewers and/or support the task in any way.</a:t>
            </a:r>
          </a:p>
          <a:p>
            <a:pPr lvl="1"/>
            <a:r>
              <a:rPr lang="en-US" dirty="0" smtClean="0"/>
              <a:t>A project management tool that allows such outcome is called a </a:t>
            </a:r>
            <a:r>
              <a:rPr lang="en-US" i="1" dirty="0" smtClean="0"/>
              <a:t>Linear Responsibility Chart (LRC)</a:t>
            </a:r>
            <a:r>
              <a:rPr lang="en-US" dirty="0" smtClean="0"/>
              <a:t>. </a:t>
            </a:r>
          </a:p>
          <a:p>
            <a:pPr lvl="1"/>
            <a:endParaRPr lang="en-US" dirty="0" smtClean="0"/>
          </a:p>
          <a:p>
            <a:r>
              <a:rPr lang="en-US" dirty="0" smtClean="0"/>
              <a:t>An LRC is a tabular representation of task assignments.</a:t>
            </a:r>
          </a:p>
          <a:p>
            <a:pPr lvl="1"/>
            <a:r>
              <a:rPr lang="en-US" dirty="0" smtClean="0"/>
              <a:t>Let’s look at an example in the next slide…</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Linear Responsibility Chart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509713" y="1333500"/>
            <a:ext cx="6124575" cy="49149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Scheduling -</a:t>
            </a:r>
            <a:endParaRPr lang="en-US" dirty="0"/>
          </a:p>
        </p:txBody>
      </p:sp>
      <p:sp>
        <p:nvSpPr>
          <p:cNvPr id="3" name="Content Placeholder 2"/>
          <p:cNvSpPr>
            <a:spLocks noGrp="1"/>
          </p:cNvSpPr>
          <p:nvPr>
            <p:ph idx="1"/>
          </p:nvPr>
        </p:nvSpPr>
        <p:spPr/>
        <p:txBody>
          <a:bodyPr>
            <a:normAutofit lnSpcReduction="10000"/>
          </a:bodyPr>
          <a:lstStyle/>
          <a:p>
            <a:r>
              <a:rPr lang="en-US" dirty="0" smtClean="0"/>
              <a:t>After task assignments, a key activity in the planning stage is </a:t>
            </a:r>
            <a:r>
              <a:rPr lang="en-US" i="1" dirty="0" smtClean="0"/>
              <a:t>scheduling.</a:t>
            </a:r>
          </a:p>
          <a:p>
            <a:pPr lvl="1"/>
            <a:r>
              <a:rPr lang="en-US" dirty="0" smtClean="0"/>
              <a:t>Formally defined as the process of establishing task durations in order to convert the WBS into an operating timetable.</a:t>
            </a:r>
          </a:p>
          <a:p>
            <a:pPr lvl="1"/>
            <a:endParaRPr lang="en-US" dirty="0" smtClean="0"/>
          </a:p>
          <a:p>
            <a:r>
              <a:rPr lang="en-US" dirty="0" smtClean="0"/>
              <a:t>Scheduling helps to identify the critical project activities that cannot be delayed without delaying the overall project duration.</a:t>
            </a:r>
          </a:p>
          <a:p>
            <a:pPr lvl="1"/>
            <a:r>
              <a:rPr lang="en-US" dirty="0" smtClean="0"/>
              <a:t>We can also identify those activities that will not affect the overall project duration if delayed.</a:t>
            </a:r>
          </a:p>
          <a:p>
            <a:pPr lvl="1"/>
            <a:r>
              <a:rPr lang="en-US" dirty="0" smtClean="0"/>
              <a:t>Scheduling allows tasks to be ordered so that for each task, preceding and subsequent tasks are easily identified.</a:t>
            </a:r>
          </a:p>
          <a:p>
            <a:pPr lvl="1"/>
            <a:endParaRPr lang="en-US" dirty="0" smtClean="0"/>
          </a:p>
          <a:p>
            <a:r>
              <a:rPr lang="en-US" dirty="0" smtClean="0"/>
              <a:t>There are various project management techniques that are used in scheduling. Two of the most common ones are:</a:t>
            </a:r>
          </a:p>
          <a:p>
            <a:pPr lvl="1"/>
            <a:r>
              <a:rPr lang="en-US" dirty="0" smtClean="0"/>
              <a:t>Gantt charts </a:t>
            </a:r>
          </a:p>
          <a:p>
            <a:pPr lvl="1"/>
            <a:r>
              <a:rPr lang="en-US" dirty="0" smtClean="0"/>
              <a:t>Network diagrams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The Gantt Chart -</a:t>
            </a:r>
            <a:endParaRPr lang="en-US" dirty="0"/>
          </a:p>
        </p:txBody>
      </p:sp>
      <p:sp>
        <p:nvSpPr>
          <p:cNvPr id="3" name="Content Placeholder 2"/>
          <p:cNvSpPr>
            <a:spLocks noGrp="1"/>
          </p:cNvSpPr>
          <p:nvPr>
            <p:ph idx="1"/>
          </p:nvPr>
        </p:nvSpPr>
        <p:spPr/>
        <p:txBody>
          <a:bodyPr/>
          <a:lstStyle/>
          <a:p>
            <a:r>
              <a:rPr lang="en-US" dirty="0" smtClean="0"/>
              <a:t>The Gantt Chart is a graphical representation of the logical flow between tasks (i.e., activities) and their durations.</a:t>
            </a:r>
          </a:p>
          <a:p>
            <a:pPr lvl="1"/>
            <a:r>
              <a:rPr lang="en-US" dirty="0" smtClean="0"/>
              <a:t>Very simple to follow.</a:t>
            </a:r>
          </a:p>
          <a:p>
            <a:pPr lvl="1"/>
            <a:r>
              <a:rPr lang="en-US" dirty="0" smtClean="0"/>
              <a:t>Often used to show schedule and progress, as well as to serve as a control/monitoring mechanism. </a:t>
            </a:r>
          </a:p>
          <a:p>
            <a:pPr lvl="1"/>
            <a:r>
              <a:rPr lang="en-US" dirty="0" smtClean="0"/>
              <a:t>Requires three basic parameters:	</a:t>
            </a:r>
          </a:p>
          <a:p>
            <a:pPr lvl="2"/>
            <a:r>
              <a:rPr lang="en-US" dirty="0" smtClean="0"/>
              <a:t>Tasks</a:t>
            </a:r>
          </a:p>
          <a:p>
            <a:pPr lvl="2"/>
            <a:r>
              <a:rPr lang="en-US" dirty="0" smtClean="0"/>
              <a:t>Durations</a:t>
            </a:r>
          </a:p>
          <a:p>
            <a:pPr lvl="2"/>
            <a:r>
              <a:rPr lang="en-US" dirty="0" smtClean="0"/>
              <a:t>Predecessors and successors</a:t>
            </a:r>
          </a:p>
          <a:p>
            <a:pPr lvl="2"/>
            <a:endParaRPr lang="en-US" dirty="0" smtClean="0"/>
          </a:p>
          <a:p>
            <a:r>
              <a:rPr lang="en-US" dirty="0" smtClean="0"/>
              <a:t>These parameters are used to develop a graph that depicts the durations of tasks and their relationship.</a:t>
            </a:r>
          </a:p>
          <a:p>
            <a:pPr lvl="1"/>
            <a:r>
              <a:rPr lang="en-US" dirty="0" smtClean="0"/>
              <a:t>Let’s see an example in  the next slide…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The Gantt Chart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7" name="Picture 6"/>
          <p:cNvPicPr/>
          <p:nvPr/>
        </p:nvPicPr>
        <p:blipFill rotWithShape="1">
          <a:blip r:embed="rId2" cstate="print"/>
          <a:srcRect l="1338" t="12966" r="34448" b="50605"/>
          <a:stretch/>
        </p:blipFill>
        <p:spPr bwMode="auto">
          <a:xfrm>
            <a:off x="609600" y="2057400"/>
            <a:ext cx="8001000" cy="3124200"/>
          </a:xfrm>
          <a:prstGeom prst="rect">
            <a:avLst/>
          </a:prstGeom>
          <a:ln>
            <a:noFill/>
          </a:ln>
          <a:extLst>
            <a:ext uri="{53640926-AAD7-44D8-BBD7-CCE9431645EC}">
              <a14:shadowObscured xmlns="" xmlns:a14="http://schemas.microsoft.com/office/drawing/2010/main"/>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Network Diagrams -</a:t>
            </a:r>
            <a:endParaRPr lang="en-US" dirty="0"/>
          </a:p>
        </p:txBody>
      </p:sp>
      <p:sp>
        <p:nvSpPr>
          <p:cNvPr id="3" name="Content Placeholder 2"/>
          <p:cNvSpPr>
            <a:spLocks noGrp="1"/>
          </p:cNvSpPr>
          <p:nvPr>
            <p:ph idx="1"/>
          </p:nvPr>
        </p:nvSpPr>
        <p:spPr>
          <a:xfrm>
            <a:off x="457200" y="1371601"/>
            <a:ext cx="8229600" cy="5029199"/>
          </a:xfrm>
        </p:spPr>
        <p:txBody>
          <a:bodyPr>
            <a:normAutofit fontScale="85000" lnSpcReduction="10000"/>
          </a:bodyPr>
          <a:lstStyle/>
          <a:p>
            <a:r>
              <a:rPr lang="en-US" dirty="0" smtClean="0"/>
              <a:t>Similar to Gantt charts, network diagrams are also graphical representations of logical flow between tasks, describe task durations, and need the same three basic parameters: </a:t>
            </a:r>
          </a:p>
          <a:p>
            <a:pPr lvl="1"/>
            <a:r>
              <a:rPr lang="en-US" dirty="0" smtClean="0"/>
              <a:t>Tasks,</a:t>
            </a:r>
          </a:p>
          <a:p>
            <a:pPr lvl="1"/>
            <a:r>
              <a:rPr lang="en-US" dirty="0" smtClean="0"/>
              <a:t>Tasks durations, and </a:t>
            </a:r>
          </a:p>
          <a:p>
            <a:pPr lvl="1"/>
            <a:r>
              <a:rPr lang="en-US" dirty="0" smtClean="0"/>
              <a:t>Predecessors and successors</a:t>
            </a:r>
          </a:p>
          <a:p>
            <a:pPr lvl="1"/>
            <a:endParaRPr lang="en-US" dirty="0" smtClean="0"/>
          </a:p>
          <a:p>
            <a:r>
              <a:rPr lang="en-US" dirty="0" smtClean="0"/>
              <a:t>Estimating accurate task durations is often a very complex endeavor.  </a:t>
            </a:r>
          </a:p>
          <a:p>
            <a:pPr lvl="1"/>
            <a:r>
              <a:rPr lang="en-US" dirty="0" smtClean="0"/>
              <a:t>One common approach is to estimate minimum (</a:t>
            </a:r>
            <a:r>
              <a:rPr lang="en-US" i="1" dirty="0" smtClean="0"/>
              <a:t>a</a:t>
            </a:r>
            <a:r>
              <a:rPr lang="en-US" dirty="0" smtClean="0"/>
              <a:t>), maximum (</a:t>
            </a:r>
            <a:r>
              <a:rPr lang="en-US" i="1" dirty="0" smtClean="0"/>
              <a:t>b</a:t>
            </a:r>
            <a:r>
              <a:rPr lang="en-US" dirty="0" smtClean="0"/>
              <a:t>), and most likely (</a:t>
            </a:r>
            <a:r>
              <a:rPr lang="en-US" i="1" dirty="0" smtClean="0"/>
              <a:t>m</a:t>
            </a:r>
            <a:r>
              <a:rPr lang="en-US" dirty="0" smtClean="0"/>
              <a:t>) duration times.</a:t>
            </a:r>
          </a:p>
          <a:p>
            <a:pPr lvl="1"/>
            <a:r>
              <a:rPr lang="en-US" dirty="0" smtClean="0"/>
              <a:t>With these three parameters we can calculate the expected time (ET) of each task using a probabilistic approach.   </a:t>
            </a:r>
          </a:p>
          <a:p>
            <a:pPr lvl="1"/>
            <a:r>
              <a:rPr lang="en-US" dirty="0" smtClean="0"/>
              <a:t>Assuming a beta probability distribution for the time estimates, the expected time for each activity can be approximated using the following:</a:t>
            </a:r>
          </a:p>
          <a:p>
            <a:pPr lvl="2"/>
            <a:r>
              <a:rPr lang="en-US" dirty="0" smtClean="0"/>
              <a:t>Expected Time = (</a:t>
            </a:r>
            <a:r>
              <a:rPr lang="en-US" i="1" dirty="0" smtClean="0"/>
              <a:t>a</a:t>
            </a:r>
            <a:r>
              <a:rPr lang="en-US" dirty="0" smtClean="0"/>
              <a:t> + 4</a:t>
            </a:r>
            <a:r>
              <a:rPr lang="en-US" i="1" dirty="0" smtClean="0"/>
              <a:t>m</a:t>
            </a:r>
            <a:r>
              <a:rPr lang="en-US" dirty="0" smtClean="0"/>
              <a:t> + </a:t>
            </a:r>
            <a:r>
              <a:rPr lang="en-US" i="1" dirty="0" smtClean="0"/>
              <a:t>b</a:t>
            </a:r>
            <a:r>
              <a:rPr lang="en-US" dirty="0" smtClean="0"/>
              <a:t>) / 6</a:t>
            </a:r>
          </a:p>
          <a:p>
            <a:pPr lvl="2"/>
            <a:endParaRPr lang="en-US" dirty="0" smtClean="0"/>
          </a:p>
          <a:p>
            <a:r>
              <a:rPr lang="en-US" dirty="0" smtClean="0"/>
              <a:t>A key benefit for having three estimates for task durations is that we can use them to develop variance calculations, which can then be used to estimate the probability of completing the project within a specific time.  </a:t>
            </a:r>
          </a:p>
          <a:p>
            <a:pPr lvl="1"/>
            <a:r>
              <a:rPr lang="en-US" dirty="0" smtClean="0"/>
              <a:t>The variance of the duration of a task is calculated using:</a:t>
            </a:r>
          </a:p>
          <a:p>
            <a:pPr lvl="2"/>
            <a:r>
              <a:rPr lang="en-US" dirty="0" smtClean="0"/>
              <a:t>Variance = ((</a:t>
            </a:r>
            <a:r>
              <a:rPr lang="en-US" i="1" dirty="0" smtClean="0"/>
              <a:t>b</a:t>
            </a:r>
            <a:r>
              <a:rPr lang="en-US" dirty="0" smtClean="0"/>
              <a:t>-</a:t>
            </a:r>
            <a:r>
              <a:rPr lang="en-US" i="1" dirty="0" smtClean="0"/>
              <a:t>a)</a:t>
            </a:r>
            <a:r>
              <a:rPr lang="en-US" dirty="0" smtClean="0"/>
              <a:t>/6)</a:t>
            </a:r>
            <a:r>
              <a:rPr lang="en-US" baseline="30000" dirty="0" smtClean="0"/>
              <a:t>2</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Network Diagrams -</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Task durations for the three-level tasks described in the previous WBS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447800" y="2667000"/>
            <a:ext cx="5895975" cy="28765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Network Diagrams -</a:t>
            </a:r>
            <a:endParaRPr lang="en-US" dirty="0"/>
          </a:p>
        </p:txBody>
      </p:sp>
      <p:sp>
        <p:nvSpPr>
          <p:cNvPr id="3" name="Content Placeholder 2"/>
          <p:cNvSpPr>
            <a:spLocks noGrp="1"/>
          </p:cNvSpPr>
          <p:nvPr>
            <p:ph idx="1"/>
          </p:nvPr>
        </p:nvSpPr>
        <p:spPr>
          <a:xfrm>
            <a:off x="457200" y="1295400"/>
            <a:ext cx="8229600" cy="5105399"/>
          </a:xfrm>
        </p:spPr>
        <p:txBody>
          <a:bodyPr>
            <a:normAutofit lnSpcReduction="10000"/>
          </a:bodyPr>
          <a:lstStyle/>
          <a:p>
            <a:r>
              <a:rPr lang="en-US" dirty="0" smtClean="0"/>
              <a:t>Resulting AON network diagram.</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ES = Earliest Time; EF = Earliest Finish</a:t>
            </a:r>
          </a:p>
          <a:p>
            <a:r>
              <a:rPr lang="en-US" dirty="0" smtClean="0"/>
              <a:t>LS = Latest Start, LF = Latest Finish</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 name="Object 1"/>
          <p:cNvGraphicFramePr>
            <a:graphicFrameLocks noChangeAspect="1"/>
          </p:cNvGraphicFramePr>
          <p:nvPr>
            <p:extLst>
              <p:ext uri="{D42A27DB-BD31-4B8C-83A1-F6EECF244321}">
                <p14:modId xmlns="" xmlns:p14="http://schemas.microsoft.com/office/powerpoint/2010/main" val="1372771350"/>
              </p:ext>
            </p:extLst>
          </p:nvPr>
        </p:nvGraphicFramePr>
        <p:xfrm>
          <a:off x="1600199" y="1752600"/>
          <a:ext cx="5924550" cy="3810000"/>
        </p:xfrm>
        <a:graphic>
          <a:graphicData uri="http://schemas.openxmlformats.org/presentationml/2006/ole">
            <p:oleObj spid="_x0000_s4140" r:id="rId3" imgW="6396747" imgH="4092695" progId="">
              <p:embed/>
            </p:oleObj>
          </a:graphicData>
        </a:graphic>
      </p:graphicFrame>
      <p:sp>
        <p:nvSpPr>
          <p:cNvPr id="7" name="Right Brace 6"/>
          <p:cNvSpPr/>
          <p:nvPr/>
        </p:nvSpPr>
        <p:spPr>
          <a:xfrm>
            <a:off x="5181600" y="5715000"/>
            <a:ext cx="228600" cy="609600"/>
          </a:xfrm>
          <a:prstGeom prst="rightBrace">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Connector 8"/>
          <p:cNvCxnSpPr/>
          <p:nvPr/>
        </p:nvCxnSpPr>
        <p:spPr>
          <a:xfrm>
            <a:off x="5562600" y="6019800"/>
            <a:ext cx="2286000"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848600" y="4038600"/>
            <a:ext cx="0" cy="198120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7315200" y="4038600"/>
            <a:ext cx="5334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Network Diagrams -</a:t>
            </a:r>
            <a:endParaRPr lang="en-US" dirty="0"/>
          </a:p>
        </p:txBody>
      </p:sp>
      <p:sp>
        <p:nvSpPr>
          <p:cNvPr id="3" name="Content Placeholder 2"/>
          <p:cNvSpPr>
            <a:spLocks noGrp="1"/>
          </p:cNvSpPr>
          <p:nvPr>
            <p:ph idx="1"/>
          </p:nvPr>
        </p:nvSpPr>
        <p:spPr>
          <a:xfrm>
            <a:off x="457200" y="1371601"/>
            <a:ext cx="8229600" cy="3276599"/>
          </a:xfrm>
        </p:spPr>
        <p:txBody>
          <a:bodyPr>
            <a:normAutofit fontScale="92500" lnSpcReduction="10000"/>
          </a:bodyPr>
          <a:lstStyle/>
          <a:p>
            <a:r>
              <a:rPr lang="en-US" dirty="0" smtClean="0"/>
              <a:t>Network diagrams are used to show additional important information such as:</a:t>
            </a:r>
          </a:p>
          <a:p>
            <a:pPr lvl="1"/>
            <a:r>
              <a:rPr lang="en-US" dirty="0" smtClean="0"/>
              <a:t>Critical paths</a:t>
            </a:r>
          </a:p>
          <a:p>
            <a:pPr lvl="1"/>
            <a:r>
              <a:rPr lang="en-US" dirty="0" smtClean="0"/>
              <a:t>Earliest and latest completion times</a:t>
            </a:r>
          </a:p>
          <a:p>
            <a:pPr lvl="1"/>
            <a:r>
              <a:rPr lang="en-US" dirty="0" smtClean="0"/>
              <a:t>Slack times</a:t>
            </a:r>
          </a:p>
          <a:p>
            <a:endParaRPr lang="en-US" dirty="0" smtClean="0"/>
          </a:p>
          <a:p>
            <a:r>
              <a:rPr lang="en-US" dirty="0" smtClean="0"/>
              <a:t>After estimating task durations and variances, the next step is to calculate the critical path.</a:t>
            </a:r>
          </a:p>
          <a:p>
            <a:pPr lvl="1"/>
            <a:r>
              <a:rPr lang="en-US" dirty="0" smtClean="0"/>
              <a:t>A path is any combination of nodes from the start node to the last node. </a:t>
            </a:r>
          </a:p>
          <a:p>
            <a:pPr lvl="1"/>
            <a:r>
              <a:rPr lang="en-US" dirty="0" smtClean="0"/>
              <a:t>For example, our network diagram shows the following two paths:</a:t>
            </a:r>
          </a:p>
          <a:p>
            <a:pPr lvl="2"/>
            <a:r>
              <a:rPr lang="en-US" dirty="0" smtClean="0"/>
              <a:t>Path #1: (1.1.1) – (1.1.2) – (1.2.1) – (1.2.2) – (1.3.4) – (1.3.5) – (1.3.6)</a:t>
            </a:r>
          </a:p>
          <a:p>
            <a:pPr lvl="2"/>
            <a:r>
              <a:rPr lang="en-US" dirty="0" smtClean="0"/>
              <a:t>Path #2: (1.1.1) – (1.1.2) – (1.3.1) – (1.3.2) – (1.3.3) – (1.3.4) – (1.3.5) – (1.3.6)</a:t>
            </a:r>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5121" name="Picture 1"/>
          <p:cNvPicPr>
            <a:picLocks noChangeAspect="1" noChangeArrowheads="1"/>
          </p:cNvPicPr>
          <p:nvPr/>
        </p:nvPicPr>
        <p:blipFill>
          <a:blip r:embed="rId2" cstate="print"/>
          <a:srcRect/>
          <a:stretch>
            <a:fillRect/>
          </a:stretch>
        </p:blipFill>
        <p:spPr bwMode="auto">
          <a:xfrm>
            <a:off x="1676400" y="4800600"/>
            <a:ext cx="5705475" cy="14859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Planning Stage</a:t>
            </a:r>
            <a:br>
              <a:rPr lang="en-US" dirty="0" smtClean="0"/>
            </a:br>
            <a:r>
              <a:rPr lang="en-US" dirty="0" smtClean="0"/>
              <a:t>- Network Diagrams -</a:t>
            </a:r>
            <a:endParaRPr lang="en-US" dirty="0"/>
          </a:p>
        </p:txBody>
      </p:sp>
      <p:sp>
        <p:nvSpPr>
          <p:cNvPr id="3" name="Content Placeholder 2"/>
          <p:cNvSpPr>
            <a:spLocks noGrp="1"/>
          </p:cNvSpPr>
          <p:nvPr>
            <p:ph idx="1"/>
          </p:nvPr>
        </p:nvSpPr>
        <p:spPr/>
        <p:txBody>
          <a:bodyPr>
            <a:normAutofit/>
          </a:bodyPr>
          <a:lstStyle/>
          <a:p>
            <a:r>
              <a:rPr lang="en-US" dirty="0"/>
              <a:t>The </a:t>
            </a:r>
            <a:r>
              <a:rPr lang="en-US" i="1" dirty="0"/>
              <a:t>critical path</a:t>
            </a:r>
            <a:r>
              <a:rPr lang="en-US" dirty="0"/>
              <a:t> is defined as the path with the longest duration.</a:t>
            </a:r>
          </a:p>
          <a:p>
            <a:pPr lvl="1"/>
            <a:r>
              <a:rPr lang="en-US" dirty="0"/>
              <a:t>Using the expected times computed:</a:t>
            </a:r>
          </a:p>
          <a:p>
            <a:pPr lvl="2"/>
            <a:r>
              <a:rPr lang="en-US" dirty="0"/>
              <a:t>The expected duration of </a:t>
            </a:r>
            <a:r>
              <a:rPr lang="en-US" dirty="0" smtClean="0"/>
              <a:t>Path#1 </a:t>
            </a:r>
            <a:r>
              <a:rPr lang="en-US" dirty="0"/>
              <a:t>is 55 days.</a:t>
            </a:r>
          </a:p>
          <a:p>
            <a:pPr lvl="2"/>
            <a:r>
              <a:rPr lang="en-US" dirty="0"/>
              <a:t>The expected duration of </a:t>
            </a:r>
            <a:r>
              <a:rPr lang="en-US" dirty="0" smtClean="0"/>
              <a:t>Path#2 </a:t>
            </a:r>
            <a:r>
              <a:rPr lang="en-US" dirty="0"/>
              <a:t>is 49 days.</a:t>
            </a:r>
            <a:endParaRPr lang="en-US" dirty="0" smtClean="0"/>
          </a:p>
          <a:p>
            <a:pPr lvl="1"/>
            <a:r>
              <a:rPr lang="en-US" dirty="0" smtClean="0"/>
              <a:t>Therefore</a:t>
            </a:r>
            <a:r>
              <a:rPr lang="en-US" dirty="0"/>
              <a:t>, the critical path for this problem is Path#1.</a:t>
            </a:r>
          </a:p>
          <a:p>
            <a:pPr lvl="1"/>
            <a:r>
              <a:rPr lang="en-US" dirty="0"/>
              <a:t>The </a:t>
            </a:r>
            <a:r>
              <a:rPr lang="en-US" i="1" dirty="0"/>
              <a:t>critical path duration</a:t>
            </a:r>
            <a:r>
              <a:rPr lang="en-US" dirty="0"/>
              <a:t> is 55 days.</a:t>
            </a:r>
          </a:p>
          <a:p>
            <a:endParaRPr lang="en-US" dirty="0" smtClean="0"/>
          </a:p>
          <a:p>
            <a:endParaRPr lang="en-US" dirty="0" smtClean="0"/>
          </a:p>
          <a:p>
            <a:pPr lvl="1"/>
            <a:endParaRPr lang="en-US" dirty="0"/>
          </a:p>
          <a:p>
            <a:pPr lvl="1"/>
            <a:endParaRPr lang="en-US" dirty="0" smtClean="0"/>
          </a:p>
          <a:p>
            <a:pPr marL="457200" lvl="1" indent="0">
              <a:buNone/>
            </a:pPr>
            <a:endParaRPr lang="en-US" dirty="0"/>
          </a:p>
          <a:p>
            <a:endParaRPr lang="en-US" dirty="0" smtClean="0"/>
          </a:p>
          <a:p>
            <a:r>
              <a:rPr lang="en-US" dirty="0" smtClean="0"/>
              <a:t>The activities/tasks along the critical path are called critical activities.</a:t>
            </a:r>
          </a:p>
          <a:p>
            <a:pPr lvl="1"/>
            <a:r>
              <a:rPr lang="en-US" dirty="0" smtClean="0"/>
              <a:t>If </a:t>
            </a:r>
            <a:r>
              <a:rPr lang="en-US" dirty="0"/>
              <a:t>any of the </a:t>
            </a:r>
            <a:r>
              <a:rPr lang="en-US" dirty="0" smtClean="0"/>
              <a:t>critical activities gets </a:t>
            </a:r>
            <a:r>
              <a:rPr lang="en-US" dirty="0"/>
              <a:t>delayed, the entire project will be </a:t>
            </a:r>
            <a:r>
              <a:rPr lang="en-US" dirty="0" smtClean="0"/>
              <a:t>delayed!</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7" name="Picture 1"/>
          <p:cNvPicPr>
            <a:picLocks noChangeAspect="1" noChangeArrowheads="1"/>
          </p:cNvPicPr>
          <p:nvPr/>
        </p:nvPicPr>
        <p:blipFill>
          <a:blip r:embed="rId2" cstate="print"/>
          <a:srcRect/>
          <a:stretch>
            <a:fillRect/>
          </a:stretch>
        </p:blipFill>
        <p:spPr bwMode="auto">
          <a:xfrm>
            <a:off x="1295399" y="3581400"/>
            <a:ext cx="5705475" cy="14859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p:txBody>
          <a:bodyPr/>
          <a:lstStyle/>
          <a:p>
            <a:r>
              <a:rPr lang="en-US" dirty="0" smtClean="0"/>
              <a:t>The </a:t>
            </a:r>
            <a:r>
              <a:rPr lang="en-US" dirty="0"/>
              <a:t>next step is to calculate earliest and latest times for activities to start and finish.  </a:t>
            </a:r>
            <a:endParaRPr lang="en-US" dirty="0" smtClean="0"/>
          </a:p>
          <a:p>
            <a:pPr lvl="1"/>
            <a:r>
              <a:rPr lang="en-US" dirty="0" smtClean="0"/>
              <a:t>That </a:t>
            </a:r>
            <a:r>
              <a:rPr lang="en-US" dirty="0"/>
              <a:t>is, we need to calculate the earliest time that we can begin each activity, and the earliest time that the activity can be completed.  </a:t>
            </a:r>
            <a:endParaRPr lang="en-US" dirty="0" smtClean="0"/>
          </a:p>
          <a:p>
            <a:pPr lvl="1"/>
            <a:r>
              <a:rPr lang="en-US" dirty="0" smtClean="0"/>
              <a:t>We </a:t>
            </a:r>
            <a:r>
              <a:rPr lang="en-US" dirty="0"/>
              <a:t>denote these terms as </a:t>
            </a:r>
            <a:r>
              <a:rPr lang="en-US" i="1" dirty="0"/>
              <a:t>earliest start (ES)</a:t>
            </a:r>
            <a:r>
              <a:rPr lang="en-US" dirty="0"/>
              <a:t> and </a:t>
            </a:r>
            <a:r>
              <a:rPr lang="en-US" i="1" dirty="0"/>
              <a:t>earliest finish (EF) </a:t>
            </a:r>
            <a:r>
              <a:rPr lang="en-US" dirty="0"/>
              <a:t>times.  </a:t>
            </a:r>
            <a:endParaRPr lang="en-US" dirty="0" smtClean="0"/>
          </a:p>
          <a:p>
            <a:endParaRPr lang="en-US" dirty="0"/>
          </a:p>
          <a:p>
            <a:r>
              <a:rPr lang="en-US" dirty="0" smtClean="0"/>
              <a:t>Similarly</a:t>
            </a:r>
            <a:r>
              <a:rPr lang="en-US" dirty="0"/>
              <a:t>, we calculate the latest time that we can begin each activity, and the latest time that the activity can be completed.  </a:t>
            </a:r>
            <a:endParaRPr lang="en-US" dirty="0" smtClean="0"/>
          </a:p>
          <a:p>
            <a:pPr lvl="1"/>
            <a:r>
              <a:rPr lang="en-US" dirty="0" smtClean="0"/>
              <a:t>We </a:t>
            </a:r>
            <a:r>
              <a:rPr lang="en-US" dirty="0"/>
              <a:t>denote these terms as </a:t>
            </a:r>
            <a:r>
              <a:rPr lang="en-US" i="1" dirty="0"/>
              <a:t>latest start (LS)</a:t>
            </a:r>
            <a:r>
              <a:rPr lang="en-US" dirty="0"/>
              <a:t> and </a:t>
            </a:r>
            <a:r>
              <a:rPr lang="en-US" i="1" dirty="0"/>
              <a:t>latest finish (LF) </a:t>
            </a:r>
            <a:r>
              <a:rPr lang="en-US" dirty="0"/>
              <a:t>times.  </a:t>
            </a:r>
            <a:endParaRPr lang="en-US" dirty="0" smtClean="0"/>
          </a:p>
          <a:p>
            <a:pPr lvl="1"/>
            <a:r>
              <a:rPr lang="en-US" dirty="0" smtClean="0"/>
              <a:t>The </a:t>
            </a:r>
            <a:r>
              <a:rPr lang="en-US" dirty="0"/>
              <a:t>difference between the LS and ES of an activity is called the </a:t>
            </a:r>
            <a:r>
              <a:rPr lang="en-US" i="1" dirty="0"/>
              <a:t>slack</a:t>
            </a:r>
            <a:r>
              <a:rPr lang="en-US" dirty="0"/>
              <a:t> </a:t>
            </a:r>
            <a:r>
              <a:rPr lang="en-US" i="1" dirty="0"/>
              <a:t>time</a:t>
            </a:r>
            <a:r>
              <a:rPr lang="en-US" dirty="0"/>
              <a:t> for the activity.  </a:t>
            </a:r>
            <a:endParaRPr lang="en-US" dirty="0" smtClean="0"/>
          </a:p>
          <a:p>
            <a:pPr lvl="1"/>
            <a:r>
              <a:rPr lang="en-US" dirty="0" smtClean="0"/>
              <a:t>Because </a:t>
            </a:r>
            <a:r>
              <a:rPr lang="en-US" dirty="0"/>
              <a:t>activities along the critical path cannot be delayed without delaying the entire project’s duration, </a:t>
            </a:r>
            <a:r>
              <a:rPr lang="en-US" i="1" dirty="0"/>
              <a:t>only non-critical path activities can have slack times</a:t>
            </a:r>
            <a:r>
              <a:rPr lang="en-US" dirty="0"/>
              <a:t>.  </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 xmlns:p14="http://schemas.microsoft.com/office/powerpoint/2010/main" val="508075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p:txBody>
          <a:bodyPr/>
          <a:lstStyle/>
          <a:p>
            <a:r>
              <a:rPr lang="en-US" dirty="0"/>
              <a:t>To calculate earliest times, </a:t>
            </a:r>
            <a:r>
              <a:rPr lang="en-US" dirty="0" smtClean="0"/>
              <a:t>move </a:t>
            </a:r>
            <a:r>
              <a:rPr lang="en-US" dirty="0"/>
              <a:t>from the start node to the other nodes.  </a:t>
            </a:r>
            <a:endParaRPr lang="en-US" dirty="0" smtClean="0"/>
          </a:p>
          <a:p>
            <a:pPr lvl="1"/>
            <a:r>
              <a:rPr lang="en-US" dirty="0" smtClean="0"/>
              <a:t>Since activity 1.1.1 </a:t>
            </a:r>
            <a:r>
              <a:rPr lang="en-US" dirty="0"/>
              <a:t>begins at time </a:t>
            </a:r>
            <a:r>
              <a:rPr lang="en-US" dirty="0" smtClean="0"/>
              <a:t>0, </a:t>
            </a:r>
          </a:p>
          <a:p>
            <a:pPr lvl="2"/>
            <a:r>
              <a:rPr lang="en-US" dirty="0" smtClean="0"/>
              <a:t>Its ES is 0</a:t>
            </a:r>
          </a:p>
          <a:p>
            <a:pPr lvl="2"/>
            <a:r>
              <a:rPr lang="en-US" dirty="0" smtClean="0"/>
              <a:t>Its </a:t>
            </a:r>
            <a:r>
              <a:rPr lang="en-US" dirty="0"/>
              <a:t>EF time is its expected time duration </a:t>
            </a:r>
            <a:r>
              <a:rPr lang="en-US" dirty="0" smtClean="0"/>
              <a:t>(i.e., 6 </a:t>
            </a:r>
            <a:r>
              <a:rPr lang="en-US" dirty="0"/>
              <a:t>days</a:t>
            </a:r>
            <a:r>
              <a:rPr lang="en-US" dirty="0" smtClean="0"/>
              <a:t>)</a:t>
            </a:r>
          </a:p>
          <a:p>
            <a:pPr lvl="1"/>
            <a:endParaRPr lang="en-US" dirty="0" smtClean="0"/>
          </a:p>
          <a:p>
            <a:pPr lvl="1"/>
            <a:r>
              <a:rPr lang="en-US" dirty="0" smtClean="0"/>
              <a:t>Any </a:t>
            </a:r>
            <a:r>
              <a:rPr lang="en-US" dirty="0"/>
              <a:t>immediate preceding activity can start as early as activity 1.1.1 ends. </a:t>
            </a:r>
            <a:endParaRPr lang="en-US" dirty="0" smtClean="0"/>
          </a:p>
          <a:p>
            <a:pPr lvl="2"/>
            <a:r>
              <a:rPr lang="en-US" dirty="0" smtClean="0"/>
              <a:t>Therefore</a:t>
            </a:r>
            <a:r>
              <a:rPr lang="en-US" dirty="0"/>
              <a:t>, the ES of activity 1.1.2 is 6 days, and its EF is 9 days, which is the sum of its ES and expected time duration.  </a:t>
            </a:r>
            <a:endParaRPr lang="en-US" dirty="0" smtClean="0"/>
          </a:p>
          <a:p>
            <a:pPr lvl="2"/>
            <a:r>
              <a:rPr lang="en-US" dirty="0" smtClean="0"/>
              <a:t>Similarly</a:t>
            </a:r>
            <a:r>
              <a:rPr lang="en-US" dirty="0"/>
              <a:t>, the ES of activity 1.3.1 is 9 days, and its EF is 20 days.  </a:t>
            </a:r>
            <a:endParaRPr lang="en-US" dirty="0" smtClean="0"/>
          </a:p>
          <a:p>
            <a:pPr lvl="1"/>
            <a:endParaRPr lang="en-US" dirty="0" smtClean="0"/>
          </a:p>
          <a:p>
            <a:pPr lvl="1"/>
            <a:r>
              <a:rPr lang="en-US" dirty="0" smtClean="0"/>
              <a:t>In </a:t>
            </a:r>
            <a:r>
              <a:rPr lang="en-US" dirty="0"/>
              <a:t>cases where an activity has more than one predecessor, the largest EF time of the predecessors become the ES time of the activity.  </a:t>
            </a:r>
            <a:endParaRPr lang="en-US" dirty="0" smtClean="0"/>
          </a:p>
          <a:p>
            <a:pPr lvl="2"/>
            <a:r>
              <a:rPr lang="en-US" dirty="0" smtClean="0"/>
              <a:t>For </a:t>
            </a:r>
            <a:r>
              <a:rPr lang="en-US" dirty="0"/>
              <a:t>example, activity 1.3.4 has two predecessors: 1.2.2 (with an EF time of 35 days) and 1.3.3 (with an EF time of 29 days).  </a:t>
            </a:r>
            <a:endParaRPr lang="en-US" dirty="0" smtClean="0"/>
          </a:p>
          <a:p>
            <a:pPr lvl="3"/>
            <a:r>
              <a:rPr lang="en-US" dirty="0" smtClean="0"/>
              <a:t>Since </a:t>
            </a:r>
            <a:r>
              <a:rPr lang="en-US" dirty="0"/>
              <a:t>activity 1.3.4 can be started only when both of its predecessors complete, its earliest possible start time is 35 days.                   </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 xmlns:p14="http://schemas.microsoft.com/office/powerpoint/2010/main" val="3495142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p:txBody>
          <a:bodyPr>
            <a:normAutofit lnSpcReduction="10000"/>
          </a:bodyPr>
          <a:lstStyle/>
          <a:p>
            <a:r>
              <a:rPr lang="en-US" dirty="0"/>
              <a:t>To calculate latest times, we move from the last node to the start node.  </a:t>
            </a:r>
            <a:endParaRPr lang="en-US" dirty="0" smtClean="0"/>
          </a:p>
          <a:p>
            <a:pPr lvl="1"/>
            <a:r>
              <a:rPr lang="en-US" dirty="0" smtClean="0"/>
              <a:t>For critical activities: </a:t>
            </a:r>
          </a:p>
          <a:p>
            <a:pPr lvl="2"/>
            <a:r>
              <a:rPr lang="en-US" dirty="0" smtClean="0"/>
              <a:t>LF = EF and</a:t>
            </a:r>
          </a:p>
          <a:p>
            <a:pPr lvl="2"/>
            <a:r>
              <a:rPr lang="en-US" dirty="0" smtClean="0"/>
              <a:t>LS = ES</a:t>
            </a:r>
          </a:p>
          <a:p>
            <a:pPr lvl="1"/>
            <a:endParaRPr lang="en-US" dirty="0" smtClean="0"/>
          </a:p>
          <a:p>
            <a:pPr lvl="1"/>
            <a:r>
              <a:rPr lang="en-US" dirty="0" smtClean="0"/>
              <a:t>This is not the case for non-critical activities.  For example, consider 1.3.3:</a:t>
            </a:r>
          </a:p>
          <a:p>
            <a:pPr lvl="2"/>
            <a:r>
              <a:rPr lang="en-US" dirty="0" smtClean="0"/>
              <a:t>If </a:t>
            </a:r>
            <a:r>
              <a:rPr lang="en-US" dirty="0"/>
              <a:t>this activity finishes at its EF time of 29 days, activity 1.3.4 </a:t>
            </a:r>
            <a:endParaRPr lang="en-US" dirty="0" smtClean="0"/>
          </a:p>
          <a:p>
            <a:pPr marL="914400" lvl="2" indent="0">
              <a:buNone/>
            </a:pPr>
            <a:r>
              <a:rPr lang="en-US" dirty="0"/>
              <a:t> </a:t>
            </a:r>
            <a:r>
              <a:rPr lang="en-US" dirty="0" smtClean="0"/>
              <a:t>   (</a:t>
            </a:r>
            <a:r>
              <a:rPr lang="en-US" dirty="0"/>
              <a:t>i.e., its successor) will still be unable to start because it needs </a:t>
            </a:r>
            <a:endParaRPr lang="en-US" dirty="0" smtClean="0"/>
          </a:p>
          <a:p>
            <a:pPr marL="914400" lvl="2" indent="0">
              <a:buNone/>
            </a:pPr>
            <a:r>
              <a:rPr lang="en-US" dirty="0"/>
              <a:t> </a:t>
            </a:r>
            <a:r>
              <a:rPr lang="en-US" dirty="0" smtClean="0"/>
              <a:t>   to </a:t>
            </a:r>
            <a:r>
              <a:rPr lang="en-US" dirty="0"/>
              <a:t>wait for activity 1.2.2 to finish at day 35.  </a:t>
            </a:r>
            <a:endParaRPr lang="en-US" dirty="0" smtClean="0"/>
          </a:p>
          <a:p>
            <a:pPr lvl="3"/>
            <a:r>
              <a:rPr lang="en-US" dirty="0" smtClean="0"/>
              <a:t>Thus, activity </a:t>
            </a:r>
            <a:r>
              <a:rPr lang="en-US" dirty="0"/>
              <a:t>1.3.3 can actually finish as late as day 35 and not </a:t>
            </a:r>
            <a:endParaRPr lang="en-US" dirty="0" smtClean="0"/>
          </a:p>
          <a:p>
            <a:pPr marL="1371600" lvl="3" indent="0">
              <a:buNone/>
            </a:pPr>
            <a:r>
              <a:rPr lang="en-US" dirty="0"/>
              <a:t> </a:t>
            </a:r>
            <a:r>
              <a:rPr lang="en-US" dirty="0" smtClean="0"/>
              <a:t>     affect </a:t>
            </a:r>
            <a:r>
              <a:rPr lang="en-US" dirty="0"/>
              <a:t>the critical path duration of the project.  </a:t>
            </a:r>
            <a:endParaRPr lang="en-US" dirty="0" smtClean="0"/>
          </a:p>
          <a:p>
            <a:pPr lvl="3"/>
            <a:r>
              <a:rPr lang="en-US" dirty="0" smtClean="0"/>
              <a:t>Consequently</a:t>
            </a:r>
            <a:r>
              <a:rPr lang="en-US" dirty="0"/>
              <a:t>, the LF time for activity 1.3.3 is 35 days, and its LS </a:t>
            </a:r>
            <a:endParaRPr lang="en-US" dirty="0" smtClean="0"/>
          </a:p>
          <a:p>
            <a:pPr marL="1371600" lvl="3" indent="0">
              <a:buNone/>
            </a:pPr>
            <a:r>
              <a:rPr lang="en-US" dirty="0"/>
              <a:t> </a:t>
            </a:r>
            <a:r>
              <a:rPr lang="en-US" dirty="0" smtClean="0"/>
              <a:t>    time </a:t>
            </a:r>
            <a:r>
              <a:rPr lang="en-US" dirty="0"/>
              <a:t>is 29 </a:t>
            </a:r>
            <a:r>
              <a:rPr lang="en-US" dirty="0" smtClean="0"/>
              <a:t>days</a:t>
            </a:r>
          </a:p>
          <a:p>
            <a:pPr lvl="4"/>
            <a:r>
              <a:rPr lang="en-US" dirty="0" smtClean="0"/>
              <a:t>29 days = its </a:t>
            </a:r>
            <a:r>
              <a:rPr lang="en-US" dirty="0"/>
              <a:t>LF minus its expected time duration of 6 days.  </a:t>
            </a:r>
            <a:endParaRPr lang="en-US" dirty="0" smtClean="0"/>
          </a:p>
          <a:p>
            <a:pPr lvl="2"/>
            <a:endParaRPr lang="en-US" dirty="0" smtClean="0"/>
          </a:p>
          <a:p>
            <a:pPr lvl="2"/>
            <a:r>
              <a:rPr lang="en-US" dirty="0" smtClean="0"/>
              <a:t>Activity </a:t>
            </a:r>
            <a:r>
              <a:rPr lang="en-US" dirty="0"/>
              <a:t>1.3.2 can finish as late as the LF time of its successor 1.3.3.  </a:t>
            </a:r>
            <a:endParaRPr lang="en-US" dirty="0" smtClean="0"/>
          </a:p>
          <a:p>
            <a:pPr lvl="3"/>
            <a:r>
              <a:rPr lang="en-US" dirty="0" smtClean="0"/>
              <a:t>Therefore</a:t>
            </a:r>
            <a:r>
              <a:rPr lang="en-US" dirty="0"/>
              <a:t>, its LF time is 29 days, and its LS time 26 days.  </a:t>
            </a:r>
            <a:endParaRPr lang="en-US" dirty="0" smtClean="0"/>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512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086600" y="3200400"/>
            <a:ext cx="1447800" cy="16546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0280158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p:txBody>
          <a:bodyPr>
            <a:normAutofit/>
          </a:bodyPr>
          <a:lstStyle/>
          <a:p>
            <a:pPr lvl="1"/>
            <a:endParaRPr lang="en-US" dirty="0" smtClean="0"/>
          </a:p>
          <a:p>
            <a:pPr lvl="1"/>
            <a:endParaRPr lang="en-US" dirty="0"/>
          </a:p>
          <a:p>
            <a:pPr lvl="1"/>
            <a:endParaRPr lang="en-US" dirty="0" smtClean="0"/>
          </a:p>
          <a:p>
            <a:pPr lvl="1"/>
            <a:endParaRPr lang="en-US" dirty="0"/>
          </a:p>
          <a:p>
            <a:pPr lvl="1"/>
            <a:endParaRPr lang="en-US" dirty="0" smtClean="0"/>
          </a:p>
          <a:p>
            <a:pPr lvl="1"/>
            <a:endParaRPr lang="en-US" dirty="0" smtClean="0"/>
          </a:p>
          <a:p>
            <a:pPr lvl="1"/>
            <a:r>
              <a:rPr lang="en-US" dirty="0" smtClean="0"/>
              <a:t>When </a:t>
            </a:r>
            <a:r>
              <a:rPr lang="en-US" dirty="0"/>
              <a:t>the earliest and latest times for each activity are completed, it can be easily seen that only the non-critical activities (i.e., 1.3.1, 1.3.2, and 1.3.3) have slack times.  </a:t>
            </a:r>
            <a:endParaRPr lang="en-US" dirty="0" smtClean="0"/>
          </a:p>
          <a:p>
            <a:pPr lvl="2"/>
            <a:r>
              <a:rPr lang="en-US" dirty="0" smtClean="0"/>
              <a:t>The </a:t>
            </a:r>
            <a:r>
              <a:rPr lang="en-US" dirty="0"/>
              <a:t>total allowable slack time for these activities is 6 days.  </a:t>
            </a:r>
            <a:endParaRPr lang="en-US" dirty="0" smtClean="0"/>
          </a:p>
          <a:p>
            <a:pPr lvl="3"/>
            <a:r>
              <a:rPr lang="en-US" dirty="0" smtClean="0"/>
              <a:t>E.g., </a:t>
            </a:r>
            <a:r>
              <a:rPr lang="en-US" dirty="0"/>
              <a:t>if a slack time of 5 days is used in activity 1.3.1, then only one of the remaining non-critical activities can be delayed by 1 day.  </a:t>
            </a:r>
            <a:endParaRPr lang="en-US" dirty="0" smtClean="0"/>
          </a:p>
          <a:p>
            <a:pPr lvl="3"/>
            <a:r>
              <a:rPr lang="en-US" dirty="0" smtClean="0"/>
              <a:t>E.g., if a </a:t>
            </a:r>
            <a:r>
              <a:rPr lang="en-US" dirty="0"/>
              <a:t>slack time of 6 days is used in activity 1.3.1, then the network will have two critical paths.  </a:t>
            </a:r>
            <a:endParaRPr lang="en-US" dirty="0" smtClean="0"/>
          </a:p>
          <a:p>
            <a:pPr lvl="4"/>
            <a:r>
              <a:rPr lang="en-US" dirty="0" smtClean="0"/>
              <a:t>This </a:t>
            </a:r>
            <a:r>
              <a:rPr lang="en-US" dirty="0"/>
              <a:t>means that in this case, non-critical activities 1.3.2 and 1.3.3 will become critical activities (i.e., no slack times).</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614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290887" y="1676400"/>
            <a:ext cx="2562225" cy="1504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8060048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a:xfrm>
            <a:off x="457200" y="1371601"/>
            <a:ext cx="8305800" cy="4800599"/>
          </a:xfrm>
        </p:spPr>
        <p:txBody>
          <a:bodyPr/>
          <a:lstStyle/>
          <a:p>
            <a:r>
              <a:rPr lang="en-US" dirty="0" smtClean="0"/>
              <a:t>Probability of Time to Completion</a:t>
            </a:r>
          </a:p>
          <a:p>
            <a:pPr lvl="1"/>
            <a:r>
              <a:rPr lang="en-US" dirty="0" smtClean="0"/>
              <a:t>In the previous example, expected </a:t>
            </a:r>
            <a:r>
              <a:rPr lang="en-US" dirty="0"/>
              <a:t>task durations were calculated based on estimates of minimum, average, and maximum durations using the beta distribution.  </a:t>
            </a:r>
            <a:endParaRPr lang="en-US" dirty="0" smtClean="0"/>
          </a:p>
          <a:p>
            <a:pPr lvl="1"/>
            <a:endParaRPr lang="en-US" dirty="0" smtClean="0"/>
          </a:p>
          <a:p>
            <a:pPr lvl="1"/>
            <a:r>
              <a:rPr lang="en-US" dirty="0" smtClean="0"/>
              <a:t>The </a:t>
            </a:r>
            <a:r>
              <a:rPr lang="en-US" dirty="0"/>
              <a:t>other obvious option is to overlook these three parameters and estimate a single average task duration instead.  </a:t>
            </a:r>
            <a:endParaRPr lang="en-US" dirty="0" smtClean="0"/>
          </a:p>
          <a:p>
            <a:pPr lvl="2"/>
            <a:r>
              <a:rPr lang="en-US" dirty="0" smtClean="0"/>
              <a:t>The drawback of this </a:t>
            </a:r>
            <a:r>
              <a:rPr lang="en-US" dirty="0"/>
              <a:t>option </a:t>
            </a:r>
            <a:r>
              <a:rPr lang="en-US" dirty="0" smtClean="0"/>
              <a:t>is that it excludes </a:t>
            </a:r>
            <a:r>
              <a:rPr lang="en-US" dirty="0"/>
              <a:t>a range of possibilities (e.g., max/min values</a:t>
            </a:r>
            <a:r>
              <a:rPr lang="en-US" dirty="0" smtClean="0"/>
              <a:t>) </a:t>
            </a:r>
            <a:r>
              <a:rPr lang="en-US" dirty="0"/>
              <a:t>and accurate estimates of </a:t>
            </a:r>
            <a:r>
              <a:rPr lang="en-US" dirty="0" smtClean="0"/>
              <a:t>task times </a:t>
            </a:r>
            <a:r>
              <a:rPr lang="en-US" dirty="0"/>
              <a:t>with a single parameter seems </a:t>
            </a:r>
            <a:r>
              <a:rPr lang="en-US" dirty="0" smtClean="0"/>
              <a:t>unlikely</a:t>
            </a:r>
            <a:r>
              <a:rPr lang="en-US" dirty="0"/>
              <a:t>.</a:t>
            </a:r>
            <a:r>
              <a:rPr lang="en-US" dirty="0" smtClean="0"/>
              <a:t> </a:t>
            </a:r>
          </a:p>
          <a:p>
            <a:pPr lvl="1"/>
            <a:endParaRPr lang="en-US" dirty="0" smtClean="0"/>
          </a:p>
          <a:p>
            <a:pPr lvl="1"/>
            <a:r>
              <a:rPr lang="en-US" dirty="0" smtClean="0"/>
              <a:t>Benefits of using min, max and avg. parameters </a:t>
            </a:r>
          </a:p>
          <a:p>
            <a:pPr lvl="2"/>
            <a:r>
              <a:rPr lang="en-US" dirty="0"/>
              <a:t>S</a:t>
            </a:r>
            <a:r>
              <a:rPr lang="en-US" dirty="0" smtClean="0"/>
              <a:t>etting </a:t>
            </a:r>
            <a:r>
              <a:rPr lang="en-US" dirty="0"/>
              <a:t>values for these three parameters –instead of one estimate—alleviates the estimation process for decision makers.  </a:t>
            </a:r>
            <a:endParaRPr lang="en-US" dirty="0" smtClean="0"/>
          </a:p>
          <a:p>
            <a:pPr lvl="2"/>
            <a:r>
              <a:rPr lang="en-US" dirty="0" smtClean="0"/>
              <a:t>Estimating these </a:t>
            </a:r>
            <a:r>
              <a:rPr lang="en-US" dirty="0"/>
              <a:t>three parameters </a:t>
            </a:r>
            <a:r>
              <a:rPr lang="en-US" dirty="0" smtClean="0"/>
              <a:t>allows us to </a:t>
            </a:r>
            <a:r>
              <a:rPr lang="en-US" dirty="0"/>
              <a:t>develop variance calculations, and then use the variances to estimate the probability of completing the project within a specific time.           </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 xmlns:p14="http://schemas.microsoft.com/office/powerpoint/2010/main" val="238703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mc:AlternateContent xmlns:mc="http://schemas.openxmlformats.org/markup-compatibility/2006">
        <mc:Choice xmlns="" xmlns:a14="http://schemas.microsoft.com/office/drawing/2010/main" Requires="a14">
          <p:sp>
            <p:nvSpPr>
              <p:cNvPr id="3" name="Content Placeholder 2"/>
              <p:cNvSpPr>
                <a:spLocks noGrp="1"/>
              </p:cNvSpPr>
              <p:nvPr>
                <p:ph idx="1"/>
              </p:nvPr>
            </p:nvSpPr>
            <p:spPr>
              <a:xfrm>
                <a:off x="457200" y="1371601"/>
                <a:ext cx="8305800" cy="4876799"/>
              </a:xfrm>
            </p:spPr>
            <p:txBody>
              <a:bodyPr>
                <a:normAutofit/>
              </a:bodyPr>
              <a:lstStyle/>
              <a:p>
                <a:pPr lvl="1"/>
                <a:r>
                  <a:rPr lang="en-US" dirty="0" smtClean="0"/>
                  <a:t>Estimating </a:t>
                </a:r>
                <a:r>
                  <a:rPr lang="en-US" dirty="0"/>
                  <a:t>the probability of completing a project by a particular time </a:t>
                </a:r>
                <a:r>
                  <a:rPr lang="en-US" dirty="0" smtClean="0"/>
                  <a:t>period requires using the </a:t>
                </a:r>
                <a:r>
                  <a:rPr lang="en-US" i="1" dirty="0"/>
                  <a:t>cumulative standard normal distribution</a:t>
                </a:r>
                <a:r>
                  <a:rPr lang="en-US" dirty="0"/>
                  <a:t> to obtain Z-values.  </a:t>
                </a:r>
                <a:endParaRPr lang="en-US" dirty="0" smtClean="0"/>
              </a:p>
              <a:p>
                <a:pPr lvl="2"/>
                <a:r>
                  <a:rPr lang="en-US" dirty="0" smtClean="0"/>
                  <a:t>The </a:t>
                </a:r>
                <a:r>
                  <a:rPr lang="en-US" dirty="0"/>
                  <a:t>standard normal distribution is a normal distribution with a mean equal to zero and a standard deviation equal to one.  </a:t>
                </a:r>
                <a:endParaRPr lang="en-US" dirty="0" smtClean="0"/>
              </a:p>
              <a:p>
                <a:pPr lvl="2"/>
                <a:r>
                  <a:rPr lang="en-US" dirty="0" smtClean="0"/>
                  <a:t>A </a:t>
                </a:r>
                <a:r>
                  <a:rPr lang="en-US" i="1" dirty="0"/>
                  <a:t>Z-value</a:t>
                </a:r>
                <a:r>
                  <a:rPr lang="en-US" dirty="0"/>
                  <a:t> represents the number of standard deviations from the mean (either to the right or to the left of the mean) of the standard normal </a:t>
                </a:r>
                <a:r>
                  <a:rPr lang="en-US" dirty="0" smtClean="0"/>
                  <a:t>distribution.</a:t>
                </a:r>
                <a:endParaRPr lang="en-US" dirty="0"/>
              </a:p>
              <a:p>
                <a:pPr lvl="1"/>
                <a:endParaRPr lang="en-US" dirty="0" smtClean="0"/>
              </a:p>
              <a:p>
                <a:pPr lvl="1"/>
                <a:r>
                  <a:rPr lang="en-US" dirty="0" smtClean="0"/>
                  <a:t>Use </a:t>
                </a:r>
                <a:r>
                  <a:rPr lang="en-US" dirty="0"/>
                  <a:t>the expected completion times of the critical activities and their variances to determine the probability of completing the critical path activities by a deadline.</a:t>
                </a:r>
                <a:r>
                  <a:rPr lang="en-US" dirty="0" smtClean="0"/>
                  <a:t>          </a:t>
                </a:r>
                <a:endParaRPr lang="en-US" dirty="0"/>
              </a:p>
              <a:p>
                <a:pPr lvl="2"/>
                <a:r>
                  <a:rPr lang="en-US" dirty="0" smtClean="0"/>
                  <a:t>First, transform (a.k.a. </a:t>
                </a:r>
                <a:r>
                  <a:rPr lang="en-US" dirty="0"/>
                  <a:t>“normalize”) the estimated project duration time into a Z-value using </a:t>
                </a:r>
                <a:r>
                  <a:rPr lang="en-US" dirty="0" smtClean="0"/>
                  <a:t>the following equation:</a:t>
                </a:r>
              </a:p>
              <a:p>
                <a:pPr lvl="2"/>
                <a:endParaRPr lang="en-US" dirty="0"/>
              </a:p>
              <a:p>
                <a:pPr lvl="2"/>
                <a:endParaRPr lang="en-US" dirty="0" smtClean="0"/>
              </a:p>
              <a:p>
                <a:pPr lvl="3"/>
                <a:r>
                  <a:rPr lang="en-US" dirty="0" smtClean="0"/>
                  <a:t>Z </a:t>
                </a:r>
                <a:r>
                  <a:rPr lang="en-US" dirty="0"/>
                  <a:t>= the number of standard deviations of a standard normal </a:t>
                </a:r>
                <a:r>
                  <a:rPr lang="en-US" dirty="0" smtClean="0"/>
                  <a:t>distribution</a:t>
                </a:r>
              </a:p>
              <a:p>
                <a:pPr lvl="3"/>
                <a:r>
                  <a:rPr lang="en-US" dirty="0"/>
                  <a:t>D = the desired completion time (usually in days) of a </a:t>
                </a:r>
                <a:r>
                  <a:rPr lang="en-US" dirty="0" smtClean="0"/>
                  <a:t>project</a:t>
                </a:r>
              </a:p>
              <a:p>
                <a:pPr lvl="3"/>
                <a:r>
                  <a:rPr lang="en-US" dirty="0"/>
                  <a:t>EPT =expected project completion time (this is the critical path duration</a:t>
                </a:r>
                <a:r>
                  <a:rPr lang="en-US" dirty="0" smtClean="0"/>
                  <a:t>)</a:t>
                </a:r>
              </a:p>
              <a:p>
                <a:pPr lvl="3"/>
                <a14:m>
                  <m:oMath xmlns:m="http://schemas.openxmlformats.org/officeDocument/2006/math">
                    <m:sSubSup>
                      <m:sSubSupPr>
                        <m:ctrlPr>
                          <a:rPr lang="en-US" i="1"/>
                        </m:ctrlPr>
                      </m:sSubSupPr>
                      <m:e>
                        <m:r>
                          <a:rPr lang="en-US" i="1"/>
                          <m:t>𝜎</m:t>
                        </m:r>
                      </m:e>
                      <m:sub>
                        <m:r>
                          <a:rPr lang="en-US" i="1"/>
                          <m:t>𝐸𝑃𝑇</m:t>
                        </m:r>
                      </m:sub>
                      <m:sup>
                        <m:r>
                          <a:rPr lang="en-US" i="1"/>
                          <m:t>2</m:t>
                        </m:r>
                      </m:sup>
                    </m:sSubSup>
                  </m:oMath>
                </a14:m>
                <a:r>
                  <a:rPr lang="en-US" dirty="0"/>
                  <a:t> = the variance of the critical path</a:t>
                </a:r>
              </a:p>
              <a:p>
                <a:pPr lvl="3"/>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371601"/>
                <a:ext cx="8305800" cy="4876799"/>
              </a:xfrm>
              <a:blipFill rotWithShape="1">
                <a:blip r:embed="rId2" cstate="print"/>
                <a:stretch>
                  <a:fillRect t="-625" r="-124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7170"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86200" y="4495800"/>
            <a:ext cx="1000125" cy="676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7445454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p:txBody>
          <a:bodyPr/>
          <a:lstStyle/>
          <a:p>
            <a:r>
              <a:rPr lang="en-US" dirty="0" smtClean="0"/>
              <a:t>Example of the cumulative </a:t>
            </a:r>
          </a:p>
          <a:p>
            <a:pPr marL="0" indent="0">
              <a:buNone/>
            </a:pPr>
            <a:r>
              <a:rPr lang="en-US" dirty="0"/>
              <a:t> </a:t>
            </a:r>
            <a:r>
              <a:rPr lang="en-US" dirty="0" smtClean="0"/>
              <a:t>     normal distribution </a:t>
            </a:r>
            <a:r>
              <a:rPr lang="en-US" dirty="0"/>
              <a:t>table</a:t>
            </a:r>
            <a:r>
              <a:rPr lang="en-US" dirty="0" smtClean="0"/>
              <a:t>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pic>
        <p:nvPicPr>
          <p:cNvPr id="7" name="Picture 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33800" y="1371600"/>
            <a:ext cx="3886200" cy="51743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8381479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a:t>
            </a:r>
            <a:br>
              <a:rPr lang="en-US" dirty="0"/>
            </a:br>
            <a:r>
              <a:rPr lang="en-US" dirty="0"/>
              <a:t>- Network Diagrams -</a:t>
            </a:r>
          </a:p>
        </p:txBody>
      </p:sp>
      <p:sp>
        <p:nvSpPr>
          <p:cNvPr id="3" name="Content Placeholder 2"/>
          <p:cNvSpPr>
            <a:spLocks noGrp="1"/>
          </p:cNvSpPr>
          <p:nvPr>
            <p:ph idx="1"/>
          </p:nvPr>
        </p:nvSpPr>
        <p:spPr>
          <a:xfrm>
            <a:off x="457200" y="1371601"/>
            <a:ext cx="8305800" cy="4876799"/>
          </a:xfrm>
        </p:spPr>
        <p:txBody>
          <a:bodyPr>
            <a:normAutofit/>
          </a:bodyPr>
          <a:lstStyle/>
          <a:p>
            <a:pPr lvl="1"/>
            <a:r>
              <a:rPr lang="en-US" dirty="0" smtClean="0"/>
              <a:t>With the </a:t>
            </a:r>
            <a:r>
              <a:rPr lang="en-US" dirty="0"/>
              <a:t>Z-value, </a:t>
            </a:r>
            <a:r>
              <a:rPr lang="en-US" dirty="0" smtClean="0"/>
              <a:t>find </a:t>
            </a:r>
            <a:r>
              <a:rPr lang="en-US" dirty="0"/>
              <a:t>the </a:t>
            </a:r>
            <a:r>
              <a:rPr lang="en-US" dirty="0" smtClean="0"/>
              <a:t>probability of </a:t>
            </a:r>
            <a:r>
              <a:rPr lang="en-US" dirty="0"/>
              <a:t>completing the project by a certain </a:t>
            </a:r>
            <a:endParaRPr lang="en-US" dirty="0" smtClean="0"/>
          </a:p>
          <a:p>
            <a:pPr marL="457200" lvl="1" indent="0">
              <a:buNone/>
            </a:pPr>
            <a:r>
              <a:rPr lang="en-US" dirty="0"/>
              <a:t> </a:t>
            </a:r>
            <a:r>
              <a:rPr lang="en-US" dirty="0" smtClean="0"/>
              <a:t>    time </a:t>
            </a:r>
            <a:r>
              <a:rPr lang="en-US" dirty="0"/>
              <a:t>using a cumulative normal </a:t>
            </a:r>
            <a:r>
              <a:rPr lang="en-US" dirty="0" smtClean="0"/>
              <a:t>distribution table</a:t>
            </a:r>
          </a:p>
          <a:p>
            <a:pPr lvl="2"/>
            <a:r>
              <a:rPr lang="en-US" dirty="0" smtClean="0"/>
              <a:t>In this </a:t>
            </a:r>
            <a:r>
              <a:rPr lang="en-US" dirty="0"/>
              <a:t>table we can find the </a:t>
            </a:r>
            <a:r>
              <a:rPr lang="en-US" dirty="0" smtClean="0"/>
              <a:t>probability associated </a:t>
            </a:r>
            <a:r>
              <a:rPr lang="en-US" dirty="0"/>
              <a:t>with a Z-value. </a:t>
            </a:r>
            <a:endParaRPr lang="en-US" dirty="0" smtClean="0"/>
          </a:p>
          <a:p>
            <a:pPr lvl="1"/>
            <a:endParaRPr lang="en-US" dirty="0" smtClean="0"/>
          </a:p>
          <a:p>
            <a:pPr lvl="1"/>
            <a:r>
              <a:rPr lang="en-US" dirty="0" smtClean="0"/>
              <a:t>For example, </a:t>
            </a:r>
            <a:r>
              <a:rPr lang="en-US" dirty="0"/>
              <a:t>assume that a design project has an expected critical path duration of 75 days, with a critical path variance of 36 </a:t>
            </a:r>
            <a:r>
              <a:rPr lang="en-US" dirty="0" smtClean="0"/>
              <a:t>days.  What is </a:t>
            </a:r>
            <a:r>
              <a:rPr lang="en-US" dirty="0"/>
              <a:t>the probability of completing the project in 85 days.  </a:t>
            </a:r>
            <a:endParaRPr lang="en-US" dirty="0" smtClean="0"/>
          </a:p>
          <a:p>
            <a:pPr lvl="2"/>
            <a:r>
              <a:rPr lang="en-US" dirty="0" smtClean="0"/>
              <a:t>Step #1: Calculate </a:t>
            </a:r>
            <a:r>
              <a:rPr lang="en-US" dirty="0"/>
              <a:t>a Z-value </a:t>
            </a:r>
            <a:endParaRPr lang="en-US" dirty="0" smtClean="0"/>
          </a:p>
          <a:p>
            <a:pPr lvl="3"/>
            <a:r>
              <a:rPr lang="en-US" dirty="0" smtClean="0"/>
              <a:t>Z-value = 1.67 using the equation</a:t>
            </a:r>
          </a:p>
          <a:p>
            <a:pPr marL="1371600" lvl="3" indent="0">
              <a:buNone/>
            </a:pPr>
            <a:endParaRPr lang="en-US" dirty="0" smtClean="0"/>
          </a:p>
          <a:p>
            <a:pPr lvl="2"/>
            <a:r>
              <a:rPr lang="en-US" dirty="0" smtClean="0"/>
              <a:t>Step #2: Find the probability using the cumulative normal distribution table</a:t>
            </a:r>
          </a:p>
          <a:p>
            <a:pPr lvl="3"/>
            <a:r>
              <a:rPr lang="en-US" dirty="0" smtClean="0"/>
              <a:t>Probability = 0.9525 (go down the left column until 1.6, then across to the right until column 0.07).  </a:t>
            </a:r>
          </a:p>
          <a:p>
            <a:pPr lvl="3"/>
            <a:r>
              <a:rPr lang="en-US" dirty="0" smtClean="0"/>
              <a:t>This means that there is a 95.25 percent probability of finishing the design project in 85 days, given the variance in the expected project duration time.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pic>
        <p:nvPicPr>
          <p:cNvPr id="11"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48199" y="3738563"/>
            <a:ext cx="838201" cy="5667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2405686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Planning Stage </a:t>
            </a:r>
            <a:r>
              <a:rPr lang="en-US" dirty="0" smtClean="0"/>
              <a:t/>
            </a:r>
            <a:br>
              <a:rPr lang="en-US" dirty="0" smtClean="0"/>
            </a:br>
            <a:r>
              <a:rPr lang="en-US" dirty="0" smtClean="0"/>
              <a:t>-Establish Change Control Policy-</a:t>
            </a:r>
            <a:endParaRPr lang="en-US" dirty="0"/>
          </a:p>
        </p:txBody>
      </p:sp>
      <p:sp>
        <p:nvSpPr>
          <p:cNvPr id="3" name="Content Placeholder 2"/>
          <p:cNvSpPr>
            <a:spLocks noGrp="1"/>
          </p:cNvSpPr>
          <p:nvPr>
            <p:ph idx="1"/>
          </p:nvPr>
        </p:nvSpPr>
        <p:spPr/>
        <p:txBody>
          <a:bodyPr>
            <a:normAutofit/>
          </a:bodyPr>
          <a:lstStyle/>
          <a:p>
            <a:r>
              <a:rPr lang="en-US" dirty="0"/>
              <a:t>Managing the design of software systems is often a very complex endeavor, especially when changes to the design occur after the design has successfully gone through peer reviews.  </a:t>
            </a:r>
            <a:endParaRPr lang="en-US" dirty="0" smtClean="0"/>
          </a:p>
          <a:p>
            <a:pPr lvl="1"/>
            <a:r>
              <a:rPr lang="en-US" dirty="0" smtClean="0"/>
              <a:t>Even </a:t>
            </a:r>
            <a:r>
              <a:rPr lang="en-US" dirty="0"/>
              <a:t>a small design change can result in system failures if not managed appropriately.  </a:t>
            </a:r>
            <a:endParaRPr lang="en-US" dirty="0" smtClean="0"/>
          </a:p>
          <a:p>
            <a:pPr lvl="1"/>
            <a:r>
              <a:rPr lang="en-US" dirty="0" smtClean="0"/>
              <a:t>To </a:t>
            </a:r>
            <a:r>
              <a:rPr lang="en-US" dirty="0"/>
              <a:t>avoid major problems later in the project, it is critical that a formal change control process gets adopted early in the planning phase.  </a:t>
            </a:r>
            <a:endParaRPr lang="en-US" dirty="0" smtClean="0"/>
          </a:p>
          <a:p>
            <a:endParaRPr lang="en-US" dirty="0" smtClean="0"/>
          </a:p>
          <a:p>
            <a:r>
              <a:rPr lang="en-US" dirty="0" smtClean="0"/>
              <a:t>A </a:t>
            </a:r>
            <a:r>
              <a:rPr lang="en-US" dirty="0"/>
              <a:t>change control process </a:t>
            </a:r>
            <a:r>
              <a:rPr lang="en-US" dirty="0" smtClean="0"/>
              <a:t>helps to ensure </a:t>
            </a:r>
            <a:r>
              <a:rPr lang="en-US" dirty="0"/>
              <a:t>the technical integrity of the design in the presence of changes.  </a:t>
            </a:r>
            <a:endParaRPr lang="en-US" dirty="0" smtClean="0"/>
          </a:p>
          <a:p>
            <a:endParaRPr lang="en-US" dirty="0"/>
          </a:p>
          <a:p>
            <a:r>
              <a:rPr lang="en-US" dirty="0" smtClean="0"/>
              <a:t>Let’s see an example of a change control process…..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Establish Change Control </a:t>
            </a:r>
            <a:r>
              <a:rPr lang="en-US" dirty="0" smtClean="0"/>
              <a:t>Policy (An Example)</a:t>
            </a:r>
            <a:endParaRPr lang="en-US" dirty="0"/>
          </a:p>
        </p:txBody>
      </p:sp>
      <p:sp>
        <p:nvSpPr>
          <p:cNvPr id="3" name="Content Placeholder 2"/>
          <p:cNvSpPr>
            <a:spLocks noGrp="1"/>
          </p:cNvSpPr>
          <p:nvPr>
            <p:ph idx="1"/>
          </p:nvPr>
        </p:nvSpPr>
        <p:spPr>
          <a:xfrm>
            <a:off x="381000" y="1371601"/>
            <a:ext cx="8229600" cy="4800599"/>
          </a:xfrm>
        </p:spPr>
        <p:txBody>
          <a:bodyPr>
            <a:normAutofit fontScale="92500" lnSpcReduction="20000"/>
          </a:bodyPr>
          <a:lstStyle/>
          <a:p>
            <a:r>
              <a:rPr lang="en-US" dirty="0" smtClean="0"/>
              <a:t>Steps:</a:t>
            </a:r>
          </a:p>
          <a:p>
            <a:pPr lvl="1"/>
            <a:r>
              <a:rPr lang="en-US" dirty="0" smtClean="0"/>
              <a:t>A </a:t>
            </a:r>
            <a:r>
              <a:rPr lang="en-US" dirty="0"/>
              <a:t>change request is submitted to the Change Control </a:t>
            </a:r>
            <a:r>
              <a:rPr lang="en-US" dirty="0" smtClean="0"/>
              <a:t>Authority (i.e., the </a:t>
            </a:r>
            <a:r>
              <a:rPr lang="en-US" dirty="0"/>
              <a:t>project manager, the design lead, or the group that makes the final decision on the status and priority of a change</a:t>
            </a:r>
            <a:r>
              <a:rPr lang="en-US" dirty="0" smtClean="0"/>
              <a:t>.) </a:t>
            </a:r>
          </a:p>
          <a:p>
            <a:pPr lvl="1"/>
            <a:endParaRPr lang="en-US" dirty="0" smtClean="0"/>
          </a:p>
          <a:p>
            <a:pPr lvl="1"/>
            <a:r>
              <a:rPr lang="en-US" dirty="0" smtClean="0"/>
              <a:t>Request </a:t>
            </a:r>
            <a:r>
              <a:rPr lang="en-US" dirty="0"/>
              <a:t>is </a:t>
            </a:r>
            <a:r>
              <a:rPr lang="en-US" dirty="0" smtClean="0"/>
              <a:t>evaluated based </a:t>
            </a:r>
            <a:r>
              <a:rPr lang="en-US" dirty="0"/>
              <a:t>on </a:t>
            </a:r>
            <a:endParaRPr lang="en-US" dirty="0" smtClean="0"/>
          </a:p>
          <a:p>
            <a:pPr marL="457200" lvl="1" indent="0">
              <a:buNone/>
            </a:pPr>
            <a:r>
              <a:rPr lang="en-US" dirty="0"/>
              <a:t> </a:t>
            </a:r>
            <a:r>
              <a:rPr lang="en-US" dirty="0" smtClean="0"/>
              <a:t>    technical </a:t>
            </a:r>
            <a:r>
              <a:rPr lang="en-US" dirty="0"/>
              <a:t>merit, complexity of </a:t>
            </a:r>
          </a:p>
          <a:p>
            <a:pPr marL="457200" lvl="1" indent="0">
              <a:buNone/>
            </a:pPr>
            <a:r>
              <a:rPr lang="en-US" dirty="0" smtClean="0"/>
              <a:t>     integration</a:t>
            </a:r>
            <a:r>
              <a:rPr lang="en-US" dirty="0"/>
              <a:t>, </a:t>
            </a:r>
            <a:r>
              <a:rPr lang="en-US" dirty="0" smtClean="0"/>
              <a:t>&amp; </a:t>
            </a:r>
            <a:r>
              <a:rPr lang="en-US" dirty="0"/>
              <a:t>potential side effects.  </a:t>
            </a:r>
            <a:endParaRPr lang="en-US" dirty="0" smtClean="0"/>
          </a:p>
          <a:p>
            <a:pPr lvl="1"/>
            <a:endParaRPr lang="en-US" dirty="0" smtClean="0"/>
          </a:p>
          <a:p>
            <a:pPr lvl="1"/>
            <a:r>
              <a:rPr lang="en-US" dirty="0" smtClean="0"/>
              <a:t>From the </a:t>
            </a:r>
            <a:r>
              <a:rPr lang="en-US" dirty="0"/>
              <a:t>assessments, </a:t>
            </a:r>
            <a:r>
              <a:rPr lang="en-US" dirty="0" smtClean="0"/>
              <a:t>the request </a:t>
            </a:r>
          </a:p>
          <a:p>
            <a:pPr marL="457200" lvl="1" indent="0">
              <a:buNone/>
            </a:pPr>
            <a:r>
              <a:rPr lang="en-US" dirty="0" smtClean="0"/>
              <a:t>     is </a:t>
            </a:r>
            <a:r>
              <a:rPr lang="en-US" dirty="0"/>
              <a:t>assigned a change priority. </a:t>
            </a:r>
            <a:endParaRPr lang="en-US" dirty="0" smtClean="0"/>
          </a:p>
          <a:p>
            <a:pPr lvl="1"/>
            <a:endParaRPr lang="en-US" dirty="0" smtClean="0"/>
          </a:p>
          <a:p>
            <a:pPr lvl="1"/>
            <a:r>
              <a:rPr lang="en-US" dirty="0" smtClean="0"/>
              <a:t>Developers </a:t>
            </a:r>
            <a:r>
              <a:rPr lang="en-US" dirty="0"/>
              <a:t>then take their initial </a:t>
            </a:r>
            <a:endParaRPr lang="en-US" dirty="0" smtClean="0"/>
          </a:p>
          <a:p>
            <a:pPr marL="457200" lvl="1" indent="0">
              <a:buNone/>
            </a:pPr>
            <a:r>
              <a:rPr lang="en-US" dirty="0"/>
              <a:t> </a:t>
            </a:r>
            <a:r>
              <a:rPr lang="en-US" dirty="0" smtClean="0"/>
              <a:t>    design </a:t>
            </a:r>
            <a:r>
              <a:rPr lang="en-US" dirty="0"/>
              <a:t>documents through another round of formal reviews to </a:t>
            </a:r>
            <a:endParaRPr lang="en-US" dirty="0" smtClean="0"/>
          </a:p>
          <a:p>
            <a:pPr marL="457200" lvl="1" indent="0">
              <a:buNone/>
            </a:pPr>
            <a:r>
              <a:rPr lang="en-US" dirty="0"/>
              <a:t> </a:t>
            </a:r>
            <a:r>
              <a:rPr lang="en-US" dirty="0" smtClean="0"/>
              <a:t>    obtain </a:t>
            </a:r>
            <a:r>
              <a:rPr lang="en-US" dirty="0"/>
              <a:t>updated estimates for the budget, schedule, and staffing. </a:t>
            </a:r>
            <a:endParaRPr lang="en-US" dirty="0" smtClean="0"/>
          </a:p>
          <a:p>
            <a:pPr lvl="1"/>
            <a:endParaRPr lang="en-US" dirty="0" smtClean="0"/>
          </a:p>
          <a:p>
            <a:pPr lvl="1"/>
            <a:r>
              <a:rPr lang="en-US" dirty="0" smtClean="0"/>
              <a:t>Finally</a:t>
            </a:r>
            <a:r>
              <a:rPr lang="en-US" dirty="0"/>
              <a:t>, updated design documents and schedule estimates must then be approved by the customer since they represent changes to the original estimates.</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graphicFrame>
        <p:nvGraphicFramePr>
          <p:cNvPr id="7" name="Object 6"/>
          <p:cNvGraphicFramePr>
            <a:graphicFrameLocks noChangeAspect="1"/>
          </p:cNvGraphicFramePr>
          <p:nvPr>
            <p:extLst>
              <p:ext uri="{D42A27DB-BD31-4B8C-83A1-F6EECF244321}">
                <p14:modId xmlns="" xmlns:p14="http://schemas.microsoft.com/office/powerpoint/2010/main" val="3969663381"/>
              </p:ext>
            </p:extLst>
          </p:nvPr>
        </p:nvGraphicFramePr>
        <p:xfrm>
          <a:off x="4495800" y="2419350"/>
          <a:ext cx="4391025" cy="2686050"/>
        </p:xfrm>
        <a:graphic>
          <a:graphicData uri="http://schemas.openxmlformats.org/presentationml/2006/ole">
            <p:oleObj spid="_x0000_s11291" name="Visio" r:id="rId3" imgW="4396632" imgH="2671223" progId="">
              <p:embed/>
            </p:oleObj>
          </a:graphicData>
        </a:graphic>
      </p:graphicFrame>
    </p:spTree>
    <p:extLst>
      <p:ext uri="{BB962C8B-B14F-4D97-AF65-F5344CB8AC3E}">
        <p14:creationId xmlns="" xmlns:p14="http://schemas.microsoft.com/office/powerpoint/2010/main" val="16022538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a:t>
            </a:r>
            <a:r>
              <a:rPr lang="en-US" dirty="0" smtClean="0"/>
              <a:t>Implementation </a:t>
            </a:r>
            <a:r>
              <a:rPr lang="en-US" dirty="0"/>
              <a:t>Stage</a:t>
            </a:r>
            <a:br>
              <a:rPr lang="en-US" dirty="0"/>
            </a:br>
            <a:r>
              <a:rPr lang="en-US" dirty="0"/>
              <a:t>- </a:t>
            </a:r>
            <a:r>
              <a:rPr lang="en-US" dirty="0" smtClean="0"/>
              <a:t>Earned Value Management (EVM)-</a:t>
            </a:r>
            <a:endParaRPr lang="en-US" dirty="0"/>
          </a:p>
        </p:txBody>
      </p:sp>
      <p:sp>
        <p:nvSpPr>
          <p:cNvPr id="3" name="Content Placeholder 2"/>
          <p:cNvSpPr>
            <a:spLocks noGrp="1"/>
          </p:cNvSpPr>
          <p:nvPr>
            <p:ph idx="1"/>
          </p:nvPr>
        </p:nvSpPr>
        <p:spPr/>
        <p:txBody>
          <a:bodyPr>
            <a:normAutofit/>
          </a:bodyPr>
          <a:lstStyle/>
          <a:p>
            <a:r>
              <a:rPr lang="en-US" dirty="0"/>
              <a:t>During the implementation stage, </a:t>
            </a:r>
            <a:r>
              <a:rPr lang="en-US" dirty="0" smtClean="0"/>
              <a:t>main </a:t>
            </a:r>
            <a:r>
              <a:rPr lang="en-US" dirty="0"/>
              <a:t>managerial </a:t>
            </a:r>
            <a:r>
              <a:rPr lang="en-US" dirty="0" smtClean="0"/>
              <a:t>activities deal with </a:t>
            </a:r>
            <a:r>
              <a:rPr lang="en-US" i="1" dirty="0" smtClean="0"/>
              <a:t>monitoring </a:t>
            </a:r>
            <a:r>
              <a:rPr lang="en-US" i="1" dirty="0"/>
              <a:t>and controlling </a:t>
            </a:r>
            <a:r>
              <a:rPr lang="en-US" dirty="0"/>
              <a:t>that the design project activities are being accomplished according to the plan (i.e., schedule and budget).  </a:t>
            </a:r>
            <a:endParaRPr lang="en-US" dirty="0" smtClean="0"/>
          </a:p>
          <a:p>
            <a:pPr lvl="1"/>
            <a:r>
              <a:rPr lang="en-US" dirty="0" smtClean="0"/>
              <a:t>Monitoring </a:t>
            </a:r>
            <a:r>
              <a:rPr lang="en-US" dirty="0"/>
              <a:t>and controlling mechanisms exist </a:t>
            </a:r>
            <a:r>
              <a:rPr lang="en-US" dirty="0" smtClean="0"/>
              <a:t>to:</a:t>
            </a:r>
          </a:p>
          <a:p>
            <a:pPr lvl="2"/>
            <a:r>
              <a:rPr lang="en-US" dirty="0" smtClean="0"/>
              <a:t>Identify </a:t>
            </a:r>
            <a:r>
              <a:rPr lang="en-US" dirty="0"/>
              <a:t>any deviations from the plan, and </a:t>
            </a:r>
            <a:endParaRPr lang="en-US" dirty="0" smtClean="0"/>
          </a:p>
          <a:p>
            <a:pPr lvl="2"/>
            <a:r>
              <a:rPr lang="en-US" dirty="0"/>
              <a:t>E</a:t>
            </a:r>
            <a:r>
              <a:rPr lang="en-US" dirty="0" smtClean="0"/>
              <a:t>nsure </a:t>
            </a:r>
            <a:r>
              <a:rPr lang="en-US" dirty="0"/>
              <a:t>that these deviations get corrected in a timely manner in order to avoid major future problems.  </a:t>
            </a:r>
            <a:endParaRPr lang="en-US" dirty="0" smtClean="0"/>
          </a:p>
          <a:p>
            <a:endParaRPr lang="en-US" dirty="0"/>
          </a:p>
          <a:p>
            <a:r>
              <a:rPr lang="en-US" dirty="0" smtClean="0"/>
              <a:t>Appropriate </a:t>
            </a:r>
            <a:r>
              <a:rPr lang="en-US" dirty="0"/>
              <a:t>project management tools for this phase </a:t>
            </a:r>
            <a:r>
              <a:rPr lang="en-US" dirty="0" smtClean="0"/>
              <a:t>are:</a:t>
            </a:r>
          </a:p>
          <a:p>
            <a:pPr lvl="1"/>
            <a:r>
              <a:rPr lang="en-US" i="1" dirty="0" smtClean="0"/>
              <a:t>Gantt </a:t>
            </a:r>
            <a:r>
              <a:rPr lang="en-US" i="1" dirty="0"/>
              <a:t>charts</a:t>
            </a:r>
            <a:r>
              <a:rPr lang="en-US" dirty="0"/>
              <a:t> and </a:t>
            </a:r>
            <a:endParaRPr lang="en-US" dirty="0" smtClean="0"/>
          </a:p>
          <a:p>
            <a:pPr lvl="1"/>
            <a:r>
              <a:rPr lang="en-US" i="1" dirty="0" smtClean="0"/>
              <a:t>Earned </a:t>
            </a:r>
            <a:r>
              <a:rPr lang="en-US" i="1" dirty="0"/>
              <a:t>value management</a:t>
            </a:r>
            <a:r>
              <a:rPr lang="en-US" dirty="0"/>
              <a:t>.  </a:t>
            </a:r>
            <a:endParaRPr lang="en-US" dirty="0" smtClean="0"/>
          </a:p>
          <a:p>
            <a:pPr lvl="1"/>
            <a:endParaRPr lang="en-US" dirty="0"/>
          </a:p>
          <a:p>
            <a:r>
              <a:rPr lang="en-US" dirty="0" smtClean="0"/>
              <a:t>Since </a:t>
            </a:r>
            <a:r>
              <a:rPr lang="en-US" dirty="0"/>
              <a:t>we have already covered Gantt charts in the previous section, </a:t>
            </a:r>
            <a:r>
              <a:rPr lang="en-US" dirty="0" smtClean="0"/>
              <a:t>let’s focus now on </a:t>
            </a:r>
            <a:r>
              <a:rPr lang="en-US" i="1" dirty="0"/>
              <a:t>earned value </a:t>
            </a:r>
            <a:r>
              <a:rPr lang="en-US" i="1" dirty="0" smtClean="0"/>
              <a:t>management</a:t>
            </a:r>
            <a:r>
              <a:rPr lang="en-US" dirty="0" smtClean="0"/>
              <a:t> (EVM).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 xmlns:p14="http://schemas.microsoft.com/office/powerpoint/2010/main" val="4039418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Implementation Stage</a:t>
            </a:r>
            <a:br>
              <a:rPr lang="en-US" dirty="0"/>
            </a:br>
            <a:r>
              <a:rPr lang="en-US" dirty="0"/>
              <a:t>- Earned Value Management (EVM)-</a:t>
            </a:r>
          </a:p>
        </p:txBody>
      </p:sp>
      <p:sp>
        <p:nvSpPr>
          <p:cNvPr id="3" name="Content Placeholder 2"/>
          <p:cNvSpPr>
            <a:spLocks noGrp="1"/>
          </p:cNvSpPr>
          <p:nvPr>
            <p:ph idx="1"/>
          </p:nvPr>
        </p:nvSpPr>
        <p:spPr/>
        <p:txBody>
          <a:bodyPr>
            <a:normAutofit lnSpcReduction="10000"/>
          </a:bodyPr>
          <a:lstStyle/>
          <a:p>
            <a:r>
              <a:rPr lang="en-US" dirty="0" smtClean="0"/>
              <a:t>EVM </a:t>
            </a:r>
            <a:r>
              <a:rPr lang="en-US" dirty="0"/>
              <a:t>is </a:t>
            </a:r>
            <a:r>
              <a:rPr lang="en-US" dirty="0" smtClean="0"/>
              <a:t>a </a:t>
            </a:r>
            <a:r>
              <a:rPr lang="en-US" dirty="0"/>
              <a:t>project management technique to determine the progress of tasks based on the value of the work currently completed versus the work that was expected to be completed at that particular time.  </a:t>
            </a:r>
            <a:endParaRPr lang="en-US" dirty="0" smtClean="0"/>
          </a:p>
          <a:p>
            <a:endParaRPr lang="en-US" dirty="0"/>
          </a:p>
          <a:p>
            <a:r>
              <a:rPr lang="en-US" dirty="0" smtClean="0"/>
              <a:t>The </a:t>
            </a:r>
            <a:r>
              <a:rPr lang="en-US" dirty="0"/>
              <a:t>term used to define the dollar amount of the work currently completed is called </a:t>
            </a:r>
            <a:r>
              <a:rPr lang="en-US" i="1" dirty="0"/>
              <a:t>earned value (EV)</a:t>
            </a:r>
            <a:r>
              <a:rPr lang="en-US" dirty="0"/>
              <a:t>.  </a:t>
            </a:r>
            <a:endParaRPr lang="en-US" dirty="0" smtClean="0"/>
          </a:p>
          <a:p>
            <a:pPr lvl="1"/>
            <a:r>
              <a:rPr lang="en-US" dirty="0" smtClean="0"/>
              <a:t>EV </a:t>
            </a:r>
            <a:r>
              <a:rPr lang="en-US" dirty="0"/>
              <a:t>is calculated by multiplying the percentage work completed times the planned total cost of the work when completed.  </a:t>
            </a:r>
            <a:endParaRPr lang="en-US" dirty="0" smtClean="0"/>
          </a:p>
          <a:p>
            <a:pPr marL="457200" lvl="1" indent="0">
              <a:buNone/>
            </a:pPr>
            <a:endParaRPr lang="en-US" dirty="0" smtClean="0"/>
          </a:p>
          <a:p>
            <a:pPr lvl="1"/>
            <a:endParaRPr lang="en-US" dirty="0" smtClean="0"/>
          </a:p>
          <a:p>
            <a:pPr lvl="1"/>
            <a:r>
              <a:rPr lang="en-US" dirty="0" smtClean="0"/>
              <a:t>A </a:t>
            </a:r>
            <a:r>
              <a:rPr lang="en-US" dirty="0"/>
              <a:t>key factor is to accurately estimate the percentage of work </a:t>
            </a:r>
            <a:r>
              <a:rPr lang="en-US" dirty="0" smtClean="0"/>
              <a:t>completed,</a:t>
            </a:r>
          </a:p>
          <a:p>
            <a:pPr lvl="2"/>
            <a:r>
              <a:rPr lang="en-US" dirty="0" smtClean="0"/>
              <a:t>Challenges to estimate % work completed:</a:t>
            </a:r>
          </a:p>
          <a:p>
            <a:pPr lvl="3"/>
            <a:r>
              <a:rPr lang="en-US" dirty="0" smtClean="0"/>
              <a:t>Complexity </a:t>
            </a:r>
            <a:r>
              <a:rPr lang="en-US" dirty="0"/>
              <a:t>of tasks and </a:t>
            </a:r>
            <a:r>
              <a:rPr lang="en-US" dirty="0" smtClean="0"/>
              <a:t>high </a:t>
            </a:r>
            <a:r>
              <a:rPr lang="en-US" dirty="0"/>
              <a:t>degree of subjectivity that is typically involved. </a:t>
            </a:r>
            <a:endParaRPr lang="en-US" dirty="0" smtClean="0"/>
          </a:p>
          <a:p>
            <a:pPr lvl="3"/>
            <a:r>
              <a:rPr lang="en-US" dirty="0" smtClean="0"/>
              <a:t>Workers </a:t>
            </a:r>
            <a:r>
              <a:rPr lang="en-US" dirty="0"/>
              <a:t>tend to inflate the </a:t>
            </a:r>
            <a:r>
              <a:rPr lang="en-US" dirty="0" smtClean="0"/>
              <a:t>% </a:t>
            </a:r>
            <a:r>
              <a:rPr lang="en-US" dirty="0"/>
              <a:t>of work completed to give the perception that work is progressing smoothly for the completion of the task.  </a:t>
            </a:r>
            <a:endParaRPr lang="en-US" dirty="0" smtClean="0"/>
          </a:p>
          <a:p>
            <a:pPr lvl="2"/>
            <a:r>
              <a:rPr lang="en-US" dirty="0" smtClean="0"/>
              <a:t>There </a:t>
            </a:r>
            <a:r>
              <a:rPr lang="en-US" dirty="0"/>
              <a:t>are various ways to estimate percentage completion. </a:t>
            </a:r>
          </a:p>
          <a:p>
            <a:pPr lvl="3"/>
            <a:r>
              <a:rPr lang="en-US" dirty="0" smtClean="0"/>
              <a:t>Let’s see some guidelines to estimate % completion of a task…..</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pic>
        <p:nvPicPr>
          <p:cNvPr id="1331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057400" y="3886200"/>
            <a:ext cx="4724400" cy="2476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48023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Implementation Stage</a:t>
            </a:r>
            <a:br>
              <a:rPr lang="en-US" dirty="0"/>
            </a:br>
            <a:r>
              <a:rPr lang="en-US" dirty="0"/>
              <a:t>- Earned Value Management (EVM)-</a:t>
            </a:r>
          </a:p>
        </p:txBody>
      </p:sp>
      <p:sp>
        <p:nvSpPr>
          <p:cNvPr id="3" name="Content Placeholder 2"/>
          <p:cNvSpPr>
            <a:spLocks noGrp="1"/>
          </p:cNvSpPr>
          <p:nvPr>
            <p:ph idx="1"/>
          </p:nvPr>
        </p:nvSpPr>
        <p:spPr/>
        <p:txBody>
          <a:bodyPr/>
          <a:lstStyle/>
          <a:p>
            <a:endParaRPr lang="en-US" dirty="0" smtClean="0"/>
          </a:p>
          <a:p>
            <a:r>
              <a:rPr lang="en-US" dirty="0" smtClean="0"/>
              <a:t>Guidelines for estimating % completion for a task [1]</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a:t>With EV calculations for each task (i.e., each element in the WBS), we can:</a:t>
            </a:r>
          </a:p>
          <a:p>
            <a:pPr lvl="1"/>
            <a:r>
              <a:rPr lang="en-US" dirty="0"/>
              <a:t>Examine deviations to cost and schedule, and then </a:t>
            </a:r>
          </a:p>
          <a:p>
            <a:pPr lvl="1"/>
            <a:r>
              <a:rPr lang="en-US" dirty="0"/>
              <a:t>Establish a dollar amount to these deviations.</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pic>
        <p:nvPicPr>
          <p:cNvPr id="12289" name="Picture 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1000" y="2286000"/>
            <a:ext cx="8477250" cy="2352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5434334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Implementation Stage</a:t>
            </a:r>
            <a:br>
              <a:rPr lang="en-US" dirty="0"/>
            </a:br>
            <a:r>
              <a:rPr lang="en-US" dirty="0"/>
              <a:t>- Earned Value Management (EVM)-</a:t>
            </a:r>
          </a:p>
        </p:txBody>
      </p:sp>
      <p:sp>
        <p:nvSpPr>
          <p:cNvPr id="3" name="Content Placeholder 2"/>
          <p:cNvSpPr>
            <a:spLocks noGrp="1"/>
          </p:cNvSpPr>
          <p:nvPr>
            <p:ph idx="1"/>
          </p:nvPr>
        </p:nvSpPr>
        <p:spPr/>
        <p:txBody>
          <a:bodyPr/>
          <a:lstStyle/>
          <a:p>
            <a:r>
              <a:rPr lang="en-US" dirty="0" smtClean="0"/>
              <a:t>EVM Definition of Parameters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Equations for EVM parameters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pic>
        <p:nvPicPr>
          <p:cNvPr id="1433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123326" y="1752600"/>
            <a:ext cx="4734674" cy="2667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895600" y="5060712"/>
            <a:ext cx="3457574" cy="13400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4706570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Implementation Stage</a:t>
            </a:r>
            <a:br>
              <a:rPr lang="en-US" dirty="0"/>
            </a:br>
            <a:r>
              <a:rPr lang="en-US" dirty="0"/>
              <a:t>- Earned Value Management (EVM)-</a:t>
            </a:r>
          </a:p>
        </p:txBody>
      </p:sp>
      <p:sp>
        <p:nvSpPr>
          <p:cNvPr id="3" name="Content Placeholder 2"/>
          <p:cNvSpPr>
            <a:spLocks noGrp="1"/>
          </p:cNvSpPr>
          <p:nvPr>
            <p:ph idx="1"/>
          </p:nvPr>
        </p:nvSpPr>
        <p:spPr/>
        <p:txBody>
          <a:bodyPr/>
          <a:lstStyle/>
          <a:p>
            <a:r>
              <a:rPr lang="en-US" dirty="0" smtClean="0"/>
              <a:t>Let’s show </a:t>
            </a:r>
            <a:r>
              <a:rPr lang="en-US" dirty="0"/>
              <a:t>the implementation of the EVM equations </a:t>
            </a:r>
            <a:r>
              <a:rPr lang="en-US" dirty="0" smtClean="0"/>
              <a:t>with an example:</a:t>
            </a:r>
            <a:endParaRPr lang="en-US" i="1" dirty="0" smtClean="0"/>
          </a:p>
          <a:p>
            <a:pPr marL="0" indent="0" algn="just">
              <a:buNone/>
            </a:pPr>
            <a:r>
              <a:rPr lang="en-US" i="1" dirty="0" smtClean="0">
                <a:solidFill>
                  <a:srgbClr val="FF0000"/>
                </a:solidFill>
              </a:rPr>
              <a:t>Sara </a:t>
            </a:r>
            <a:r>
              <a:rPr lang="en-US" i="1" dirty="0">
                <a:solidFill>
                  <a:srgbClr val="FF0000"/>
                </a:solidFill>
              </a:rPr>
              <a:t>is managing a software design project composed of 10 tasks.  Each task was estimated to cost $1,000; therefore, BAC = $10,000.  Each task was estimated to be completed in a month; therefore, the total planned duration for the project was estimated to be 10 months.  Since each task is expected to have the same cost and duration, the completion of an individual task represents 10% completion of the design project.  In the current fifth month, only three tasks have been fully completed at a cost of $4,000.  Sara needs to provide upper management with current progress status</a:t>
            </a:r>
            <a:r>
              <a:rPr lang="en-US" i="1" dirty="0" smtClean="0">
                <a:solidFill>
                  <a:srgbClr val="FF0000"/>
                </a:solidFill>
              </a:rPr>
              <a:t>.</a:t>
            </a:r>
          </a:p>
          <a:p>
            <a:endParaRPr lang="en-US" i="1" dirty="0" smtClean="0"/>
          </a:p>
          <a:p>
            <a:r>
              <a:rPr lang="en-US" dirty="0" smtClean="0"/>
              <a:t>We can now use the EVM equations</a:t>
            </a:r>
          </a:p>
          <a:p>
            <a:endParaRPr lang="en-US" dirty="0"/>
          </a:p>
          <a:p>
            <a:r>
              <a:rPr lang="en-US" dirty="0" smtClean="0"/>
              <a:t>Let’s examine what this means…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pic>
        <p:nvPicPr>
          <p:cNvPr id="1536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257800" y="4291012"/>
            <a:ext cx="3286125" cy="172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7" name="Right Arrow 6"/>
          <p:cNvSpPr/>
          <p:nvPr/>
        </p:nvSpPr>
        <p:spPr>
          <a:xfrm>
            <a:off x="4724400" y="4724400"/>
            <a:ext cx="4572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4217334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Implementation Stage</a:t>
            </a:r>
            <a:br>
              <a:rPr lang="en-US" dirty="0"/>
            </a:br>
            <a:r>
              <a:rPr lang="en-US" dirty="0"/>
              <a:t>- Earned Value Management (EVM)-</a:t>
            </a:r>
          </a:p>
        </p:txBody>
      </p:sp>
      <p:sp>
        <p:nvSpPr>
          <p:cNvPr id="3" name="Content Placeholder 2"/>
          <p:cNvSpPr>
            <a:spLocks noGrp="1"/>
          </p:cNvSpPr>
          <p:nvPr>
            <p:ph idx="1"/>
          </p:nvPr>
        </p:nvSpPr>
        <p:spPr>
          <a:xfrm>
            <a:off x="457200" y="1447801"/>
            <a:ext cx="8229600" cy="4800599"/>
          </a:xfrm>
        </p:spPr>
        <p:txBody>
          <a:bodyPr>
            <a:normAutofit fontScale="92500" lnSpcReduction="20000"/>
          </a:bodyPr>
          <a:lstStyle/>
          <a:p>
            <a:r>
              <a:rPr lang="en-US" dirty="0"/>
              <a:t>EV is calculated to be $3,000 given that the three tasks completed represent 30% of the project, and the budget for the entire project is $10,000.  </a:t>
            </a:r>
            <a:endParaRPr lang="en-US" dirty="0" smtClean="0"/>
          </a:p>
          <a:p>
            <a:endParaRPr lang="en-US" dirty="0" smtClean="0"/>
          </a:p>
          <a:p>
            <a:r>
              <a:rPr lang="en-US" dirty="0" smtClean="0"/>
              <a:t>To </a:t>
            </a:r>
            <a:r>
              <a:rPr lang="en-US" dirty="0"/>
              <a:t>calculate SV, we use a PV of $5,000 because each task was budgeted at $1,000 and five tasks should have been completed in the fifth month.  </a:t>
            </a:r>
            <a:endParaRPr lang="en-US" dirty="0" smtClean="0"/>
          </a:p>
          <a:p>
            <a:endParaRPr lang="en-US" dirty="0" smtClean="0"/>
          </a:p>
          <a:p>
            <a:r>
              <a:rPr lang="en-US" dirty="0" smtClean="0"/>
              <a:t>The Table in the previous slide </a:t>
            </a:r>
            <a:r>
              <a:rPr lang="en-US" dirty="0"/>
              <a:t>shows the calculations for the rest of the EVM parameters.  </a:t>
            </a:r>
            <a:endParaRPr lang="en-US" dirty="0" smtClean="0"/>
          </a:p>
          <a:p>
            <a:endParaRPr lang="en-US" dirty="0" smtClean="0"/>
          </a:p>
          <a:p>
            <a:r>
              <a:rPr lang="en-US" dirty="0" smtClean="0"/>
              <a:t>These </a:t>
            </a:r>
            <a:r>
              <a:rPr lang="en-US" dirty="0"/>
              <a:t>results clearly show that the project is over both budget and schedule estimates.  </a:t>
            </a:r>
            <a:endParaRPr lang="en-US" dirty="0" smtClean="0"/>
          </a:p>
          <a:p>
            <a:pPr lvl="1"/>
            <a:r>
              <a:rPr lang="en-US" dirty="0" smtClean="0"/>
              <a:t>The </a:t>
            </a:r>
            <a:r>
              <a:rPr lang="en-US" dirty="0"/>
              <a:t>CPI index, for example, shows that only $0.75 of earned value was received for every dollar actually spent.  </a:t>
            </a:r>
            <a:endParaRPr lang="en-US" dirty="0" smtClean="0"/>
          </a:p>
          <a:p>
            <a:pPr lvl="1"/>
            <a:r>
              <a:rPr lang="en-US" dirty="0" smtClean="0"/>
              <a:t>The </a:t>
            </a:r>
            <a:r>
              <a:rPr lang="en-US" dirty="0"/>
              <a:t>EAC shows an estimated $6,333 over budget amount.  </a:t>
            </a:r>
            <a:endParaRPr lang="en-US" dirty="0" smtClean="0"/>
          </a:p>
          <a:p>
            <a:pPr lvl="1"/>
            <a:r>
              <a:rPr lang="en-US" dirty="0" smtClean="0"/>
              <a:t>These </a:t>
            </a:r>
            <a:r>
              <a:rPr lang="en-US" dirty="0"/>
              <a:t>alarming values give Sara and upper management the opportunity to implement risk mitigation policies to either get the project to its budgeted path, or at least attempt to minimize losses.</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 xmlns:p14="http://schemas.microsoft.com/office/powerpoint/2010/main" val="1159288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smtClean="0"/>
              <a:t>Termination Stage</a:t>
            </a:r>
            <a:endParaRPr lang="en-US" dirty="0"/>
          </a:p>
        </p:txBody>
      </p:sp>
      <p:sp>
        <p:nvSpPr>
          <p:cNvPr id="3" name="Content Placeholder 2"/>
          <p:cNvSpPr>
            <a:spLocks noGrp="1"/>
          </p:cNvSpPr>
          <p:nvPr>
            <p:ph idx="1"/>
          </p:nvPr>
        </p:nvSpPr>
        <p:spPr/>
        <p:txBody>
          <a:bodyPr/>
          <a:lstStyle/>
          <a:p>
            <a:r>
              <a:rPr lang="en-US" dirty="0"/>
              <a:t>During the termination stage, key activities involve verification that everything is in place for a smooth transition into the code construction phase.  </a:t>
            </a:r>
            <a:endParaRPr lang="en-US" dirty="0" smtClean="0"/>
          </a:p>
          <a:p>
            <a:endParaRPr lang="en-US" dirty="0"/>
          </a:p>
          <a:p>
            <a:r>
              <a:rPr lang="en-US" dirty="0" smtClean="0"/>
              <a:t>Some of the activities during the termination stage include:</a:t>
            </a:r>
          </a:p>
          <a:p>
            <a:pPr lvl="1"/>
            <a:r>
              <a:rPr lang="en-US" dirty="0" smtClean="0"/>
              <a:t>Making </a:t>
            </a:r>
            <a:r>
              <a:rPr lang="en-US" dirty="0"/>
              <a:t>sure that the latest versions of the design documents are securely stored based on configuration management procedures, </a:t>
            </a:r>
            <a:endParaRPr lang="en-US" dirty="0" smtClean="0"/>
          </a:p>
          <a:p>
            <a:pPr lvl="1"/>
            <a:r>
              <a:rPr lang="en-US" dirty="0" smtClean="0"/>
              <a:t>Updating </a:t>
            </a:r>
            <a:r>
              <a:rPr lang="en-US" dirty="0"/>
              <a:t>schedule and cost current values, </a:t>
            </a:r>
            <a:endParaRPr lang="en-US" dirty="0" smtClean="0"/>
          </a:p>
          <a:p>
            <a:pPr lvl="1"/>
            <a:r>
              <a:rPr lang="en-US" dirty="0" smtClean="0"/>
              <a:t>Re-evaluating </a:t>
            </a:r>
            <a:r>
              <a:rPr lang="en-US" dirty="0"/>
              <a:t>schedule and budget plans based on the resulting performance measures of the design phase, and </a:t>
            </a:r>
            <a:endParaRPr lang="en-US" dirty="0" smtClean="0"/>
          </a:p>
          <a:p>
            <a:pPr lvl="1"/>
            <a:r>
              <a:rPr lang="en-US" dirty="0" smtClean="0"/>
              <a:t>Communicating </a:t>
            </a:r>
            <a:r>
              <a:rPr lang="en-US" dirty="0"/>
              <a:t>results to upper management.</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 xmlns:p14="http://schemas.microsoft.com/office/powerpoint/2010/main" val="4059946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This session accomplished the following:</a:t>
            </a:r>
          </a:p>
          <a:p>
            <a:pPr lvl="1"/>
            <a:r>
              <a:rPr lang="en-US" dirty="0" smtClean="0"/>
              <a:t>Defined the </a:t>
            </a:r>
            <a:r>
              <a:rPr lang="en-US" i="1" dirty="0" smtClean="0"/>
              <a:t>Planning </a:t>
            </a:r>
            <a:r>
              <a:rPr lang="en-US" dirty="0" smtClean="0"/>
              <a:t>component of the software </a:t>
            </a:r>
            <a:r>
              <a:rPr lang="en-US" dirty="0"/>
              <a:t>design </a:t>
            </a:r>
            <a:r>
              <a:rPr lang="en-US" dirty="0" smtClean="0"/>
              <a:t>management framework </a:t>
            </a:r>
            <a:endParaRPr lang="en-US" dirty="0"/>
          </a:p>
          <a:p>
            <a:pPr lvl="1"/>
            <a:r>
              <a:rPr lang="en-US" dirty="0"/>
              <a:t>Defined the </a:t>
            </a:r>
            <a:r>
              <a:rPr lang="en-US" i="1" dirty="0" smtClean="0"/>
              <a:t>Implementation </a:t>
            </a:r>
            <a:r>
              <a:rPr lang="en-US" dirty="0"/>
              <a:t>component of the software design management framework </a:t>
            </a:r>
            <a:endParaRPr lang="en-US" dirty="0" smtClean="0"/>
          </a:p>
          <a:p>
            <a:pPr lvl="1"/>
            <a:r>
              <a:rPr lang="en-US" dirty="0"/>
              <a:t>Defined the </a:t>
            </a:r>
            <a:r>
              <a:rPr lang="en-US" i="1" dirty="0" smtClean="0"/>
              <a:t>Termination </a:t>
            </a:r>
            <a:r>
              <a:rPr lang="en-US" dirty="0"/>
              <a:t>component of the software design management framework </a:t>
            </a:r>
            <a:endParaRPr lang="en-US" dirty="0" smtClean="0"/>
          </a:p>
          <a:p>
            <a:endParaRPr lang="en-US" dirty="0"/>
          </a:p>
          <a:p>
            <a:r>
              <a:rPr lang="en-US" dirty="0" smtClean="0"/>
              <a:t>Next session will focus on the </a:t>
            </a:r>
            <a:r>
              <a:rPr lang="en-US" i="1" dirty="0" smtClean="0"/>
              <a:t>Leadership &amp; Ethics </a:t>
            </a:r>
            <a:r>
              <a:rPr lang="en-US" dirty="0" smtClean="0"/>
              <a:t>component of the design management framework, </a:t>
            </a:r>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 xmlns:p14="http://schemas.microsoft.com/office/powerpoint/2010/main" val="17988289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pic>
        <p:nvPicPr>
          <p:cNvPr id="2051" name="Picture 3" descr="C:\Users\lotero\AppData\Local\Microsoft\Windows\Temporary Internet Files\Content.IE5\CFJTCN01\MC900441428[1].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124200" y="2133600"/>
            <a:ext cx="2666771" cy="266677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024968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marL="0" indent="0">
              <a:buNone/>
            </a:pPr>
            <a:r>
              <a:rPr lang="en-US" dirty="0" smtClean="0"/>
              <a:t>[1] </a:t>
            </a:r>
            <a:r>
              <a:rPr lang="en-US" dirty="0"/>
              <a:t>Meredith, Jack, and Samuel Mantel. </a:t>
            </a:r>
            <a:r>
              <a:rPr lang="en-US" i="1" dirty="0"/>
              <a:t>Project Management: A Managerial Approach.</a:t>
            </a:r>
            <a:r>
              <a:rPr lang="en-US" dirty="0"/>
              <a:t> 7th. John Wiley &amp; Sons, </a:t>
            </a:r>
            <a:r>
              <a:rPr lang="en-US" dirty="0" smtClean="0"/>
              <a:t>2009.</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11/15/2012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 xmlns:p14="http://schemas.microsoft.com/office/powerpoint/2010/main" val="3145361421"/>
      </p:ext>
    </p:extLst>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9951</TotalTime>
  <Words>3995</Words>
  <Application>Microsoft Office PowerPoint</Application>
  <PresentationFormat>On-screen Show (4:3)</PresentationFormat>
  <Paragraphs>508</Paragraphs>
  <Slides>39</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1" baseType="lpstr">
      <vt:lpstr>UVa-Wise-Clean-BW</vt:lpstr>
      <vt:lpstr>Visio</vt:lpstr>
      <vt:lpstr>Chapter 10: Management, Leadership, &amp; Ethics </vt:lpstr>
      <vt:lpstr>Session’s Agenda</vt:lpstr>
      <vt:lpstr>The Planning Stage - Scoping -</vt:lpstr>
      <vt:lpstr>The Planning Stage - Scoping: Work Breakdown Structure -</vt:lpstr>
      <vt:lpstr>The Planning Stage  - Scoping: Work Breakdown Structure -</vt:lpstr>
      <vt:lpstr>The Planning Stage  - Scoping: Work Breakdown Structure -</vt:lpstr>
      <vt:lpstr>The Planning Stage  - Scoping: Budgeting -</vt:lpstr>
      <vt:lpstr>The Planning Stage  - Scoping: Budgeting -</vt:lpstr>
      <vt:lpstr>The Planning Stage - Organizing -</vt:lpstr>
      <vt:lpstr>The Planning Stage - Linear Responsibility Chart -</vt:lpstr>
      <vt:lpstr>The Planning Stage - Linear Responsibility Chart -</vt:lpstr>
      <vt:lpstr>The Planning Stage - Scheduling -</vt:lpstr>
      <vt:lpstr>The Planning Stage - The Gantt Chart -</vt:lpstr>
      <vt:lpstr>The Planning Stage - The Gantt Chart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 Network Diagrams -</vt:lpstr>
      <vt:lpstr>The Planning Stage  -Establish Change Control Policy-</vt:lpstr>
      <vt:lpstr>Establish Change Control Policy (An Example)</vt:lpstr>
      <vt:lpstr>The Implementation Stage - Earned Value Management (EVM)-</vt:lpstr>
      <vt:lpstr>The Implementation Stage - Earned Value Management (EVM)-</vt:lpstr>
      <vt:lpstr>The Implementation Stage - Earned Value Management (EVM)-</vt:lpstr>
      <vt:lpstr>The Implementation Stage - Earned Value Management (EVM)-</vt:lpstr>
      <vt:lpstr>The Implementation Stage - Earned Value Management (EVM)-</vt:lpstr>
      <vt:lpstr>The Implementation Stage - Earned Value Management (EVM)-</vt:lpstr>
      <vt:lpstr>The Termination Stage</vt:lpstr>
      <vt:lpstr>What’s Next…</vt:lpstr>
      <vt:lpstr>Questions?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cotero</cp:lastModifiedBy>
  <cp:revision>744</cp:revision>
  <cp:lastPrinted>2012-11-06T14:54:20Z</cp:lastPrinted>
  <dcterms:created xsi:type="dcterms:W3CDTF">2006-08-16T00:00:00Z</dcterms:created>
  <dcterms:modified xsi:type="dcterms:W3CDTF">2012-11-15T14:51:35Z</dcterms:modified>
</cp:coreProperties>
</file>
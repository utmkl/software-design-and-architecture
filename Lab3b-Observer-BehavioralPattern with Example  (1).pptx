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343" r:id="rId5"/>
    <p:sldId id="345" r:id="rId6"/>
    <p:sldId id="347" r:id="rId7"/>
    <p:sldId id="361" r:id="rId8"/>
    <p:sldId id="362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84034" autoAdjust="0"/>
  </p:normalViewPr>
  <p:slideViewPr>
    <p:cSldViewPr>
      <p:cViewPr varScale="1">
        <p:scale>
          <a:sx n="57" d="100"/>
          <a:sy n="57" d="100"/>
        </p:scale>
        <p:origin x="-141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3C4AF2B-1E9E-4DE9-8806-D35BE1EE9420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F90EC85-BB91-46A1-B285-698C3E938D8D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512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512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959BF03-396A-4ADC-A893-A83AA8BF53B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9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CE0409-7230-4EA2-95B0-C316A6CB7A66}" type="slidenum">
              <a:rPr lang="en-US" smtClean="0">
                <a:latin typeface="Arial" panose="020B0604020202020204" pitchFamily="34" charset="0"/>
              </a:rPr>
            </a:fld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ED775-8ED6-4E3B-96C0-5A4343E8BD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A0410-3B51-45C4-91D7-B57A32066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536AD-6068-4943-9A2A-C7BE0634F1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BEB1AB-306D-43E8-8143-F9737CA3648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AAF3E-95FE-40BF-A209-AB1FB2438C5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C8214-D649-4829-92B4-FBE945888D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D4F61-625F-4603-BE59-543C000889B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C05D5-609E-4274-BA32-FE61A9CE6C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MY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F9496-C5B4-4404-A71E-E56BCE92166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FC2D4-1D93-4EC7-9048-6B2292D98BE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A83B6-3208-4C10-8A29-989B9D6CBD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78B775B-9228-45D3-BD94-06A50C42A8D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96" charset="-128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96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96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96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  <a:ea typeface="MS PGothic" panose="020B0600070205080204" pitchFamily="96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-110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96" charset="-128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96" charset="-128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96" charset="-128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96" charset="-128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96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8"/>
          <p:cNvSpPr txBox="1">
            <a:spLocks noChangeArrowheads="1"/>
          </p:cNvSpPr>
          <p:nvPr/>
        </p:nvSpPr>
        <p:spPr bwMode="auto">
          <a:xfrm>
            <a:off x="0" y="6491288"/>
            <a:ext cx="91440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bg1"/>
                </a:solidFill>
              </a:rPr>
              <a:t>INSPIRING CREATIVE AND </a:t>
            </a:r>
            <a:r>
              <a:rPr lang="en-US" sz="1600">
                <a:solidFill>
                  <a:schemeClr val="bg1"/>
                </a:solidFill>
              </a:rPr>
              <a:t>INNOVATIVE</a:t>
            </a:r>
            <a:r>
              <a:rPr lang="en-US" sz="1800">
                <a:solidFill>
                  <a:schemeClr val="bg1"/>
                </a:solidFill>
              </a:rPr>
              <a:t> MINDS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7200" y="2209800"/>
            <a:ext cx="7985125" cy="1431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US" sz="5400" b="1" kern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Lab </a:t>
            </a:r>
            <a:r>
              <a:rPr lang="en-US" sz="5400" b="1" kern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3b </a:t>
            </a:r>
            <a:r>
              <a:rPr lang="en-US" sz="54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– Observer - Behavioral </a:t>
            </a:r>
            <a:r>
              <a:rPr lang="en-US" sz="5400" b="1" kern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Design Pattern</a:t>
            </a:r>
            <a:endParaRPr lang="en-US" sz="54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3886200"/>
            <a:ext cx="7543800" cy="2057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US" sz="3200" kern="0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 smtClean="0"/>
              <a:t>Observer</a:t>
            </a:r>
            <a:endParaRPr lang="en-CA" b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Intent</a:t>
            </a:r>
            <a:endParaRPr lang="en-CA" sz="2400" dirty="0"/>
          </a:p>
          <a:p>
            <a:pPr lvl="1"/>
            <a:r>
              <a:rPr lang="en-CA" sz="2000" dirty="0"/>
              <a:t>Define a one-to-many dependency between objects so that when one object changes state, all its dependents are notified and updated automatically</a:t>
            </a:r>
            <a:endParaRPr lang="en-CA" sz="2000" dirty="0"/>
          </a:p>
          <a:p>
            <a:r>
              <a:rPr lang="en-CA" sz="2400" dirty="0"/>
              <a:t>Applicability</a:t>
            </a:r>
            <a:endParaRPr lang="en-CA" sz="2400" dirty="0"/>
          </a:p>
          <a:p>
            <a:pPr lvl="1"/>
            <a:r>
              <a:rPr lang="en-CA" sz="2000" dirty="0"/>
              <a:t>When an abstraction has two aspects, one dependent on the other</a:t>
            </a:r>
            <a:endParaRPr lang="en-CA" sz="2000" dirty="0"/>
          </a:p>
          <a:p>
            <a:pPr lvl="1"/>
            <a:r>
              <a:rPr lang="en-CA" sz="2000" dirty="0"/>
              <a:t>When a change to one object requires changing others, and you don't know how many objects need to be changed</a:t>
            </a:r>
            <a:endParaRPr lang="en-CA" sz="2000" dirty="0"/>
          </a:p>
          <a:p>
            <a:pPr lvl="1"/>
            <a:r>
              <a:rPr lang="en-CA" sz="2000" dirty="0"/>
              <a:t>When an object should notify other objects without making assumptions about who these objects are</a:t>
            </a:r>
            <a:endParaRPr lang="en-CA" sz="2000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 rot="-5400000">
            <a:off x="-1678781" y="4787106"/>
            <a:ext cx="3722688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CA" sz="1000">
                <a:latin typeface="Times New Roman" panose="02020603050405020304" charset="0"/>
                <a:cs typeface="Times New Roman" panose="02020603050405020304" charset="0"/>
              </a:rPr>
              <a:t>© </a:t>
            </a:r>
            <a:r>
              <a:rPr lang="en-CA" sz="1000">
                <a:latin typeface="Times New Roman" panose="02020603050405020304" charset="0"/>
              </a:rPr>
              <a:t>E. Gamma, R. Helm, R. Johnson, J. Vlissides and Addison-Wesley</a:t>
            </a:r>
            <a:endParaRPr lang="en-CA" sz="1000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Observer</a:t>
            </a:r>
            <a:endParaRPr lang="en-CA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CA" sz="2400"/>
              <a:t>Consequences</a:t>
            </a:r>
            <a:endParaRPr lang="en-CA" sz="2400"/>
          </a:p>
          <a:p>
            <a:pPr lvl="1">
              <a:lnSpc>
                <a:spcPct val="90000"/>
              </a:lnSpc>
              <a:buFontTx/>
              <a:buChar char="+"/>
            </a:pPr>
            <a:r>
              <a:rPr lang="en-CA" sz="2000"/>
              <a:t>Modularity: subject and observers may vary independently</a:t>
            </a:r>
            <a:endParaRPr lang="en-CA" sz="2000"/>
          </a:p>
          <a:p>
            <a:pPr lvl="1">
              <a:lnSpc>
                <a:spcPct val="90000"/>
              </a:lnSpc>
              <a:buFontTx/>
              <a:buChar char="+"/>
            </a:pPr>
            <a:r>
              <a:rPr lang="en-CA" sz="2000"/>
              <a:t>Extensibility: can define and add any number of observers</a:t>
            </a:r>
            <a:endParaRPr lang="en-CA" sz="2000"/>
          </a:p>
          <a:p>
            <a:pPr lvl="1">
              <a:lnSpc>
                <a:spcPct val="90000"/>
              </a:lnSpc>
              <a:buFontTx/>
              <a:buChar char="+"/>
            </a:pPr>
            <a:r>
              <a:rPr lang="en-CA" sz="2000"/>
              <a:t>Customizability: different observers provide different views of subject</a:t>
            </a:r>
            <a:endParaRPr lang="en-CA" sz="2000"/>
          </a:p>
          <a:p>
            <a:pPr lvl="1">
              <a:lnSpc>
                <a:spcPct val="90000"/>
              </a:lnSpc>
            </a:pPr>
            <a:r>
              <a:rPr lang="en-CA" sz="2000"/>
              <a:t>Unexpected updates: observers don't know about each other</a:t>
            </a:r>
            <a:endParaRPr lang="en-CA" sz="2000"/>
          </a:p>
          <a:p>
            <a:pPr lvl="1">
              <a:lnSpc>
                <a:spcPct val="90000"/>
              </a:lnSpc>
            </a:pPr>
            <a:r>
              <a:rPr lang="en-CA" sz="2000"/>
              <a:t>Update overhead: might need hints</a:t>
            </a:r>
            <a:endParaRPr lang="en-CA" sz="2000"/>
          </a:p>
          <a:p>
            <a:pPr>
              <a:lnSpc>
                <a:spcPct val="90000"/>
              </a:lnSpc>
            </a:pPr>
            <a:r>
              <a:rPr lang="en-CA" sz="2400"/>
              <a:t>Implementation</a:t>
            </a:r>
            <a:endParaRPr lang="en-CA" sz="2400"/>
          </a:p>
          <a:p>
            <a:pPr lvl="1">
              <a:lnSpc>
                <a:spcPct val="90000"/>
              </a:lnSpc>
            </a:pPr>
            <a:r>
              <a:rPr lang="en-CA" sz="2000"/>
              <a:t>Subject-observer mapping</a:t>
            </a:r>
            <a:endParaRPr lang="en-CA" sz="2000"/>
          </a:p>
          <a:p>
            <a:pPr lvl="1">
              <a:lnSpc>
                <a:spcPct val="90000"/>
              </a:lnSpc>
            </a:pPr>
            <a:r>
              <a:rPr lang="en-CA" sz="2000"/>
              <a:t>Dangling references</a:t>
            </a:r>
            <a:endParaRPr lang="en-CA" sz="2000"/>
          </a:p>
          <a:p>
            <a:pPr lvl="1">
              <a:lnSpc>
                <a:spcPct val="90000"/>
              </a:lnSpc>
            </a:pPr>
            <a:r>
              <a:rPr lang="en-CA" sz="2000"/>
              <a:t>Avoiding observer-specific update protocols: the push and push/pull models</a:t>
            </a:r>
            <a:endParaRPr lang="en-CA" sz="2000"/>
          </a:p>
          <a:p>
            <a:pPr lvl="1">
              <a:lnSpc>
                <a:spcPct val="90000"/>
              </a:lnSpc>
            </a:pPr>
            <a:r>
              <a:rPr lang="en-CA" sz="2000"/>
              <a:t>Registering modifications of interest explicitly</a:t>
            </a:r>
            <a:endParaRPr lang="en-CA" sz="200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 rot="-5400000">
            <a:off x="-1678781" y="4787106"/>
            <a:ext cx="3722688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CA" sz="1000">
                <a:latin typeface="Times New Roman" panose="02020603050405020304" charset="0"/>
                <a:cs typeface="Times New Roman" panose="02020603050405020304" charset="0"/>
              </a:rPr>
              <a:t>© </a:t>
            </a:r>
            <a:r>
              <a:rPr lang="en-CA" sz="1000">
                <a:latin typeface="Times New Roman" panose="02020603050405020304" charset="0"/>
              </a:rPr>
              <a:t>E. Gamma, R. Helm, R. Johnson, J. Vlissides and Addison-Wesley</a:t>
            </a:r>
            <a:endParaRPr lang="en-CA" sz="1000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Observer - Design</a:t>
            </a:r>
            <a:endParaRPr lang="en-CA" dirty="0"/>
          </a:p>
        </p:txBody>
      </p:sp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99979" y="1822428"/>
            <a:ext cx="8484294" cy="3505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Observer -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3350"/>
            <a:ext cx="8001000" cy="4419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400" dirty="0" smtClean="0"/>
              <a:t>Subject</a:t>
            </a:r>
            <a:endParaRPr lang="en-US" sz="2400" dirty="0" smtClean="0"/>
          </a:p>
          <a:p>
            <a:pPr lvl="1">
              <a:spcBef>
                <a:spcPts val="0"/>
              </a:spcBef>
            </a:pPr>
            <a:r>
              <a:rPr lang="en-US" sz="2000" dirty="0" smtClean="0"/>
              <a:t>The class whose instances independently change their state and notify Observers</a:t>
            </a:r>
            <a:endParaRPr lang="en-US" sz="2000" dirty="0" smtClean="0"/>
          </a:p>
          <a:p>
            <a:pPr>
              <a:spcBef>
                <a:spcPts val="0"/>
              </a:spcBef>
            </a:pPr>
            <a:r>
              <a:rPr lang="en-US" sz="2400" dirty="0" err="1" smtClean="0"/>
              <a:t>IObserver</a:t>
            </a:r>
            <a:endParaRPr lang="en-US" sz="2400" dirty="0" smtClean="0"/>
          </a:p>
          <a:p>
            <a:pPr lvl="1">
              <a:spcBef>
                <a:spcPts val="0"/>
              </a:spcBef>
            </a:pPr>
            <a:r>
              <a:rPr lang="en-US" sz="2000" dirty="0" smtClean="0"/>
              <a:t>An interface for Observers specifying how they should be updated</a:t>
            </a:r>
            <a:endParaRPr lang="en-US" sz="2000" dirty="0" smtClean="0"/>
          </a:p>
          <a:p>
            <a:pPr>
              <a:spcBef>
                <a:spcPts val="0"/>
              </a:spcBef>
            </a:pPr>
            <a:r>
              <a:rPr lang="en-US" sz="2400" dirty="0" smtClean="0"/>
              <a:t>Observer</a:t>
            </a:r>
            <a:endParaRPr lang="en-US" sz="2400" dirty="0" smtClean="0"/>
          </a:p>
          <a:p>
            <a:pPr lvl="1">
              <a:spcBef>
                <a:spcPts val="0"/>
              </a:spcBef>
            </a:pPr>
            <a:r>
              <a:rPr lang="en-US" sz="2000" dirty="0" smtClean="0"/>
              <a:t>A class that provides an Update method to enable its instance’s state to stay consistent with the Subject’s</a:t>
            </a:r>
            <a:endParaRPr lang="en-US" sz="2000" dirty="0" smtClean="0"/>
          </a:p>
          <a:p>
            <a:pPr>
              <a:spcBef>
                <a:spcPts val="0"/>
              </a:spcBef>
            </a:pPr>
            <a:r>
              <a:rPr lang="en-US" sz="2400" dirty="0" smtClean="0"/>
              <a:t>Update</a:t>
            </a:r>
            <a:endParaRPr lang="en-US" sz="2400" dirty="0" smtClean="0"/>
          </a:p>
          <a:p>
            <a:pPr lvl="1">
              <a:spcBef>
                <a:spcPts val="0"/>
              </a:spcBef>
            </a:pPr>
            <a:r>
              <a:rPr lang="en-US" sz="2000" dirty="0" smtClean="0"/>
              <a:t>The operation that forms the interface between the Subject and the Observers</a:t>
            </a:r>
            <a:endParaRPr lang="en-US" sz="2000" dirty="0" smtClean="0"/>
          </a:p>
          <a:p>
            <a:pPr>
              <a:spcBef>
                <a:spcPts val="0"/>
              </a:spcBef>
            </a:pPr>
            <a:r>
              <a:rPr lang="en-US" sz="2400" dirty="0" smtClean="0"/>
              <a:t>Notify</a:t>
            </a:r>
            <a:endParaRPr lang="en-US" sz="2400" dirty="0" smtClean="0"/>
          </a:p>
          <a:p>
            <a:pPr lvl="1">
              <a:spcBef>
                <a:spcPts val="0"/>
              </a:spcBef>
            </a:pPr>
            <a:r>
              <a:rPr lang="en-US" sz="2000" dirty="0" smtClean="0"/>
              <a:t>The event mechanism for calling the Update operation on all Observers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– Implementation</a:t>
            </a:r>
            <a:endParaRPr lang="en-US" dirty="0"/>
          </a:p>
        </p:txBody>
      </p:sp>
      <p:sp>
        <p:nvSpPr>
          <p:cNvPr id="4" name="Content Placeholder 3"/>
          <p:cNvSpPr/>
          <p:nvPr>
            <p:ph idx="1"/>
          </p:nvPr>
        </p:nvSpPr>
        <p:spPr/>
        <p:txBody>
          <a:bodyPr/>
          <a:p>
            <a:r>
              <a:rPr lang="en-MY" altLang="en-US"/>
              <a:t>Youtube Videos https://www.youtube.com/watch?v=98DiwRp-KZk&amp;ab_channel=Telusko </a:t>
            </a:r>
            <a:endParaRPr lang="en-MY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k12a-TestManagement-Part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Wk12a-TestManagement-PartI</Template>
  <TotalTime>0</TotalTime>
  <Words>1692</Words>
  <Application>WPS Presentation</Application>
  <PresentationFormat>On-screen Show (4:3)</PresentationFormat>
  <Paragraphs>50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MS PGothic</vt:lpstr>
      <vt:lpstr>Calibri</vt:lpstr>
      <vt:lpstr>Times New Roman</vt:lpstr>
      <vt:lpstr>Microsoft YaHei</vt:lpstr>
      <vt:lpstr>Arial Unicode MS</vt:lpstr>
      <vt:lpstr>Wk12a-TestManagement-PartI</vt:lpstr>
      <vt:lpstr>PowerPoint 演示文稿</vt:lpstr>
      <vt:lpstr>Observer</vt:lpstr>
      <vt:lpstr>Observer</vt:lpstr>
      <vt:lpstr>Observer - Design</vt:lpstr>
      <vt:lpstr>Observer - Design</vt:lpstr>
      <vt:lpstr>Observer – Implementation</vt:lpstr>
    </vt:vector>
  </TitlesOfParts>
  <Company>Office 2004 Test Drive 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 2004 Test Drive User</dc:creator>
  <cp:lastModifiedBy>ADILA FIRDAUS BINTI ARBAIN 15472</cp:lastModifiedBy>
  <cp:revision>130</cp:revision>
  <dcterms:created xsi:type="dcterms:W3CDTF">2009-02-22T09:02:00Z</dcterms:created>
  <dcterms:modified xsi:type="dcterms:W3CDTF">2021-01-04T10:41:49Z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1033-11.2.0.9906</vt:lpwstr>
  </property>
</Properties>
</file>
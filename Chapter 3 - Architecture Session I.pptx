
<file path=[Content_Types].xml><?xml version="1.0" encoding="utf-8"?>
<Types xmlns="http://schemas.openxmlformats.org/package/2006/content-types">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7" r:id="rId3"/>
    <p:sldId id="321" r:id="rId4"/>
    <p:sldId id="322" r:id="rId5"/>
    <p:sldId id="323" r:id="rId6"/>
    <p:sldId id="324" r:id="rId7"/>
    <p:sldId id="325" r:id="rId8"/>
    <p:sldId id="335" r:id="rId9"/>
    <p:sldId id="326" r:id="rId10"/>
    <p:sldId id="327" r:id="rId11"/>
    <p:sldId id="328" r:id="rId12"/>
    <p:sldId id="331" r:id="rId13"/>
    <p:sldId id="332" r:id="rId14"/>
    <p:sldId id="330" r:id="rId15"/>
    <p:sldId id="333" r:id="rId16"/>
    <p:sldId id="334" r:id="rId17"/>
    <p:sldId id="338" r:id="rId18"/>
    <p:sldId id="336" r:id="rId19"/>
    <p:sldId id="337" r:id="rId2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CE9F4C-F1BC-47A2-BAEA-F688974E43E1}" type="doc">
      <dgm:prSet loTypeId="urn:microsoft.com/office/officeart/2005/8/layout/gear1" loCatId="process" qsTypeId="urn:microsoft.com/office/officeart/2005/8/quickstyle/simple1" qsCatId="simple" csTypeId="urn:microsoft.com/office/officeart/2005/8/colors/accent0_1" csCatId="mainScheme" phldr="1"/>
      <dgm:spPr/>
    </dgm:pt>
    <dgm:pt modelId="{919CAA4E-63D7-400B-8967-313E7839D02E}">
      <dgm:prSet phldrT="[Text]"/>
      <dgm:spPr>
        <a:ln w="6350"/>
      </dgm:spPr>
      <dgm:t>
        <a:bodyPr/>
        <a:lstStyle/>
        <a:p>
          <a:r>
            <a:rPr lang="en-US" dirty="0" smtClean="0"/>
            <a:t>Detailed</a:t>
          </a:r>
        </a:p>
        <a:p>
          <a:r>
            <a:rPr lang="en-US" dirty="0" smtClean="0"/>
            <a:t>Design</a:t>
          </a:r>
          <a:endParaRPr lang="en-US" dirty="0"/>
        </a:p>
      </dgm:t>
    </dgm:pt>
    <dgm:pt modelId="{EEDAB319-9095-4396-AA92-B5EA918BBA11}" type="parTrans" cxnId="{4709F192-1B95-444F-8C71-678AE8B1A392}">
      <dgm:prSet/>
      <dgm:spPr/>
      <dgm:t>
        <a:bodyPr/>
        <a:lstStyle/>
        <a:p>
          <a:endParaRPr lang="en-US"/>
        </a:p>
      </dgm:t>
    </dgm:pt>
    <dgm:pt modelId="{0E89A09F-7F24-4B95-B31C-809C716859B1}" type="sibTrans" cxnId="{4709F192-1B95-444F-8C71-678AE8B1A392}">
      <dgm:prSet/>
      <dgm:spPr/>
      <dgm:t>
        <a:bodyPr/>
        <a:lstStyle/>
        <a:p>
          <a:endParaRPr lang="en-US"/>
        </a:p>
      </dgm:t>
    </dgm:pt>
    <dgm:pt modelId="{C68C061A-A027-4659-AC8F-60A131893727}">
      <dgm:prSet phldrT="[Text]"/>
      <dgm:spPr>
        <a:ln w="6350"/>
      </dgm:spPr>
      <dgm:t>
        <a:bodyPr/>
        <a:lstStyle/>
        <a:p>
          <a:r>
            <a:rPr lang="en-US" dirty="0" smtClean="0"/>
            <a:t>Code</a:t>
          </a:r>
          <a:endParaRPr lang="en-US" dirty="0"/>
        </a:p>
      </dgm:t>
    </dgm:pt>
    <dgm:pt modelId="{90AA2D81-190B-46AD-BDFF-C2F5CEC8B451}" type="parTrans" cxnId="{3657F600-FB8E-49D0-A1F2-97C618514CD3}">
      <dgm:prSet/>
      <dgm:spPr/>
      <dgm:t>
        <a:bodyPr/>
        <a:lstStyle/>
        <a:p>
          <a:endParaRPr lang="en-US"/>
        </a:p>
      </dgm:t>
    </dgm:pt>
    <dgm:pt modelId="{3A62CEA5-9E50-4356-B21C-B8FDAF0C7122}" type="sibTrans" cxnId="{3657F600-FB8E-49D0-A1F2-97C618514CD3}">
      <dgm:prSet/>
      <dgm:spPr/>
      <dgm:t>
        <a:bodyPr/>
        <a:lstStyle/>
        <a:p>
          <a:endParaRPr lang="en-US"/>
        </a:p>
      </dgm:t>
    </dgm:pt>
    <dgm:pt modelId="{44E25586-B296-430F-9376-9805570EE4BA}">
      <dgm:prSet phldrT="[Text]"/>
      <dgm:spPr>
        <a:ln w="6350"/>
      </dgm:spPr>
      <dgm:t>
        <a:bodyPr/>
        <a:lstStyle/>
        <a:p>
          <a:r>
            <a:rPr lang="en-US" dirty="0" smtClean="0"/>
            <a:t>…</a:t>
          </a:r>
          <a:endParaRPr lang="en-US" dirty="0"/>
        </a:p>
      </dgm:t>
    </dgm:pt>
    <dgm:pt modelId="{CCBD4AAD-6E36-4C3C-98F7-4030A0953756}" type="parTrans" cxnId="{A2ED2562-903F-4914-948D-2FDB5433ED68}">
      <dgm:prSet/>
      <dgm:spPr/>
      <dgm:t>
        <a:bodyPr/>
        <a:lstStyle/>
        <a:p>
          <a:endParaRPr lang="en-US"/>
        </a:p>
      </dgm:t>
    </dgm:pt>
    <dgm:pt modelId="{020112C7-5F39-4F4B-9720-AF905FEB40EA}" type="sibTrans" cxnId="{A2ED2562-903F-4914-948D-2FDB5433ED68}">
      <dgm:prSet/>
      <dgm:spPr/>
      <dgm:t>
        <a:bodyPr/>
        <a:lstStyle/>
        <a:p>
          <a:endParaRPr lang="en-US"/>
        </a:p>
      </dgm:t>
    </dgm:pt>
    <dgm:pt modelId="{5FE689EB-B6FA-4B01-884E-42C2CF2923BB}" type="pres">
      <dgm:prSet presAssocID="{D2CE9F4C-F1BC-47A2-BAEA-F688974E43E1}" presName="composite" presStyleCnt="0">
        <dgm:presLayoutVars>
          <dgm:chMax val="3"/>
          <dgm:animLvl val="lvl"/>
          <dgm:resizeHandles val="exact"/>
        </dgm:presLayoutVars>
      </dgm:prSet>
      <dgm:spPr/>
    </dgm:pt>
    <dgm:pt modelId="{914ED104-3EA9-442D-83BB-73BDB619C473}" type="pres">
      <dgm:prSet presAssocID="{919CAA4E-63D7-400B-8967-313E7839D02E}" presName="gear1" presStyleLbl="node1" presStyleIdx="0" presStyleCnt="3">
        <dgm:presLayoutVars>
          <dgm:chMax val="1"/>
          <dgm:bulletEnabled val="1"/>
        </dgm:presLayoutVars>
      </dgm:prSet>
      <dgm:spPr/>
      <dgm:t>
        <a:bodyPr/>
        <a:lstStyle/>
        <a:p>
          <a:endParaRPr lang="en-US"/>
        </a:p>
      </dgm:t>
    </dgm:pt>
    <dgm:pt modelId="{18387023-6AF7-412A-95CA-A1199DA1D431}" type="pres">
      <dgm:prSet presAssocID="{919CAA4E-63D7-400B-8967-313E7839D02E}" presName="gear1srcNode" presStyleLbl="node1" presStyleIdx="0" presStyleCnt="3"/>
      <dgm:spPr/>
      <dgm:t>
        <a:bodyPr/>
        <a:lstStyle/>
        <a:p>
          <a:endParaRPr lang="en-US"/>
        </a:p>
      </dgm:t>
    </dgm:pt>
    <dgm:pt modelId="{08396CCB-65B4-40A0-90EC-2B71FAAB1463}" type="pres">
      <dgm:prSet presAssocID="{919CAA4E-63D7-400B-8967-313E7839D02E}" presName="gear1dstNode" presStyleLbl="node1" presStyleIdx="0" presStyleCnt="3"/>
      <dgm:spPr/>
      <dgm:t>
        <a:bodyPr/>
        <a:lstStyle/>
        <a:p>
          <a:endParaRPr lang="en-US"/>
        </a:p>
      </dgm:t>
    </dgm:pt>
    <dgm:pt modelId="{C6B1C1F7-BF8C-4327-AB5D-B6144A2C8CA0}" type="pres">
      <dgm:prSet presAssocID="{C68C061A-A027-4659-AC8F-60A131893727}" presName="gear2" presStyleLbl="node1" presStyleIdx="1" presStyleCnt="3">
        <dgm:presLayoutVars>
          <dgm:chMax val="1"/>
          <dgm:bulletEnabled val="1"/>
        </dgm:presLayoutVars>
      </dgm:prSet>
      <dgm:spPr/>
      <dgm:t>
        <a:bodyPr/>
        <a:lstStyle/>
        <a:p>
          <a:endParaRPr lang="en-US"/>
        </a:p>
      </dgm:t>
    </dgm:pt>
    <dgm:pt modelId="{4FBD5985-49DB-4241-9862-852B040C080C}" type="pres">
      <dgm:prSet presAssocID="{C68C061A-A027-4659-AC8F-60A131893727}" presName="gear2srcNode" presStyleLbl="node1" presStyleIdx="1" presStyleCnt="3"/>
      <dgm:spPr/>
      <dgm:t>
        <a:bodyPr/>
        <a:lstStyle/>
        <a:p>
          <a:endParaRPr lang="en-US"/>
        </a:p>
      </dgm:t>
    </dgm:pt>
    <dgm:pt modelId="{94B318EF-1BC1-4C4F-A4C0-A4CE398018FF}" type="pres">
      <dgm:prSet presAssocID="{C68C061A-A027-4659-AC8F-60A131893727}" presName="gear2dstNode" presStyleLbl="node1" presStyleIdx="1" presStyleCnt="3"/>
      <dgm:spPr/>
      <dgm:t>
        <a:bodyPr/>
        <a:lstStyle/>
        <a:p>
          <a:endParaRPr lang="en-US"/>
        </a:p>
      </dgm:t>
    </dgm:pt>
    <dgm:pt modelId="{F22CCAF6-4FC9-43FA-9EC9-CBB9415524D2}" type="pres">
      <dgm:prSet presAssocID="{44E25586-B296-430F-9376-9805570EE4BA}" presName="gear3" presStyleLbl="node1" presStyleIdx="2" presStyleCnt="3"/>
      <dgm:spPr/>
      <dgm:t>
        <a:bodyPr/>
        <a:lstStyle/>
        <a:p>
          <a:endParaRPr lang="en-US"/>
        </a:p>
      </dgm:t>
    </dgm:pt>
    <dgm:pt modelId="{43186FEA-D2E2-48A9-91DB-99E37FF3DA6B}" type="pres">
      <dgm:prSet presAssocID="{44E25586-B296-430F-9376-9805570EE4BA}" presName="gear3tx" presStyleLbl="node1" presStyleIdx="2" presStyleCnt="3">
        <dgm:presLayoutVars>
          <dgm:chMax val="1"/>
          <dgm:bulletEnabled val="1"/>
        </dgm:presLayoutVars>
      </dgm:prSet>
      <dgm:spPr/>
      <dgm:t>
        <a:bodyPr/>
        <a:lstStyle/>
        <a:p>
          <a:endParaRPr lang="en-US"/>
        </a:p>
      </dgm:t>
    </dgm:pt>
    <dgm:pt modelId="{B3CACF1E-1DE0-4CCC-844E-8160ED1D79FC}" type="pres">
      <dgm:prSet presAssocID="{44E25586-B296-430F-9376-9805570EE4BA}" presName="gear3srcNode" presStyleLbl="node1" presStyleIdx="2" presStyleCnt="3"/>
      <dgm:spPr/>
      <dgm:t>
        <a:bodyPr/>
        <a:lstStyle/>
        <a:p>
          <a:endParaRPr lang="en-US"/>
        </a:p>
      </dgm:t>
    </dgm:pt>
    <dgm:pt modelId="{19ED2F33-DC80-46DB-B461-AB4ADB6C38C1}" type="pres">
      <dgm:prSet presAssocID="{44E25586-B296-430F-9376-9805570EE4BA}" presName="gear3dstNode" presStyleLbl="node1" presStyleIdx="2" presStyleCnt="3"/>
      <dgm:spPr/>
      <dgm:t>
        <a:bodyPr/>
        <a:lstStyle/>
        <a:p>
          <a:endParaRPr lang="en-US"/>
        </a:p>
      </dgm:t>
    </dgm:pt>
    <dgm:pt modelId="{2E1215D3-6615-4069-8033-D973F9AFAEB0}" type="pres">
      <dgm:prSet presAssocID="{0E89A09F-7F24-4B95-B31C-809C716859B1}" presName="connector1" presStyleLbl="sibTrans2D1" presStyleIdx="0" presStyleCnt="3"/>
      <dgm:spPr/>
      <dgm:t>
        <a:bodyPr/>
        <a:lstStyle/>
        <a:p>
          <a:endParaRPr lang="en-US"/>
        </a:p>
      </dgm:t>
    </dgm:pt>
    <dgm:pt modelId="{4465D33A-DEC9-4707-BB4B-3F545C854EAC}" type="pres">
      <dgm:prSet presAssocID="{3A62CEA5-9E50-4356-B21C-B8FDAF0C7122}" presName="connector2" presStyleLbl="sibTrans2D1" presStyleIdx="1" presStyleCnt="3"/>
      <dgm:spPr/>
      <dgm:t>
        <a:bodyPr/>
        <a:lstStyle/>
        <a:p>
          <a:endParaRPr lang="en-US"/>
        </a:p>
      </dgm:t>
    </dgm:pt>
    <dgm:pt modelId="{0474347A-38AD-4A9B-9A32-240E67D1D2EC}" type="pres">
      <dgm:prSet presAssocID="{020112C7-5F39-4F4B-9720-AF905FEB40EA}" presName="connector3" presStyleLbl="sibTrans2D1" presStyleIdx="2" presStyleCnt="3"/>
      <dgm:spPr/>
      <dgm:t>
        <a:bodyPr/>
        <a:lstStyle/>
        <a:p>
          <a:endParaRPr lang="en-US"/>
        </a:p>
      </dgm:t>
    </dgm:pt>
  </dgm:ptLst>
  <dgm:cxnLst>
    <dgm:cxn modelId="{4CB7C1DD-9831-4BF3-A237-0111B21406B6}" type="presOf" srcId="{44E25586-B296-430F-9376-9805570EE4BA}" destId="{19ED2F33-DC80-46DB-B461-AB4ADB6C38C1}" srcOrd="3" destOrd="0" presId="urn:microsoft.com/office/officeart/2005/8/layout/gear1"/>
    <dgm:cxn modelId="{0320790D-B866-42A3-8A85-E60FF80C12E3}" type="presOf" srcId="{44E25586-B296-430F-9376-9805570EE4BA}" destId="{43186FEA-D2E2-48A9-91DB-99E37FF3DA6B}" srcOrd="1" destOrd="0" presId="urn:microsoft.com/office/officeart/2005/8/layout/gear1"/>
    <dgm:cxn modelId="{72051A2F-CFDB-48D4-96A5-01042962FACE}" type="presOf" srcId="{D2CE9F4C-F1BC-47A2-BAEA-F688974E43E1}" destId="{5FE689EB-B6FA-4B01-884E-42C2CF2923BB}" srcOrd="0" destOrd="0" presId="urn:microsoft.com/office/officeart/2005/8/layout/gear1"/>
    <dgm:cxn modelId="{28BE2E2F-7238-41FB-ABA9-627C8E4145AE}" type="presOf" srcId="{44E25586-B296-430F-9376-9805570EE4BA}" destId="{F22CCAF6-4FC9-43FA-9EC9-CBB9415524D2}" srcOrd="0" destOrd="0" presId="urn:microsoft.com/office/officeart/2005/8/layout/gear1"/>
    <dgm:cxn modelId="{3E7F4404-3669-4898-8B05-7E36DE7BCE55}" type="presOf" srcId="{919CAA4E-63D7-400B-8967-313E7839D02E}" destId="{18387023-6AF7-412A-95CA-A1199DA1D431}" srcOrd="1" destOrd="0" presId="urn:microsoft.com/office/officeart/2005/8/layout/gear1"/>
    <dgm:cxn modelId="{130A31B1-E9F5-45A1-A36A-A8AF4AB59C80}" type="presOf" srcId="{C68C061A-A027-4659-AC8F-60A131893727}" destId="{4FBD5985-49DB-4241-9862-852B040C080C}" srcOrd="1" destOrd="0" presId="urn:microsoft.com/office/officeart/2005/8/layout/gear1"/>
    <dgm:cxn modelId="{7108B224-249E-4D51-B1FA-E8410FD4578A}" type="presOf" srcId="{44E25586-B296-430F-9376-9805570EE4BA}" destId="{B3CACF1E-1DE0-4CCC-844E-8160ED1D79FC}" srcOrd="2" destOrd="0" presId="urn:microsoft.com/office/officeart/2005/8/layout/gear1"/>
    <dgm:cxn modelId="{54B6B615-2E5F-4FC1-865D-6283D9962F5E}" type="presOf" srcId="{3A62CEA5-9E50-4356-B21C-B8FDAF0C7122}" destId="{4465D33A-DEC9-4707-BB4B-3F545C854EAC}" srcOrd="0" destOrd="0" presId="urn:microsoft.com/office/officeart/2005/8/layout/gear1"/>
    <dgm:cxn modelId="{A2ED2562-903F-4914-948D-2FDB5433ED68}" srcId="{D2CE9F4C-F1BC-47A2-BAEA-F688974E43E1}" destId="{44E25586-B296-430F-9376-9805570EE4BA}" srcOrd="2" destOrd="0" parTransId="{CCBD4AAD-6E36-4C3C-98F7-4030A0953756}" sibTransId="{020112C7-5F39-4F4B-9720-AF905FEB40EA}"/>
    <dgm:cxn modelId="{D459CEB7-0087-4CD3-9B9C-DAA3E65B60E8}" type="presOf" srcId="{919CAA4E-63D7-400B-8967-313E7839D02E}" destId="{914ED104-3EA9-442D-83BB-73BDB619C473}" srcOrd="0" destOrd="0" presId="urn:microsoft.com/office/officeart/2005/8/layout/gear1"/>
    <dgm:cxn modelId="{3657F600-FB8E-49D0-A1F2-97C618514CD3}" srcId="{D2CE9F4C-F1BC-47A2-BAEA-F688974E43E1}" destId="{C68C061A-A027-4659-AC8F-60A131893727}" srcOrd="1" destOrd="0" parTransId="{90AA2D81-190B-46AD-BDFF-C2F5CEC8B451}" sibTransId="{3A62CEA5-9E50-4356-B21C-B8FDAF0C7122}"/>
    <dgm:cxn modelId="{254A6941-F93A-4AD8-A3F9-0CB2397227C2}" type="presOf" srcId="{919CAA4E-63D7-400B-8967-313E7839D02E}" destId="{08396CCB-65B4-40A0-90EC-2B71FAAB1463}" srcOrd="2" destOrd="0" presId="urn:microsoft.com/office/officeart/2005/8/layout/gear1"/>
    <dgm:cxn modelId="{D9D20F08-00C5-47F3-BD94-6EF5683596C9}" type="presOf" srcId="{C68C061A-A027-4659-AC8F-60A131893727}" destId="{94B318EF-1BC1-4C4F-A4C0-A4CE398018FF}" srcOrd="2" destOrd="0" presId="urn:microsoft.com/office/officeart/2005/8/layout/gear1"/>
    <dgm:cxn modelId="{644FFF7A-1EFC-4782-BB9E-306E8CC6AD7D}" type="presOf" srcId="{C68C061A-A027-4659-AC8F-60A131893727}" destId="{C6B1C1F7-BF8C-4327-AB5D-B6144A2C8CA0}" srcOrd="0" destOrd="0" presId="urn:microsoft.com/office/officeart/2005/8/layout/gear1"/>
    <dgm:cxn modelId="{AB9A8740-50A4-4FF3-A1B4-A5BE44FD3142}" type="presOf" srcId="{020112C7-5F39-4F4B-9720-AF905FEB40EA}" destId="{0474347A-38AD-4A9B-9A32-240E67D1D2EC}" srcOrd="0" destOrd="0" presId="urn:microsoft.com/office/officeart/2005/8/layout/gear1"/>
    <dgm:cxn modelId="{B7D86FFE-A578-46A2-8A0A-1FB6BEC68E2C}" type="presOf" srcId="{0E89A09F-7F24-4B95-B31C-809C716859B1}" destId="{2E1215D3-6615-4069-8033-D973F9AFAEB0}" srcOrd="0" destOrd="0" presId="urn:microsoft.com/office/officeart/2005/8/layout/gear1"/>
    <dgm:cxn modelId="{4709F192-1B95-444F-8C71-678AE8B1A392}" srcId="{D2CE9F4C-F1BC-47A2-BAEA-F688974E43E1}" destId="{919CAA4E-63D7-400B-8967-313E7839D02E}" srcOrd="0" destOrd="0" parTransId="{EEDAB319-9095-4396-AA92-B5EA918BBA11}" sibTransId="{0E89A09F-7F24-4B95-B31C-809C716859B1}"/>
    <dgm:cxn modelId="{3DE17C31-E76D-4C34-B5E6-1B487D23B65F}" type="presParOf" srcId="{5FE689EB-B6FA-4B01-884E-42C2CF2923BB}" destId="{914ED104-3EA9-442D-83BB-73BDB619C473}" srcOrd="0" destOrd="0" presId="urn:microsoft.com/office/officeart/2005/8/layout/gear1"/>
    <dgm:cxn modelId="{EB90189B-8143-4804-8EB7-42FA29B9FBCC}" type="presParOf" srcId="{5FE689EB-B6FA-4B01-884E-42C2CF2923BB}" destId="{18387023-6AF7-412A-95CA-A1199DA1D431}" srcOrd="1" destOrd="0" presId="urn:microsoft.com/office/officeart/2005/8/layout/gear1"/>
    <dgm:cxn modelId="{D1A9D9BA-0DBC-4816-9812-122F5FD1CCFD}" type="presParOf" srcId="{5FE689EB-B6FA-4B01-884E-42C2CF2923BB}" destId="{08396CCB-65B4-40A0-90EC-2B71FAAB1463}" srcOrd="2" destOrd="0" presId="urn:microsoft.com/office/officeart/2005/8/layout/gear1"/>
    <dgm:cxn modelId="{155FCD41-79B8-41D0-924E-4F2466569C93}" type="presParOf" srcId="{5FE689EB-B6FA-4B01-884E-42C2CF2923BB}" destId="{C6B1C1F7-BF8C-4327-AB5D-B6144A2C8CA0}" srcOrd="3" destOrd="0" presId="urn:microsoft.com/office/officeart/2005/8/layout/gear1"/>
    <dgm:cxn modelId="{5C321CF5-1278-43F8-A8F6-3007A3FC02A3}" type="presParOf" srcId="{5FE689EB-B6FA-4B01-884E-42C2CF2923BB}" destId="{4FBD5985-49DB-4241-9862-852B040C080C}" srcOrd="4" destOrd="0" presId="urn:microsoft.com/office/officeart/2005/8/layout/gear1"/>
    <dgm:cxn modelId="{B34FAC26-C295-4621-B4B5-EBE912A83066}" type="presParOf" srcId="{5FE689EB-B6FA-4B01-884E-42C2CF2923BB}" destId="{94B318EF-1BC1-4C4F-A4C0-A4CE398018FF}" srcOrd="5" destOrd="0" presId="urn:microsoft.com/office/officeart/2005/8/layout/gear1"/>
    <dgm:cxn modelId="{513F98BE-9795-4E0B-819C-D62D88404754}" type="presParOf" srcId="{5FE689EB-B6FA-4B01-884E-42C2CF2923BB}" destId="{F22CCAF6-4FC9-43FA-9EC9-CBB9415524D2}" srcOrd="6" destOrd="0" presId="urn:microsoft.com/office/officeart/2005/8/layout/gear1"/>
    <dgm:cxn modelId="{66467E26-DE87-4C7B-B73E-F290154B4475}" type="presParOf" srcId="{5FE689EB-B6FA-4B01-884E-42C2CF2923BB}" destId="{43186FEA-D2E2-48A9-91DB-99E37FF3DA6B}" srcOrd="7" destOrd="0" presId="urn:microsoft.com/office/officeart/2005/8/layout/gear1"/>
    <dgm:cxn modelId="{9B126FC9-231D-42DD-9AD6-A6A03443828C}" type="presParOf" srcId="{5FE689EB-B6FA-4B01-884E-42C2CF2923BB}" destId="{B3CACF1E-1DE0-4CCC-844E-8160ED1D79FC}" srcOrd="8" destOrd="0" presId="urn:microsoft.com/office/officeart/2005/8/layout/gear1"/>
    <dgm:cxn modelId="{EA5DD679-9AE7-4CB8-8181-456BDA3B8F63}" type="presParOf" srcId="{5FE689EB-B6FA-4B01-884E-42C2CF2923BB}" destId="{19ED2F33-DC80-46DB-B461-AB4ADB6C38C1}" srcOrd="9" destOrd="0" presId="urn:microsoft.com/office/officeart/2005/8/layout/gear1"/>
    <dgm:cxn modelId="{82BB6E2E-DFBD-4B0F-B2C3-679FFF0E3F3D}" type="presParOf" srcId="{5FE689EB-B6FA-4B01-884E-42C2CF2923BB}" destId="{2E1215D3-6615-4069-8033-D973F9AFAEB0}" srcOrd="10" destOrd="0" presId="urn:microsoft.com/office/officeart/2005/8/layout/gear1"/>
    <dgm:cxn modelId="{E1399A71-AB27-4DAE-885B-08D0AC9452F7}" type="presParOf" srcId="{5FE689EB-B6FA-4B01-884E-42C2CF2923BB}" destId="{4465D33A-DEC9-4707-BB4B-3F545C854EAC}" srcOrd="11" destOrd="0" presId="urn:microsoft.com/office/officeart/2005/8/layout/gear1"/>
    <dgm:cxn modelId="{59CA3502-EF45-42D0-B792-C9F87D6559A3}" type="presParOf" srcId="{5FE689EB-B6FA-4B01-884E-42C2CF2923BB}" destId="{0474347A-38AD-4A9B-9A32-240E67D1D2EC}" srcOrd="12" destOrd="0" presId="urn:microsoft.com/office/officeart/2005/8/layout/gear1"/>
  </dgm:cxnLst>
  <dgm:bg>
    <a:noFill/>
  </dgm:bg>
  <dgm:whole>
    <a:ln>
      <a:noFill/>
    </a:ln>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CE9F4C-F1BC-47A2-BAEA-F688974E43E1}" type="doc">
      <dgm:prSet loTypeId="urn:microsoft.com/office/officeart/2005/8/layout/gear1" loCatId="process" qsTypeId="urn:microsoft.com/office/officeart/2005/8/quickstyle/simple1" qsCatId="simple" csTypeId="urn:microsoft.com/office/officeart/2005/8/colors/accent0_1" csCatId="mainScheme" phldr="1"/>
      <dgm:spPr/>
    </dgm:pt>
    <dgm:pt modelId="{919CAA4E-63D7-400B-8967-313E7839D02E}">
      <dgm:prSet phldrT="[Text]"/>
      <dgm:spPr>
        <a:ln w="6350"/>
      </dgm:spPr>
      <dgm:t>
        <a:bodyPr/>
        <a:lstStyle/>
        <a:p>
          <a:r>
            <a:rPr lang="en-US" dirty="0" smtClean="0"/>
            <a:t>Detailed</a:t>
          </a:r>
        </a:p>
        <a:p>
          <a:r>
            <a:rPr lang="en-US" dirty="0" smtClean="0"/>
            <a:t>Design</a:t>
          </a:r>
          <a:endParaRPr lang="en-US" dirty="0"/>
        </a:p>
      </dgm:t>
    </dgm:pt>
    <dgm:pt modelId="{EEDAB319-9095-4396-AA92-B5EA918BBA11}" type="parTrans" cxnId="{4709F192-1B95-444F-8C71-678AE8B1A392}">
      <dgm:prSet/>
      <dgm:spPr/>
      <dgm:t>
        <a:bodyPr/>
        <a:lstStyle/>
        <a:p>
          <a:endParaRPr lang="en-US"/>
        </a:p>
      </dgm:t>
    </dgm:pt>
    <dgm:pt modelId="{0E89A09F-7F24-4B95-B31C-809C716859B1}" type="sibTrans" cxnId="{4709F192-1B95-444F-8C71-678AE8B1A392}">
      <dgm:prSet/>
      <dgm:spPr/>
      <dgm:t>
        <a:bodyPr/>
        <a:lstStyle/>
        <a:p>
          <a:endParaRPr lang="en-US"/>
        </a:p>
      </dgm:t>
    </dgm:pt>
    <dgm:pt modelId="{C68C061A-A027-4659-AC8F-60A131893727}">
      <dgm:prSet phldrT="[Text]"/>
      <dgm:spPr>
        <a:ln w="6350"/>
      </dgm:spPr>
      <dgm:t>
        <a:bodyPr/>
        <a:lstStyle/>
        <a:p>
          <a:r>
            <a:rPr lang="en-US" dirty="0" smtClean="0"/>
            <a:t>Code</a:t>
          </a:r>
          <a:endParaRPr lang="en-US" dirty="0"/>
        </a:p>
      </dgm:t>
    </dgm:pt>
    <dgm:pt modelId="{90AA2D81-190B-46AD-BDFF-C2F5CEC8B451}" type="parTrans" cxnId="{3657F600-FB8E-49D0-A1F2-97C618514CD3}">
      <dgm:prSet/>
      <dgm:spPr/>
      <dgm:t>
        <a:bodyPr/>
        <a:lstStyle/>
        <a:p>
          <a:endParaRPr lang="en-US"/>
        </a:p>
      </dgm:t>
    </dgm:pt>
    <dgm:pt modelId="{3A62CEA5-9E50-4356-B21C-B8FDAF0C7122}" type="sibTrans" cxnId="{3657F600-FB8E-49D0-A1F2-97C618514CD3}">
      <dgm:prSet/>
      <dgm:spPr/>
      <dgm:t>
        <a:bodyPr/>
        <a:lstStyle/>
        <a:p>
          <a:endParaRPr lang="en-US"/>
        </a:p>
      </dgm:t>
    </dgm:pt>
    <dgm:pt modelId="{44E25586-B296-430F-9376-9805570EE4BA}">
      <dgm:prSet phldrT="[Text]"/>
      <dgm:spPr>
        <a:ln w="6350"/>
      </dgm:spPr>
      <dgm:t>
        <a:bodyPr/>
        <a:lstStyle/>
        <a:p>
          <a:r>
            <a:rPr lang="en-US" dirty="0" smtClean="0"/>
            <a:t>…</a:t>
          </a:r>
          <a:endParaRPr lang="en-US" dirty="0"/>
        </a:p>
      </dgm:t>
    </dgm:pt>
    <dgm:pt modelId="{CCBD4AAD-6E36-4C3C-98F7-4030A0953756}" type="parTrans" cxnId="{A2ED2562-903F-4914-948D-2FDB5433ED68}">
      <dgm:prSet/>
      <dgm:spPr/>
      <dgm:t>
        <a:bodyPr/>
        <a:lstStyle/>
        <a:p>
          <a:endParaRPr lang="en-US"/>
        </a:p>
      </dgm:t>
    </dgm:pt>
    <dgm:pt modelId="{020112C7-5F39-4F4B-9720-AF905FEB40EA}" type="sibTrans" cxnId="{A2ED2562-903F-4914-948D-2FDB5433ED68}">
      <dgm:prSet/>
      <dgm:spPr/>
      <dgm:t>
        <a:bodyPr/>
        <a:lstStyle/>
        <a:p>
          <a:endParaRPr lang="en-US"/>
        </a:p>
      </dgm:t>
    </dgm:pt>
    <dgm:pt modelId="{5FE689EB-B6FA-4B01-884E-42C2CF2923BB}" type="pres">
      <dgm:prSet presAssocID="{D2CE9F4C-F1BC-47A2-BAEA-F688974E43E1}" presName="composite" presStyleCnt="0">
        <dgm:presLayoutVars>
          <dgm:chMax val="3"/>
          <dgm:animLvl val="lvl"/>
          <dgm:resizeHandles val="exact"/>
        </dgm:presLayoutVars>
      </dgm:prSet>
      <dgm:spPr/>
    </dgm:pt>
    <dgm:pt modelId="{914ED104-3EA9-442D-83BB-73BDB619C473}" type="pres">
      <dgm:prSet presAssocID="{919CAA4E-63D7-400B-8967-313E7839D02E}" presName="gear1" presStyleLbl="node1" presStyleIdx="0" presStyleCnt="3">
        <dgm:presLayoutVars>
          <dgm:chMax val="1"/>
          <dgm:bulletEnabled val="1"/>
        </dgm:presLayoutVars>
      </dgm:prSet>
      <dgm:spPr/>
      <dgm:t>
        <a:bodyPr/>
        <a:lstStyle/>
        <a:p>
          <a:endParaRPr lang="en-US"/>
        </a:p>
      </dgm:t>
    </dgm:pt>
    <dgm:pt modelId="{18387023-6AF7-412A-95CA-A1199DA1D431}" type="pres">
      <dgm:prSet presAssocID="{919CAA4E-63D7-400B-8967-313E7839D02E}" presName="gear1srcNode" presStyleLbl="node1" presStyleIdx="0" presStyleCnt="3"/>
      <dgm:spPr/>
      <dgm:t>
        <a:bodyPr/>
        <a:lstStyle/>
        <a:p>
          <a:endParaRPr lang="en-US"/>
        </a:p>
      </dgm:t>
    </dgm:pt>
    <dgm:pt modelId="{08396CCB-65B4-40A0-90EC-2B71FAAB1463}" type="pres">
      <dgm:prSet presAssocID="{919CAA4E-63D7-400B-8967-313E7839D02E}" presName="gear1dstNode" presStyleLbl="node1" presStyleIdx="0" presStyleCnt="3"/>
      <dgm:spPr/>
      <dgm:t>
        <a:bodyPr/>
        <a:lstStyle/>
        <a:p>
          <a:endParaRPr lang="en-US"/>
        </a:p>
      </dgm:t>
    </dgm:pt>
    <dgm:pt modelId="{C6B1C1F7-BF8C-4327-AB5D-B6144A2C8CA0}" type="pres">
      <dgm:prSet presAssocID="{C68C061A-A027-4659-AC8F-60A131893727}" presName="gear2" presStyleLbl="node1" presStyleIdx="1" presStyleCnt="3">
        <dgm:presLayoutVars>
          <dgm:chMax val="1"/>
          <dgm:bulletEnabled val="1"/>
        </dgm:presLayoutVars>
      </dgm:prSet>
      <dgm:spPr/>
      <dgm:t>
        <a:bodyPr/>
        <a:lstStyle/>
        <a:p>
          <a:endParaRPr lang="en-US"/>
        </a:p>
      </dgm:t>
    </dgm:pt>
    <dgm:pt modelId="{4FBD5985-49DB-4241-9862-852B040C080C}" type="pres">
      <dgm:prSet presAssocID="{C68C061A-A027-4659-AC8F-60A131893727}" presName="gear2srcNode" presStyleLbl="node1" presStyleIdx="1" presStyleCnt="3"/>
      <dgm:spPr/>
      <dgm:t>
        <a:bodyPr/>
        <a:lstStyle/>
        <a:p>
          <a:endParaRPr lang="en-US"/>
        </a:p>
      </dgm:t>
    </dgm:pt>
    <dgm:pt modelId="{94B318EF-1BC1-4C4F-A4C0-A4CE398018FF}" type="pres">
      <dgm:prSet presAssocID="{C68C061A-A027-4659-AC8F-60A131893727}" presName="gear2dstNode" presStyleLbl="node1" presStyleIdx="1" presStyleCnt="3"/>
      <dgm:spPr/>
      <dgm:t>
        <a:bodyPr/>
        <a:lstStyle/>
        <a:p>
          <a:endParaRPr lang="en-US"/>
        </a:p>
      </dgm:t>
    </dgm:pt>
    <dgm:pt modelId="{F22CCAF6-4FC9-43FA-9EC9-CBB9415524D2}" type="pres">
      <dgm:prSet presAssocID="{44E25586-B296-430F-9376-9805570EE4BA}" presName="gear3" presStyleLbl="node1" presStyleIdx="2" presStyleCnt="3"/>
      <dgm:spPr/>
      <dgm:t>
        <a:bodyPr/>
        <a:lstStyle/>
        <a:p>
          <a:endParaRPr lang="en-US"/>
        </a:p>
      </dgm:t>
    </dgm:pt>
    <dgm:pt modelId="{43186FEA-D2E2-48A9-91DB-99E37FF3DA6B}" type="pres">
      <dgm:prSet presAssocID="{44E25586-B296-430F-9376-9805570EE4BA}" presName="gear3tx" presStyleLbl="node1" presStyleIdx="2" presStyleCnt="3">
        <dgm:presLayoutVars>
          <dgm:chMax val="1"/>
          <dgm:bulletEnabled val="1"/>
        </dgm:presLayoutVars>
      </dgm:prSet>
      <dgm:spPr/>
      <dgm:t>
        <a:bodyPr/>
        <a:lstStyle/>
        <a:p>
          <a:endParaRPr lang="en-US"/>
        </a:p>
      </dgm:t>
    </dgm:pt>
    <dgm:pt modelId="{B3CACF1E-1DE0-4CCC-844E-8160ED1D79FC}" type="pres">
      <dgm:prSet presAssocID="{44E25586-B296-430F-9376-9805570EE4BA}" presName="gear3srcNode" presStyleLbl="node1" presStyleIdx="2" presStyleCnt="3"/>
      <dgm:spPr/>
      <dgm:t>
        <a:bodyPr/>
        <a:lstStyle/>
        <a:p>
          <a:endParaRPr lang="en-US"/>
        </a:p>
      </dgm:t>
    </dgm:pt>
    <dgm:pt modelId="{19ED2F33-DC80-46DB-B461-AB4ADB6C38C1}" type="pres">
      <dgm:prSet presAssocID="{44E25586-B296-430F-9376-9805570EE4BA}" presName="gear3dstNode" presStyleLbl="node1" presStyleIdx="2" presStyleCnt="3"/>
      <dgm:spPr/>
      <dgm:t>
        <a:bodyPr/>
        <a:lstStyle/>
        <a:p>
          <a:endParaRPr lang="en-US"/>
        </a:p>
      </dgm:t>
    </dgm:pt>
    <dgm:pt modelId="{2E1215D3-6615-4069-8033-D973F9AFAEB0}" type="pres">
      <dgm:prSet presAssocID="{0E89A09F-7F24-4B95-B31C-809C716859B1}" presName="connector1" presStyleLbl="sibTrans2D1" presStyleIdx="0" presStyleCnt="3"/>
      <dgm:spPr/>
      <dgm:t>
        <a:bodyPr/>
        <a:lstStyle/>
        <a:p>
          <a:endParaRPr lang="en-US"/>
        </a:p>
      </dgm:t>
    </dgm:pt>
    <dgm:pt modelId="{4465D33A-DEC9-4707-BB4B-3F545C854EAC}" type="pres">
      <dgm:prSet presAssocID="{3A62CEA5-9E50-4356-B21C-B8FDAF0C7122}" presName="connector2" presStyleLbl="sibTrans2D1" presStyleIdx="1" presStyleCnt="3"/>
      <dgm:spPr/>
      <dgm:t>
        <a:bodyPr/>
        <a:lstStyle/>
        <a:p>
          <a:endParaRPr lang="en-US"/>
        </a:p>
      </dgm:t>
    </dgm:pt>
    <dgm:pt modelId="{0474347A-38AD-4A9B-9A32-240E67D1D2EC}" type="pres">
      <dgm:prSet presAssocID="{020112C7-5F39-4F4B-9720-AF905FEB40EA}" presName="connector3" presStyleLbl="sibTrans2D1" presStyleIdx="2" presStyleCnt="3"/>
      <dgm:spPr/>
      <dgm:t>
        <a:bodyPr/>
        <a:lstStyle/>
        <a:p>
          <a:endParaRPr lang="en-US"/>
        </a:p>
      </dgm:t>
    </dgm:pt>
  </dgm:ptLst>
  <dgm:cxnLst>
    <dgm:cxn modelId="{EA688B3A-4ED5-4560-802F-94FF07C362F4}" type="presOf" srcId="{44E25586-B296-430F-9376-9805570EE4BA}" destId="{19ED2F33-DC80-46DB-B461-AB4ADB6C38C1}" srcOrd="3" destOrd="0" presId="urn:microsoft.com/office/officeart/2005/8/layout/gear1"/>
    <dgm:cxn modelId="{8527896F-3CD1-419C-A7B7-E7413DA79920}" type="presOf" srcId="{919CAA4E-63D7-400B-8967-313E7839D02E}" destId="{08396CCB-65B4-40A0-90EC-2B71FAAB1463}" srcOrd="2" destOrd="0" presId="urn:microsoft.com/office/officeart/2005/8/layout/gear1"/>
    <dgm:cxn modelId="{A07F856B-5750-4CD6-8EFC-3A15AA1BB185}" type="presOf" srcId="{C68C061A-A027-4659-AC8F-60A131893727}" destId="{94B318EF-1BC1-4C4F-A4C0-A4CE398018FF}" srcOrd="2" destOrd="0" presId="urn:microsoft.com/office/officeart/2005/8/layout/gear1"/>
    <dgm:cxn modelId="{E42520A6-FA2F-40EC-83BF-61BF455539C6}" type="presOf" srcId="{919CAA4E-63D7-400B-8967-313E7839D02E}" destId="{18387023-6AF7-412A-95CA-A1199DA1D431}" srcOrd="1" destOrd="0" presId="urn:microsoft.com/office/officeart/2005/8/layout/gear1"/>
    <dgm:cxn modelId="{A2ED2562-903F-4914-948D-2FDB5433ED68}" srcId="{D2CE9F4C-F1BC-47A2-BAEA-F688974E43E1}" destId="{44E25586-B296-430F-9376-9805570EE4BA}" srcOrd="2" destOrd="0" parTransId="{CCBD4AAD-6E36-4C3C-98F7-4030A0953756}" sibTransId="{020112C7-5F39-4F4B-9720-AF905FEB40EA}"/>
    <dgm:cxn modelId="{E0FFFFB8-E788-413B-BC9E-F7B4E20C8FED}" type="presOf" srcId="{C68C061A-A027-4659-AC8F-60A131893727}" destId="{4FBD5985-49DB-4241-9862-852B040C080C}" srcOrd="1" destOrd="0" presId="urn:microsoft.com/office/officeart/2005/8/layout/gear1"/>
    <dgm:cxn modelId="{9949ADE0-4241-48D4-9CBC-61AEFE96FE23}" type="presOf" srcId="{C68C061A-A027-4659-AC8F-60A131893727}" destId="{C6B1C1F7-BF8C-4327-AB5D-B6144A2C8CA0}" srcOrd="0" destOrd="0" presId="urn:microsoft.com/office/officeart/2005/8/layout/gear1"/>
    <dgm:cxn modelId="{3657F600-FB8E-49D0-A1F2-97C618514CD3}" srcId="{D2CE9F4C-F1BC-47A2-BAEA-F688974E43E1}" destId="{C68C061A-A027-4659-AC8F-60A131893727}" srcOrd="1" destOrd="0" parTransId="{90AA2D81-190B-46AD-BDFF-C2F5CEC8B451}" sibTransId="{3A62CEA5-9E50-4356-B21C-B8FDAF0C7122}"/>
    <dgm:cxn modelId="{B2E5FA30-CE5C-4EDD-A548-F27EE6E2B9BD}" type="presOf" srcId="{3A62CEA5-9E50-4356-B21C-B8FDAF0C7122}" destId="{4465D33A-DEC9-4707-BB4B-3F545C854EAC}" srcOrd="0" destOrd="0" presId="urn:microsoft.com/office/officeart/2005/8/layout/gear1"/>
    <dgm:cxn modelId="{C403A292-7399-40F6-AD95-5FD20F64427C}" type="presOf" srcId="{44E25586-B296-430F-9376-9805570EE4BA}" destId="{43186FEA-D2E2-48A9-91DB-99E37FF3DA6B}" srcOrd="1" destOrd="0" presId="urn:microsoft.com/office/officeart/2005/8/layout/gear1"/>
    <dgm:cxn modelId="{BD380EB9-5942-4738-ACA1-772F5FE22643}" type="presOf" srcId="{D2CE9F4C-F1BC-47A2-BAEA-F688974E43E1}" destId="{5FE689EB-B6FA-4B01-884E-42C2CF2923BB}" srcOrd="0" destOrd="0" presId="urn:microsoft.com/office/officeart/2005/8/layout/gear1"/>
    <dgm:cxn modelId="{B60E14E2-DC09-44ED-BC6B-DC7E97415CEB}" type="presOf" srcId="{44E25586-B296-430F-9376-9805570EE4BA}" destId="{B3CACF1E-1DE0-4CCC-844E-8160ED1D79FC}" srcOrd="2" destOrd="0" presId="urn:microsoft.com/office/officeart/2005/8/layout/gear1"/>
    <dgm:cxn modelId="{548C32CA-CB02-422F-98DC-9A84071AF86A}" type="presOf" srcId="{44E25586-B296-430F-9376-9805570EE4BA}" destId="{F22CCAF6-4FC9-43FA-9EC9-CBB9415524D2}" srcOrd="0" destOrd="0" presId="urn:microsoft.com/office/officeart/2005/8/layout/gear1"/>
    <dgm:cxn modelId="{4709F192-1B95-444F-8C71-678AE8B1A392}" srcId="{D2CE9F4C-F1BC-47A2-BAEA-F688974E43E1}" destId="{919CAA4E-63D7-400B-8967-313E7839D02E}" srcOrd="0" destOrd="0" parTransId="{EEDAB319-9095-4396-AA92-B5EA918BBA11}" sibTransId="{0E89A09F-7F24-4B95-B31C-809C716859B1}"/>
    <dgm:cxn modelId="{5EAB1817-0EF5-4B79-A597-D13E3BF1173C}" type="presOf" srcId="{020112C7-5F39-4F4B-9720-AF905FEB40EA}" destId="{0474347A-38AD-4A9B-9A32-240E67D1D2EC}" srcOrd="0" destOrd="0" presId="urn:microsoft.com/office/officeart/2005/8/layout/gear1"/>
    <dgm:cxn modelId="{FD4A7FD5-381A-40E7-BF83-887C2F11B88B}" type="presOf" srcId="{919CAA4E-63D7-400B-8967-313E7839D02E}" destId="{914ED104-3EA9-442D-83BB-73BDB619C473}" srcOrd="0" destOrd="0" presId="urn:microsoft.com/office/officeart/2005/8/layout/gear1"/>
    <dgm:cxn modelId="{D73C8544-D89D-42F0-A70B-06CCEA783411}" type="presOf" srcId="{0E89A09F-7F24-4B95-B31C-809C716859B1}" destId="{2E1215D3-6615-4069-8033-D973F9AFAEB0}" srcOrd="0" destOrd="0" presId="urn:microsoft.com/office/officeart/2005/8/layout/gear1"/>
    <dgm:cxn modelId="{6B11AC6A-6124-4D3E-8F2C-771C22443697}" type="presParOf" srcId="{5FE689EB-B6FA-4B01-884E-42C2CF2923BB}" destId="{914ED104-3EA9-442D-83BB-73BDB619C473}" srcOrd="0" destOrd="0" presId="urn:microsoft.com/office/officeart/2005/8/layout/gear1"/>
    <dgm:cxn modelId="{EE737D63-8B26-4A3E-812A-CA5A47AC55A6}" type="presParOf" srcId="{5FE689EB-B6FA-4B01-884E-42C2CF2923BB}" destId="{18387023-6AF7-412A-95CA-A1199DA1D431}" srcOrd="1" destOrd="0" presId="urn:microsoft.com/office/officeart/2005/8/layout/gear1"/>
    <dgm:cxn modelId="{884521B5-B339-4305-A4DA-69F96B009AC5}" type="presParOf" srcId="{5FE689EB-B6FA-4B01-884E-42C2CF2923BB}" destId="{08396CCB-65B4-40A0-90EC-2B71FAAB1463}" srcOrd="2" destOrd="0" presId="urn:microsoft.com/office/officeart/2005/8/layout/gear1"/>
    <dgm:cxn modelId="{983A8DA4-721E-408B-BB12-1BAB172B2FAA}" type="presParOf" srcId="{5FE689EB-B6FA-4B01-884E-42C2CF2923BB}" destId="{C6B1C1F7-BF8C-4327-AB5D-B6144A2C8CA0}" srcOrd="3" destOrd="0" presId="urn:microsoft.com/office/officeart/2005/8/layout/gear1"/>
    <dgm:cxn modelId="{56F40DC6-9E75-450E-B4C0-B2A2967E07D6}" type="presParOf" srcId="{5FE689EB-B6FA-4B01-884E-42C2CF2923BB}" destId="{4FBD5985-49DB-4241-9862-852B040C080C}" srcOrd="4" destOrd="0" presId="urn:microsoft.com/office/officeart/2005/8/layout/gear1"/>
    <dgm:cxn modelId="{578A5B8F-B7C8-4E54-8BCE-B1EC120683BC}" type="presParOf" srcId="{5FE689EB-B6FA-4B01-884E-42C2CF2923BB}" destId="{94B318EF-1BC1-4C4F-A4C0-A4CE398018FF}" srcOrd="5" destOrd="0" presId="urn:microsoft.com/office/officeart/2005/8/layout/gear1"/>
    <dgm:cxn modelId="{BB32A32E-C9BE-4DF1-9D35-042ACA5DEF95}" type="presParOf" srcId="{5FE689EB-B6FA-4B01-884E-42C2CF2923BB}" destId="{F22CCAF6-4FC9-43FA-9EC9-CBB9415524D2}" srcOrd="6" destOrd="0" presId="urn:microsoft.com/office/officeart/2005/8/layout/gear1"/>
    <dgm:cxn modelId="{C5BDF5C0-6E2E-4942-8392-497CC30F0B98}" type="presParOf" srcId="{5FE689EB-B6FA-4B01-884E-42C2CF2923BB}" destId="{43186FEA-D2E2-48A9-91DB-99E37FF3DA6B}" srcOrd="7" destOrd="0" presId="urn:microsoft.com/office/officeart/2005/8/layout/gear1"/>
    <dgm:cxn modelId="{D8B2F277-3DCA-4CFB-B07A-24B2D721D75A}" type="presParOf" srcId="{5FE689EB-B6FA-4B01-884E-42C2CF2923BB}" destId="{B3CACF1E-1DE0-4CCC-844E-8160ED1D79FC}" srcOrd="8" destOrd="0" presId="urn:microsoft.com/office/officeart/2005/8/layout/gear1"/>
    <dgm:cxn modelId="{5B0FCAF2-F6D0-4685-B8CE-CBD85EBE44F6}" type="presParOf" srcId="{5FE689EB-B6FA-4B01-884E-42C2CF2923BB}" destId="{19ED2F33-DC80-46DB-B461-AB4ADB6C38C1}" srcOrd="9" destOrd="0" presId="urn:microsoft.com/office/officeart/2005/8/layout/gear1"/>
    <dgm:cxn modelId="{7FD116ED-6151-4E63-8F56-DAFCB9D1AA26}" type="presParOf" srcId="{5FE689EB-B6FA-4B01-884E-42C2CF2923BB}" destId="{2E1215D3-6615-4069-8033-D973F9AFAEB0}" srcOrd="10" destOrd="0" presId="urn:microsoft.com/office/officeart/2005/8/layout/gear1"/>
    <dgm:cxn modelId="{4670525A-943E-427D-A333-943C664BA109}" type="presParOf" srcId="{5FE689EB-B6FA-4B01-884E-42C2CF2923BB}" destId="{4465D33A-DEC9-4707-BB4B-3F545C854EAC}" srcOrd="11" destOrd="0" presId="urn:microsoft.com/office/officeart/2005/8/layout/gear1"/>
    <dgm:cxn modelId="{26E63D70-E9C6-48F7-82E5-A1834FA92AB6}" type="presParOf" srcId="{5FE689EB-B6FA-4B01-884E-42C2CF2923BB}" destId="{0474347A-38AD-4A9B-9A32-240E67D1D2EC}" srcOrd="12" destOrd="0" presId="urn:microsoft.com/office/officeart/2005/8/layout/gear1"/>
  </dgm:cxnLst>
  <dgm:bg>
    <a:noFill/>
  </dgm:bg>
  <dgm:whole>
    <a:ln>
      <a:noFill/>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ED104-3EA9-442D-83BB-73BDB619C473}">
      <dsp:nvSpPr>
        <dsp:cNvPr id="0" name=""/>
        <dsp:cNvSpPr/>
      </dsp:nvSpPr>
      <dsp:spPr>
        <a:xfrm>
          <a:off x="758190" y="377189"/>
          <a:ext cx="461010" cy="461010"/>
        </a:xfrm>
        <a:prstGeom prst="gear9">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Detailed</a:t>
          </a:r>
        </a:p>
        <a:p>
          <a:pPr lvl="0" algn="ctr" defTabSz="222250">
            <a:lnSpc>
              <a:spcPct val="90000"/>
            </a:lnSpc>
            <a:spcBef>
              <a:spcPct val="0"/>
            </a:spcBef>
            <a:spcAft>
              <a:spcPct val="35000"/>
            </a:spcAft>
          </a:pPr>
          <a:r>
            <a:rPr lang="en-US" sz="500" kern="1200" dirty="0" smtClean="0"/>
            <a:t>Design</a:t>
          </a:r>
          <a:endParaRPr lang="en-US" sz="500" kern="1200" dirty="0"/>
        </a:p>
      </dsp:txBody>
      <dsp:txXfrm>
        <a:off x="850874" y="485178"/>
        <a:ext cx="275642" cy="236969"/>
      </dsp:txXfrm>
    </dsp:sp>
    <dsp:sp modelId="{C6B1C1F7-BF8C-4327-AB5D-B6144A2C8CA0}">
      <dsp:nvSpPr>
        <dsp:cNvPr id="0" name=""/>
        <dsp:cNvSpPr/>
      </dsp:nvSpPr>
      <dsp:spPr>
        <a:xfrm>
          <a:off x="489966" y="268224"/>
          <a:ext cx="335280" cy="335280"/>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Code</a:t>
          </a:r>
          <a:endParaRPr lang="en-US" sz="500" kern="1200" dirty="0"/>
        </a:p>
      </dsp:txBody>
      <dsp:txXfrm>
        <a:off x="574374" y="353142"/>
        <a:ext cx="166464" cy="165444"/>
      </dsp:txXfrm>
    </dsp:sp>
    <dsp:sp modelId="{F22CCAF6-4FC9-43FA-9EC9-CBB9415524D2}">
      <dsp:nvSpPr>
        <dsp:cNvPr id="0" name=""/>
        <dsp:cNvSpPr/>
      </dsp:nvSpPr>
      <dsp:spPr>
        <a:xfrm rot="20700000">
          <a:off x="677757" y="36915"/>
          <a:ext cx="328505" cy="328505"/>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a:t>
          </a:r>
          <a:endParaRPr lang="en-US" sz="500" kern="1200" dirty="0"/>
        </a:p>
      </dsp:txBody>
      <dsp:txXfrm rot="-20700000">
        <a:off x="749808" y="108965"/>
        <a:ext cx="184404" cy="184404"/>
      </dsp:txXfrm>
    </dsp:sp>
    <dsp:sp modelId="{2E1215D3-6615-4069-8033-D973F9AFAEB0}">
      <dsp:nvSpPr>
        <dsp:cNvPr id="0" name=""/>
        <dsp:cNvSpPr/>
      </dsp:nvSpPr>
      <dsp:spPr>
        <a:xfrm>
          <a:off x="694550" y="321506"/>
          <a:ext cx="590092" cy="590092"/>
        </a:xfrm>
        <a:prstGeom prst="circularArrow">
          <a:avLst>
            <a:gd name="adj1" fmla="val 4687"/>
            <a:gd name="adj2" fmla="val 299029"/>
            <a:gd name="adj3" fmla="val 2262445"/>
            <a:gd name="adj4" fmla="val 16601740"/>
            <a:gd name="adj5" fmla="val 5469"/>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65D33A-DEC9-4707-BB4B-3F545C854EAC}">
      <dsp:nvSpPr>
        <dsp:cNvPr id="0" name=""/>
        <dsp:cNvSpPr/>
      </dsp:nvSpPr>
      <dsp:spPr>
        <a:xfrm>
          <a:off x="430588" y="208442"/>
          <a:ext cx="428739" cy="428739"/>
        </a:xfrm>
        <a:prstGeom prst="leftCircularArrow">
          <a:avLst>
            <a:gd name="adj1" fmla="val 6452"/>
            <a:gd name="adj2" fmla="val 429999"/>
            <a:gd name="adj3" fmla="val 10489124"/>
            <a:gd name="adj4" fmla="val 14837806"/>
            <a:gd name="adj5" fmla="val 7527"/>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74347A-38AD-4A9B-9A32-240E67D1D2EC}">
      <dsp:nvSpPr>
        <dsp:cNvPr id="0" name=""/>
        <dsp:cNvSpPr/>
      </dsp:nvSpPr>
      <dsp:spPr>
        <a:xfrm>
          <a:off x="601770" y="-20637"/>
          <a:ext cx="462267" cy="462267"/>
        </a:xfrm>
        <a:prstGeom prst="circularArrow">
          <a:avLst>
            <a:gd name="adj1" fmla="val 5984"/>
            <a:gd name="adj2" fmla="val 394124"/>
            <a:gd name="adj3" fmla="val 13313824"/>
            <a:gd name="adj4" fmla="val 10508221"/>
            <a:gd name="adj5" fmla="val 698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ED104-3EA9-442D-83BB-73BDB619C473}">
      <dsp:nvSpPr>
        <dsp:cNvPr id="0" name=""/>
        <dsp:cNvSpPr/>
      </dsp:nvSpPr>
      <dsp:spPr>
        <a:xfrm>
          <a:off x="758190" y="377189"/>
          <a:ext cx="461010" cy="461010"/>
        </a:xfrm>
        <a:prstGeom prst="gear9">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Detailed</a:t>
          </a:r>
        </a:p>
        <a:p>
          <a:pPr lvl="0" algn="ctr" defTabSz="222250">
            <a:lnSpc>
              <a:spcPct val="90000"/>
            </a:lnSpc>
            <a:spcBef>
              <a:spcPct val="0"/>
            </a:spcBef>
            <a:spcAft>
              <a:spcPct val="35000"/>
            </a:spcAft>
          </a:pPr>
          <a:r>
            <a:rPr lang="en-US" sz="500" kern="1200" dirty="0" smtClean="0"/>
            <a:t>Design</a:t>
          </a:r>
          <a:endParaRPr lang="en-US" sz="500" kern="1200" dirty="0"/>
        </a:p>
      </dsp:txBody>
      <dsp:txXfrm>
        <a:off x="850874" y="485178"/>
        <a:ext cx="275642" cy="236969"/>
      </dsp:txXfrm>
    </dsp:sp>
    <dsp:sp modelId="{C6B1C1F7-BF8C-4327-AB5D-B6144A2C8CA0}">
      <dsp:nvSpPr>
        <dsp:cNvPr id="0" name=""/>
        <dsp:cNvSpPr/>
      </dsp:nvSpPr>
      <dsp:spPr>
        <a:xfrm>
          <a:off x="489966" y="268224"/>
          <a:ext cx="335280" cy="335280"/>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Code</a:t>
          </a:r>
          <a:endParaRPr lang="en-US" sz="500" kern="1200" dirty="0"/>
        </a:p>
      </dsp:txBody>
      <dsp:txXfrm>
        <a:off x="574374" y="353142"/>
        <a:ext cx="166464" cy="165444"/>
      </dsp:txXfrm>
    </dsp:sp>
    <dsp:sp modelId="{F22CCAF6-4FC9-43FA-9EC9-CBB9415524D2}">
      <dsp:nvSpPr>
        <dsp:cNvPr id="0" name=""/>
        <dsp:cNvSpPr/>
      </dsp:nvSpPr>
      <dsp:spPr>
        <a:xfrm rot="20700000">
          <a:off x="677757" y="36915"/>
          <a:ext cx="328505" cy="328505"/>
        </a:xfrm>
        <a:prstGeom prst="gear6">
          <a:avLst/>
        </a:prstGeom>
        <a:solidFill>
          <a:schemeClr val="lt1">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smtClean="0"/>
            <a:t>…</a:t>
          </a:r>
          <a:endParaRPr lang="en-US" sz="500" kern="1200" dirty="0"/>
        </a:p>
      </dsp:txBody>
      <dsp:txXfrm rot="-20700000">
        <a:off x="749808" y="108965"/>
        <a:ext cx="184404" cy="184404"/>
      </dsp:txXfrm>
    </dsp:sp>
    <dsp:sp modelId="{2E1215D3-6615-4069-8033-D973F9AFAEB0}">
      <dsp:nvSpPr>
        <dsp:cNvPr id="0" name=""/>
        <dsp:cNvSpPr/>
      </dsp:nvSpPr>
      <dsp:spPr>
        <a:xfrm>
          <a:off x="694550" y="321506"/>
          <a:ext cx="590092" cy="590092"/>
        </a:xfrm>
        <a:prstGeom prst="circularArrow">
          <a:avLst>
            <a:gd name="adj1" fmla="val 4687"/>
            <a:gd name="adj2" fmla="val 299029"/>
            <a:gd name="adj3" fmla="val 2262445"/>
            <a:gd name="adj4" fmla="val 16601740"/>
            <a:gd name="adj5" fmla="val 5469"/>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465D33A-DEC9-4707-BB4B-3F545C854EAC}">
      <dsp:nvSpPr>
        <dsp:cNvPr id="0" name=""/>
        <dsp:cNvSpPr/>
      </dsp:nvSpPr>
      <dsp:spPr>
        <a:xfrm>
          <a:off x="430588" y="208442"/>
          <a:ext cx="428739" cy="428739"/>
        </a:xfrm>
        <a:prstGeom prst="leftCircularArrow">
          <a:avLst>
            <a:gd name="adj1" fmla="val 6452"/>
            <a:gd name="adj2" fmla="val 429999"/>
            <a:gd name="adj3" fmla="val 10489124"/>
            <a:gd name="adj4" fmla="val 14837806"/>
            <a:gd name="adj5" fmla="val 7527"/>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74347A-38AD-4A9B-9A32-240E67D1D2EC}">
      <dsp:nvSpPr>
        <dsp:cNvPr id="0" name=""/>
        <dsp:cNvSpPr/>
      </dsp:nvSpPr>
      <dsp:spPr>
        <a:xfrm>
          <a:off x="601770" y="-20637"/>
          <a:ext cx="462267" cy="462267"/>
        </a:xfrm>
        <a:prstGeom prst="circularArrow">
          <a:avLst>
            <a:gd name="adj1" fmla="val 5984"/>
            <a:gd name="adj2" fmla="val 394124"/>
            <a:gd name="adj3" fmla="val 13313824"/>
            <a:gd name="adj4" fmla="val 10508221"/>
            <a:gd name="adj5" fmla="val 6981"/>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3/2/2016</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extLst>
      <p:ext uri="{BB962C8B-B14F-4D97-AF65-F5344CB8AC3E}">
        <p14:creationId xmlns:p14="http://schemas.microsoft.com/office/powerpoint/2010/main" val="452989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3/2/2016</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3/2/2016</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3/2/2016</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3/2/2016</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3/2/2016</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3/2/2016</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3/2/2016</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3/2/2016</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3/2/2016</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3/2/2016</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3/2/2016</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3/2/2016</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4.wmf"/><Relationship Id="rId7" Type="http://schemas.openxmlformats.org/officeDocument/2006/relationships/diagramLayout" Target="../diagrams/layout1.xml"/><Relationship Id="rId2" Type="http://schemas.openxmlformats.org/officeDocument/2006/relationships/image" Target="../media/image2.emf"/><Relationship Id="rId1" Type="http://schemas.openxmlformats.org/officeDocument/2006/relationships/slideLayout" Target="../slideLayouts/slideLayout2.xml"/><Relationship Id="rId6" Type="http://schemas.openxmlformats.org/officeDocument/2006/relationships/diagramData" Target="../diagrams/data1.xml"/><Relationship Id="rId11" Type="http://schemas.openxmlformats.org/officeDocument/2006/relationships/image" Target="../media/image6.png"/><Relationship Id="rId5" Type="http://schemas.openxmlformats.org/officeDocument/2006/relationships/image" Target="../media/image5.wmf"/><Relationship Id="rId10" Type="http://schemas.microsoft.com/office/2007/relationships/diagramDrawing" Target="../diagrams/drawing1.xml"/><Relationship Id="rId4" Type="http://schemas.openxmlformats.org/officeDocument/2006/relationships/image" Target="../media/image3.png"/><Relationship Id="rId9" Type="http://schemas.openxmlformats.org/officeDocument/2006/relationships/diagramColors" Target="../diagrams/colors1.xml"/></Relationships>
</file>

<file path=ppt/slides/_rels/slide8.xml.rels><?xml version="1.0" encoding="UTF-8" standalone="yes"?>
<Relationships xmlns="http://schemas.openxmlformats.org/package/2006/relationships"><Relationship Id="rId8" Type="http://schemas.openxmlformats.org/officeDocument/2006/relationships/image" Target="../media/image4.wmf"/><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wmf"/><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7.emf"/><Relationship Id="rId4" Type="http://schemas.openxmlformats.org/officeDocument/2006/relationships/diagramLayout" Target="../diagrams/layout2.xml"/><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3: Principles of Software Architecture</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 Fundamentals of Software Architecture</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3/2/2016</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a:bodyPr>
          <a:lstStyle/>
          <a:p>
            <a:r>
              <a:rPr lang="en-US" dirty="0" smtClean="0"/>
              <a:t>Fundamentals of software architecture</a:t>
            </a:r>
          </a:p>
          <a:p>
            <a:pPr lvl="1"/>
            <a:r>
              <a:rPr lang="en-US" dirty="0" smtClean="0"/>
              <a:t>What is software architecture?</a:t>
            </a:r>
          </a:p>
          <a:p>
            <a:pPr lvl="1"/>
            <a:r>
              <a:rPr lang="en-US" dirty="0" smtClean="0"/>
              <a:t>Why is it important?</a:t>
            </a:r>
          </a:p>
          <a:p>
            <a:pPr lvl="1">
              <a:buNone/>
            </a:pPr>
            <a:endParaRPr lang="en-US" dirty="0" smtClean="0"/>
          </a:p>
          <a:p>
            <a:r>
              <a:rPr lang="en-US" dirty="0" smtClean="0"/>
              <a:t>Key tasks in software architecture</a:t>
            </a:r>
          </a:p>
          <a:p>
            <a:pPr lvl="1"/>
            <a:r>
              <a:rPr lang="en-US" dirty="0" smtClean="0"/>
              <a:t>Stakeholders concerns</a:t>
            </a:r>
          </a:p>
          <a:p>
            <a:pPr lvl="1"/>
            <a:r>
              <a:rPr lang="en-US" dirty="0" smtClean="0"/>
              <a:t>Identify architectural views, styles, and patterns</a:t>
            </a:r>
          </a:p>
          <a:p>
            <a:pPr lvl="1"/>
            <a:r>
              <a:rPr lang="en-US" dirty="0" smtClean="0"/>
              <a:t>Identify major component’s and interfaces</a:t>
            </a:r>
          </a:p>
          <a:p>
            <a:pPr lvl="1"/>
            <a:r>
              <a:rPr lang="en-US" dirty="0" smtClean="0"/>
              <a:t>Evaluating and validating the Architecture</a:t>
            </a:r>
          </a:p>
          <a:p>
            <a:pPr lvl="1"/>
            <a:r>
              <a:rPr lang="en-US" dirty="0" smtClean="0"/>
              <a:t>Introducing policies for design synchronicity</a:t>
            </a:r>
          </a:p>
          <a:p>
            <a:pPr lvl="1"/>
            <a:endParaRPr lang="en-US" dirty="0" smtClean="0"/>
          </a:p>
          <a:p>
            <a:r>
              <a:rPr lang="en-US" dirty="0" smtClean="0"/>
              <a:t>Problem-solving in architecture</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3/2/2016</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Software Architecture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Let’s get straight to the point, formally, we define software architecture as</a:t>
            </a:r>
          </a:p>
          <a:p>
            <a:pPr lvl="1"/>
            <a:r>
              <a:rPr lang="en-US" dirty="0" smtClean="0"/>
              <a:t>The </a:t>
            </a:r>
            <a:r>
              <a:rPr lang="en-US" i="1" dirty="0" smtClean="0">
                <a:solidFill>
                  <a:srgbClr val="FF0000"/>
                </a:solidFill>
              </a:rPr>
              <a:t>foundational software design </a:t>
            </a:r>
            <a:r>
              <a:rPr lang="en-US" dirty="0" smtClean="0"/>
              <a:t>activity that evaluates and </a:t>
            </a:r>
            <a:r>
              <a:rPr lang="en-US" dirty="0" smtClean="0">
                <a:solidFill>
                  <a:srgbClr val="FF0000"/>
                </a:solidFill>
              </a:rPr>
              <a:t>translates </a:t>
            </a:r>
            <a:r>
              <a:rPr lang="en-US" i="1" dirty="0" smtClean="0">
                <a:solidFill>
                  <a:srgbClr val="FF0000"/>
                </a:solidFill>
              </a:rPr>
              <a:t>software requirements</a:t>
            </a:r>
            <a:r>
              <a:rPr lang="en-US" i="1" dirty="0" smtClean="0"/>
              <a:t> </a:t>
            </a:r>
            <a:r>
              <a:rPr lang="en-US" dirty="0" smtClean="0"/>
              <a:t>(both functional and non-functional) into a </a:t>
            </a:r>
            <a:r>
              <a:rPr lang="en-US" i="1" dirty="0" smtClean="0">
                <a:solidFill>
                  <a:srgbClr val="FF0000"/>
                </a:solidFill>
              </a:rPr>
              <a:t>collection of design elements</a:t>
            </a:r>
            <a:r>
              <a:rPr lang="en-US" dirty="0" smtClean="0"/>
              <a:t> that specify structural and behavioral aspects of the </a:t>
            </a:r>
            <a:r>
              <a:rPr lang="en-US" i="1" dirty="0" smtClean="0">
                <a:solidFill>
                  <a:srgbClr val="FF0000"/>
                </a:solidFill>
              </a:rPr>
              <a:t>major components </a:t>
            </a:r>
            <a:r>
              <a:rPr lang="en-US" i="1" dirty="0" smtClean="0"/>
              <a:t>of the system</a:t>
            </a:r>
            <a:r>
              <a:rPr lang="en-US" dirty="0" smtClean="0"/>
              <a:t>, together with their provided quality and interrelationships required to </a:t>
            </a:r>
            <a:r>
              <a:rPr lang="en-US" i="1" dirty="0" smtClean="0">
                <a:solidFill>
                  <a:srgbClr val="FF0000"/>
                </a:solidFill>
              </a:rPr>
              <a:t>support the detailed design and construction </a:t>
            </a:r>
            <a:r>
              <a:rPr lang="en-US" dirty="0" smtClean="0"/>
              <a:t>of software systems. </a:t>
            </a:r>
          </a:p>
          <a:p>
            <a:pPr lvl="1"/>
            <a:r>
              <a:rPr lang="en-US" dirty="0" smtClean="0"/>
              <a:t>The product resulting from such activity.</a:t>
            </a:r>
          </a:p>
          <a:p>
            <a:pPr lvl="1"/>
            <a:endParaRPr lang="en-US" dirty="0" smtClean="0"/>
          </a:p>
          <a:p>
            <a:r>
              <a:rPr lang="en-US" dirty="0" smtClean="0"/>
              <a:t>From this definition, a few things are of interest and need further explanation:</a:t>
            </a:r>
          </a:p>
          <a:p>
            <a:pPr lvl="1"/>
            <a:r>
              <a:rPr lang="en-US" dirty="0" smtClean="0"/>
              <a:t>Foundational design</a:t>
            </a:r>
          </a:p>
          <a:p>
            <a:pPr lvl="1"/>
            <a:r>
              <a:rPr lang="en-US" dirty="0" smtClean="0"/>
              <a:t>Transforming requirements</a:t>
            </a:r>
          </a:p>
          <a:p>
            <a:pPr lvl="1"/>
            <a:r>
              <a:rPr lang="en-US" dirty="0" smtClean="0"/>
              <a:t>Collection of design elements</a:t>
            </a:r>
          </a:p>
          <a:p>
            <a:pPr lvl="1"/>
            <a:r>
              <a:rPr lang="en-US" dirty="0" smtClean="0"/>
              <a:t>Major system components together with their provided quality</a:t>
            </a:r>
          </a:p>
          <a:p>
            <a:pPr lvl="1"/>
            <a:r>
              <a:rPr lang="en-US" dirty="0" smtClean="0"/>
              <a:t>Support detailed design and construction</a:t>
            </a:r>
          </a:p>
          <a:p>
            <a:pPr lvl="1">
              <a:buNone/>
            </a:pPr>
            <a:endParaRPr lang="en-US" dirty="0" smtClean="0"/>
          </a:p>
          <a:p>
            <a:r>
              <a:rPr lang="en-US" dirty="0" smtClean="0"/>
              <a:t>Let’s take a more detailed look at these…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Software Architecture</a:t>
            </a:r>
            <a:endParaRPr lang="en-US" dirty="0"/>
          </a:p>
        </p:txBody>
      </p:sp>
      <p:sp>
        <p:nvSpPr>
          <p:cNvPr id="3" name="Content Placeholder 2"/>
          <p:cNvSpPr>
            <a:spLocks noGrp="1"/>
          </p:cNvSpPr>
          <p:nvPr>
            <p:ph idx="1"/>
          </p:nvPr>
        </p:nvSpPr>
        <p:spPr>
          <a:xfrm>
            <a:off x="457200" y="1371601"/>
            <a:ext cx="8229600" cy="5181599"/>
          </a:xfrm>
        </p:spPr>
        <p:txBody>
          <a:bodyPr>
            <a:normAutofit fontScale="85000" lnSpcReduction="10000"/>
          </a:bodyPr>
          <a:lstStyle/>
          <a:p>
            <a:r>
              <a:rPr lang="en-US" dirty="0" smtClean="0"/>
              <a:t>On “</a:t>
            </a:r>
            <a:r>
              <a:rPr lang="en-US" i="1" dirty="0" smtClean="0"/>
              <a:t> … </a:t>
            </a:r>
            <a:r>
              <a:rPr lang="en-US" i="1" dirty="0" smtClean="0">
                <a:solidFill>
                  <a:srgbClr val="FF0000"/>
                </a:solidFill>
              </a:rPr>
              <a:t>foundational software design</a:t>
            </a:r>
            <a:r>
              <a:rPr lang="en-US" i="1" dirty="0" smtClean="0"/>
              <a:t>…</a:t>
            </a:r>
            <a:r>
              <a:rPr lang="en-US" dirty="0" smtClean="0"/>
              <a:t>”</a:t>
            </a:r>
          </a:p>
          <a:p>
            <a:pPr lvl="1"/>
            <a:r>
              <a:rPr lang="en-US" dirty="0" smtClean="0"/>
              <a:t>Software architecture provides the groundwork essential for meeting requirements </a:t>
            </a:r>
          </a:p>
          <a:p>
            <a:pPr lvl="2"/>
            <a:r>
              <a:rPr lang="en-US" dirty="0" smtClean="0"/>
              <a:t>This applies to both functional and non-functional requirements.</a:t>
            </a:r>
          </a:p>
          <a:p>
            <a:pPr lvl="1"/>
            <a:r>
              <a:rPr lang="en-US" dirty="0" smtClean="0"/>
              <a:t>This suggest that architecture is not an optional activity or activity performed as a means of documenting software systems long after they are implemented.</a:t>
            </a:r>
          </a:p>
          <a:p>
            <a:pPr lvl="2"/>
            <a:r>
              <a:rPr lang="en-US" dirty="0" smtClean="0"/>
              <a:t>New development efforts should approach software architecture as a forward engineering activity that leads to the implementation of systems and not as a reverse engineering mechanism for documentation.</a:t>
            </a:r>
          </a:p>
          <a:p>
            <a:pPr lvl="1"/>
            <a:r>
              <a:rPr lang="en-US" dirty="0" smtClean="0"/>
              <a:t>As foundational design, it is where designing for quality begins.  Not considering quality attributes of the system during the software architecture activity can be a grave mistake!</a:t>
            </a:r>
          </a:p>
          <a:p>
            <a:pPr lvl="1"/>
            <a:endParaRPr lang="en-US" dirty="0" smtClean="0"/>
          </a:p>
          <a:p>
            <a:r>
              <a:rPr lang="en-US" dirty="0" smtClean="0"/>
              <a:t>On “</a:t>
            </a:r>
            <a:r>
              <a:rPr lang="en-US" i="1" dirty="0" smtClean="0"/>
              <a:t>…</a:t>
            </a:r>
            <a:r>
              <a:rPr lang="en-US" i="1" dirty="0" smtClean="0">
                <a:solidFill>
                  <a:srgbClr val="FF0000"/>
                </a:solidFill>
              </a:rPr>
              <a:t>translates software requirements</a:t>
            </a:r>
            <a:r>
              <a:rPr lang="en-US" i="1" dirty="0" smtClean="0"/>
              <a:t>…</a:t>
            </a:r>
            <a:r>
              <a:rPr lang="en-US" dirty="0" smtClean="0"/>
              <a:t>”</a:t>
            </a:r>
          </a:p>
          <a:p>
            <a:pPr lvl="1"/>
            <a:r>
              <a:rPr lang="en-US" dirty="0" smtClean="0"/>
              <a:t>Requirements is a tricky business!  Inexperienced engineers tend not to see the many traps behind the requirements effort.</a:t>
            </a:r>
          </a:p>
          <a:p>
            <a:pPr lvl="1"/>
            <a:r>
              <a:rPr lang="en-US" dirty="0" smtClean="0"/>
              <a:t>Assuming that every requirement is captured and well understood, design elements need to be created so that there is a mapping between requirements and design element.</a:t>
            </a:r>
          </a:p>
          <a:p>
            <a:pPr lvl="2"/>
            <a:r>
              <a:rPr lang="en-US" dirty="0" smtClean="0"/>
              <a:t>One design element (e.g., UML component) can be assigned one or more requirements.</a:t>
            </a:r>
          </a:p>
          <a:p>
            <a:pPr lvl="2"/>
            <a:r>
              <a:rPr lang="en-US" dirty="0" smtClean="0"/>
              <a:t>When we do this, we transform one or more requirements from textual form into a graphical form that represents (in the design domain) the services that need to be provided by the system.</a:t>
            </a:r>
          </a:p>
          <a:p>
            <a:pPr lvl="2"/>
            <a:r>
              <a:rPr lang="en-US" dirty="0" smtClean="0"/>
              <a:t>This allows us to map requirements to design elements and provide the means for tracing requirements through the development life-cycle.</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Software Architecture</a:t>
            </a:r>
            <a:endParaRPr lang="en-US" dirty="0"/>
          </a:p>
        </p:txBody>
      </p:sp>
      <p:sp>
        <p:nvSpPr>
          <p:cNvPr id="3" name="Content Placeholder 2"/>
          <p:cNvSpPr>
            <a:spLocks noGrp="1"/>
          </p:cNvSpPr>
          <p:nvPr>
            <p:ph idx="1"/>
          </p:nvPr>
        </p:nvSpPr>
        <p:spPr/>
        <p:txBody>
          <a:bodyPr>
            <a:normAutofit lnSpcReduction="10000"/>
          </a:bodyPr>
          <a:lstStyle/>
          <a:p>
            <a:r>
              <a:rPr lang="en-US" dirty="0" smtClean="0"/>
              <a:t>More on “</a:t>
            </a:r>
            <a:r>
              <a:rPr lang="en-US" i="1" dirty="0" smtClean="0"/>
              <a:t>…</a:t>
            </a:r>
            <a:r>
              <a:rPr lang="en-US" i="1" dirty="0" smtClean="0">
                <a:solidFill>
                  <a:srgbClr val="FF0000"/>
                </a:solidFill>
              </a:rPr>
              <a:t>translates software requirements</a:t>
            </a:r>
            <a:r>
              <a:rPr lang="en-US" i="1" dirty="0" smtClean="0"/>
              <a:t>…</a:t>
            </a:r>
            <a:r>
              <a:rPr lang="en-US" dirty="0" smtClean="0"/>
              <a:t>”</a:t>
            </a:r>
          </a:p>
          <a:p>
            <a:pPr lvl="1"/>
            <a:r>
              <a:rPr lang="en-US" dirty="0" smtClean="0"/>
              <a:t>To create design elements from requirements, it is assumed that requirements are understood.  Sometimes this is not the case.</a:t>
            </a:r>
          </a:p>
          <a:p>
            <a:pPr lvl="2"/>
            <a:r>
              <a:rPr lang="en-US" dirty="0" smtClean="0"/>
              <a:t>For example, some may think that “</a:t>
            </a:r>
            <a:r>
              <a:rPr lang="en-US" i="1" dirty="0" smtClean="0"/>
              <a:t>The system shall perform fast.</a:t>
            </a:r>
            <a:r>
              <a:rPr lang="en-US" dirty="0" smtClean="0"/>
              <a:t>” specifies a requirement that can be used to create design elements.</a:t>
            </a:r>
          </a:p>
          <a:p>
            <a:pPr lvl="2"/>
            <a:r>
              <a:rPr lang="en-US" dirty="0" smtClean="0"/>
              <a:t>Such statements create problems for designers.  These problems need to be resolved before we can translate from requirement to design domain.</a:t>
            </a:r>
          </a:p>
          <a:p>
            <a:pPr lvl="2"/>
            <a:r>
              <a:rPr lang="en-US" dirty="0" smtClean="0"/>
              <a:t>This suggest that architects must be proficient in activities related to requirements engineering.  We will cover such situations later on in the course.</a:t>
            </a:r>
          </a:p>
          <a:p>
            <a:endParaRPr lang="en-US" dirty="0" smtClean="0"/>
          </a:p>
          <a:p>
            <a:r>
              <a:rPr lang="en-US" dirty="0" smtClean="0"/>
              <a:t>On “</a:t>
            </a:r>
            <a:r>
              <a:rPr lang="en-US" i="1" dirty="0" smtClean="0"/>
              <a:t>…</a:t>
            </a:r>
            <a:r>
              <a:rPr lang="en-US" i="1" dirty="0" smtClean="0">
                <a:solidFill>
                  <a:srgbClr val="FF0000"/>
                </a:solidFill>
              </a:rPr>
              <a:t>collection of design elements</a:t>
            </a:r>
            <a:r>
              <a:rPr lang="en-US" i="1" dirty="0" smtClean="0"/>
              <a:t>…</a:t>
            </a:r>
            <a:r>
              <a:rPr lang="en-US" dirty="0" smtClean="0"/>
              <a:t>”</a:t>
            </a:r>
          </a:p>
          <a:p>
            <a:pPr lvl="1"/>
            <a:r>
              <a:rPr lang="en-US" dirty="0" smtClean="0"/>
              <a:t>This suggest that no one structure or diagram can fully describe the software architecture.</a:t>
            </a:r>
          </a:p>
          <a:p>
            <a:pPr lvl="2"/>
            <a:r>
              <a:rPr lang="en-US" dirty="0" smtClean="0"/>
              <a:t>Think about this: can you evaluate a system’s usability and performance with one diagram?</a:t>
            </a:r>
          </a:p>
          <a:p>
            <a:pPr lvl="1"/>
            <a:r>
              <a:rPr lang="en-US" dirty="0" smtClean="0"/>
              <a:t>This suggest that architectures are composed of multiple structures.</a:t>
            </a:r>
          </a:p>
          <a:p>
            <a:pPr lvl="1"/>
            <a:r>
              <a:rPr lang="en-US" dirty="0" smtClean="0"/>
              <a:t>We will see examples of this later on…</a:t>
            </a:r>
          </a:p>
          <a:p>
            <a:pPr lvl="1"/>
            <a:endParaRPr lang="en-US" dirty="0" smtClean="0"/>
          </a:p>
          <a:p>
            <a:pPr lvl="1"/>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Software Architecture</a:t>
            </a:r>
            <a:endParaRPr lang="en-US" dirty="0"/>
          </a:p>
        </p:txBody>
      </p:sp>
      <p:sp>
        <p:nvSpPr>
          <p:cNvPr id="3" name="Content Placeholder 2"/>
          <p:cNvSpPr>
            <a:spLocks noGrp="1"/>
          </p:cNvSpPr>
          <p:nvPr>
            <p:ph idx="1"/>
          </p:nvPr>
        </p:nvSpPr>
        <p:spPr/>
        <p:txBody>
          <a:bodyPr/>
          <a:lstStyle/>
          <a:p>
            <a:pPr marL="342900" lvl="1" indent="-342900">
              <a:buFont typeface="Wingdings" pitchFamily="2" charset="2"/>
              <a:buChar char="Ø"/>
            </a:pPr>
            <a:r>
              <a:rPr lang="en-US" dirty="0" smtClean="0"/>
              <a:t>On “</a:t>
            </a:r>
            <a:r>
              <a:rPr lang="en-US" i="1" dirty="0" smtClean="0"/>
              <a:t>…</a:t>
            </a:r>
            <a:r>
              <a:rPr lang="en-US" i="1" dirty="0" smtClean="0">
                <a:solidFill>
                  <a:srgbClr val="FF0000"/>
                </a:solidFill>
              </a:rPr>
              <a:t>major components of the system, together with their provided quality</a:t>
            </a:r>
            <a:r>
              <a:rPr lang="en-US" i="1" dirty="0" smtClean="0"/>
              <a:t>…</a:t>
            </a:r>
            <a:r>
              <a:rPr lang="en-US" dirty="0" smtClean="0"/>
              <a:t>”</a:t>
            </a:r>
          </a:p>
          <a:p>
            <a:pPr marL="742950" lvl="2" indent="-342900">
              <a:buFont typeface="Wingdings" pitchFamily="2" charset="2"/>
              <a:buChar char="ü"/>
            </a:pPr>
            <a:r>
              <a:rPr lang="en-US" dirty="0" smtClean="0"/>
              <a:t>This suggest that software architecture works at a distinct level of abstraction that differs from other forms of design, such as detailed design.</a:t>
            </a:r>
          </a:p>
          <a:p>
            <a:pPr marL="742950" lvl="2" indent="-342900">
              <a:buFont typeface="Wingdings" pitchFamily="2" charset="2"/>
              <a:buChar char="ü"/>
            </a:pPr>
            <a:r>
              <a:rPr lang="en-US" dirty="0" smtClean="0"/>
              <a:t>This means that architectural work focuses on the major components, the quality properties, and services that these components exhibit and provide to other components.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extBox 6"/>
          <p:cNvSpPr txBox="1"/>
          <p:nvPr/>
        </p:nvSpPr>
        <p:spPr>
          <a:xfrm>
            <a:off x="3200400" y="2905780"/>
            <a:ext cx="2667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is an important statement about Software Architecture</a:t>
            </a:r>
            <a:endParaRPr lang="en-US" sz="1400" b="1" dirty="0">
              <a:solidFill>
                <a:srgbClr val="C00000"/>
              </a:solidFill>
              <a:latin typeface="Bradley Hand ITC" pitchFamily="66" charset="0"/>
            </a:endParaRPr>
          </a:p>
        </p:txBody>
      </p:sp>
      <p:sp>
        <p:nvSpPr>
          <p:cNvPr id="8" name="Freeform 7"/>
          <p:cNvSpPr/>
          <p:nvPr/>
        </p:nvSpPr>
        <p:spPr>
          <a:xfrm rot="1616255">
            <a:off x="3046806" y="2844312"/>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3" name="Group 22"/>
          <p:cNvGrpSpPr/>
          <p:nvPr/>
        </p:nvGrpSpPr>
        <p:grpSpPr>
          <a:xfrm>
            <a:off x="609600" y="3431977"/>
            <a:ext cx="2486025" cy="1132820"/>
            <a:chOff x="762000" y="3810000"/>
            <a:chExt cx="2486025" cy="1132820"/>
          </a:xfrm>
        </p:grpSpPr>
        <p:pic>
          <p:nvPicPr>
            <p:cNvPr id="10" name="Picture 6"/>
            <p:cNvPicPr>
              <a:picLocks noChangeAspect="1" noChangeArrowheads="1"/>
            </p:cNvPicPr>
            <p:nvPr/>
          </p:nvPicPr>
          <p:blipFill>
            <a:blip r:embed="rId2" cstate="print"/>
            <a:srcRect/>
            <a:stretch>
              <a:fillRect/>
            </a:stretch>
          </p:blipFill>
          <p:spPr bwMode="auto">
            <a:xfrm>
              <a:off x="1066800" y="3810000"/>
              <a:ext cx="2181225" cy="1009650"/>
            </a:xfrm>
            <a:prstGeom prst="rect">
              <a:avLst/>
            </a:prstGeom>
            <a:noFill/>
            <a:ln w="9525">
              <a:noFill/>
              <a:miter lim="800000"/>
              <a:headEnd/>
              <a:tailEnd/>
            </a:ln>
            <a:effectLst/>
          </p:spPr>
        </p:pic>
        <p:sp>
          <p:nvSpPr>
            <p:cNvPr id="11" name="TextBox 10"/>
            <p:cNvSpPr txBox="1"/>
            <p:nvPr/>
          </p:nvSpPr>
          <p:spPr>
            <a:xfrm>
              <a:off x="762000" y="4419600"/>
              <a:ext cx="1219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I provide an Algorithm</a:t>
              </a:r>
              <a:endParaRPr lang="en-US" sz="1400" b="1" dirty="0">
                <a:solidFill>
                  <a:srgbClr val="C00000"/>
                </a:solidFill>
                <a:latin typeface="Bradley Hand ITC" pitchFamily="66" charset="0"/>
              </a:endParaRPr>
            </a:p>
          </p:txBody>
        </p:sp>
        <p:sp>
          <p:nvSpPr>
            <p:cNvPr id="13" name="Rectangle 12"/>
            <p:cNvSpPr/>
            <p:nvPr/>
          </p:nvSpPr>
          <p:spPr>
            <a:xfrm>
              <a:off x="2809875" y="4410075"/>
              <a:ext cx="152400" cy="762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2"/>
            <p:cNvPicPr>
              <a:picLocks noChangeAspect="1" noChangeArrowheads="1"/>
            </p:cNvPicPr>
            <p:nvPr/>
          </p:nvPicPr>
          <p:blipFill>
            <a:blip r:embed="rId3" cstate="print"/>
            <a:srcRect/>
            <a:stretch>
              <a:fillRect/>
            </a:stretch>
          </p:blipFill>
          <p:spPr bwMode="auto">
            <a:xfrm>
              <a:off x="1943100" y="4314825"/>
              <a:ext cx="838200" cy="142875"/>
            </a:xfrm>
            <a:prstGeom prst="rect">
              <a:avLst/>
            </a:prstGeom>
            <a:noFill/>
            <a:ln w="9525">
              <a:noFill/>
              <a:miter lim="800000"/>
              <a:headEnd/>
              <a:tailEnd/>
            </a:ln>
          </p:spPr>
        </p:pic>
        <p:sp>
          <p:nvSpPr>
            <p:cNvPr id="21" name="TextBox 20"/>
            <p:cNvSpPr txBox="1"/>
            <p:nvPr/>
          </p:nvSpPr>
          <p:spPr>
            <a:xfrm>
              <a:off x="1166160" y="3981450"/>
              <a:ext cx="691215" cy="230832"/>
            </a:xfrm>
            <a:prstGeom prst="rect">
              <a:avLst/>
            </a:prstGeom>
            <a:solidFill>
              <a:schemeClr val="bg1"/>
            </a:solidFill>
          </p:spPr>
          <p:txBody>
            <a:bodyPr wrap="none" rtlCol="0">
              <a:spAutoFit/>
            </a:bodyPr>
            <a:lstStyle/>
            <a:p>
              <a:r>
                <a:rPr lang="en-US" sz="900" dirty="0" smtClean="0">
                  <a:latin typeface="Times New Roman" pitchFamily="18" charset="0"/>
                  <a:cs typeface="Times New Roman" pitchFamily="18" charset="0"/>
                </a:rPr>
                <a:t>IOptimizer</a:t>
              </a:r>
              <a:endParaRPr lang="en-US" sz="900" dirty="0">
                <a:latin typeface="Times New Roman" pitchFamily="18" charset="0"/>
                <a:cs typeface="Times New Roman" pitchFamily="18" charset="0"/>
              </a:endParaRPr>
            </a:p>
          </p:txBody>
        </p:sp>
      </p:grpSp>
      <p:sp>
        <p:nvSpPr>
          <p:cNvPr id="38" name="TextBox 37"/>
          <p:cNvSpPr txBox="1"/>
          <p:nvPr/>
        </p:nvSpPr>
        <p:spPr>
          <a:xfrm>
            <a:off x="533400" y="3200400"/>
            <a:ext cx="2667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Example A</a:t>
            </a:r>
            <a:endParaRPr lang="en-US" sz="1400" b="1" dirty="0">
              <a:solidFill>
                <a:srgbClr val="C00000"/>
              </a:solidFill>
              <a:latin typeface="Bradley Hand ITC" pitchFamily="66" charset="0"/>
            </a:endParaRPr>
          </a:p>
        </p:txBody>
      </p:sp>
      <p:sp>
        <p:nvSpPr>
          <p:cNvPr id="39" name="Rounded Rectangle 38"/>
          <p:cNvSpPr/>
          <p:nvPr/>
        </p:nvSpPr>
        <p:spPr>
          <a:xfrm>
            <a:off x="685800" y="3203377"/>
            <a:ext cx="2362200" cy="1521023"/>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p:nvSpPr>
        <p:spPr>
          <a:xfrm rot="4447010">
            <a:off x="5597277" y="2902669"/>
            <a:ext cx="36730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42" name="Group 41"/>
          <p:cNvGrpSpPr/>
          <p:nvPr/>
        </p:nvGrpSpPr>
        <p:grpSpPr>
          <a:xfrm>
            <a:off x="6153150" y="3429000"/>
            <a:ext cx="2486025" cy="1263778"/>
            <a:chOff x="762000" y="3810000"/>
            <a:chExt cx="2486025" cy="1263778"/>
          </a:xfrm>
        </p:grpSpPr>
        <p:pic>
          <p:nvPicPr>
            <p:cNvPr id="43" name="Picture 6"/>
            <p:cNvPicPr>
              <a:picLocks noChangeAspect="1" noChangeArrowheads="1"/>
            </p:cNvPicPr>
            <p:nvPr/>
          </p:nvPicPr>
          <p:blipFill>
            <a:blip r:embed="rId2" cstate="print"/>
            <a:srcRect/>
            <a:stretch>
              <a:fillRect/>
            </a:stretch>
          </p:blipFill>
          <p:spPr bwMode="auto">
            <a:xfrm>
              <a:off x="1066800" y="3810000"/>
              <a:ext cx="2181225" cy="1009650"/>
            </a:xfrm>
            <a:prstGeom prst="rect">
              <a:avLst/>
            </a:prstGeom>
            <a:noFill/>
            <a:ln w="9525">
              <a:noFill/>
              <a:miter lim="800000"/>
              <a:headEnd/>
              <a:tailEnd/>
            </a:ln>
            <a:effectLst/>
          </p:spPr>
        </p:pic>
        <p:sp>
          <p:nvSpPr>
            <p:cNvPr id="44" name="TextBox 43"/>
            <p:cNvSpPr txBox="1"/>
            <p:nvPr/>
          </p:nvSpPr>
          <p:spPr>
            <a:xfrm>
              <a:off x="762000" y="4419600"/>
              <a:ext cx="1219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I provide an Algorithm</a:t>
              </a:r>
              <a:endParaRPr lang="en-US" sz="1400" b="1" dirty="0">
                <a:solidFill>
                  <a:srgbClr val="C00000"/>
                </a:solidFill>
                <a:latin typeface="Bradley Hand ITC" pitchFamily="66" charset="0"/>
              </a:endParaRPr>
            </a:p>
          </p:txBody>
        </p:sp>
        <p:pic>
          <p:nvPicPr>
            <p:cNvPr id="45" name="Picture 44" descr="C:\Users\cotero\AppData\Local\Microsoft\Windows\Temporary Internet Files\Content.IE5\07RO37DR\MC900013282[1].wmf"/>
            <p:cNvPicPr>
              <a:picLocks noChangeAspect="1" noChangeArrowheads="1"/>
            </p:cNvPicPr>
            <p:nvPr/>
          </p:nvPicPr>
          <p:blipFill>
            <a:blip r:embed="rId4" cstate="print"/>
            <a:srcRect/>
            <a:stretch>
              <a:fillRect/>
            </a:stretch>
          </p:blipFill>
          <p:spPr bwMode="auto">
            <a:xfrm>
              <a:off x="2657475" y="4429125"/>
              <a:ext cx="448971" cy="644653"/>
            </a:xfrm>
            <a:prstGeom prst="rect">
              <a:avLst/>
            </a:prstGeom>
            <a:noFill/>
          </p:spPr>
        </p:pic>
        <p:sp>
          <p:nvSpPr>
            <p:cNvPr id="46" name="Rectangle 45"/>
            <p:cNvSpPr/>
            <p:nvPr/>
          </p:nvSpPr>
          <p:spPr>
            <a:xfrm>
              <a:off x="2809875" y="4410075"/>
              <a:ext cx="152400" cy="762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12"/>
            <p:cNvPicPr>
              <a:picLocks noChangeAspect="1" noChangeArrowheads="1"/>
            </p:cNvPicPr>
            <p:nvPr/>
          </p:nvPicPr>
          <p:blipFill>
            <a:blip r:embed="rId3" cstate="print"/>
            <a:srcRect/>
            <a:stretch>
              <a:fillRect/>
            </a:stretch>
          </p:blipFill>
          <p:spPr bwMode="auto">
            <a:xfrm>
              <a:off x="1943100" y="4314825"/>
              <a:ext cx="838200" cy="142875"/>
            </a:xfrm>
            <a:prstGeom prst="rect">
              <a:avLst/>
            </a:prstGeom>
            <a:noFill/>
            <a:ln w="9525">
              <a:noFill/>
              <a:miter lim="800000"/>
              <a:headEnd/>
              <a:tailEnd/>
            </a:ln>
          </p:spPr>
        </p:pic>
        <p:sp>
          <p:nvSpPr>
            <p:cNvPr id="48" name="TextBox 47"/>
            <p:cNvSpPr txBox="1"/>
            <p:nvPr/>
          </p:nvSpPr>
          <p:spPr>
            <a:xfrm>
              <a:off x="1166160" y="4000500"/>
              <a:ext cx="691215" cy="230832"/>
            </a:xfrm>
            <a:prstGeom prst="rect">
              <a:avLst/>
            </a:prstGeom>
            <a:solidFill>
              <a:schemeClr val="bg1"/>
            </a:solidFill>
          </p:spPr>
          <p:txBody>
            <a:bodyPr wrap="none" rtlCol="0">
              <a:spAutoFit/>
            </a:bodyPr>
            <a:lstStyle/>
            <a:p>
              <a:r>
                <a:rPr lang="en-US" sz="900" dirty="0" smtClean="0">
                  <a:latin typeface="Times New Roman" pitchFamily="18" charset="0"/>
                  <a:cs typeface="Times New Roman" pitchFamily="18" charset="0"/>
                </a:rPr>
                <a:t>IOptimizer</a:t>
              </a:r>
              <a:endParaRPr lang="en-US" sz="900" dirty="0">
                <a:latin typeface="Times New Roman" pitchFamily="18" charset="0"/>
                <a:cs typeface="Times New Roman" pitchFamily="18" charset="0"/>
              </a:endParaRPr>
            </a:p>
          </p:txBody>
        </p:sp>
      </p:grpSp>
      <p:sp>
        <p:nvSpPr>
          <p:cNvPr id="49" name="TextBox 48"/>
          <p:cNvSpPr txBox="1"/>
          <p:nvPr/>
        </p:nvSpPr>
        <p:spPr>
          <a:xfrm>
            <a:off x="6096000" y="3200400"/>
            <a:ext cx="2667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Example B</a:t>
            </a:r>
            <a:endParaRPr lang="en-US" sz="1400" b="1" dirty="0">
              <a:solidFill>
                <a:srgbClr val="C00000"/>
              </a:solidFill>
              <a:latin typeface="Bradley Hand ITC" pitchFamily="66" charset="0"/>
            </a:endParaRPr>
          </a:p>
        </p:txBody>
      </p:sp>
      <p:sp>
        <p:nvSpPr>
          <p:cNvPr id="50" name="Rounded Rectangle 49"/>
          <p:cNvSpPr/>
          <p:nvPr/>
        </p:nvSpPr>
        <p:spPr>
          <a:xfrm>
            <a:off x="6248400" y="3203377"/>
            <a:ext cx="2362200" cy="1521023"/>
          </a:xfrm>
          <a:prstGeom prst="round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ular Callout 50"/>
          <p:cNvSpPr/>
          <p:nvPr/>
        </p:nvSpPr>
        <p:spPr>
          <a:xfrm>
            <a:off x="6934199" y="4953000"/>
            <a:ext cx="1219201" cy="685800"/>
          </a:xfrm>
          <a:prstGeom prst="wedgeRectCallout">
            <a:avLst>
              <a:gd name="adj1" fmla="val 49492"/>
              <a:gd name="adj2" fmla="val -91683"/>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53" name="TextBox 52"/>
          <p:cNvSpPr txBox="1"/>
          <p:nvPr/>
        </p:nvSpPr>
        <p:spPr>
          <a:xfrm>
            <a:off x="3048000" y="3581400"/>
            <a:ext cx="31242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 architectural effort requires designers to focus not only on decomposition, but also on the quality provided by identified components!</a:t>
            </a:r>
            <a:endParaRPr lang="en-US" sz="1400" b="1" dirty="0">
              <a:solidFill>
                <a:srgbClr val="C00000"/>
              </a:solidFill>
              <a:latin typeface="Bradley Hand ITC" pitchFamily="66" charset="0"/>
            </a:endParaRPr>
          </a:p>
        </p:txBody>
      </p:sp>
      <p:sp>
        <p:nvSpPr>
          <p:cNvPr id="58" name="TextBox 57"/>
          <p:cNvSpPr txBox="1"/>
          <p:nvPr/>
        </p:nvSpPr>
        <p:spPr>
          <a:xfrm>
            <a:off x="3352800" y="4572000"/>
            <a:ext cx="2590800" cy="116955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is equivalent to tagging a component with important information, so that its quality is known by clients using services from the component. </a:t>
            </a:r>
            <a:endParaRPr lang="en-US" sz="1400" b="1" dirty="0">
              <a:solidFill>
                <a:srgbClr val="C00000"/>
              </a:solidFill>
              <a:latin typeface="Bradley Hand ITC" pitchFamily="66" charset="0"/>
            </a:endParaRPr>
          </a:p>
        </p:txBody>
      </p:sp>
      <p:sp>
        <p:nvSpPr>
          <p:cNvPr id="60" name="TextBox 59"/>
          <p:cNvSpPr txBox="1"/>
          <p:nvPr/>
        </p:nvSpPr>
        <p:spPr>
          <a:xfrm>
            <a:off x="6903706" y="4991100"/>
            <a:ext cx="1236236" cy="246221"/>
          </a:xfrm>
          <a:prstGeom prst="rect">
            <a:avLst/>
          </a:prstGeom>
          <a:noFill/>
        </p:spPr>
        <p:txBody>
          <a:bodyPr wrap="none" rtlCol="0">
            <a:spAutoFit/>
          </a:bodyPr>
          <a:lstStyle/>
          <a:p>
            <a:r>
              <a:rPr lang="en-US" sz="1000" u="sng" dirty="0" smtClean="0"/>
              <a:t>Component Quality</a:t>
            </a:r>
            <a:r>
              <a:rPr lang="en-US" sz="1000" dirty="0" smtClean="0"/>
              <a:t>:</a:t>
            </a:r>
            <a:endParaRPr lang="en-US" sz="1000" dirty="0"/>
          </a:p>
        </p:txBody>
      </p:sp>
      <p:sp>
        <p:nvSpPr>
          <p:cNvPr id="61" name="TextBox 60"/>
          <p:cNvSpPr txBox="1"/>
          <p:nvPr/>
        </p:nvSpPr>
        <p:spPr>
          <a:xfrm>
            <a:off x="6958842" y="5151596"/>
            <a:ext cx="1194558" cy="246221"/>
          </a:xfrm>
          <a:prstGeom prst="rect">
            <a:avLst/>
          </a:prstGeom>
          <a:noFill/>
        </p:spPr>
        <p:txBody>
          <a:bodyPr wrap="none" rtlCol="0">
            <a:spAutoFit/>
          </a:bodyPr>
          <a:lstStyle/>
          <a:p>
            <a:r>
              <a:rPr lang="en-US" sz="1000" dirty="0" smtClean="0"/>
              <a:t>Performance: O(n</a:t>
            </a:r>
            <a:r>
              <a:rPr lang="en-US" sz="1000" baseline="30000" dirty="0" smtClean="0"/>
              <a:t>3</a:t>
            </a:r>
            <a:r>
              <a:rPr lang="en-US" sz="1000" dirty="0" smtClean="0"/>
              <a:t>)</a:t>
            </a:r>
            <a:endParaRPr lang="en-US" sz="1000" dirty="0"/>
          </a:p>
        </p:txBody>
      </p:sp>
      <p:sp>
        <p:nvSpPr>
          <p:cNvPr id="62" name="TextBox 61"/>
          <p:cNvSpPr txBox="1"/>
          <p:nvPr/>
        </p:nvSpPr>
        <p:spPr>
          <a:xfrm>
            <a:off x="6958842" y="5303996"/>
            <a:ext cx="1026243" cy="246221"/>
          </a:xfrm>
          <a:prstGeom prst="rect">
            <a:avLst/>
          </a:prstGeom>
          <a:noFill/>
        </p:spPr>
        <p:txBody>
          <a:bodyPr wrap="none" rtlCol="0">
            <a:spAutoFit/>
          </a:bodyPr>
          <a:lstStyle/>
          <a:p>
            <a:r>
              <a:rPr lang="en-US" sz="1000" dirty="0" smtClean="0"/>
              <a:t>Reusability: Low</a:t>
            </a:r>
            <a:endParaRPr lang="en-US" sz="1000" dirty="0"/>
          </a:p>
        </p:txBody>
      </p:sp>
      <p:sp>
        <p:nvSpPr>
          <p:cNvPr id="64" name="TextBox 63"/>
          <p:cNvSpPr txBox="1"/>
          <p:nvPr/>
        </p:nvSpPr>
        <p:spPr>
          <a:xfrm>
            <a:off x="6977892" y="5410200"/>
            <a:ext cx="280846" cy="246221"/>
          </a:xfrm>
          <a:prstGeom prst="rect">
            <a:avLst/>
          </a:prstGeom>
          <a:noFill/>
        </p:spPr>
        <p:txBody>
          <a:bodyPr wrap="none" rtlCol="0">
            <a:spAutoFit/>
          </a:bodyPr>
          <a:lstStyle/>
          <a:p>
            <a:r>
              <a:rPr lang="en-US" sz="1000" dirty="0" smtClean="0"/>
              <a:t>…</a:t>
            </a:r>
            <a:endParaRPr lang="en-US" sz="1000" dirty="0"/>
          </a:p>
        </p:txBody>
      </p:sp>
      <p:sp>
        <p:nvSpPr>
          <p:cNvPr id="66" name="Freeform 65"/>
          <p:cNvSpPr/>
          <p:nvPr/>
        </p:nvSpPr>
        <p:spPr>
          <a:xfrm rot="12619333">
            <a:off x="3158078" y="4572532"/>
            <a:ext cx="367308"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3" name="Group 72"/>
          <p:cNvGrpSpPr/>
          <p:nvPr/>
        </p:nvGrpSpPr>
        <p:grpSpPr>
          <a:xfrm>
            <a:off x="914400" y="4876800"/>
            <a:ext cx="1905000" cy="1143000"/>
            <a:chOff x="685800" y="5105400"/>
            <a:chExt cx="1905000" cy="1143000"/>
          </a:xfrm>
        </p:grpSpPr>
        <p:pic>
          <p:nvPicPr>
            <p:cNvPr id="67"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685800" y="5638800"/>
              <a:ext cx="547384" cy="609600"/>
            </a:xfrm>
            <a:prstGeom prst="rect">
              <a:avLst/>
            </a:prstGeom>
            <a:noFill/>
          </p:spPr>
        </p:pic>
        <p:sp>
          <p:nvSpPr>
            <p:cNvPr id="68" name="Cloud Callout 67"/>
            <p:cNvSpPr/>
            <p:nvPr/>
          </p:nvSpPr>
          <p:spPr>
            <a:xfrm>
              <a:off x="1524000" y="5105400"/>
              <a:ext cx="1066800" cy="685800"/>
            </a:xfrm>
            <a:prstGeom prst="cloudCallout">
              <a:avLst>
                <a:gd name="adj1" fmla="val -69851"/>
                <a:gd name="adj2" fmla="val 43306"/>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Box 68"/>
            <p:cNvSpPr txBox="1"/>
            <p:nvPr/>
          </p:nvSpPr>
          <p:spPr>
            <a:xfrm>
              <a:off x="1647825" y="5181600"/>
              <a:ext cx="914400" cy="553998"/>
            </a:xfrm>
            <a:prstGeom prst="rect">
              <a:avLst/>
            </a:prstGeom>
            <a:noFill/>
          </p:spPr>
          <p:txBody>
            <a:bodyPr wrap="square" rtlCol="0">
              <a:spAutoFit/>
            </a:bodyPr>
            <a:lstStyle/>
            <a:p>
              <a:r>
                <a:rPr lang="en-US" sz="1000" dirty="0" smtClean="0"/>
                <a:t>I guess this</a:t>
              </a:r>
            </a:p>
            <a:p>
              <a:r>
                <a:rPr lang="en-US" sz="1000" dirty="0" smtClean="0"/>
                <a:t>component </a:t>
              </a:r>
            </a:p>
            <a:p>
              <a:r>
                <a:rPr lang="en-US" sz="1000" dirty="0" smtClean="0"/>
                <a:t>will do …</a:t>
              </a:r>
              <a:endParaRPr lang="en-US" sz="1000" dirty="0"/>
            </a:p>
          </p:txBody>
        </p:sp>
      </p:grpSp>
      <p:pic>
        <p:nvPicPr>
          <p:cNvPr id="70"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6858000" y="5867400"/>
            <a:ext cx="547384" cy="609600"/>
          </a:xfrm>
          <a:prstGeom prst="rect">
            <a:avLst/>
          </a:prstGeom>
          <a:noFill/>
        </p:spPr>
      </p:pic>
      <p:sp>
        <p:nvSpPr>
          <p:cNvPr id="71" name="Cloud Callout 70"/>
          <p:cNvSpPr/>
          <p:nvPr/>
        </p:nvSpPr>
        <p:spPr>
          <a:xfrm>
            <a:off x="6019800" y="5334000"/>
            <a:ext cx="685800" cy="533400"/>
          </a:xfrm>
          <a:prstGeom prst="cloudCallout">
            <a:avLst>
              <a:gd name="adj1" fmla="val 60705"/>
              <a:gd name="adj2" fmla="val 66520"/>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a:off x="6101691" y="5400675"/>
            <a:ext cx="527709" cy="400110"/>
          </a:xfrm>
          <a:prstGeom prst="rect">
            <a:avLst/>
          </a:prstGeom>
          <a:noFill/>
        </p:spPr>
        <p:txBody>
          <a:bodyPr wrap="none" rtlCol="0">
            <a:spAutoFit/>
          </a:bodyPr>
          <a:lstStyle/>
          <a:p>
            <a:r>
              <a:rPr lang="en-US" sz="1000" dirty="0" smtClean="0"/>
              <a:t>O(n</a:t>
            </a:r>
            <a:r>
              <a:rPr lang="en-US" sz="1000" baseline="30000" dirty="0" smtClean="0"/>
              <a:t>3</a:t>
            </a:r>
            <a:r>
              <a:rPr lang="en-US" sz="1000" dirty="0" smtClean="0"/>
              <a:t>)! </a:t>
            </a:r>
          </a:p>
          <a:p>
            <a:r>
              <a:rPr lang="en-US" sz="1000" dirty="0" smtClean="0"/>
              <a:t>Yikes!</a:t>
            </a:r>
            <a:endParaRPr lang="en-US" sz="1000" dirty="0"/>
          </a:p>
        </p:txBody>
      </p:sp>
      <p:sp>
        <p:nvSpPr>
          <p:cNvPr id="74" name="TextBox 73"/>
          <p:cNvSpPr txBox="1"/>
          <p:nvPr/>
        </p:nvSpPr>
        <p:spPr>
          <a:xfrm>
            <a:off x="3048000" y="6019800"/>
            <a:ext cx="2590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Client needing a fast algorithm</a:t>
            </a:r>
            <a:endParaRPr lang="en-US" sz="1400" b="1" dirty="0">
              <a:solidFill>
                <a:srgbClr val="C00000"/>
              </a:solidFill>
              <a:latin typeface="Bradley Hand ITC" pitchFamily="66" charset="0"/>
            </a:endParaRPr>
          </a:p>
        </p:txBody>
      </p:sp>
      <p:sp>
        <p:nvSpPr>
          <p:cNvPr id="75" name="Freeform 74"/>
          <p:cNvSpPr/>
          <p:nvPr/>
        </p:nvSpPr>
        <p:spPr>
          <a:xfrm>
            <a:off x="5686425" y="6130925"/>
            <a:ext cx="962025" cy="179387"/>
          </a:xfrm>
          <a:custGeom>
            <a:avLst/>
            <a:gdLst>
              <a:gd name="connsiteX0" fmla="*/ 0 w 962025"/>
              <a:gd name="connsiteY0" fmla="*/ 22225 h 179387"/>
              <a:gd name="connsiteX1" fmla="*/ 352425 w 962025"/>
              <a:gd name="connsiteY1" fmla="*/ 22225 h 179387"/>
              <a:gd name="connsiteX2" fmla="*/ 676275 w 962025"/>
              <a:gd name="connsiteY2" fmla="*/ 155575 h 179387"/>
              <a:gd name="connsiteX3" fmla="*/ 962025 w 962025"/>
              <a:gd name="connsiteY3" fmla="*/ 165100 h 179387"/>
            </a:gdLst>
            <a:ahLst/>
            <a:cxnLst>
              <a:cxn ang="0">
                <a:pos x="connsiteX0" y="connsiteY0"/>
              </a:cxn>
              <a:cxn ang="0">
                <a:pos x="connsiteX1" y="connsiteY1"/>
              </a:cxn>
              <a:cxn ang="0">
                <a:pos x="connsiteX2" y="connsiteY2"/>
              </a:cxn>
              <a:cxn ang="0">
                <a:pos x="connsiteX3" y="connsiteY3"/>
              </a:cxn>
            </a:cxnLst>
            <a:rect l="l" t="t" r="r" b="b"/>
            <a:pathLst>
              <a:path w="962025" h="179387">
                <a:moveTo>
                  <a:pt x="0" y="22225"/>
                </a:moveTo>
                <a:cubicBezTo>
                  <a:pt x="119856" y="11112"/>
                  <a:pt x="239713" y="0"/>
                  <a:pt x="352425" y="22225"/>
                </a:cubicBezTo>
                <a:cubicBezTo>
                  <a:pt x="465137" y="44450"/>
                  <a:pt x="574675" y="131763"/>
                  <a:pt x="676275" y="155575"/>
                </a:cubicBezTo>
                <a:cubicBezTo>
                  <a:pt x="777875" y="179387"/>
                  <a:pt x="869950" y="172243"/>
                  <a:pt x="962025" y="165100"/>
                </a:cubicBezTo>
              </a:path>
            </a:pathLst>
          </a:custGeom>
          <a:ln w="1270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6" name="Freeform 75"/>
          <p:cNvSpPr/>
          <p:nvPr/>
        </p:nvSpPr>
        <p:spPr>
          <a:xfrm>
            <a:off x="1533525" y="5838825"/>
            <a:ext cx="1533525" cy="393700"/>
          </a:xfrm>
          <a:custGeom>
            <a:avLst/>
            <a:gdLst>
              <a:gd name="connsiteX0" fmla="*/ 1533525 w 1533525"/>
              <a:gd name="connsiteY0" fmla="*/ 333375 h 393700"/>
              <a:gd name="connsiteX1" fmla="*/ 971550 w 1533525"/>
              <a:gd name="connsiteY1" fmla="*/ 352425 h 393700"/>
              <a:gd name="connsiteX2" fmla="*/ 552450 w 1533525"/>
              <a:gd name="connsiteY2" fmla="*/ 85725 h 393700"/>
              <a:gd name="connsiteX3" fmla="*/ 0 w 1533525"/>
              <a:gd name="connsiteY3" fmla="*/ 0 h 393700"/>
            </a:gdLst>
            <a:ahLst/>
            <a:cxnLst>
              <a:cxn ang="0">
                <a:pos x="connsiteX0" y="connsiteY0"/>
              </a:cxn>
              <a:cxn ang="0">
                <a:pos x="connsiteX1" y="connsiteY1"/>
              </a:cxn>
              <a:cxn ang="0">
                <a:pos x="connsiteX2" y="connsiteY2"/>
              </a:cxn>
              <a:cxn ang="0">
                <a:pos x="connsiteX3" y="connsiteY3"/>
              </a:cxn>
            </a:cxnLst>
            <a:rect l="l" t="t" r="r" b="b"/>
            <a:pathLst>
              <a:path w="1533525" h="393700">
                <a:moveTo>
                  <a:pt x="1533525" y="333375"/>
                </a:moveTo>
                <a:cubicBezTo>
                  <a:pt x="1334293" y="363537"/>
                  <a:pt x="1135062" y="393700"/>
                  <a:pt x="971550" y="352425"/>
                </a:cubicBezTo>
                <a:cubicBezTo>
                  <a:pt x="808038" y="311150"/>
                  <a:pt x="714375" y="144462"/>
                  <a:pt x="552450" y="85725"/>
                </a:cubicBezTo>
                <a:cubicBezTo>
                  <a:pt x="390525" y="26988"/>
                  <a:pt x="195262" y="13494"/>
                  <a:pt x="0" y="0"/>
                </a:cubicBezTo>
              </a:path>
            </a:pathLst>
          </a:custGeom>
          <a:ln w="1270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Software Architecture</a:t>
            </a:r>
            <a:endParaRPr lang="en-US" dirty="0"/>
          </a:p>
        </p:txBody>
      </p:sp>
      <p:sp>
        <p:nvSpPr>
          <p:cNvPr id="3" name="Content Placeholder 2"/>
          <p:cNvSpPr>
            <a:spLocks noGrp="1"/>
          </p:cNvSpPr>
          <p:nvPr>
            <p:ph idx="1"/>
          </p:nvPr>
        </p:nvSpPr>
        <p:spPr>
          <a:xfrm>
            <a:off x="457200" y="1371601"/>
            <a:ext cx="8229600" cy="5181599"/>
          </a:xfrm>
        </p:spPr>
        <p:txBody>
          <a:bodyPr>
            <a:normAutofit/>
          </a:bodyPr>
          <a:lstStyle/>
          <a:p>
            <a:pPr marL="342900" lvl="1" indent="-342900">
              <a:buFont typeface="Wingdings" pitchFamily="2" charset="2"/>
              <a:buChar char="Ø"/>
            </a:pPr>
            <a:r>
              <a:rPr lang="en-US" dirty="0" smtClean="0"/>
              <a:t>More on “</a:t>
            </a:r>
            <a:r>
              <a:rPr lang="en-US" i="1" dirty="0" smtClean="0"/>
              <a:t>…</a:t>
            </a:r>
            <a:r>
              <a:rPr lang="en-US" i="1" dirty="0" smtClean="0">
                <a:solidFill>
                  <a:srgbClr val="FF0000"/>
                </a:solidFill>
              </a:rPr>
              <a:t>major components of the system, together with their provided quality</a:t>
            </a:r>
            <a:r>
              <a:rPr lang="en-US" i="1" dirty="0" smtClean="0"/>
              <a:t>…</a:t>
            </a:r>
            <a:r>
              <a:rPr lang="en-US" dirty="0" smtClean="0"/>
              <a:t>”</a:t>
            </a:r>
          </a:p>
          <a:p>
            <a:pPr marL="742950" lvl="2" indent="-342900">
              <a:buFont typeface="Wingdings" pitchFamily="2" charset="2"/>
              <a:buChar char="ü"/>
            </a:pPr>
            <a:r>
              <a:rPr lang="en-US" dirty="0" smtClean="0"/>
              <a:t>Expected quality requirements identified during architecture trickles down all the way to the implementation of components.  </a:t>
            </a:r>
          </a:p>
          <a:p>
            <a:pPr marL="1200150" lvl="3" indent="-342900">
              <a:buFont typeface="Wingdings" pitchFamily="2" charset="2"/>
              <a:buChar char="§"/>
            </a:pPr>
            <a:r>
              <a:rPr lang="en-US" dirty="0" smtClean="0"/>
              <a:t>This provides developers with enough information to produce code that meets the system’s functional and non-functional requirements.  </a:t>
            </a:r>
          </a:p>
          <a:p>
            <a:pPr marL="1200150" lvl="3" indent="-342900">
              <a:buFont typeface="Wingdings" pitchFamily="2" charset="2"/>
              <a:buChar char="§"/>
            </a:pPr>
            <a:endParaRPr lang="en-US" dirty="0" smtClean="0"/>
          </a:p>
          <a:p>
            <a:pPr marL="1200150" lvl="3" indent="-342900">
              <a:buFont typeface="Wingdings" pitchFamily="2" charset="2"/>
              <a:buChar char="§"/>
            </a:pPr>
            <a:endParaRPr lang="en-US" dirty="0" smtClean="0"/>
          </a:p>
          <a:p>
            <a:pPr marL="1200150" lvl="3" indent="-342900">
              <a:buFont typeface="Wingdings" pitchFamily="2" charset="2"/>
              <a:buChar char="§"/>
            </a:pPr>
            <a:endParaRPr lang="en-US" dirty="0" smtClean="0"/>
          </a:p>
          <a:p>
            <a:pPr marL="1200150" lvl="3" indent="-342900">
              <a:buFont typeface="Wingdings" pitchFamily="2" charset="2"/>
              <a:buChar char="§"/>
            </a:pPr>
            <a:endParaRPr lang="en-US" dirty="0" smtClean="0"/>
          </a:p>
          <a:p>
            <a:pPr marL="1200150" lvl="3" indent="-342900">
              <a:buNone/>
            </a:pPr>
            <a:endParaRPr lang="en-US" dirty="0" smtClean="0"/>
          </a:p>
          <a:p>
            <a:pPr marL="1200150" lvl="3" indent="-342900">
              <a:buFont typeface="Wingdings" pitchFamily="2" charset="2"/>
              <a:buChar char="Ø"/>
            </a:pPr>
            <a:endParaRPr lang="en-US" dirty="0" smtClean="0"/>
          </a:p>
          <a:p>
            <a:pPr marL="342900" lvl="1" indent="-342900">
              <a:buFont typeface="Wingdings" pitchFamily="2" charset="2"/>
              <a:buChar char="Ø"/>
            </a:pPr>
            <a:endParaRPr lang="en-US" dirty="0" smtClean="0"/>
          </a:p>
          <a:p>
            <a:pPr marL="342900" lvl="1" indent="-342900">
              <a:buFont typeface="Wingdings" pitchFamily="2" charset="2"/>
              <a:buChar char="Ø"/>
            </a:pPr>
            <a:endParaRPr lang="en-US" dirty="0" smtClean="0"/>
          </a:p>
          <a:p>
            <a:pPr marL="342900" lvl="1" indent="-342900">
              <a:buFont typeface="Wingdings" pitchFamily="2" charset="2"/>
              <a:buChar char="Ø"/>
            </a:pPr>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pSp>
        <p:nvGrpSpPr>
          <p:cNvPr id="57" name="Group 56"/>
          <p:cNvGrpSpPr/>
          <p:nvPr/>
        </p:nvGrpSpPr>
        <p:grpSpPr>
          <a:xfrm>
            <a:off x="1219200" y="2895600"/>
            <a:ext cx="7162800" cy="3355777"/>
            <a:chOff x="1219200" y="2895600"/>
            <a:chExt cx="7162800" cy="3355777"/>
          </a:xfrm>
        </p:grpSpPr>
        <p:sp>
          <p:nvSpPr>
            <p:cNvPr id="7" name="Rectangle 6"/>
            <p:cNvSpPr/>
            <p:nvPr/>
          </p:nvSpPr>
          <p:spPr>
            <a:xfrm>
              <a:off x="3962400" y="3429000"/>
              <a:ext cx="1447800" cy="914400"/>
            </a:xfrm>
            <a:prstGeom prst="rect">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6"/>
            <p:cNvPicPr>
              <a:picLocks noChangeAspect="1" noChangeArrowheads="1"/>
            </p:cNvPicPr>
            <p:nvPr/>
          </p:nvPicPr>
          <p:blipFill>
            <a:blip r:embed="rId2" cstate="print"/>
            <a:srcRect/>
            <a:stretch>
              <a:fillRect/>
            </a:stretch>
          </p:blipFill>
          <p:spPr bwMode="auto">
            <a:xfrm>
              <a:off x="2209800" y="3581400"/>
              <a:ext cx="1143000" cy="730527"/>
            </a:xfrm>
            <a:prstGeom prst="rect">
              <a:avLst/>
            </a:prstGeom>
            <a:noFill/>
            <a:ln w="9525">
              <a:noFill/>
              <a:miter lim="800000"/>
              <a:headEnd/>
              <a:tailEnd/>
            </a:ln>
            <a:effectLst/>
          </p:spPr>
        </p:pic>
        <p:pic>
          <p:nvPicPr>
            <p:cNvPr id="11" name="Picture 10" descr="C:\Users\cotero\AppData\Local\Microsoft\Windows\Temporary Internet Files\Content.IE5\07RO37DR\MC900013282[1].wmf"/>
            <p:cNvPicPr>
              <a:picLocks noChangeAspect="1" noChangeArrowheads="1"/>
            </p:cNvPicPr>
            <p:nvPr/>
          </p:nvPicPr>
          <p:blipFill>
            <a:blip r:embed="rId3" cstate="print"/>
            <a:srcRect/>
            <a:stretch>
              <a:fillRect/>
            </a:stretch>
          </p:blipFill>
          <p:spPr bwMode="auto">
            <a:xfrm>
              <a:off x="3043341" y="4029365"/>
              <a:ext cx="235269" cy="466435"/>
            </a:xfrm>
            <a:prstGeom prst="rect">
              <a:avLst/>
            </a:prstGeom>
            <a:noFill/>
          </p:spPr>
        </p:pic>
        <p:sp>
          <p:nvSpPr>
            <p:cNvPr id="12" name="Rectangle 11"/>
            <p:cNvSpPr/>
            <p:nvPr/>
          </p:nvSpPr>
          <p:spPr>
            <a:xfrm>
              <a:off x="3123202" y="4015581"/>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noChangeArrowheads="1"/>
            </p:cNvPicPr>
            <p:nvPr/>
          </p:nvPicPr>
          <p:blipFill>
            <a:blip r:embed="rId4" cstate="print"/>
            <a:srcRect/>
            <a:stretch>
              <a:fillRect/>
            </a:stretch>
          </p:blipFill>
          <p:spPr bwMode="auto">
            <a:xfrm>
              <a:off x="2668997" y="3946664"/>
              <a:ext cx="439231" cy="103376"/>
            </a:xfrm>
            <a:prstGeom prst="rect">
              <a:avLst/>
            </a:prstGeom>
            <a:noFill/>
            <a:ln w="9525">
              <a:noFill/>
              <a:miter lim="800000"/>
              <a:headEnd/>
              <a:tailEnd/>
            </a:ln>
          </p:spPr>
        </p:pic>
        <p:sp>
          <p:nvSpPr>
            <p:cNvPr id="15" name="Right Arrow 14"/>
            <p:cNvSpPr/>
            <p:nvPr/>
          </p:nvSpPr>
          <p:spPr>
            <a:xfrm>
              <a:off x="3352800" y="3810000"/>
              <a:ext cx="533400" cy="304800"/>
            </a:xfrm>
            <a:prstGeom prst="rightArrow">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a:off x="5486400" y="3810000"/>
              <a:ext cx="533400" cy="304800"/>
            </a:xfrm>
            <a:prstGeom prst="rightArrow">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p:cNvSpPr txBox="1"/>
            <p:nvPr/>
          </p:nvSpPr>
          <p:spPr>
            <a:xfrm>
              <a:off x="3419475" y="3851731"/>
              <a:ext cx="276038" cy="215444"/>
            </a:xfrm>
            <a:prstGeom prst="rect">
              <a:avLst/>
            </a:prstGeom>
            <a:noFill/>
          </p:spPr>
          <p:txBody>
            <a:bodyPr wrap="none" rtlCol="0">
              <a:spAutoFit/>
            </a:bodyPr>
            <a:lstStyle/>
            <a:p>
              <a:r>
                <a:rPr lang="en-US" sz="800" dirty="0" smtClean="0"/>
                <a:t>IN</a:t>
              </a:r>
              <a:endParaRPr lang="en-US" sz="800" dirty="0"/>
            </a:p>
          </p:txBody>
        </p:sp>
        <p:sp>
          <p:nvSpPr>
            <p:cNvPr id="18" name="TextBox 17"/>
            <p:cNvSpPr txBox="1"/>
            <p:nvPr/>
          </p:nvSpPr>
          <p:spPr>
            <a:xfrm>
              <a:off x="5543737" y="3861256"/>
              <a:ext cx="367408" cy="215444"/>
            </a:xfrm>
            <a:prstGeom prst="rect">
              <a:avLst/>
            </a:prstGeom>
            <a:noFill/>
          </p:spPr>
          <p:txBody>
            <a:bodyPr wrap="none" rtlCol="0">
              <a:spAutoFit/>
            </a:bodyPr>
            <a:lstStyle/>
            <a:p>
              <a:r>
                <a:rPr lang="en-US" sz="800" dirty="0" smtClean="0"/>
                <a:t>OUT</a:t>
              </a:r>
              <a:endParaRPr lang="en-US" sz="800" dirty="0"/>
            </a:p>
          </p:txBody>
        </p:sp>
        <p:pic>
          <p:nvPicPr>
            <p:cNvPr id="19" name="Picture 2" descr="C:\Users\cotero\AppData\Local\Microsoft\Windows\Temporary Internet Files\Content.IE5\ES8921MZ\MC900048773[1].wmf"/>
            <p:cNvPicPr>
              <a:picLocks noChangeAspect="1" noChangeArrowheads="1"/>
            </p:cNvPicPr>
            <p:nvPr/>
          </p:nvPicPr>
          <p:blipFill>
            <a:blip r:embed="rId5" cstate="print"/>
            <a:srcRect/>
            <a:stretch>
              <a:fillRect/>
            </a:stretch>
          </p:blipFill>
          <p:spPr bwMode="auto">
            <a:xfrm>
              <a:off x="4114800" y="5562600"/>
              <a:ext cx="478961" cy="533400"/>
            </a:xfrm>
            <a:prstGeom prst="rect">
              <a:avLst/>
            </a:prstGeom>
            <a:noFill/>
          </p:spPr>
        </p:pic>
        <p:sp>
          <p:nvSpPr>
            <p:cNvPr id="20" name="TextBox 19"/>
            <p:cNvSpPr txBox="1"/>
            <p:nvPr/>
          </p:nvSpPr>
          <p:spPr>
            <a:xfrm>
              <a:off x="4343400" y="3200400"/>
              <a:ext cx="713657" cy="215444"/>
            </a:xfrm>
            <a:prstGeom prst="rect">
              <a:avLst/>
            </a:prstGeom>
            <a:noFill/>
          </p:spPr>
          <p:txBody>
            <a:bodyPr wrap="none" rtlCol="0">
              <a:spAutoFit/>
            </a:bodyPr>
            <a:lstStyle/>
            <a:p>
              <a:r>
                <a:rPr lang="en-US" sz="800" dirty="0" smtClean="0"/>
                <a:t>PROCESSING</a:t>
              </a:r>
              <a:endParaRPr lang="en-US" sz="800" dirty="0"/>
            </a:p>
          </p:txBody>
        </p:sp>
        <p:graphicFrame>
          <p:nvGraphicFramePr>
            <p:cNvPr id="21" name="Diagram 20"/>
            <p:cNvGraphicFramePr/>
            <p:nvPr/>
          </p:nvGraphicFramePr>
          <p:xfrm>
            <a:off x="3810000" y="3457575"/>
            <a:ext cx="1600200" cy="838200"/>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35" name="Group 34"/>
            <p:cNvGrpSpPr/>
            <p:nvPr/>
          </p:nvGrpSpPr>
          <p:grpSpPr>
            <a:xfrm>
              <a:off x="6019800" y="3657600"/>
              <a:ext cx="600075" cy="999835"/>
              <a:chOff x="6172200" y="3886200"/>
              <a:chExt cx="600075" cy="999835"/>
            </a:xfrm>
          </p:grpSpPr>
          <p:grpSp>
            <p:nvGrpSpPr>
              <p:cNvPr id="26" name="Group 25"/>
              <p:cNvGrpSpPr/>
              <p:nvPr/>
            </p:nvGrpSpPr>
            <p:grpSpPr>
              <a:xfrm>
                <a:off x="6172200" y="3886200"/>
                <a:ext cx="600075" cy="999835"/>
                <a:chOff x="6410325" y="2895600"/>
                <a:chExt cx="600075" cy="999835"/>
              </a:xfrm>
            </p:grpSpPr>
            <p:sp>
              <p:nvSpPr>
                <p:cNvPr id="22" name="Folded Corner 21"/>
                <p:cNvSpPr/>
                <p:nvPr/>
              </p:nvSpPr>
              <p:spPr>
                <a:xfrm>
                  <a:off x="6477000" y="2895600"/>
                  <a:ext cx="533400" cy="609600"/>
                </a:xfrm>
                <a:prstGeom prst="foldedCorner">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C:\Users\cotero\AppData\Local\Microsoft\Windows\Temporary Internet Files\Content.IE5\07RO37DR\MC900013282[1].wmf"/>
                <p:cNvPicPr>
                  <a:picLocks noChangeAspect="1" noChangeArrowheads="1"/>
                </p:cNvPicPr>
                <p:nvPr/>
              </p:nvPicPr>
              <p:blipFill>
                <a:blip r:embed="rId3" cstate="print"/>
                <a:srcRect/>
                <a:stretch>
                  <a:fillRect/>
                </a:stretch>
              </p:blipFill>
              <p:spPr bwMode="auto">
                <a:xfrm>
                  <a:off x="6410325" y="3429000"/>
                  <a:ext cx="235269" cy="466435"/>
                </a:xfrm>
                <a:prstGeom prst="rect">
                  <a:avLst/>
                </a:prstGeom>
                <a:noFill/>
              </p:spPr>
            </p:pic>
            <p:sp>
              <p:nvSpPr>
                <p:cNvPr id="24" name="Rectangle 23"/>
                <p:cNvSpPr/>
                <p:nvPr/>
              </p:nvSpPr>
              <p:spPr>
                <a:xfrm>
                  <a:off x="6492390" y="3434556"/>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p:cNvPicPr>
                <a:picLocks noChangeAspect="1" noChangeArrowheads="1"/>
              </p:cNvPicPr>
              <p:nvPr/>
            </p:nvPicPr>
            <p:blipFill>
              <a:blip r:embed="rId11" cstate="print"/>
              <a:srcRect/>
              <a:stretch>
                <a:fillRect/>
              </a:stretch>
            </p:blipFill>
            <p:spPr bwMode="auto">
              <a:xfrm>
                <a:off x="6286500" y="3952045"/>
                <a:ext cx="411614" cy="467555"/>
              </a:xfrm>
              <a:prstGeom prst="rect">
                <a:avLst/>
              </a:prstGeom>
              <a:noFill/>
              <a:ln w="9525">
                <a:noFill/>
                <a:miter lim="800000"/>
                <a:headEnd/>
                <a:tailEnd/>
              </a:ln>
            </p:spPr>
          </p:pic>
        </p:grpSp>
        <p:sp>
          <p:nvSpPr>
            <p:cNvPr id="28" name="TextBox 27"/>
            <p:cNvSpPr txBox="1"/>
            <p:nvPr/>
          </p:nvSpPr>
          <p:spPr>
            <a:xfrm>
              <a:off x="1219200" y="4724400"/>
              <a:ext cx="1981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Quality requirements assigned to component</a:t>
              </a:r>
              <a:endParaRPr lang="en-US" sz="1400" b="1" dirty="0">
                <a:solidFill>
                  <a:srgbClr val="C00000"/>
                </a:solidFill>
                <a:latin typeface="Bradley Hand ITC" pitchFamily="66" charset="0"/>
              </a:endParaRPr>
            </a:p>
          </p:txBody>
        </p:sp>
        <p:sp>
          <p:nvSpPr>
            <p:cNvPr id="29" name="Freeform 28"/>
            <p:cNvSpPr/>
            <p:nvPr/>
          </p:nvSpPr>
          <p:spPr>
            <a:xfrm rot="16200000" flipH="1" flipV="1">
              <a:off x="2657472" y="4352928"/>
              <a:ext cx="352111" cy="333055"/>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6400800" y="4572000"/>
              <a:ext cx="19812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Code meets quality requirements, per the specification </a:t>
              </a:r>
              <a:endParaRPr lang="en-US" sz="1400" b="1" dirty="0">
                <a:solidFill>
                  <a:srgbClr val="C00000"/>
                </a:solidFill>
                <a:latin typeface="Bradley Hand ITC" pitchFamily="66" charset="0"/>
              </a:endParaRPr>
            </a:p>
          </p:txBody>
        </p:sp>
        <p:sp>
          <p:nvSpPr>
            <p:cNvPr id="31" name="Freeform 30"/>
            <p:cNvSpPr/>
            <p:nvPr/>
          </p:nvSpPr>
          <p:spPr>
            <a:xfrm>
              <a:off x="6096000" y="4670198"/>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rot="14852754">
              <a:off x="6715364" y="3293812"/>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p:cNvSpPr txBox="1"/>
            <p:nvPr/>
          </p:nvSpPr>
          <p:spPr>
            <a:xfrm>
              <a:off x="6629400" y="2895600"/>
              <a:ext cx="533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Code</a:t>
              </a:r>
              <a:endParaRPr lang="en-US" sz="1400" b="1" dirty="0">
                <a:solidFill>
                  <a:srgbClr val="C00000"/>
                </a:solidFill>
                <a:latin typeface="Bradley Hand ITC" pitchFamily="66" charset="0"/>
              </a:endParaRPr>
            </a:p>
          </p:txBody>
        </p:sp>
        <p:sp>
          <p:nvSpPr>
            <p:cNvPr id="34" name="Cloud Callout 33"/>
            <p:cNvSpPr/>
            <p:nvPr/>
          </p:nvSpPr>
          <p:spPr>
            <a:xfrm>
              <a:off x="4419600" y="4572000"/>
              <a:ext cx="838200" cy="688848"/>
            </a:xfrm>
            <a:prstGeom prst="cloudCallout">
              <a:avLst>
                <a:gd name="adj1" fmla="val -48958"/>
                <a:gd name="adj2" fmla="val 88930"/>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6096000" y="3581400"/>
              <a:ext cx="600075" cy="999835"/>
              <a:chOff x="6172200" y="3886200"/>
              <a:chExt cx="600075" cy="999835"/>
            </a:xfrm>
          </p:grpSpPr>
          <p:grpSp>
            <p:nvGrpSpPr>
              <p:cNvPr id="37" name="Group 25"/>
              <p:cNvGrpSpPr/>
              <p:nvPr/>
            </p:nvGrpSpPr>
            <p:grpSpPr>
              <a:xfrm>
                <a:off x="6172200" y="3886200"/>
                <a:ext cx="600075" cy="999835"/>
                <a:chOff x="6410325" y="2895600"/>
                <a:chExt cx="600075" cy="999835"/>
              </a:xfrm>
            </p:grpSpPr>
            <p:sp>
              <p:nvSpPr>
                <p:cNvPr id="39" name="Folded Corner 38"/>
                <p:cNvSpPr/>
                <p:nvPr/>
              </p:nvSpPr>
              <p:spPr>
                <a:xfrm>
                  <a:off x="6477000" y="2895600"/>
                  <a:ext cx="533400" cy="609600"/>
                </a:xfrm>
                <a:prstGeom prst="foldedCorner">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descr="C:\Users\cotero\AppData\Local\Microsoft\Windows\Temporary Internet Files\Content.IE5\07RO37DR\MC900013282[1].wmf"/>
                <p:cNvPicPr>
                  <a:picLocks noChangeAspect="1" noChangeArrowheads="1"/>
                </p:cNvPicPr>
                <p:nvPr/>
              </p:nvPicPr>
              <p:blipFill>
                <a:blip r:embed="rId3" cstate="print"/>
                <a:srcRect/>
                <a:stretch>
                  <a:fillRect/>
                </a:stretch>
              </p:blipFill>
              <p:spPr bwMode="auto">
                <a:xfrm>
                  <a:off x="6410325" y="3429000"/>
                  <a:ext cx="235269" cy="466435"/>
                </a:xfrm>
                <a:prstGeom prst="rect">
                  <a:avLst/>
                </a:prstGeom>
                <a:noFill/>
              </p:spPr>
            </p:pic>
            <p:sp>
              <p:nvSpPr>
                <p:cNvPr id="41" name="Rectangle 40"/>
                <p:cNvSpPr/>
                <p:nvPr/>
              </p:nvSpPr>
              <p:spPr>
                <a:xfrm>
                  <a:off x="6492390" y="3434556"/>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8" name="Picture 2"/>
              <p:cNvPicPr>
                <a:picLocks noChangeAspect="1" noChangeArrowheads="1"/>
              </p:cNvPicPr>
              <p:nvPr/>
            </p:nvPicPr>
            <p:blipFill>
              <a:blip r:embed="rId11" cstate="print"/>
              <a:srcRect/>
              <a:stretch>
                <a:fillRect/>
              </a:stretch>
            </p:blipFill>
            <p:spPr bwMode="auto">
              <a:xfrm>
                <a:off x="6286500" y="3952045"/>
                <a:ext cx="411614" cy="467555"/>
              </a:xfrm>
              <a:prstGeom prst="rect">
                <a:avLst/>
              </a:prstGeom>
              <a:noFill/>
              <a:ln w="9525">
                <a:noFill/>
                <a:miter lim="800000"/>
                <a:headEnd/>
                <a:tailEnd/>
              </a:ln>
            </p:spPr>
          </p:pic>
        </p:grpSp>
        <p:grpSp>
          <p:nvGrpSpPr>
            <p:cNvPr id="42" name="Group 41"/>
            <p:cNvGrpSpPr/>
            <p:nvPr/>
          </p:nvGrpSpPr>
          <p:grpSpPr>
            <a:xfrm>
              <a:off x="6172200" y="3505200"/>
              <a:ext cx="600075" cy="999835"/>
              <a:chOff x="6172200" y="3886200"/>
              <a:chExt cx="600075" cy="999835"/>
            </a:xfrm>
          </p:grpSpPr>
          <p:grpSp>
            <p:nvGrpSpPr>
              <p:cNvPr id="43" name="Group 25"/>
              <p:cNvGrpSpPr/>
              <p:nvPr/>
            </p:nvGrpSpPr>
            <p:grpSpPr>
              <a:xfrm>
                <a:off x="6172200" y="3886200"/>
                <a:ext cx="600075" cy="999835"/>
                <a:chOff x="6410325" y="2895600"/>
                <a:chExt cx="600075" cy="999835"/>
              </a:xfrm>
            </p:grpSpPr>
            <p:sp>
              <p:nvSpPr>
                <p:cNvPr id="45" name="Folded Corner 44"/>
                <p:cNvSpPr/>
                <p:nvPr/>
              </p:nvSpPr>
              <p:spPr>
                <a:xfrm>
                  <a:off x="6477000" y="2895600"/>
                  <a:ext cx="533400" cy="609600"/>
                </a:xfrm>
                <a:prstGeom prst="foldedCorner">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C:\Users\cotero\AppData\Local\Microsoft\Windows\Temporary Internet Files\Content.IE5\07RO37DR\MC900013282[1].wmf"/>
                <p:cNvPicPr>
                  <a:picLocks noChangeAspect="1" noChangeArrowheads="1"/>
                </p:cNvPicPr>
                <p:nvPr/>
              </p:nvPicPr>
              <p:blipFill>
                <a:blip r:embed="rId3" cstate="print"/>
                <a:srcRect/>
                <a:stretch>
                  <a:fillRect/>
                </a:stretch>
              </p:blipFill>
              <p:spPr bwMode="auto">
                <a:xfrm>
                  <a:off x="6410325" y="3429000"/>
                  <a:ext cx="235269" cy="466435"/>
                </a:xfrm>
                <a:prstGeom prst="rect">
                  <a:avLst/>
                </a:prstGeom>
                <a:noFill/>
              </p:spPr>
            </p:pic>
            <p:sp>
              <p:nvSpPr>
                <p:cNvPr id="47" name="Rectangle 46"/>
                <p:cNvSpPr/>
                <p:nvPr/>
              </p:nvSpPr>
              <p:spPr>
                <a:xfrm>
                  <a:off x="6492390" y="3434556"/>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4" name="Picture 2"/>
              <p:cNvPicPr>
                <a:picLocks noChangeAspect="1" noChangeArrowheads="1"/>
              </p:cNvPicPr>
              <p:nvPr/>
            </p:nvPicPr>
            <p:blipFill>
              <a:blip r:embed="rId11" cstate="print"/>
              <a:srcRect/>
              <a:stretch>
                <a:fillRect/>
              </a:stretch>
            </p:blipFill>
            <p:spPr bwMode="auto">
              <a:xfrm>
                <a:off x="6286500" y="3952045"/>
                <a:ext cx="411614" cy="467555"/>
              </a:xfrm>
              <a:prstGeom prst="rect">
                <a:avLst/>
              </a:prstGeom>
              <a:noFill/>
              <a:ln w="9525">
                <a:noFill/>
                <a:miter lim="800000"/>
                <a:headEnd/>
                <a:tailEnd/>
              </a:ln>
            </p:spPr>
          </p:pic>
        </p:grpSp>
        <p:pic>
          <p:nvPicPr>
            <p:cNvPr id="48" name="Picture 47" descr="C:\Users\cotero\AppData\Local\Microsoft\Windows\Temporary Internet Files\Content.IE5\07RO37DR\MC900013282[1].wmf"/>
            <p:cNvPicPr>
              <a:picLocks noChangeAspect="1" noChangeArrowheads="1"/>
            </p:cNvPicPr>
            <p:nvPr/>
          </p:nvPicPr>
          <p:blipFill>
            <a:blip r:embed="rId3" cstate="print"/>
            <a:srcRect/>
            <a:stretch>
              <a:fillRect/>
            </a:stretch>
          </p:blipFill>
          <p:spPr bwMode="auto">
            <a:xfrm>
              <a:off x="4724400" y="4648200"/>
              <a:ext cx="235269" cy="466435"/>
            </a:xfrm>
            <a:prstGeom prst="rect">
              <a:avLst/>
            </a:prstGeom>
            <a:noFill/>
          </p:spPr>
        </p:pic>
        <p:sp>
          <p:nvSpPr>
            <p:cNvPr id="52" name="TextBox 51"/>
            <p:cNvSpPr txBox="1"/>
            <p:nvPr/>
          </p:nvSpPr>
          <p:spPr>
            <a:xfrm>
              <a:off x="4876800" y="5943600"/>
              <a:ext cx="1295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Programmer</a:t>
              </a:r>
              <a:endParaRPr lang="en-US" sz="1400" b="1" dirty="0">
                <a:solidFill>
                  <a:srgbClr val="C00000"/>
                </a:solidFill>
                <a:latin typeface="Bradley Hand ITC" pitchFamily="66" charset="0"/>
              </a:endParaRPr>
            </a:p>
          </p:txBody>
        </p:sp>
        <p:sp>
          <p:nvSpPr>
            <p:cNvPr id="53" name="Freeform 52"/>
            <p:cNvSpPr/>
            <p:nvPr/>
          </p:nvSpPr>
          <p:spPr>
            <a:xfrm rot="20593292">
              <a:off x="4604489" y="5917855"/>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Freeform 53"/>
            <p:cNvSpPr/>
            <p:nvPr/>
          </p:nvSpPr>
          <p:spPr>
            <a:xfrm>
              <a:off x="3219450" y="4405313"/>
              <a:ext cx="1209675" cy="442912"/>
            </a:xfrm>
            <a:custGeom>
              <a:avLst/>
              <a:gdLst>
                <a:gd name="connsiteX0" fmla="*/ 0 w 1209675"/>
                <a:gd name="connsiteY0" fmla="*/ 4762 h 442912"/>
                <a:gd name="connsiteX1" fmla="*/ 361950 w 1209675"/>
                <a:gd name="connsiteY1" fmla="*/ 52387 h 442912"/>
                <a:gd name="connsiteX2" fmla="*/ 685800 w 1209675"/>
                <a:gd name="connsiteY2" fmla="*/ 319087 h 442912"/>
                <a:gd name="connsiteX3" fmla="*/ 1209675 w 1209675"/>
                <a:gd name="connsiteY3" fmla="*/ 442912 h 442912"/>
              </a:gdLst>
              <a:ahLst/>
              <a:cxnLst>
                <a:cxn ang="0">
                  <a:pos x="connsiteX0" y="connsiteY0"/>
                </a:cxn>
                <a:cxn ang="0">
                  <a:pos x="connsiteX1" y="connsiteY1"/>
                </a:cxn>
                <a:cxn ang="0">
                  <a:pos x="connsiteX2" y="connsiteY2"/>
                </a:cxn>
                <a:cxn ang="0">
                  <a:pos x="connsiteX3" y="connsiteY3"/>
                </a:cxn>
              </a:cxnLst>
              <a:rect l="l" t="t" r="r" b="b"/>
              <a:pathLst>
                <a:path w="1209675" h="442912">
                  <a:moveTo>
                    <a:pt x="0" y="4762"/>
                  </a:moveTo>
                  <a:cubicBezTo>
                    <a:pt x="123825" y="2381"/>
                    <a:pt x="247650" y="0"/>
                    <a:pt x="361950" y="52387"/>
                  </a:cubicBezTo>
                  <a:cubicBezTo>
                    <a:pt x="476250" y="104775"/>
                    <a:pt x="544513" y="254000"/>
                    <a:pt x="685800" y="319087"/>
                  </a:cubicBezTo>
                  <a:cubicBezTo>
                    <a:pt x="827088" y="384175"/>
                    <a:pt x="1018381" y="413543"/>
                    <a:pt x="1209675" y="442912"/>
                  </a:cubicBezTo>
                </a:path>
              </a:pathLst>
            </a:custGeom>
            <a:ln>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Freeform 54"/>
            <p:cNvSpPr/>
            <p:nvPr/>
          </p:nvSpPr>
          <p:spPr>
            <a:xfrm>
              <a:off x="5257800" y="4543425"/>
              <a:ext cx="762000" cy="358775"/>
            </a:xfrm>
            <a:custGeom>
              <a:avLst/>
              <a:gdLst>
                <a:gd name="connsiteX0" fmla="*/ 0 w 762000"/>
                <a:gd name="connsiteY0" fmla="*/ 333375 h 358775"/>
                <a:gd name="connsiteX1" fmla="*/ 247650 w 762000"/>
                <a:gd name="connsiteY1" fmla="*/ 314325 h 358775"/>
                <a:gd name="connsiteX2" fmla="*/ 504825 w 762000"/>
                <a:gd name="connsiteY2" fmla="*/ 66675 h 358775"/>
                <a:gd name="connsiteX3" fmla="*/ 762000 w 762000"/>
                <a:gd name="connsiteY3" fmla="*/ 0 h 358775"/>
              </a:gdLst>
              <a:ahLst/>
              <a:cxnLst>
                <a:cxn ang="0">
                  <a:pos x="connsiteX0" y="connsiteY0"/>
                </a:cxn>
                <a:cxn ang="0">
                  <a:pos x="connsiteX1" y="connsiteY1"/>
                </a:cxn>
                <a:cxn ang="0">
                  <a:pos x="connsiteX2" y="connsiteY2"/>
                </a:cxn>
                <a:cxn ang="0">
                  <a:pos x="connsiteX3" y="connsiteY3"/>
                </a:cxn>
              </a:cxnLst>
              <a:rect l="l" t="t" r="r" b="b"/>
              <a:pathLst>
                <a:path w="762000" h="358775">
                  <a:moveTo>
                    <a:pt x="0" y="333375"/>
                  </a:moveTo>
                  <a:cubicBezTo>
                    <a:pt x="81756" y="346075"/>
                    <a:pt x="163513" y="358775"/>
                    <a:pt x="247650" y="314325"/>
                  </a:cubicBezTo>
                  <a:cubicBezTo>
                    <a:pt x="331788" y="269875"/>
                    <a:pt x="419100" y="119063"/>
                    <a:pt x="504825" y="66675"/>
                  </a:cubicBezTo>
                  <a:cubicBezTo>
                    <a:pt x="590550" y="14288"/>
                    <a:pt x="676275" y="7144"/>
                    <a:pt x="762000" y="0"/>
                  </a:cubicBezTo>
                </a:path>
              </a:pathLst>
            </a:custGeom>
            <a:ln>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6" name="TextBox 55"/>
          <p:cNvSpPr txBox="1"/>
          <p:nvPr/>
        </p:nvSpPr>
        <p:spPr>
          <a:xfrm>
            <a:off x="1066800" y="5410200"/>
            <a:ext cx="2438400" cy="83099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We are focusing here on quality requirements, but the same applies to functional requirements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Software Architecture</a:t>
            </a:r>
            <a:endParaRPr lang="en-US" dirty="0"/>
          </a:p>
        </p:txBody>
      </p:sp>
      <p:sp>
        <p:nvSpPr>
          <p:cNvPr id="3" name="Content Placeholder 2"/>
          <p:cNvSpPr>
            <a:spLocks noGrp="1"/>
          </p:cNvSpPr>
          <p:nvPr>
            <p:ph idx="1"/>
          </p:nvPr>
        </p:nvSpPr>
        <p:spPr>
          <a:xfrm>
            <a:off x="457200" y="1371601"/>
            <a:ext cx="8229600" cy="2057399"/>
          </a:xfrm>
        </p:spPr>
        <p:txBody>
          <a:bodyPr>
            <a:normAutofit fontScale="92500" lnSpcReduction="10000"/>
          </a:bodyPr>
          <a:lstStyle/>
          <a:p>
            <a:pPr marL="342900" lvl="1" indent="-342900">
              <a:buFont typeface="Wingdings" pitchFamily="2" charset="2"/>
              <a:buChar char="Ø"/>
            </a:pPr>
            <a:r>
              <a:rPr lang="en-US" dirty="0" smtClean="0"/>
              <a:t>On “</a:t>
            </a:r>
            <a:r>
              <a:rPr lang="en-US" i="1" dirty="0" smtClean="0"/>
              <a:t>…</a:t>
            </a:r>
            <a:r>
              <a:rPr lang="en-US" i="1" dirty="0" smtClean="0">
                <a:solidFill>
                  <a:srgbClr val="FF0000"/>
                </a:solidFill>
              </a:rPr>
              <a:t>support detailed design and construction</a:t>
            </a:r>
            <a:r>
              <a:rPr lang="en-US" i="1" dirty="0" smtClean="0"/>
              <a:t>…</a:t>
            </a:r>
            <a:r>
              <a:rPr lang="en-US" dirty="0" smtClean="0"/>
              <a:t>”</a:t>
            </a:r>
          </a:p>
          <a:p>
            <a:pPr marL="742950" lvl="2" indent="-342900">
              <a:buFont typeface="Wingdings" pitchFamily="2" charset="2"/>
              <a:buChar char="ü"/>
            </a:pPr>
            <a:r>
              <a:rPr lang="en-US" dirty="0" smtClean="0"/>
              <a:t>Although architecture focuses on the quality properties of the system, it must also result in a design that supports efficient detailed design and construction of the system.</a:t>
            </a:r>
          </a:p>
          <a:p>
            <a:pPr marL="1200150" lvl="3" indent="-342900">
              <a:buFont typeface="Wingdings" pitchFamily="2" charset="2"/>
              <a:buChar char="§"/>
            </a:pPr>
            <a:r>
              <a:rPr lang="en-US" dirty="0" smtClean="0"/>
              <a:t>Even though Architects do not need to be proficient in a particular programming language, they benefit greatly from having proficiency in general programming design concepts.</a:t>
            </a:r>
          </a:p>
          <a:p>
            <a:pPr marL="742950" lvl="2" indent="-342900">
              <a:buFont typeface="Wingdings" pitchFamily="2" charset="2"/>
              <a:buChar char="ü"/>
            </a:pPr>
            <a:r>
              <a:rPr lang="en-US" dirty="0" smtClean="0"/>
              <a:t>This suggests that architecture alone </a:t>
            </a:r>
            <a:r>
              <a:rPr lang="en-US" i="1" dirty="0" smtClean="0"/>
              <a:t>cannot guarantee the quality of the system</a:t>
            </a:r>
            <a:r>
              <a:rPr lang="en-US" dirty="0" smtClean="0"/>
              <a:t>!  </a:t>
            </a:r>
          </a:p>
          <a:p>
            <a:pPr marL="1200150" lvl="3" indent="-342900">
              <a:buFont typeface="Wingdings" pitchFamily="2" charset="2"/>
              <a:buChar char="§"/>
            </a:pPr>
            <a:r>
              <a:rPr lang="en-US" dirty="0" smtClean="0"/>
              <a:t>Since work performed during subsequent activities and phases significantly shapes the system’s quality, software architecture can only play the initial (indispensible) role of establishing the design quality framework for the rest of the development process.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grpSp>
        <p:nvGrpSpPr>
          <p:cNvPr id="66" name="Group 65"/>
          <p:cNvGrpSpPr/>
          <p:nvPr/>
        </p:nvGrpSpPr>
        <p:grpSpPr>
          <a:xfrm>
            <a:off x="228600" y="3200400"/>
            <a:ext cx="8458200" cy="3100864"/>
            <a:chOff x="228600" y="3200400"/>
            <a:chExt cx="8458200" cy="3100864"/>
          </a:xfrm>
        </p:grpSpPr>
        <p:sp>
          <p:nvSpPr>
            <p:cNvPr id="8" name="Rectangle 7"/>
            <p:cNvSpPr/>
            <p:nvPr/>
          </p:nvSpPr>
          <p:spPr>
            <a:xfrm>
              <a:off x="4038600" y="3733800"/>
              <a:ext cx="1447800" cy="914400"/>
            </a:xfrm>
            <a:prstGeom prst="rect">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3429000" y="4114800"/>
              <a:ext cx="533400" cy="304800"/>
            </a:xfrm>
            <a:prstGeom prst="rightArrow">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5562600" y="4114800"/>
              <a:ext cx="533400" cy="304800"/>
            </a:xfrm>
            <a:prstGeom prst="rightArrow">
              <a:avLst/>
            </a:prstGeom>
            <a:solidFill>
              <a:schemeClr val="bg1"/>
            </a:solidFill>
            <a:ln w="635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3495675" y="4156531"/>
              <a:ext cx="276038" cy="215444"/>
            </a:xfrm>
            <a:prstGeom prst="rect">
              <a:avLst/>
            </a:prstGeom>
            <a:noFill/>
          </p:spPr>
          <p:txBody>
            <a:bodyPr wrap="none" rtlCol="0">
              <a:spAutoFit/>
            </a:bodyPr>
            <a:lstStyle/>
            <a:p>
              <a:r>
                <a:rPr lang="en-US" sz="800" dirty="0" smtClean="0"/>
                <a:t>IN</a:t>
              </a:r>
              <a:endParaRPr lang="en-US" sz="800" dirty="0"/>
            </a:p>
          </p:txBody>
        </p:sp>
        <p:sp>
          <p:nvSpPr>
            <p:cNvPr id="16" name="TextBox 15"/>
            <p:cNvSpPr txBox="1"/>
            <p:nvPr/>
          </p:nvSpPr>
          <p:spPr>
            <a:xfrm>
              <a:off x="5619937" y="4166056"/>
              <a:ext cx="367408" cy="215444"/>
            </a:xfrm>
            <a:prstGeom prst="rect">
              <a:avLst/>
            </a:prstGeom>
            <a:noFill/>
          </p:spPr>
          <p:txBody>
            <a:bodyPr wrap="none" rtlCol="0">
              <a:spAutoFit/>
            </a:bodyPr>
            <a:lstStyle/>
            <a:p>
              <a:r>
                <a:rPr lang="en-US" sz="800" dirty="0" smtClean="0"/>
                <a:t>OUT</a:t>
              </a:r>
              <a:endParaRPr lang="en-US" sz="800" dirty="0"/>
            </a:p>
          </p:txBody>
        </p:sp>
        <p:pic>
          <p:nvPicPr>
            <p:cNvPr id="17" name="Picture 2" descr="C:\Users\cotero\AppData\Local\Microsoft\Windows\Temporary Internet Files\Content.IE5\ES8921MZ\MC900048773[1].wmf"/>
            <p:cNvPicPr>
              <a:picLocks noChangeAspect="1" noChangeArrowheads="1"/>
            </p:cNvPicPr>
            <p:nvPr/>
          </p:nvPicPr>
          <p:blipFill>
            <a:blip r:embed="rId2" cstate="print"/>
            <a:srcRect/>
            <a:stretch>
              <a:fillRect/>
            </a:stretch>
          </p:blipFill>
          <p:spPr bwMode="auto">
            <a:xfrm>
              <a:off x="3733800" y="5767864"/>
              <a:ext cx="478961" cy="533400"/>
            </a:xfrm>
            <a:prstGeom prst="rect">
              <a:avLst/>
            </a:prstGeom>
            <a:noFill/>
          </p:spPr>
        </p:pic>
        <p:sp>
          <p:nvSpPr>
            <p:cNvPr id="18" name="TextBox 17"/>
            <p:cNvSpPr txBox="1"/>
            <p:nvPr/>
          </p:nvSpPr>
          <p:spPr>
            <a:xfrm>
              <a:off x="4419600" y="3505200"/>
              <a:ext cx="713657" cy="215444"/>
            </a:xfrm>
            <a:prstGeom prst="rect">
              <a:avLst/>
            </a:prstGeom>
            <a:noFill/>
          </p:spPr>
          <p:txBody>
            <a:bodyPr wrap="none" rtlCol="0">
              <a:spAutoFit/>
            </a:bodyPr>
            <a:lstStyle/>
            <a:p>
              <a:r>
                <a:rPr lang="en-US" sz="800" dirty="0" smtClean="0"/>
                <a:t>PROCESSING</a:t>
              </a:r>
              <a:endParaRPr lang="en-US" sz="800" dirty="0"/>
            </a:p>
          </p:txBody>
        </p:sp>
        <p:graphicFrame>
          <p:nvGraphicFramePr>
            <p:cNvPr id="19" name="Diagram 18"/>
            <p:cNvGraphicFramePr/>
            <p:nvPr/>
          </p:nvGraphicFramePr>
          <p:xfrm>
            <a:off x="3886200" y="3762375"/>
            <a:ext cx="1600200" cy="83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0" name="Group 34"/>
            <p:cNvGrpSpPr/>
            <p:nvPr/>
          </p:nvGrpSpPr>
          <p:grpSpPr>
            <a:xfrm>
              <a:off x="6096000" y="3962400"/>
              <a:ext cx="600075" cy="999835"/>
              <a:chOff x="6172200" y="3886200"/>
              <a:chExt cx="600075" cy="999835"/>
            </a:xfrm>
          </p:grpSpPr>
          <p:grpSp>
            <p:nvGrpSpPr>
              <p:cNvPr id="45" name="Group 25"/>
              <p:cNvGrpSpPr/>
              <p:nvPr/>
            </p:nvGrpSpPr>
            <p:grpSpPr>
              <a:xfrm>
                <a:off x="6172200" y="3886200"/>
                <a:ext cx="600075" cy="999835"/>
                <a:chOff x="6410325" y="2895600"/>
                <a:chExt cx="600075" cy="999835"/>
              </a:xfrm>
            </p:grpSpPr>
            <p:sp>
              <p:nvSpPr>
                <p:cNvPr id="47" name="Folded Corner 21"/>
                <p:cNvSpPr/>
                <p:nvPr/>
              </p:nvSpPr>
              <p:spPr>
                <a:xfrm>
                  <a:off x="6477000" y="2895600"/>
                  <a:ext cx="533400" cy="609600"/>
                </a:xfrm>
                <a:prstGeom prst="foldedCorner">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22"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6410325" y="3429000"/>
                  <a:ext cx="235269" cy="466435"/>
                </a:xfrm>
                <a:prstGeom prst="rect">
                  <a:avLst/>
                </a:prstGeom>
                <a:noFill/>
              </p:spPr>
            </p:pic>
            <p:sp>
              <p:nvSpPr>
                <p:cNvPr id="49" name="Rectangle 23"/>
                <p:cNvSpPr/>
                <p:nvPr/>
              </p:nvSpPr>
              <p:spPr>
                <a:xfrm>
                  <a:off x="6492390" y="3434556"/>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6" name="Picture 2"/>
              <p:cNvPicPr>
                <a:picLocks noChangeAspect="1" noChangeArrowheads="1"/>
              </p:cNvPicPr>
              <p:nvPr/>
            </p:nvPicPr>
            <p:blipFill>
              <a:blip r:embed="rId9" cstate="print"/>
              <a:srcRect/>
              <a:stretch>
                <a:fillRect/>
              </a:stretch>
            </p:blipFill>
            <p:spPr bwMode="auto">
              <a:xfrm>
                <a:off x="6286500" y="3952045"/>
                <a:ext cx="411614" cy="467555"/>
              </a:xfrm>
              <a:prstGeom prst="rect">
                <a:avLst/>
              </a:prstGeom>
              <a:noFill/>
              <a:ln w="9525">
                <a:noFill/>
                <a:miter lim="800000"/>
                <a:headEnd/>
                <a:tailEnd/>
              </a:ln>
            </p:spPr>
          </p:pic>
        </p:grpSp>
        <p:sp>
          <p:nvSpPr>
            <p:cNvPr id="21" name="TextBox 20"/>
            <p:cNvSpPr txBox="1"/>
            <p:nvPr/>
          </p:nvSpPr>
          <p:spPr>
            <a:xfrm>
              <a:off x="7305675" y="3593842"/>
              <a:ext cx="1371600" cy="83099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Architecture alone cannot guarantee quality!</a:t>
              </a:r>
              <a:endParaRPr lang="en-US" sz="1200" b="1" dirty="0">
                <a:solidFill>
                  <a:srgbClr val="C00000"/>
                </a:solidFill>
                <a:latin typeface="Bradley Hand ITC" pitchFamily="66" charset="0"/>
              </a:endParaRPr>
            </a:p>
          </p:txBody>
        </p:sp>
        <p:sp>
          <p:nvSpPr>
            <p:cNvPr id="23" name="TextBox 22"/>
            <p:cNvSpPr txBox="1"/>
            <p:nvPr/>
          </p:nvSpPr>
          <p:spPr>
            <a:xfrm>
              <a:off x="6400800" y="4777264"/>
              <a:ext cx="22860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Code meets </a:t>
              </a:r>
              <a:r>
                <a:rPr lang="en-US" sz="1400" b="1" u="sng" dirty="0" smtClean="0">
                  <a:solidFill>
                    <a:srgbClr val="C00000"/>
                  </a:solidFill>
                  <a:latin typeface="Bradley Hand ITC" pitchFamily="66" charset="0"/>
                </a:rPr>
                <a:t>ALMOST</a:t>
              </a:r>
              <a:r>
                <a:rPr lang="en-US" sz="1400" b="1" dirty="0" smtClean="0">
                  <a:solidFill>
                    <a:srgbClr val="C00000"/>
                  </a:solidFill>
                  <a:latin typeface="Bradley Hand ITC" pitchFamily="66" charset="0"/>
                </a:rPr>
                <a:t> all quality requirements, but not the security ones!</a:t>
              </a:r>
              <a:endParaRPr lang="en-US" sz="1400" b="1" dirty="0">
                <a:solidFill>
                  <a:srgbClr val="C00000"/>
                </a:solidFill>
                <a:latin typeface="Bradley Hand ITC" pitchFamily="66" charset="0"/>
              </a:endParaRPr>
            </a:p>
          </p:txBody>
        </p:sp>
        <p:sp>
          <p:nvSpPr>
            <p:cNvPr id="24" name="Freeform 23"/>
            <p:cNvSpPr/>
            <p:nvPr/>
          </p:nvSpPr>
          <p:spPr>
            <a:xfrm>
              <a:off x="6172200" y="4974998"/>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rot="14852754">
              <a:off x="6791564" y="3598612"/>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6705600" y="3200400"/>
              <a:ext cx="533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Code</a:t>
              </a:r>
              <a:endParaRPr lang="en-US" sz="1400" b="1" dirty="0">
                <a:solidFill>
                  <a:srgbClr val="C00000"/>
                </a:solidFill>
                <a:latin typeface="Bradley Hand ITC" pitchFamily="66" charset="0"/>
              </a:endParaRPr>
            </a:p>
          </p:txBody>
        </p:sp>
        <p:sp>
          <p:nvSpPr>
            <p:cNvPr id="27" name="Cloud Callout 26"/>
            <p:cNvSpPr/>
            <p:nvPr/>
          </p:nvSpPr>
          <p:spPr>
            <a:xfrm>
              <a:off x="4114800" y="4777264"/>
              <a:ext cx="1219200" cy="688848"/>
            </a:xfrm>
            <a:prstGeom prst="cloudCallout">
              <a:avLst>
                <a:gd name="adj1" fmla="val -48958"/>
                <a:gd name="adj2" fmla="val 88930"/>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35"/>
            <p:cNvGrpSpPr/>
            <p:nvPr/>
          </p:nvGrpSpPr>
          <p:grpSpPr>
            <a:xfrm>
              <a:off x="6172200" y="3886200"/>
              <a:ext cx="600075" cy="999835"/>
              <a:chOff x="6172200" y="3886200"/>
              <a:chExt cx="600075" cy="999835"/>
            </a:xfrm>
          </p:grpSpPr>
          <p:grpSp>
            <p:nvGrpSpPr>
              <p:cNvPr id="40" name="Group 25"/>
              <p:cNvGrpSpPr/>
              <p:nvPr/>
            </p:nvGrpSpPr>
            <p:grpSpPr>
              <a:xfrm>
                <a:off x="6172200" y="3886200"/>
                <a:ext cx="600075" cy="999835"/>
                <a:chOff x="6410325" y="2895600"/>
                <a:chExt cx="600075" cy="999835"/>
              </a:xfrm>
            </p:grpSpPr>
            <p:sp>
              <p:nvSpPr>
                <p:cNvPr id="42" name="Folded Corner 41"/>
                <p:cNvSpPr/>
                <p:nvPr/>
              </p:nvSpPr>
              <p:spPr>
                <a:xfrm>
                  <a:off x="6477000" y="2895600"/>
                  <a:ext cx="533400" cy="609600"/>
                </a:xfrm>
                <a:prstGeom prst="foldedCorner">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6410325" y="3429000"/>
                  <a:ext cx="235269" cy="466435"/>
                </a:xfrm>
                <a:prstGeom prst="rect">
                  <a:avLst/>
                </a:prstGeom>
                <a:noFill/>
              </p:spPr>
            </p:pic>
            <p:sp>
              <p:nvSpPr>
                <p:cNvPr id="44" name="Rectangle 43"/>
                <p:cNvSpPr/>
                <p:nvPr/>
              </p:nvSpPr>
              <p:spPr>
                <a:xfrm>
                  <a:off x="6492390" y="3434556"/>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1" name="Picture 2"/>
              <p:cNvPicPr>
                <a:picLocks noChangeAspect="1" noChangeArrowheads="1"/>
              </p:cNvPicPr>
              <p:nvPr/>
            </p:nvPicPr>
            <p:blipFill>
              <a:blip r:embed="rId9" cstate="print"/>
              <a:srcRect/>
              <a:stretch>
                <a:fillRect/>
              </a:stretch>
            </p:blipFill>
            <p:spPr bwMode="auto">
              <a:xfrm>
                <a:off x="6286500" y="3952045"/>
                <a:ext cx="411614" cy="467555"/>
              </a:xfrm>
              <a:prstGeom prst="rect">
                <a:avLst/>
              </a:prstGeom>
              <a:noFill/>
              <a:ln w="9525">
                <a:noFill/>
                <a:miter lim="800000"/>
                <a:headEnd/>
                <a:tailEnd/>
              </a:ln>
            </p:spPr>
          </p:pic>
        </p:grpSp>
        <p:grpSp>
          <p:nvGrpSpPr>
            <p:cNvPr id="29" name="Group 41"/>
            <p:cNvGrpSpPr/>
            <p:nvPr/>
          </p:nvGrpSpPr>
          <p:grpSpPr>
            <a:xfrm>
              <a:off x="6248400" y="3810000"/>
              <a:ext cx="600075" cy="999835"/>
              <a:chOff x="6172200" y="3886200"/>
              <a:chExt cx="600075" cy="999835"/>
            </a:xfrm>
          </p:grpSpPr>
          <p:grpSp>
            <p:nvGrpSpPr>
              <p:cNvPr id="35" name="Group 25"/>
              <p:cNvGrpSpPr/>
              <p:nvPr/>
            </p:nvGrpSpPr>
            <p:grpSpPr>
              <a:xfrm>
                <a:off x="6172200" y="3886200"/>
                <a:ext cx="600075" cy="999835"/>
                <a:chOff x="6410325" y="2895600"/>
                <a:chExt cx="600075" cy="999835"/>
              </a:xfrm>
            </p:grpSpPr>
            <p:sp>
              <p:nvSpPr>
                <p:cNvPr id="37" name="Folded Corner 36"/>
                <p:cNvSpPr/>
                <p:nvPr/>
              </p:nvSpPr>
              <p:spPr>
                <a:xfrm>
                  <a:off x="6477000" y="2895600"/>
                  <a:ext cx="533400" cy="609600"/>
                </a:xfrm>
                <a:prstGeom prst="foldedCorner">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6410325" y="3429000"/>
                  <a:ext cx="235269" cy="466435"/>
                </a:xfrm>
                <a:prstGeom prst="rect">
                  <a:avLst/>
                </a:prstGeom>
                <a:noFill/>
              </p:spPr>
            </p:pic>
            <p:sp>
              <p:nvSpPr>
                <p:cNvPr id="39" name="Rectangle 38"/>
                <p:cNvSpPr/>
                <p:nvPr/>
              </p:nvSpPr>
              <p:spPr>
                <a:xfrm>
                  <a:off x="6492390" y="3434556"/>
                  <a:ext cx="79860" cy="5513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6" name="Picture 2"/>
              <p:cNvPicPr>
                <a:picLocks noChangeAspect="1" noChangeArrowheads="1"/>
              </p:cNvPicPr>
              <p:nvPr/>
            </p:nvPicPr>
            <p:blipFill>
              <a:blip r:embed="rId9" cstate="print"/>
              <a:srcRect/>
              <a:stretch>
                <a:fillRect/>
              </a:stretch>
            </p:blipFill>
            <p:spPr bwMode="auto">
              <a:xfrm>
                <a:off x="6286500" y="3952045"/>
                <a:ext cx="411614" cy="467555"/>
              </a:xfrm>
              <a:prstGeom prst="rect">
                <a:avLst/>
              </a:prstGeom>
              <a:noFill/>
              <a:ln w="9525">
                <a:noFill/>
                <a:miter lim="800000"/>
                <a:headEnd/>
                <a:tailEnd/>
              </a:ln>
            </p:spPr>
          </p:pic>
        </p:grpSp>
        <p:sp>
          <p:nvSpPr>
            <p:cNvPr id="31" name="TextBox 30"/>
            <p:cNvSpPr txBox="1"/>
            <p:nvPr/>
          </p:nvSpPr>
          <p:spPr>
            <a:xfrm>
              <a:off x="4495801" y="5993487"/>
              <a:ext cx="1295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Programmer</a:t>
              </a:r>
              <a:endParaRPr lang="en-US" sz="1400" b="1" dirty="0">
                <a:solidFill>
                  <a:srgbClr val="C00000"/>
                </a:solidFill>
                <a:latin typeface="Bradley Hand ITC" pitchFamily="66" charset="0"/>
              </a:endParaRPr>
            </a:p>
          </p:txBody>
        </p:sp>
        <p:sp>
          <p:nvSpPr>
            <p:cNvPr id="32" name="Freeform 31"/>
            <p:cNvSpPr/>
            <p:nvPr/>
          </p:nvSpPr>
          <p:spPr>
            <a:xfrm rot="20593292">
              <a:off x="4223490" y="5967742"/>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p:cNvSpPr/>
            <p:nvPr/>
          </p:nvSpPr>
          <p:spPr>
            <a:xfrm>
              <a:off x="5334000" y="4848225"/>
              <a:ext cx="762000" cy="358775"/>
            </a:xfrm>
            <a:custGeom>
              <a:avLst/>
              <a:gdLst>
                <a:gd name="connsiteX0" fmla="*/ 0 w 762000"/>
                <a:gd name="connsiteY0" fmla="*/ 333375 h 358775"/>
                <a:gd name="connsiteX1" fmla="*/ 247650 w 762000"/>
                <a:gd name="connsiteY1" fmla="*/ 314325 h 358775"/>
                <a:gd name="connsiteX2" fmla="*/ 504825 w 762000"/>
                <a:gd name="connsiteY2" fmla="*/ 66675 h 358775"/>
                <a:gd name="connsiteX3" fmla="*/ 762000 w 762000"/>
                <a:gd name="connsiteY3" fmla="*/ 0 h 358775"/>
              </a:gdLst>
              <a:ahLst/>
              <a:cxnLst>
                <a:cxn ang="0">
                  <a:pos x="connsiteX0" y="connsiteY0"/>
                </a:cxn>
                <a:cxn ang="0">
                  <a:pos x="connsiteX1" y="connsiteY1"/>
                </a:cxn>
                <a:cxn ang="0">
                  <a:pos x="connsiteX2" y="connsiteY2"/>
                </a:cxn>
                <a:cxn ang="0">
                  <a:pos x="connsiteX3" y="connsiteY3"/>
                </a:cxn>
              </a:cxnLst>
              <a:rect l="l" t="t" r="r" b="b"/>
              <a:pathLst>
                <a:path w="762000" h="358775">
                  <a:moveTo>
                    <a:pt x="0" y="333375"/>
                  </a:moveTo>
                  <a:cubicBezTo>
                    <a:pt x="81756" y="346075"/>
                    <a:pt x="163513" y="358775"/>
                    <a:pt x="247650" y="314325"/>
                  </a:cubicBezTo>
                  <a:cubicBezTo>
                    <a:pt x="331788" y="269875"/>
                    <a:pt x="419100" y="119063"/>
                    <a:pt x="504825" y="66675"/>
                  </a:cubicBezTo>
                  <a:cubicBezTo>
                    <a:pt x="590550" y="14288"/>
                    <a:pt x="676275" y="7144"/>
                    <a:pt x="762000" y="0"/>
                  </a:cubicBezTo>
                </a:path>
              </a:pathLst>
            </a:custGeom>
            <a:ln>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50" name="Picture 2"/>
            <p:cNvPicPr>
              <a:picLocks noChangeAspect="1" noChangeArrowheads="1"/>
            </p:cNvPicPr>
            <p:nvPr/>
          </p:nvPicPr>
          <p:blipFill>
            <a:blip r:embed="rId10" cstate="print"/>
            <a:srcRect/>
            <a:stretch>
              <a:fillRect/>
            </a:stretch>
          </p:blipFill>
          <p:spPr bwMode="auto">
            <a:xfrm>
              <a:off x="914400" y="3558064"/>
              <a:ext cx="2924175" cy="1182113"/>
            </a:xfrm>
            <a:prstGeom prst="rect">
              <a:avLst/>
            </a:prstGeom>
            <a:noFill/>
            <a:ln w="9525">
              <a:noFill/>
              <a:miter lim="800000"/>
              <a:headEnd/>
              <a:tailEnd/>
            </a:ln>
            <a:effectLst/>
          </p:spPr>
        </p:pic>
        <p:pic>
          <p:nvPicPr>
            <p:cNvPr id="51" name="Picture 50"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3124200" y="4548664"/>
              <a:ext cx="235269" cy="466435"/>
            </a:xfrm>
            <a:prstGeom prst="rect">
              <a:avLst/>
            </a:prstGeom>
            <a:noFill/>
          </p:spPr>
        </p:pic>
        <p:pic>
          <p:nvPicPr>
            <p:cNvPr id="52" name="Picture 51"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1637295" y="4510564"/>
              <a:ext cx="115305" cy="228600"/>
            </a:xfrm>
            <a:prstGeom prst="rect">
              <a:avLst/>
            </a:prstGeom>
            <a:noFill/>
          </p:spPr>
        </p:pic>
        <p:pic>
          <p:nvPicPr>
            <p:cNvPr id="53" name="Picture 52"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2170695" y="4091464"/>
              <a:ext cx="115305" cy="228600"/>
            </a:xfrm>
            <a:prstGeom prst="rect">
              <a:avLst/>
            </a:prstGeom>
            <a:noFill/>
          </p:spPr>
        </p:pic>
        <p:pic>
          <p:nvPicPr>
            <p:cNvPr id="54" name="Picture 53" descr="C:\Users\cotero\AppData\Local\Microsoft\Windows\Temporary Internet Files\Content.IE5\07RO37DR\MC900013282[1].wmf"/>
            <p:cNvPicPr>
              <a:picLocks noChangeAspect="1" noChangeArrowheads="1"/>
            </p:cNvPicPr>
            <p:nvPr/>
          </p:nvPicPr>
          <p:blipFill>
            <a:blip r:embed="rId8" cstate="print"/>
            <a:srcRect/>
            <a:stretch>
              <a:fillRect/>
            </a:stretch>
          </p:blipFill>
          <p:spPr bwMode="auto">
            <a:xfrm>
              <a:off x="2362200" y="4520089"/>
              <a:ext cx="115305" cy="228600"/>
            </a:xfrm>
            <a:prstGeom prst="rect">
              <a:avLst/>
            </a:prstGeom>
            <a:noFill/>
          </p:spPr>
        </p:pic>
        <p:sp>
          <p:nvSpPr>
            <p:cNvPr id="55" name="&quot;No&quot; Symbol 54"/>
            <p:cNvSpPr/>
            <p:nvPr/>
          </p:nvSpPr>
          <p:spPr>
            <a:xfrm>
              <a:off x="6296024" y="4615338"/>
              <a:ext cx="104775" cy="85726"/>
            </a:xfrm>
            <a:prstGeom prst="noSmoking">
              <a:avLst/>
            </a:prstGeom>
            <a:solidFill>
              <a:srgbClr val="C00000"/>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6" name="Rectangular Callout 55"/>
            <p:cNvSpPr/>
            <p:nvPr/>
          </p:nvSpPr>
          <p:spPr>
            <a:xfrm>
              <a:off x="2286000" y="5082064"/>
              <a:ext cx="838200" cy="304800"/>
            </a:xfrm>
            <a:prstGeom prst="wedgeRectCallout">
              <a:avLst>
                <a:gd name="adj1" fmla="val 49492"/>
                <a:gd name="adj2" fmla="val -91683"/>
              </a:avLst>
            </a:prstGeom>
            <a:solidFill>
              <a:schemeClr val="bg1"/>
            </a:solid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57" name="TextBox 56"/>
            <p:cNvSpPr txBox="1"/>
            <p:nvPr/>
          </p:nvSpPr>
          <p:spPr>
            <a:xfrm>
              <a:off x="2295525" y="5072539"/>
              <a:ext cx="772969" cy="338554"/>
            </a:xfrm>
            <a:prstGeom prst="rect">
              <a:avLst/>
            </a:prstGeom>
            <a:noFill/>
          </p:spPr>
          <p:txBody>
            <a:bodyPr wrap="none" rtlCol="0">
              <a:spAutoFit/>
            </a:bodyPr>
            <a:lstStyle/>
            <a:p>
              <a:r>
                <a:rPr lang="en-US" sz="800" dirty="0" smtClean="0"/>
                <a:t>Security</a:t>
              </a:r>
            </a:p>
            <a:p>
              <a:r>
                <a:rPr lang="en-US" sz="800" dirty="0" smtClean="0"/>
                <a:t>Requirements</a:t>
              </a:r>
              <a:endParaRPr lang="en-US" sz="800" dirty="0"/>
            </a:p>
          </p:txBody>
        </p:sp>
        <p:sp>
          <p:nvSpPr>
            <p:cNvPr id="58" name="TextBox 57"/>
            <p:cNvSpPr txBox="1"/>
            <p:nvPr/>
          </p:nvSpPr>
          <p:spPr>
            <a:xfrm>
              <a:off x="4191000" y="4901089"/>
              <a:ext cx="1037463" cy="461665"/>
            </a:xfrm>
            <a:prstGeom prst="rect">
              <a:avLst/>
            </a:prstGeom>
            <a:noFill/>
          </p:spPr>
          <p:txBody>
            <a:bodyPr wrap="none" rtlCol="0">
              <a:spAutoFit/>
            </a:bodyPr>
            <a:lstStyle/>
            <a:p>
              <a:r>
                <a:rPr lang="en-US" sz="800" dirty="0" smtClean="0"/>
                <a:t>I don’t have time for</a:t>
              </a:r>
            </a:p>
            <a:p>
              <a:r>
                <a:rPr lang="en-US" sz="800" dirty="0" smtClean="0"/>
                <a:t>these silly security </a:t>
              </a:r>
            </a:p>
            <a:p>
              <a:r>
                <a:rPr lang="en-US" sz="800" dirty="0" smtClean="0"/>
                <a:t>requirements!!</a:t>
              </a:r>
              <a:endParaRPr lang="en-US" sz="800" dirty="0"/>
            </a:p>
          </p:txBody>
        </p:sp>
        <p:sp>
          <p:nvSpPr>
            <p:cNvPr id="59" name="TextBox 58"/>
            <p:cNvSpPr txBox="1"/>
            <p:nvPr/>
          </p:nvSpPr>
          <p:spPr>
            <a:xfrm>
              <a:off x="228600" y="5539264"/>
              <a:ext cx="32004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Architect spends time and effort defining what security means to customers!</a:t>
              </a:r>
              <a:endParaRPr lang="en-US" sz="1400" b="1" dirty="0">
                <a:solidFill>
                  <a:srgbClr val="C00000"/>
                </a:solidFill>
                <a:latin typeface="Bradley Hand ITC" pitchFamily="66" charset="0"/>
              </a:endParaRPr>
            </a:p>
          </p:txBody>
        </p:sp>
        <p:sp>
          <p:nvSpPr>
            <p:cNvPr id="61" name="Freeform 60"/>
            <p:cNvSpPr/>
            <p:nvPr/>
          </p:nvSpPr>
          <p:spPr>
            <a:xfrm>
              <a:off x="3314701" y="4853464"/>
              <a:ext cx="761999" cy="304800"/>
            </a:xfrm>
            <a:custGeom>
              <a:avLst/>
              <a:gdLst>
                <a:gd name="connsiteX0" fmla="*/ 0 w 1209675"/>
                <a:gd name="connsiteY0" fmla="*/ 4762 h 442912"/>
                <a:gd name="connsiteX1" fmla="*/ 361950 w 1209675"/>
                <a:gd name="connsiteY1" fmla="*/ 52387 h 442912"/>
                <a:gd name="connsiteX2" fmla="*/ 685800 w 1209675"/>
                <a:gd name="connsiteY2" fmla="*/ 319087 h 442912"/>
                <a:gd name="connsiteX3" fmla="*/ 1209675 w 1209675"/>
                <a:gd name="connsiteY3" fmla="*/ 442912 h 442912"/>
              </a:gdLst>
              <a:ahLst/>
              <a:cxnLst>
                <a:cxn ang="0">
                  <a:pos x="connsiteX0" y="connsiteY0"/>
                </a:cxn>
                <a:cxn ang="0">
                  <a:pos x="connsiteX1" y="connsiteY1"/>
                </a:cxn>
                <a:cxn ang="0">
                  <a:pos x="connsiteX2" y="connsiteY2"/>
                </a:cxn>
                <a:cxn ang="0">
                  <a:pos x="connsiteX3" y="connsiteY3"/>
                </a:cxn>
              </a:cxnLst>
              <a:rect l="l" t="t" r="r" b="b"/>
              <a:pathLst>
                <a:path w="1209675" h="442912">
                  <a:moveTo>
                    <a:pt x="0" y="4762"/>
                  </a:moveTo>
                  <a:cubicBezTo>
                    <a:pt x="123825" y="2381"/>
                    <a:pt x="247650" y="0"/>
                    <a:pt x="361950" y="52387"/>
                  </a:cubicBezTo>
                  <a:cubicBezTo>
                    <a:pt x="476250" y="104775"/>
                    <a:pt x="544513" y="254000"/>
                    <a:pt x="685800" y="319087"/>
                  </a:cubicBezTo>
                  <a:cubicBezTo>
                    <a:pt x="827088" y="384175"/>
                    <a:pt x="1018381" y="413543"/>
                    <a:pt x="1209675" y="442912"/>
                  </a:cubicBezTo>
                </a:path>
              </a:pathLst>
            </a:custGeom>
            <a:ln>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quot;No&quot; Symbol 61"/>
            <p:cNvSpPr/>
            <p:nvPr/>
          </p:nvSpPr>
          <p:spPr>
            <a:xfrm>
              <a:off x="5667375" y="4920138"/>
              <a:ext cx="152400" cy="161926"/>
            </a:xfrm>
            <a:prstGeom prst="noSmoking">
              <a:avLst/>
            </a:prstGeom>
            <a:solidFill>
              <a:srgbClr val="C00000"/>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3" name="Freeform 62"/>
            <p:cNvSpPr/>
            <p:nvPr/>
          </p:nvSpPr>
          <p:spPr>
            <a:xfrm rot="6385501">
              <a:off x="1824112" y="5244500"/>
              <a:ext cx="391277" cy="28280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p:txBody>
          <a:bodyPr>
            <a:normAutofit lnSpcReduction="10000"/>
          </a:bodyPr>
          <a:lstStyle/>
          <a:p>
            <a:r>
              <a:rPr lang="en-US" dirty="0" smtClean="0"/>
              <a:t>From the software architecture definition, we have been able to derive key tasks that need to be performed during software architecture.  </a:t>
            </a:r>
          </a:p>
          <a:p>
            <a:pPr lvl="1"/>
            <a:r>
              <a:rPr lang="en-US" dirty="0" smtClean="0"/>
              <a:t>However, defining the structure of software systems requires consideration of many other project-specific aspects and how those aspects relate to the organization’s goals. </a:t>
            </a:r>
          </a:p>
          <a:p>
            <a:pPr lvl="1"/>
            <a:r>
              <a:rPr lang="en-US" dirty="0" smtClean="0"/>
              <a:t> Formally, key tasks that need to be performed during the software architecture design effort include:</a:t>
            </a:r>
          </a:p>
          <a:p>
            <a:pPr lvl="2"/>
            <a:r>
              <a:rPr lang="en-US" dirty="0" smtClean="0"/>
              <a:t>Identifying stakeholders concern</a:t>
            </a:r>
          </a:p>
          <a:p>
            <a:pPr lvl="2"/>
            <a:r>
              <a:rPr lang="en-US" dirty="0" smtClean="0"/>
              <a:t>Identifying appropriate architectural views</a:t>
            </a:r>
          </a:p>
          <a:p>
            <a:pPr lvl="2"/>
            <a:r>
              <a:rPr lang="en-US" dirty="0" smtClean="0"/>
              <a:t>Identifying architectural styles and patterns</a:t>
            </a:r>
          </a:p>
          <a:p>
            <a:pPr lvl="2"/>
            <a:r>
              <a:rPr lang="en-US" dirty="0" smtClean="0"/>
              <a:t>Identifying influences of architectural decisions in organizations</a:t>
            </a:r>
          </a:p>
          <a:p>
            <a:pPr lvl="2"/>
            <a:r>
              <a:rPr lang="en-US" dirty="0" smtClean="0"/>
              <a:t>Identifying the system’s major components and interfaces</a:t>
            </a:r>
          </a:p>
          <a:p>
            <a:pPr lvl="2"/>
            <a:r>
              <a:rPr lang="en-US" dirty="0" smtClean="0"/>
              <a:t>Evaluating and validating the architecture</a:t>
            </a:r>
          </a:p>
          <a:p>
            <a:pPr lvl="2"/>
            <a:r>
              <a:rPr lang="en-US" dirty="0" smtClean="0"/>
              <a:t>Establishing policies for ensuring architectural design synchronicity</a:t>
            </a:r>
          </a:p>
          <a:p>
            <a:endParaRPr lang="en-US" dirty="0" smtClean="0"/>
          </a:p>
          <a:p>
            <a:r>
              <a:rPr lang="en-US" dirty="0" smtClean="0"/>
              <a:t>Let’s discuss these in more detail…</a:t>
            </a:r>
          </a:p>
          <a:p>
            <a:pPr lvl="2"/>
            <a:endParaRPr lang="en-US" dirty="0" smtClean="0"/>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p:txBody>
          <a:bodyPr/>
          <a:lstStyle/>
          <a:p>
            <a:r>
              <a:rPr lang="en-US" dirty="0" smtClean="0"/>
              <a:t>Identifying </a:t>
            </a:r>
            <a:r>
              <a:rPr lang="en-US" b="1" i="1" dirty="0" smtClean="0">
                <a:solidFill>
                  <a:srgbClr val="FF0000"/>
                </a:solidFill>
              </a:rPr>
              <a:t>stakeholders concerns</a:t>
            </a:r>
          </a:p>
          <a:p>
            <a:pPr lvl="1"/>
            <a:r>
              <a:rPr lang="en-US" dirty="0" smtClean="0"/>
              <a:t>Stakeholders are persons, groups, or organizations that have a direct or indirect stake in the system.</a:t>
            </a:r>
          </a:p>
          <a:p>
            <a:pPr lvl="2"/>
            <a:r>
              <a:rPr lang="en-US" dirty="0" smtClean="0"/>
              <a:t>They include systems engineers, software engineers, hardware engineers, project management, customers, testing teams, quality assurance teams, members of the configuration management team, etc.</a:t>
            </a:r>
          </a:p>
          <a:p>
            <a:pPr lvl="1"/>
            <a:r>
              <a:rPr lang="en-US" dirty="0" smtClean="0"/>
              <a:t>A stakeholder’s concern provides high-level information about desired characteristics of the software system.</a:t>
            </a:r>
          </a:p>
          <a:p>
            <a:pPr lvl="2"/>
            <a:r>
              <a:rPr lang="en-US" dirty="0" smtClean="0"/>
              <a:t>The software architect must ensure that the software to be developed addresses the concerns of all stakeholders.</a:t>
            </a:r>
          </a:p>
          <a:p>
            <a:pPr lvl="2"/>
            <a:r>
              <a:rPr lang="en-US" dirty="0" smtClean="0"/>
              <a:t>Stakeholders’ concerns serve as driving force behind architectural decisions</a:t>
            </a:r>
          </a:p>
          <a:p>
            <a:pPr lvl="1"/>
            <a:r>
              <a:rPr lang="en-US" dirty="0" smtClean="0"/>
              <a:t>The software architect must identify and understand the different ways stakeholders influence the system.</a:t>
            </a:r>
          </a:p>
          <a:p>
            <a:pPr lvl="2"/>
            <a:r>
              <a:rPr lang="en-US" dirty="0" smtClean="0"/>
              <a:t>These need to be elicited before any design effort can begin.</a:t>
            </a:r>
          </a:p>
          <a:p>
            <a:pPr lvl="2"/>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extBox 6"/>
          <p:cNvSpPr txBox="1"/>
          <p:nvPr/>
        </p:nvSpPr>
        <p:spPr>
          <a:xfrm>
            <a:off x="3012875" y="5678269"/>
            <a:ext cx="2778325" cy="646331"/>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non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Stakeholders’ concerns serve as driving </a:t>
            </a:r>
          </a:p>
          <a:p>
            <a:r>
              <a:rPr lang="en-US" sz="1200" b="1" dirty="0" smtClean="0">
                <a:solidFill>
                  <a:srgbClr val="C00000"/>
                </a:solidFill>
                <a:latin typeface="Bradley Hand ITC" pitchFamily="66" charset="0"/>
              </a:rPr>
              <a:t>force for architectural decisions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a:xfrm>
            <a:off x="457200" y="1371601"/>
            <a:ext cx="8229600" cy="5029199"/>
          </a:xfrm>
        </p:spPr>
        <p:txBody>
          <a:bodyPr>
            <a:normAutofit fontScale="77500" lnSpcReduction="20000"/>
          </a:bodyPr>
          <a:lstStyle/>
          <a:p>
            <a:r>
              <a:rPr lang="en-US" dirty="0" smtClean="0"/>
              <a:t>So far, we’ve vaguely mentioned the concepts of </a:t>
            </a:r>
            <a:r>
              <a:rPr lang="en-US" b="1" dirty="0" smtClean="0"/>
              <a:t>quality</a:t>
            </a:r>
            <a:r>
              <a:rPr lang="en-US" dirty="0" smtClean="0"/>
              <a:t> and stakeholders’ </a:t>
            </a:r>
            <a:r>
              <a:rPr lang="en-US" b="1" dirty="0" smtClean="0"/>
              <a:t>concerns</a:t>
            </a:r>
            <a:r>
              <a:rPr lang="en-US" dirty="0" smtClean="0"/>
              <a:t>. </a:t>
            </a:r>
          </a:p>
          <a:p>
            <a:pPr lvl="1"/>
            <a:r>
              <a:rPr lang="en-US" dirty="0" smtClean="0"/>
              <a:t>These high-level concerns are often related to the desired quality of the system.</a:t>
            </a:r>
          </a:p>
          <a:p>
            <a:pPr lvl="1">
              <a:buNone/>
            </a:pPr>
            <a:endParaRPr lang="en-US" dirty="0" smtClean="0"/>
          </a:p>
          <a:p>
            <a:r>
              <a:rPr lang="en-US" dirty="0" smtClean="0"/>
              <a:t>Let’s formally define some important quality attributes of software systems.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Notice that these quality attributes also describe high-level information about desired characteristics of the software system.  </a:t>
            </a:r>
          </a:p>
          <a:p>
            <a:pPr lvl="1"/>
            <a:r>
              <a:rPr lang="en-US" dirty="0" smtClean="0"/>
              <a:t>In their current form, they are not sufficient to develop the system.</a:t>
            </a:r>
          </a:p>
          <a:p>
            <a:pPr lvl="1"/>
            <a:r>
              <a:rPr lang="en-US" dirty="0" smtClean="0"/>
              <a:t>For a system to exhibit any of these qualities, design decisions must be made to support the achievement of these qualities.  These design decisions are referred by Bass, Clements, and </a:t>
            </a:r>
            <a:r>
              <a:rPr lang="en-US" dirty="0" err="1" smtClean="0"/>
              <a:t>Kazman</a:t>
            </a:r>
            <a:r>
              <a:rPr lang="en-US" dirty="0" smtClean="0"/>
              <a:t> as </a:t>
            </a:r>
            <a:r>
              <a:rPr lang="en-US" i="1" dirty="0" smtClean="0"/>
              <a:t>Tactics</a:t>
            </a:r>
            <a:r>
              <a:rPr lang="en-US" dirty="0" smtClean="0"/>
              <a:t> [1].</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graphicFrame>
        <p:nvGraphicFramePr>
          <p:cNvPr id="8" name="Table 7"/>
          <p:cNvGraphicFramePr>
            <a:graphicFrameLocks noGrp="1"/>
          </p:cNvGraphicFramePr>
          <p:nvPr/>
        </p:nvGraphicFramePr>
        <p:xfrm>
          <a:off x="838200" y="2409825"/>
          <a:ext cx="7526635" cy="2438400"/>
        </p:xfrm>
        <a:graphic>
          <a:graphicData uri="http://schemas.openxmlformats.org/drawingml/2006/table">
            <a:tbl>
              <a:tblPr firstRow="1" bandRow="1">
                <a:tableStyleId>{5C22544A-7EE6-4342-B048-85BDC9FD1C3A}</a:tableStyleId>
              </a:tblPr>
              <a:tblGrid>
                <a:gridCol w="1097280"/>
                <a:gridCol w="6429355"/>
              </a:tblGrid>
              <a:tr h="210152">
                <a:tc>
                  <a:txBody>
                    <a:bodyPr/>
                    <a:lstStyle/>
                    <a:p>
                      <a:pPr algn="ctr"/>
                      <a:r>
                        <a:rPr lang="en-US" sz="1000" dirty="0" smtClean="0"/>
                        <a:t>Quality</a:t>
                      </a:r>
                      <a:endParaRPr lang="en-US" sz="1000" dirty="0"/>
                    </a:p>
                  </a:txBody>
                  <a:tcPr>
                    <a:solidFill>
                      <a:srgbClr val="C00000"/>
                    </a:solidFill>
                  </a:tcPr>
                </a:tc>
                <a:tc>
                  <a:txBody>
                    <a:bodyPr/>
                    <a:lstStyle/>
                    <a:p>
                      <a:r>
                        <a:rPr lang="en-US" sz="1000" dirty="0" smtClean="0"/>
                        <a:t>Description</a:t>
                      </a:r>
                      <a:endParaRPr lang="en-US" sz="1000" dirty="0"/>
                    </a:p>
                  </a:txBody>
                  <a:tcPr>
                    <a:solidFill>
                      <a:srgbClr val="C00000"/>
                    </a:solidFill>
                  </a:tcPr>
                </a:tc>
              </a:tr>
              <a:tr h="198476">
                <a:tc>
                  <a:txBody>
                    <a:bodyPr/>
                    <a:lstStyle/>
                    <a:p>
                      <a:pPr algn="ctr"/>
                      <a:r>
                        <a:rPr lang="en-US" sz="1000" dirty="0" smtClean="0"/>
                        <a:t>Usability</a:t>
                      </a:r>
                      <a:endParaRPr lang="en-US" sz="1000" dirty="0"/>
                    </a:p>
                  </a:txBody>
                  <a:tcPr/>
                </a:tc>
                <a:tc>
                  <a:txBody>
                    <a:bodyPr/>
                    <a:lstStyle/>
                    <a:p>
                      <a:r>
                        <a:rPr lang="en-US" sz="1000" dirty="0" smtClean="0"/>
                        <a:t>The degree of complexity involved when learning or using the system.</a:t>
                      </a:r>
                      <a:endParaRPr lang="en-US" sz="1000" dirty="0"/>
                    </a:p>
                  </a:txBody>
                  <a:tcPr/>
                </a:tc>
              </a:tr>
              <a:tr h="198476">
                <a:tc>
                  <a:txBody>
                    <a:bodyPr/>
                    <a:lstStyle/>
                    <a:p>
                      <a:pPr algn="ctr"/>
                      <a:r>
                        <a:rPr lang="en-US" sz="1000" dirty="0" smtClean="0"/>
                        <a:t>Modifiability</a:t>
                      </a:r>
                      <a:endParaRPr lang="en-US" sz="1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dirty="0" smtClean="0"/>
                        <a:t>The degree of complexity involved when changing the system to fit current or future needs. </a:t>
                      </a:r>
                      <a:endParaRPr lang="en-US" sz="1000" dirty="0"/>
                    </a:p>
                  </a:txBody>
                  <a:tcPr/>
                </a:tc>
              </a:tr>
              <a:tr h="198476">
                <a:tc>
                  <a:txBody>
                    <a:bodyPr/>
                    <a:lstStyle/>
                    <a:p>
                      <a:pPr algn="ctr"/>
                      <a:r>
                        <a:rPr lang="en-US" sz="1000" dirty="0" smtClean="0"/>
                        <a:t>Security</a:t>
                      </a:r>
                      <a:endParaRPr lang="en-US" sz="1000" dirty="0"/>
                    </a:p>
                  </a:txBody>
                  <a:tcPr/>
                </a:tc>
                <a:tc>
                  <a:txBody>
                    <a:bodyPr/>
                    <a:lstStyle/>
                    <a:p>
                      <a:r>
                        <a:rPr lang="en-US" sz="1000" dirty="0" smtClean="0"/>
                        <a:t>The system’s ability to protect and defend its information or information system. </a:t>
                      </a:r>
                      <a:endParaRPr lang="en-US" sz="1000" dirty="0"/>
                    </a:p>
                  </a:txBody>
                  <a:tcPr/>
                </a:tc>
              </a:tr>
              <a:tr h="198476">
                <a:tc>
                  <a:txBody>
                    <a:bodyPr/>
                    <a:lstStyle/>
                    <a:p>
                      <a:pPr algn="ctr"/>
                      <a:r>
                        <a:rPr lang="en-US" sz="1000" dirty="0" smtClean="0"/>
                        <a:t>Performance</a:t>
                      </a:r>
                      <a:endParaRPr lang="en-US" sz="1000" dirty="0"/>
                    </a:p>
                  </a:txBody>
                  <a:tcPr/>
                </a:tc>
                <a:tc>
                  <a:txBody>
                    <a:bodyPr/>
                    <a:lstStyle/>
                    <a:p>
                      <a:r>
                        <a:rPr lang="en-US" sz="1000" dirty="0" smtClean="0"/>
                        <a:t>The system’s capacity to accomplish useful work under time and resource constraints. </a:t>
                      </a:r>
                      <a:endParaRPr lang="en-US" sz="1000" dirty="0"/>
                    </a:p>
                  </a:txBody>
                  <a:tcPr/>
                </a:tc>
              </a:tr>
              <a:tr h="198476">
                <a:tc>
                  <a:txBody>
                    <a:bodyPr/>
                    <a:lstStyle/>
                    <a:p>
                      <a:pPr algn="ctr"/>
                      <a:r>
                        <a:rPr lang="en-US" sz="1000" dirty="0" smtClean="0"/>
                        <a:t>Reliability</a:t>
                      </a:r>
                      <a:endParaRPr lang="en-US" sz="1000" dirty="0"/>
                    </a:p>
                  </a:txBody>
                  <a:tcPr/>
                </a:tc>
                <a:tc>
                  <a:txBody>
                    <a:bodyPr/>
                    <a:lstStyle/>
                    <a:p>
                      <a:r>
                        <a:rPr lang="en-US" sz="1000" dirty="0" smtClean="0"/>
                        <a:t>The system’s failure rate.</a:t>
                      </a:r>
                      <a:endParaRPr lang="en-US" sz="1000" dirty="0"/>
                    </a:p>
                  </a:txBody>
                  <a:tcPr/>
                </a:tc>
              </a:tr>
              <a:tr h="198476">
                <a:tc>
                  <a:txBody>
                    <a:bodyPr/>
                    <a:lstStyle/>
                    <a:p>
                      <a:pPr algn="ctr"/>
                      <a:r>
                        <a:rPr lang="en-US" sz="1000" dirty="0" smtClean="0"/>
                        <a:t>Portability</a:t>
                      </a:r>
                      <a:endParaRPr lang="en-US" sz="1000" dirty="0"/>
                    </a:p>
                  </a:txBody>
                  <a:tcPr/>
                </a:tc>
                <a:tc>
                  <a:txBody>
                    <a:bodyPr/>
                    <a:lstStyle/>
                    <a:p>
                      <a:r>
                        <a:rPr lang="en-US" sz="1000" dirty="0" smtClean="0"/>
                        <a:t>The degree of complexity involved when adapting the system to other software or hardware environments. </a:t>
                      </a:r>
                      <a:endParaRPr lang="en-US" sz="1000" dirty="0"/>
                    </a:p>
                  </a:txBody>
                  <a:tcPr/>
                </a:tc>
              </a:tr>
              <a:tr h="198476">
                <a:tc>
                  <a:txBody>
                    <a:bodyPr/>
                    <a:lstStyle/>
                    <a:p>
                      <a:pPr algn="ctr"/>
                      <a:r>
                        <a:rPr lang="en-US" sz="1000" dirty="0" smtClean="0"/>
                        <a:t>Testability</a:t>
                      </a:r>
                      <a:endParaRPr lang="en-US" sz="1000" dirty="0"/>
                    </a:p>
                  </a:txBody>
                  <a:tcPr/>
                </a:tc>
                <a:tc>
                  <a:txBody>
                    <a:bodyPr/>
                    <a:lstStyle/>
                    <a:p>
                      <a:r>
                        <a:rPr lang="en-US" sz="1000" dirty="0" smtClean="0"/>
                        <a:t>The degree of complexity involved when verifying and validating the system’s required functions.</a:t>
                      </a:r>
                      <a:endParaRPr lang="en-US" sz="1000" dirty="0"/>
                    </a:p>
                  </a:txBody>
                  <a:tcPr/>
                </a:tc>
              </a:tr>
              <a:tr h="198476">
                <a:tc>
                  <a:txBody>
                    <a:bodyPr/>
                    <a:lstStyle/>
                    <a:p>
                      <a:pPr algn="ctr"/>
                      <a:r>
                        <a:rPr lang="en-US" sz="1000" dirty="0" smtClean="0"/>
                        <a:t>Availability</a:t>
                      </a:r>
                      <a:endParaRPr lang="en-US" sz="1000" dirty="0"/>
                    </a:p>
                  </a:txBody>
                  <a:tcPr/>
                </a:tc>
                <a:tc>
                  <a:txBody>
                    <a:bodyPr/>
                    <a:lstStyle/>
                    <a:p>
                      <a:r>
                        <a:rPr lang="en-US" sz="1000" dirty="0" smtClean="0"/>
                        <a:t>The system’s uptime.</a:t>
                      </a:r>
                      <a:endParaRPr lang="en-US" sz="1000" dirty="0"/>
                    </a:p>
                  </a:txBody>
                  <a:tcPr/>
                </a:tc>
              </a:tr>
              <a:tr h="198476">
                <a:tc>
                  <a:txBody>
                    <a:bodyPr/>
                    <a:lstStyle/>
                    <a:p>
                      <a:pPr algn="ctr"/>
                      <a:r>
                        <a:rPr lang="en-US" sz="1000" dirty="0" smtClean="0"/>
                        <a:t>Interoperability</a:t>
                      </a:r>
                      <a:endParaRPr lang="en-US" sz="1000" dirty="0"/>
                    </a:p>
                  </a:txBody>
                  <a:tcPr/>
                </a:tc>
                <a:tc>
                  <a:txBody>
                    <a:bodyPr/>
                    <a:lstStyle/>
                    <a:p>
                      <a:r>
                        <a:rPr lang="en-US" sz="1000" dirty="0" smtClean="0"/>
                        <a:t>The system’s ability to collaborate with other software or hardware systems.</a:t>
                      </a:r>
                      <a:endParaRPr lang="en-US" sz="1000"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a:xfrm>
            <a:off x="457200" y="1371601"/>
            <a:ext cx="8229600" cy="914399"/>
          </a:xfrm>
        </p:spPr>
        <p:txBody>
          <a:bodyPr/>
          <a:lstStyle/>
          <a:p>
            <a:r>
              <a:rPr lang="en-US" dirty="0" smtClean="0"/>
              <a:t>According to Bass, Clements, and </a:t>
            </a:r>
            <a:r>
              <a:rPr lang="en-US" dirty="0" err="1" smtClean="0"/>
              <a:t>Kazman</a:t>
            </a:r>
            <a:r>
              <a:rPr lang="en-US" dirty="0" smtClean="0"/>
              <a:t>, a </a:t>
            </a:r>
            <a:r>
              <a:rPr lang="en-US" i="1" dirty="0" smtClean="0"/>
              <a:t>tactic</a:t>
            </a:r>
            <a:r>
              <a:rPr lang="en-US" dirty="0" smtClean="0"/>
              <a:t> is a design decision that influences the control of a quality attribute response [1].</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grpSp>
        <p:nvGrpSpPr>
          <p:cNvPr id="40" name="Group 39"/>
          <p:cNvGrpSpPr/>
          <p:nvPr/>
        </p:nvGrpSpPr>
        <p:grpSpPr>
          <a:xfrm>
            <a:off x="762000" y="2209800"/>
            <a:ext cx="7696200" cy="2898577"/>
            <a:chOff x="762000" y="2283023"/>
            <a:chExt cx="7696200" cy="2898577"/>
          </a:xfrm>
        </p:grpSpPr>
        <p:sp>
          <p:nvSpPr>
            <p:cNvPr id="28" name="Rounded Rectangle 27"/>
            <p:cNvSpPr/>
            <p:nvPr/>
          </p:nvSpPr>
          <p:spPr>
            <a:xfrm>
              <a:off x="762000" y="2283023"/>
              <a:ext cx="3886200" cy="2895600"/>
            </a:xfrm>
            <a:prstGeom prst="round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p:cNvPicPr>
              <a:picLocks noChangeAspect="1" noChangeArrowheads="1"/>
            </p:cNvPicPr>
            <p:nvPr/>
          </p:nvPicPr>
          <p:blipFill>
            <a:blip r:embed="rId2" cstate="print"/>
            <a:srcRect/>
            <a:stretch>
              <a:fillRect/>
            </a:stretch>
          </p:blipFill>
          <p:spPr bwMode="auto">
            <a:xfrm>
              <a:off x="1737037" y="3349823"/>
              <a:ext cx="914400" cy="1397285"/>
            </a:xfrm>
            <a:prstGeom prst="rect">
              <a:avLst/>
            </a:prstGeom>
            <a:noFill/>
            <a:ln w="9525">
              <a:noFill/>
              <a:miter lim="800000"/>
              <a:headEnd/>
              <a:tailEnd/>
            </a:ln>
          </p:spPr>
        </p:pic>
        <p:sp>
          <p:nvSpPr>
            <p:cNvPr id="8" name="Rounded Rectangular Callout 7"/>
            <p:cNvSpPr/>
            <p:nvPr/>
          </p:nvSpPr>
          <p:spPr>
            <a:xfrm>
              <a:off x="898837" y="2664023"/>
              <a:ext cx="1006163" cy="384048"/>
            </a:xfrm>
            <a:prstGeom prst="wedgeRoundRectCallout">
              <a:avLst>
                <a:gd name="adj1" fmla="val 62304"/>
                <a:gd name="adj2" fmla="val 137349"/>
                <a:gd name="adj3" fmla="val 16667"/>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914400" y="2743200"/>
              <a:ext cx="1295400" cy="246221"/>
            </a:xfrm>
            <a:prstGeom prst="rect">
              <a:avLst/>
            </a:prstGeom>
            <a:noFill/>
          </p:spPr>
          <p:txBody>
            <a:bodyPr wrap="square" rtlCol="0">
              <a:spAutoFit/>
            </a:bodyPr>
            <a:lstStyle/>
            <a:p>
              <a:r>
                <a:rPr lang="en-US" sz="1000" dirty="0" smtClean="0"/>
                <a:t>I want usability!</a:t>
              </a:r>
              <a:endParaRPr lang="en-US" sz="1000" dirty="0"/>
            </a:p>
          </p:txBody>
        </p:sp>
        <p:pic>
          <p:nvPicPr>
            <p:cNvPr id="38914" name="Picture 2" descr="C:\Users\cotero\AppData\Local\Microsoft\Windows\Temporary Internet Files\Content.IE5\MFZE6V1B\MC900231557[1].wmf"/>
            <p:cNvPicPr>
              <a:picLocks noChangeAspect="1" noChangeArrowheads="1"/>
            </p:cNvPicPr>
            <p:nvPr/>
          </p:nvPicPr>
          <p:blipFill>
            <a:blip r:embed="rId3" cstate="print"/>
            <a:srcRect/>
            <a:stretch>
              <a:fillRect/>
            </a:stretch>
          </p:blipFill>
          <p:spPr bwMode="auto">
            <a:xfrm flipH="1">
              <a:off x="2803837" y="3502223"/>
              <a:ext cx="1006163" cy="1339913"/>
            </a:xfrm>
            <a:prstGeom prst="rect">
              <a:avLst/>
            </a:prstGeom>
            <a:noFill/>
          </p:spPr>
        </p:pic>
        <p:sp>
          <p:nvSpPr>
            <p:cNvPr id="21" name="Cloud Callout 20"/>
            <p:cNvSpPr/>
            <p:nvPr/>
          </p:nvSpPr>
          <p:spPr>
            <a:xfrm>
              <a:off x="2362200" y="2435423"/>
              <a:ext cx="2057400" cy="685800"/>
            </a:xfrm>
            <a:prstGeom prst="cloudCallout">
              <a:avLst>
                <a:gd name="adj1" fmla="val -1031"/>
                <a:gd name="adj2" fmla="val 99038"/>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p:cNvSpPr txBox="1"/>
            <p:nvPr/>
          </p:nvSpPr>
          <p:spPr>
            <a:xfrm>
              <a:off x="2362200" y="4873823"/>
              <a:ext cx="1676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Software Architect</a:t>
              </a:r>
              <a:endParaRPr lang="en-US" sz="1400" b="1" dirty="0">
                <a:solidFill>
                  <a:srgbClr val="C00000"/>
                </a:solidFill>
                <a:latin typeface="Bradley Hand ITC" pitchFamily="66" charset="0"/>
              </a:endParaRPr>
            </a:p>
          </p:txBody>
        </p:sp>
        <p:sp>
          <p:nvSpPr>
            <p:cNvPr id="23" name="Freeform 22"/>
            <p:cNvSpPr/>
            <p:nvPr/>
          </p:nvSpPr>
          <p:spPr>
            <a:xfrm rot="2672709">
              <a:off x="2812631" y="4494402"/>
              <a:ext cx="238317" cy="38047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778610" y="3502223"/>
              <a:ext cx="914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Customer</a:t>
              </a:r>
              <a:endParaRPr lang="en-US" sz="1400" b="1" dirty="0">
                <a:solidFill>
                  <a:srgbClr val="C00000"/>
                </a:solidFill>
                <a:latin typeface="Bradley Hand ITC" pitchFamily="66" charset="0"/>
              </a:endParaRPr>
            </a:p>
          </p:txBody>
        </p:sp>
        <p:sp>
          <p:nvSpPr>
            <p:cNvPr id="25" name="Freeform 24"/>
            <p:cNvSpPr/>
            <p:nvPr/>
          </p:nvSpPr>
          <p:spPr>
            <a:xfrm rot="6986800">
              <a:off x="1588252" y="3302181"/>
              <a:ext cx="234195" cy="329479"/>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2514600" y="2740223"/>
              <a:ext cx="1524000" cy="215444"/>
            </a:xfrm>
            <a:prstGeom prst="rect">
              <a:avLst/>
            </a:prstGeom>
            <a:noFill/>
          </p:spPr>
          <p:txBody>
            <a:bodyPr wrap="square" rtlCol="0">
              <a:spAutoFit/>
            </a:bodyPr>
            <a:lstStyle/>
            <a:p>
              <a:r>
                <a:rPr lang="en-US" sz="800" u="sng" dirty="0" smtClean="0"/>
                <a:t>Tactic #2</a:t>
              </a:r>
              <a:r>
                <a:rPr lang="en-US" sz="800" dirty="0" smtClean="0"/>
                <a:t>: Provide cancel option</a:t>
              </a:r>
              <a:endParaRPr lang="en-US" sz="800" dirty="0"/>
            </a:p>
          </p:txBody>
        </p:sp>
        <p:sp>
          <p:nvSpPr>
            <p:cNvPr id="27" name="Rectangle 26"/>
            <p:cNvSpPr/>
            <p:nvPr/>
          </p:nvSpPr>
          <p:spPr>
            <a:xfrm>
              <a:off x="2514600" y="2600979"/>
              <a:ext cx="1981200" cy="215444"/>
            </a:xfrm>
            <a:prstGeom prst="rect">
              <a:avLst/>
            </a:prstGeom>
          </p:spPr>
          <p:txBody>
            <a:bodyPr wrap="square">
              <a:spAutoFit/>
            </a:bodyPr>
            <a:lstStyle/>
            <a:p>
              <a:r>
                <a:rPr lang="en-US" sz="800" u="sng" dirty="0" smtClean="0"/>
                <a:t>Tactic #1</a:t>
              </a:r>
              <a:r>
                <a:rPr lang="en-US" sz="800" dirty="0" smtClean="0"/>
                <a:t>: Support undoable operations</a:t>
              </a:r>
              <a:endParaRPr lang="en-US" sz="800" dirty="0"/>
            </a:p>
          </p:txBody>
        </p:sp>
        <p:sp>
          <p:nvSpPr>
            <p:cNvPr id="29" name="Rounded Rectangle 28"/>
            <p:cNvSpPr/>
            <p:nvPr/>
          </p:nvSpPr>
          <p:spPr>
            <a:xfrm>
              <a:off x="4800600" y="2283023"/>
              <a:ext cx="3657600" cy="2895600"/>
            </a:xfrm>
            <a:prstGeom prst="roundRect">
              <a:avLst/>
            </a:prstGeom>
            <a:solidFill>
              <a:schemeClr val="bg1"/>
            </a:solid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7"/>
            <p:cNvPicPr>
              <a:picLocks noChangeAspect="1" noChangeArrowheads="1"/>
            </p:cNvPicPr>
            <p:nvPr/>
          </p:nvPicPr>
          <p:blipFill>
            <a:blip r:embed="rId2" cstate="print"/>
            <a:srcRect/>
            <a:stretch>
              <a:fillRect/>
            </a:stretch>
          </p:blipFill>
          <p:spPr bwMode="auto">
            <a:xfrm>
              <a:off x="5791200" y="3273623"/>
              <a:ext cx="914400" cy="1397285"/>
            </a:xfrm>
            <a:prstGeom prst="rect">
              <a:avLst/>
            </a:prstGeom>
            <a:noFill/>
            <a:ln w="9525">
              <a:noFill/>
              <a:miter lim="800000"/>
              <a:headEnd/>
              <a:tailEnd/>
            </a:ln>
          </p:spPr>
        </p:pic>
        <p:pic>
          <p:nvPicPr>
            <p:cNvPr id="31" name="Picture 2" descr="C:\Users\cotero\AppData\Local\Microsoft\Windows\Temporary Internet Files\Content.IE5\MFZE6V1B\MC900231557[1].wmf"/>
            <p:cNvPicPr>
              <a:picLocks noChangeAspect="1" noChangeArrowheads="1"/>
            </p:cNvPicPr>
            <p:nvPr/>
          </p:nvPicPr>
          <p:blipFill>
            <a:blip r:embed="rId3" cstate="print"/>
            <a:srcRect/>
            <a:stretch>
              <a:fillRect/>
            </a:stretch>
          </p:blipFill>
          <p:spPr bwMode="auto">
            <a:xfrm flipH="1">
              <a:off x="6918637" y="3426023"/>
              <a:ext cx="1006163" cy="1339913"/>
            </a:xfrm>
            <a:prstGeom prst="rect">
              <a:avLst/>
            </a:prstGeom>
            <a:noFill/>
          </p:spPr>
        </p:pic>
        <p:sp>
          <p:nvSpPr>
            <p:cNvPr id="33" name="Rounded Rectangular Callout 32"/>
            <p:cNvSpPr/>
            <p:nvPr/>
          </p:nvSpPr>
          <p:spPr>
            <a:xfrm>
              <a:off x="6477000" y="2664023"/>
              <a:ext cx="1752600" cy="536448"/>
            </a:xfrm>
            <a:prstGeom prst="wedgeRoundRectCallout">
              <a:avLst>
                <a:gd name="adj1" fmla="val -1785"/>
                <a:gd name="adj2" fmla="val 95497"/>
                <a:gd name="adj3" fmla="val 16667"/>
              </a:avLst>
            </a:prstGeom>
            <a:solidFill>
              <a:schemeClr val="bg1"/>
            </a:solidFill>
            <a:ln w="1270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6400800" y="2664023"/>
              <a:ext cx="1905000" cy="553998"/>
            </a:xfrm>
            <a:prstGeom prst="rect">
              <a:avLst/>
            </a:prstGeom>
            <a:noFill/>
          </p:spPr>
          <p:txBody>
            <a:bodyPr wrap="square" rtlCol="0">
              <a:spAutoFit/>
            </a:bodyPr>
            <a:lstStyle/>
            <a:p>
              <a:pPr algn="ctr"/>
              <a:r>
                <a:rPr lang="en-US" sz="1000" dirty="0" smtClean="0"/>
                <a:t>I have some ideas.  Let’s discuss so that we can come up with usability requirements.</a:t>
              </a:r>
              <a:endParaRPr lang="en-US" sz="1000" dirty="0"/>
            </a:p>
          </p:txBody>
        </p:sp>
        <p:sp>
          <p:nvSpPr>
            <p:cNvPr id="34" name="TextBox 33"/>
            <p:cNvSpPr txBox="1"/>
            <p:nvPr/>
          </p:nvSpPr>
          <p:spPr>
            <a:xfrm>
              <a:off x="6384190" y="4706338"/>
              <a:ext cx="1676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Software Architect</a:t>
              </a:r>
              <a:endParaRPr lang="en-US" sz="1400" b="1" dirty="0">
                <a:solidFill>
                  <a:srgbClr val="C00000"/>
                </a:solidFill>
                <a:latin typeface="Bradley Hand ITC" pitchFamily="66" charset="0"/>
              </a:endParaRPr>
            </a:p>
          </p:txBody>
        </p:sp>
        <p:sp>
          <p:nvSpPr>
            <p:cNvPr id="35" name="Freeform 34"/>
            <p:cNvSpPr/>
            <p:nvPr/>
          </p:nvSpPr>
          <p:spPr>
            <a:xfrm rot="2672709">
              <a:off x="6834621" y="4326917"/>
              <a:ext cx="238317" cy="38047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4800600" y="3334738"/>
              <a:ext cx="914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Customer</a:t>
              </a:r>
              <a:endParaRPr lang="en-US" sz="1400" b="1" dirty="0">
                <a:solidFill>
                  <a:srgbClr val="C00000"/>
                </a:solidFill>
                <a:latin typeface="Bradley Hand ITC" pitchFamily="66" charset="0"/>
              </a:endParaRPr>
            </a:p>
          </p:txBody>
        </p:sp>
        <p:sp>
          <p:nvSpPr>
            <p:cNvPr id="37" name="Freeform 36"/>
            <p:cNvSpPr/>
            <p:nvPr/>
          </p:nvSpPr>
          <p:spPr>
            <a:xfrm rot="6986800">
              <a:off x="5610242" y="3134696"/>
              <a:ext cx="234195" cy="329479"/>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9" name="TextBox 38"/>
          <p:cNvSpPr txBox="1"/>
          <p:nvPr/>
        </p:nvSpPr>
        <p:spPr>
          <a:xfrm>
            <a:off x="2362200" y="5334000"/>
            <a:ext cx="4751622" cy="1015663"/>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non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In many cases, these quality goals fall through the requirement phase,</a:t>
            </a:r>
          </a:p>
          <a:p>
            <a:r>
              <a:rPr lang="en-US" sz="1200" b="1" dirty="0" smtClean="0">
                <a:solidFill>
                  <a:srgbClr val="C00000"/>
                </a:solidFill>
                <a:latin typeface="Bradley Hand ITC" pitchFamily="66" charset="0"/>
              </a:rPr>
              <a:t>Leaving the architect responsible for specifying requirements to meet</a:t>
            </a:r>
          </a:p>
          <a:p>
            <a:r>
              <a:rPr lang="en-US" sz="1200" b="1" dirty="0" smtClean="0">
                <a:solidFill>
                  <a:srgbClr val="C00000"/>
                </a:solidFill>
                <a:latin typeface="Bradley Hand ITC" pitchFamily="66" charset="0"/>
              </a:rPr>
              <a:t>these quality attributes.  During this process, tactics are identified for </a:t>
            </a:r>
          </a:p>
          <a:p>
            <a:r>
              <a:rPr lang="en-US" sz="1200" b="1" dirty="0" smtClean="0">
                <a:solidFill>
                  <a:srgbClr val="C00000"/>
                </a:solidFill>
                <a:latin typeface="Bradley Hand ITC" pitchFamily="66" charset="0"/>
              </a:rPr>
              <a:t>each desired quality attribute.</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a:xfrm>
            <a:off x="457200" y="1371601"/>
            <a:ext cx="8229600" cy="5181599"/>
          </a:xfrm>
        </p:spPr>
        <p:txBody>
          <a:bodyPr>
            <a:normAutofit fontScale="77500" lnSpcReduction="20000"/>
          </a:bodyPr>
          <a:lstStyle/>
          <a:p>
            <a:r>
              <a:rPr lang="en-US" dirty="0" smtClean="0"/>
              <a:t>Tactics for </a:t>
            </a:r>
            <a:r>
              <a:rPr lang="en-US" i="1" dirty="0" smtClean="0"/>
              <a:t>Security</a:t>
            </a:r>
            <a:r>
              <a:rPr lang="en-US" dirty="0" smtClean="0"/>
              <a:t> [1]</a:t>
            </a:r>
          </a:p>
          <a:p>
            <a:pPr lvl="1"/>
            <a:r>
              <a:rPr lang="en-US" dirty="0" smtClean="0"/>
              <a:t>Resisting Attacks</a:t>
            </a:r>
          </a:p>
          <a:p>
            <a:pPr lvl="2"/>
            <a:r>
              <a:rPr lang="en-US" dirty="0" smtClean="0"/>
              <a:t>Authenticating users, Limit exposure, Limit access, only on need-to-know basis , etc.</a:t>
            </a:r>
          </a:p>
          <a:p>
            <a:pPr lvl="1"/>
            <a:r>
              <a:rPr lang="en-US" dirty="0" smtClean="0"/>
              <a:t>Detecting Attacks</a:t>
            </a:r>
          </a:p>
          <a:p>
            <a:pPr lvl="2"/>
            <a:r>
              <a:rPr lang="en-US" dirty="0" smtClean="0"/>
              <a:t>Intrusion detection</a:t>
            </a:r>
          </a:p>
          <a:p>
            <a:pPr lvl="2"/>
            <a:endParaRPr lang="en-US" dirty="0" smtClean="0"/>
          </a:p>
          <a:p>
            <a:r>
              <a:rPr lang="en-US" dirty="0" smtClean="0"/>
              <a:t>Tactics for </a:t>
            </a:r>
            <a:r>
              <a:rPr lang="en-US" i="1" dirty="0" smtClean="0"/>
              <a:t>Testability </a:t>
            </a:r>
          </a:p>
          <a:p>
            <a:pPr lvl="1"/>
            <a:r>
              <a:rPr lang="en-US" dirty="0" smtClean="0"/>
              <a:t>Event logging</a:t>
            </a:r>
          </a:p>
          <a:p>
            <a:pPr lvl="2"/>
            <a:r>
              <a:rPr lang="en-US" dirty="0" smtClean="0"/>
              <a:t>Log data and operations throughout the system.  Allow testers to enable/disable this feature so  that when enabled, events are displayed in the console to give insight into the system’s operations and data.</a:t>
            </a:r>
          </a:p>
          <a:p>
            <a:pPr lvl="2">
              <a:buNone/>
            </a:pPr>
            <a:endParaRPr lang="en-US" dirty="0" smtClean="0"/>
          </a:p>
          <a:p>
            <a:r>
              <a:rPr lang="en-US" dirty="0" smtClean="0"/>
              <a:t>Tactics for </a:t>
            </a:r>
            <a:r>
              <a:rPr lang="en-US" i="1" dirty="0" smtClean="0"/>
              <a:t>Modifiability</a:t>
            </a:r>
            <a:r>
              <a:rPr lang="en-US" dirty="0" smtClean="0"/>
              <a:t> [1]</a:t>
            </a:r>
          </a:p>
          <a:p>
            <a:pPr lvl="1"/>
            <a:r>
              <a:rPr lang="en-US" dirty="0" smtClean="0"/>
              <a:t>Localize changes</a:t>
            </a:r>
          </a:p>
          <a:p>
            <a:pPr lvl="2"/>
            <a:r>
              <a:rPr lang="en-US" dirty="0" smtClean="0"/>
              <a:t>Modularization, abstraction, encapsulation</a:t>
            </a:r>
          </a:p>
          <a:p>
            <a:pPr lvl="1"/>
            <a:r>
              <a:rPr lang="en-US" dirty="0" smtClean="0"/>
              <a:t>Prevention of ripple effects</a:t>
            </a:r>
          </a:p>
          <a:p>
            <a:pPr lvl="2"/>
            <a:r>
              <a:rPr lang="en-US" dirty="0" smtClean="0"/>
              <a:t>Encapsulation, reduce coupling</a:t>
            </a:r>
          </a:p>
          <a:p>
            <a:pPr lvl="2">
              <a:buNone/>
            </a:pPr>
            <a:endParaRPr lang="en-US" dirty="0" smtClean="0"/>
          </a:p>
          <a:p>
            <a:r>
              <a:rPr lang="en-US" dirty="0" smtClean="0"/>
              <a:t>Tactics for </a:t>
            </a:r>
            <a:r>
              <a:rPr lang="en-US" i="1" dirty="0" smtClean="0"/>
              <a:t>Availability </a:t>
            </a:r>
          </a:p>
          <a:p>
            <a:pPr lvl="1"/>
            <a:r>
              <a:rPr lang="en-US" dirty="0" smtClean="0"/>
              <a:t>Redundancy, Task monitor, Watchdog timer , etc.</a:t>
            </a:r>
          </a:p>
          <a:p>
            <a:pPr lvl="1"/>
            <a:endParaRPr lang="en-US" dirty="0" smtClean="0"/>
          </a:p>
          <a:p>
            <a:r>
              <a:rPr lang="en-US" dirty="0" smtClean="0"/>
              <a:t>Tactics for </a:t>
            </a:r>
            <a:r>
              <a:rPr lang="en-US" i="1" dirty="0" smtClean="0"/>
              <a:t>Performance</a:t>
            </a:r>
            <a:r>
              <a:rPr lang="en-US" dirty="0" smtClean="0"/>
              <a:t> [1]</a:t>
            </a:r>
          </a:p>
          <a:p>
            <a:pPr lvl="1"/>
            <a:r>
              <a:rPr lang="en-US" dirty="0" smtClean="0"/>
              <a:t>Increase computation efficiency, reduce computational overhead, introduce concurrency, etc.</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a:xfrm>
            <a:off x="457200" y="1371601"/>
            <a:ext cx="8229600" cy="2057399"/>
          </a:xfrm>
        </p:spPr>
        <p:txBody>
          <a:bodyPr>
            <a:normAutofit fontScale="85000" lnSpcReduction="10000"/>
          </a:bodyPr>
          <a:lstStyle/>
          <a:p>
            <a:r>
              <a:rPr lang="en-US" dirty="0" smtClean="0"/>
              <a:t>Identifying appropriate </a:t>
            </a:r>
            <a:r>
              <a:rPr lang="en-US" b="1" i="1" dirty="0" smtClean="0">
                <a:solidFill>
                  <a:srgbClr val="FF0000"/>
                </a:solidFill>
              </a:rPr>
              <a:t>architectural views</a:t>
            </a:r>
          </a:p>
          <a:p>
            <a:pPr lvl="1"/>
            <a:r>
              <a:rPr lang="en-US" dirty="0" smtClean="0"/>
              <a:t>In complex software systems, there can be numerous stakeholders with different backgrounds.</a:t>
            </a:r>
          </a:p>
          <a:p>
            <a:pPr lvl="2"/>
            <a:r>
              <a:rPr lang="en-US" dirty="0" smtClean="0"/>
              <a:t>These stakeholders have different perception about the system, which influence the way they evaluate  the system’s design</a:t>
            </a:r>
          </a:p>
          <a:p>
            <a:pPr lvl="1"/>
            <a:r>
              <a:rPr lang="en-US" dirty="0" smtClean="0"/>
              <a:t>For this reason, architectural designs must support different architectural views used to evaluate the design from a particular stakeholder’s perspective.</a:t>
            </a:r>
          </a:p>
          <a:p>
            <a:pPr lvl="1"/>
            <a:r>
              <a:rPr lang="en-US" dirty="0" smtClean="0"/>
              <a:t>An architectural </a:t>
            </a:r>
            <a:r>
              <a:rPr lang="en-US" i="1" dirty="0" smtClean="0"/>
              <a:t>view</a:t>
            </a:r>
            <a:r>
              <a:rPr lang="en-US" dirty="0" smtClean="0"/>
              <a:t> is a representation of the system.  </a:t>
            </a:r>
          </a:p>
          <a:p>
            <a:pPr lvl="2"/>
            <a:r>
              <a:rPr lang="en-US" dirty="0" smtClean="0"/>
              <a:t>Different representations are required to evaluate certain properties of the system.</a:t>
            </a:r>
          </a:p>
          <a:p>
            <a:pPr lvl="1"/>
            <a:endParaRPr lang="en-US" dirty="0" smtClean="0"/>
          </a:p>
          <a:p>
            <a:pPr lvl="1">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pSp>
        <p:nvGrpSpPr>
          <p:cNvPr id="37" name="Group 36"/>
          <p:cNvGrpSpPr/>
          <p:nvPr/>
        </p:nvGrpSpPr>
        <p:grpSpPr>
          <a:xfrm>
            <a:off x="1295400" y="3505200"/>
            <a:ext cx="6324600" cy="2133600"/>
            <a:chOff x="685798" y="4146491"/>
            <a:chExt cx="7924790" cy="2425108"/>
          </a:xfrm>
        </p:grpSpPr>
        <p:grpSp>
          <p:nvGrpSpPr>
            <p:cNvPr id="26" name="Group 25"/>
            <p:cNvGrpSpPr/>
            <p:nvPr/>
          </p:nvGrpSpPr>
          <p:grpSpPr>
            <a:xfrm>
              <a:off x="6753216" y="4724405"/>
              <a:ext cx="1552574" cy="838200"/>
              <a:chOff x="3810000" y="4114800"/>
              <a:chExt cx="4038600" cy="1778353"/>
            </a:xfrm>
          </p:grpSpPr>
          <p:pic>
            <p:nvPicPr>
              <p:cNvPr id="27" name="Picture 2"/>
              <p:cNvPicPr>
                <a:picLocks noChangeAspect="1" noChangeArrowheads="1"/>
              </p:cNvPicPr>
              <p:nvPr/>
            </p:nvPicPr>
            <p:blipFill>
              <a:blip r:embed="rId2" cstate="print"/>
              <a:srcRect/>
              <a:stretch>
                <a:fillRect/>
              </a:stretch>
            </p:blipFill>
            <p:spPr bwMode="auto">
              <a:xfrm>
                <a:off x="3810000" y="4191000"/>
                <a:ext cx="4038600" cy="1702153"/>
              </a:xfrm>
              <a:prstGeom prst="rect">
                <a:avLst/>
              </a:prstGeom>
              <a:noFill/>
              <a:ln w="9525">
                <a:noFill/>
                <a:miter lim="800000"/>
                <a:headEnd/>
                <a:tailEnd/>
              </a:ln>
            </p:spPr>
          </p:pic>
          <p:sp>
            <p:nvSpPr>
              <p:cNvPr id="28" name="Rectangle 27"/>
              <p:cNvSpPr/>
              <p:nvPr/>
            </p:nvSpPr>
            <p:spPr>
              <a:xfrm>
                <a:off x="7315200" y="4114800"/>
                <a:ext cx="533400" cy="304800"/>
              </a:xfrm>
              <a:prstGeom prst="rect">
                <a:avLst/>
              </a:prstGeom>
              <a:solidFill>
                <a:schemeClr val="bg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362" name="Picture 2" descr="http://research.fit.edu/wice/images/hsnclient.jpg"/>
            <p:cNvPicPr>
              <a:picLocks noChangeAspect="1" noChangeArrowheads="1"/>
            </p:cNvPicPr>
            <p:nvPr/>
          </p:nvPicPr>
          <p:blipFill>
            <a:blip r:embed="rId3" cstate="print"/>
            <a:srcRect/>
            <a:stretch>
              <a:fillRect/>
            </a:stretch>
          </p:blipFill>
          <p:spPr bwMode="auto">
            <a:xfrm>
              <a:off x="914398" y="4451292"/>
              <a:ext cx="1828798" cy="1385456"/>
            </a:xfrm>
            <a:prstGeom prst="rect">
              <a:avLst/>
            </a:prstGeom>
            <a:noFill/>
          </p:spPr>
        </p:pic>
        <p:pic>
          <p:nvPicPr>
            <p:cNvPr id="8" name="Picture 2" descr="C:\Users\cotero\AppData\Local\Microsoft\Windows\Temporary Internet Files\Content.IE5\MFZE6V1B\MC900231557[1].wmf"/>
            <p:cNvPicPr>
              <a:picLocks noChangeAspect="1" noChangeArrowheads="1"/>
            </p:cNvPicPr>
            <p:nvPr/>
          </p:nvPicPr>
          <p:blipFill>
            <a:blip r:embed="rId4" cstate="print"/>
            <a:srcRect/>
            <a:stretch>
              <a:fillRect/>
            </a:stretch>
          </p:blipFill>
          <p:spPr bwMode="auto">
            <a:xfrm flipH="1">
              <a:off x="3428995" y="4832291"/>
              <a:ext cx="1006161" cy="1339914"/>
            </a:xfrm>
            <a:prstGeom prst="rect">
              <a:avLst/>
            </a:prstGeom>
            <a:noFill/>
          </p:spPr>
        </p:pic>
        <p:cxnSp>
          <p:nvCxnSpPr>
            <p:cNvPr id="10" name="Straight Connector 9"/>
            <p:cNvCxnSpPr/>
            <p:nvPr/>
          </p:nvCxnSpPr>
          <p:spPr>
            <a:xfrm>
              <a:off x="2743195" y="4451292"/>
              <a:ext cx="1142999" cy="533401"/>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2743195" y="4984691"/>
              <a:ext cx="1142999" cy="83820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90598" y="4146491"/>
              <a:ext cx="1676398"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View 1</a:t>
              </a:r>
              <a:endParaRPr lang="en-US" sz="1400" b="1" dirty="0">
                <a:solidFill>
                  <a:srgbClr val="C00000"/>
                </a:solidFill>
                <a:latin typeface="Bradley Hand ITC" pitchFamily="66" charset="0"/>
              </a:endParaRPr>
            </a:p>
          </p:txBody>
        </p:sp>
        <p:sp>
          <p:nvSpPr>
            <p:cNvPr id="17" name="TextBox 16"/>
            <p:cNvSpPr txBox="1"/>
            <p:nvPr/>
          </p:nvSpPr>
          <p:spPr>
            <a:xfrm>
              <a:off x="685798" y="5943605"/>
              <a:ext cx="2514597" cy="52322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view is appropriate to evaluate the system’s usability</a:t>
              </a:r>
              <a:endParaRPr lang="en-US" sz="1400" b="1" dirty="0">
                <a:solidFill>
                  <a:srgbClr val="C00000"/>
                </a:solidFill>
                <a:latin typeface="Bradley Hand ITC" pitchFamily="66" charset="0"/>
              </a:endParaRPr>
            </a:p>
          </p:txBody>
        </p:sp>
        <p:sp>
          <p:nvSpPr>
            <p:cNvPr id="18" name="Freeform 17"/>
            <p:cNvSpPr/>
            <p:nvPr/>
          </p:nvSpPr>
          <p:spPr>
            <a:xfrm rot="1727481">
              <a:off x="751589" y="5681660"/>
              <a:ext cx="238317" cy="38047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9" name="Picture 2" descr="C:\Users\cotero\AppData\Local\Microsoft\Windows\Temporary Internet Files\Content.IE5\MFZE6V1B\MC900231557[1].wmf"/>
            <p:cNvPicPr>
              <a:picLocks noChangeAspect="1" noChangeArrowheads="1"/>
            </p:cNvPicPr>
            <p:nvPr/>
          </p:nvPicPr>
          <p:blipFill>
            <a:blip r:embed="rId4" cstate="print"/>
            <a:srcRect/>
            <a:stretch>
              <a:fillRect/>
            </a:stretch>
          </p:blipFill>
          <p:spPr bwMode="auto">
            <a:xfrm>
              <a:off x="5273355" y="4832291"/>
              <a:ext cx="1127436" cy="1339914"/>
            </a:xfrm>
            <a:prstGeom prst="rect">
              <a:avLst/>
            </a:prstGeom>
            <a:noFill/>
          </p:spPr>
        </p:pic>
        <p:cxnSp>
          <p:nvCxnSpPr>
            <p:cNvPr id="20" name="Straight Connector 19"/>
            <p:cNvCxnSpPr/>
            <p:nvPr/>
          </p:nvCxnSpPr>
          <p:spPr>
            <a:xfrm flipH="1">
              <a:off x="5895966" y="4572004"/>
              <a:ext cx="1343024" cy="43173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5895966" y="5003742"/>
              <a:ext cx="1266824" cy="787463"/>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657842" y="6048378"/>
              <a:ext cx="2800347" cy="52322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view is appropriate to evaluate the system’s reusability</a:t>
              </a:r>
              <a:endParaRPr lang="en-US" sz="1400" b="1" dirty="0">
                <a:solidFill>
                  <a:srgbClr val="C00000"/>
                </a:solidFill>
                <a:latin typeface="Bradley Hand ITC" pitchFamily="66" charset="0"/>
              </a:endParaRPr>
            </a:p>
          </p:txBody>
        </p:sp>
        <p:sp>
          <p:nvSpPr>
            <p:cNvPr id="31" name="TextBox 30"/>
            <p:cNvSpPr txBox="1"/>
            <p:nvPr/>
          </p:nvSpPr>
          <p:spPr>
            <a:xfrm>
              <a:off x="6934190" y="4267203"/>
              <a:ext cx="1676398"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View 2</a:t>
              </a:r>
              <a:endParaRPr lang="en-US" sz="1400" b="1" dirty="0">
                <a:solidFill>
                  <a:srgbClr val="C00000"/>
                </a:solidFill>
                <a:latin typeface="Bradley Hand ITC" pitchFamily="66" charset="0"/>
              </a:endParaRPr>
            </a:p>
          </p:txBody>
        </p:sp>
        <p:sp>
          <p:nvSpPr>
            <p:cNvPr id="32" name="TextBox 31"/>
            <p:cNvSpPr txBox="1"/>
            <p:nvPr/>
          </p:nvSpPr>
          <p:spPr>
            <a:xfrm>
              <a:off x="3124195" y="4191001"/>
              <a:ext cx="3581396"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 same system from two different views</a:t>
              </a:r>
              <a:endParaRPr lang="en-US" sz="1400" b="1" dirty="0">
                <a:solidFill>
                  <a:srgbClr val="C00000"/>
                </a:solidFill>
                <a:latin typeface="Bradley Hand ITC" pitchFamily="66" charset="0"/>
              </a:endParaRPr>
            </a:p>
          </p:txBody>
        </p:sp>
        <p:sp>
          <p:nvSpPr>
            <p:cNvPr id="33" name="Freeform 32"/>
            <p:cNvSpPr/>
            <p:nvPr/>
          </p:nvSpPr>
          <p:spPr>
            <a:xfrm rot="4447010">
              <a:off x="8056203" y="5730561"/>
              <a:ext cx="367309"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Freeform 33"/>
            <p:cNvSpPr/>
            <p:nvPr/>
          </p:nvSpPr>
          <p:spPr>
            <a:xfrm rot="19068953">
              <a:off x="2850306" y="4245207"/>
              <a:ext cx="367307" cy="23373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p:cNvSpPr/>
            <p:nvPr/>
          </p:nvSpPr>
          <p:spPr>
            <a:xfrm rot="8552121">
              <a:off x="6644337" y="4224241"/>
              <a:ext cx="238317" cy="38047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6" name="TextBox 35"/>
          <p:cNvSpPr txBox="1"/>
          <p:nvPr/>
        </p:nvSpPr>
        <p:spPr>
          <a:xfrm>
            <a:off x="3886200" y="5862935"/>
            <a:ext cx="1676400"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We’ll see more relevant views during session 3</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a:xfrm>
            <a:off x="457200" y="1371601"/>
            <a:ext cx="8229600" cy="5029199"/>
          </a:xfrm>
        </p:spPr>
        <p:txBody>
          <a:bodyPr>
            <a:normAutofit fontScale="77500" lnSpcReduction="20000"/>
          </a:bodyPr>
          <a:lstStyle/>
          <a:p>
            <a:r>
              <a:rPr lang="en-US" dirty="0" smtClean="0"/>
              <a:t>Identifying </a:t>
            </a:r>
            <a:r>
              <a:rPr lang="en-US" b="1" i="1" dirty="0" smtClean="0">
                <a:solidFill>
                  <a:srgbClr val="FF0000"/>
                </a:solidFill>
              </a:rPr>
              <a:t>Architectural Styles and Patterns</a:t>
            </a:r>
          </a:p>
          <a:p>
            <a:pPr lvl="1"/>
            <a:r>
              <a:rPr lang="en-US" dirty="0" smtClean="0"/>
              <a:t>The concept of architectural styles and patterns are fundamental to the efficient creation of software architectures.</a:t>
            </a:r>
          </a:p>
          <a:p>
            <a:pPr lvl="1"/>
            <a:r>
              <a:rPr lang="en-US" dirty="0" smtClean="0"/>
              <a:t>They provide an overall strategy for designing a family of software systems.</a:t>
            </a:r>
          </a:p>
          <a:p>
            <a:pPr lvl="1"/>
            <a:r>
              <a:rPr lang="en-US" dirty="0" smtClean="0"/>
              <a:t>They provide reusable architectural solutions, documented in a way that is easily understood and applied.</a:t>
            </a:r>
          </a:p>
          <a:p>
            <a:pPr lvl="2"/>
            <a:r>
              <a:rPr lang="en-US" dirty="0" smtClean="0"/>
              <a:t>For this reason, from the logical perspective, this is one of the first tasks performed during architecture.</a:t>
            </a:r>
          </a:p>
          <a:p>
            <a:pPr lvl="1"/>
            <a:r>
              <a:rPr lang="en-US" dirty="0" smtClean="0"/>
              <a:t>Decisions based on styles and patterns benefit from years of documented experience.</a:t>
            </a:r>
          </a:p>
          <a:p>
            <a:pPr lvl="1"/>
            <a:r>
              <a:rPr lang="en-US" dirty="0" smtClean="0"/>
              <a:t>Today, numerous styles and patterns exist so architects must be aware of these so that they can identify and determine the appropriateness of a particular style or pattern for their system’s design.</a:t>
            </a:r>
          </a:p>
          <a:p>
            <a:pPr lvl="1"/>
            <a:endParaRPr lang="en-US" dirty="0" smtClean="0"/>
          </a:p>
          <a:p>
            <a:endParaRPr lang="en-US" dirty="0" smtClean="0"/>
          </a:p>
          <a:p>
            <a:endParaRPr lang="en-US" dirty="0" smtClean="0"/>
          </a:p>
          <a:p>
            <a:endParaRPr lang="en-US" dirty="0" smtClean="0"/>
          </a:p>
          <a:p>
            <a:endParaRPr lang="en-US" dirty="0" smtClean="0"/>
          </a:p>
          <a:p>
            <a:r>
              <a:rPr lang="en-US" dirty="0" smtClean="0"/>
              <a:t>Identifying System Interfaces</a:t>
            </a:r>
          </a:p>
          <a:p>
            <a:pPr lvl="1"/>
            <a:r>
              <a:rPr lang="en-US" dirty="0" smtClean="0"/>
              <a:t>Interfaces are defined for components residing within single physical nodes within a single or different process space, or for components residing on different physical nodes.</a:t>
            </a:r>
          </a:p>
          <a:p>
            <a:pPr lvl="1"/>
            <a:endParaRPr lang="en-US" dirty="0" smtClean="0"/>
          </a:p>
          <a:p>
            <a:r>
              <a:rPr lang="en-US" dirty="0" smtClean="0"/>
              <a:t>Identifying Impact of Architectural Decisions in Organization</a:t>
            </a:r>
          </a:p>
          <a:p>
            <a:pPr lvl="1"/>
            <a:r>
              <a:rPr lang="en-US" dirty="0" smtClean="0"/>
              <a:t>Impact on customer base</a:t>
            </a:r>
          </a:p>
          <a:p>
            <a:pPr lvl="1"/>
            <a:r>
              <a:rPr lang="en-US" dirty="0" smtClean="0"/>
              <a:t>Impact on budget and schedule</a:t>
            </a:r>
          </a:p>
          <a:p>
            <a:pPr lvl="1"/>
            <a:r>
              <a:rPr lang="en-US" dirty="0" smtClean="0"/>
              <a:t>Impact on resource availability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TextBox 6"/>
          <p:cNvSpPr txBox="1"/>
          <p:nvPr/>
        </p:nvSpPr>
        <p:spPr>
          <a:xfrm>
            <a:off x="2133600" y="3505200"/>
            <a:ext cx="5181600" cy="83099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Don’t get stuck on terminology!  As you will see  later on, </a:t>
            </a:r>
            <a:r>
              <a:rPr lang="en-US" sz="1200" b="1" u="sng" dirty="0" smtClean="0">
                <a:solidFill>
                  <a:srgbClr val="C00000"/>
                </a:solidFill>
                <a:latin typeface="Bradley Hand ITC" pitchFamily="66" charset="0"/>
              </a:rPr>
              <a:t>Architectural Styles </a:t>
            </a:r>
            <a:r>
              <a:rPr lang="en-US" sz="1200" b="1" dirty="0" smtClean="0">
                <a:solidFill>
                  <a:srgbClr val="C00000"/>
                </a:solidFill>
                <a:latin typeface="Bradley Hand ITC" pitchFamily="66" charset="0"/>
              </a:rPr>
              <a:t>and </a:t>
            </a:r>
            <a:r>
              <a:rPr lang="en-US" sz="1200" b="1" u="sng" dirty="0" smtClean="0">
                <a:solidFill>
                  <a:srgbClr val="C00000"/>
                </a:solidFill>
                <a:latin typeface="Bradley Hand ITC" pitchFamily="66" charset="0"/>
              </a:rPr>
              <a:t>Architectural Patterns</a:t>
            </a:r>
            <a:r>
              <a:rPr lang="en-US" sz="1200" b="1" dirty="0" smtClean="0">
                <a:solidFill>
                  <a:srgbClr val="C00000"/>
                </a:solidFill>
                <a:latin typeface="Bradley Hand ITC" pitchFamily="66" charset="0"/>
              </a:rPr>
              <a:t> refer to similar concept.  During Detailed Design, you will also hear about </a:t>
            </a:r>
            <a:r>
              <a:rPr lang="en-US" sz="1200" b="1" u="sng" dirty="0" smtClean="0">
                <a:solidFill>
                  <a:srgbClr val="C00000"/>
                </a:solidFill>
                <a:latin typeface="Bradley Hand ITC" pitchFamily="66" charset="0"/>
              </a:rPr>
              <a:t>Design Patterns</a:t>
            </a:r>
            <a:r>
              <a:rPr lang="en-US" sz="1200" b="1" dirty="0" smtClean="0">
                <a:solidFill>
                  <a:srgbClr val="C00000"/>
                </a:solidFill>
                <a:latin typeface="Bradley Hand ITC" pitchFamily="66" charset="0"/>
              </a:rPr>
              <a:t>!</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Tasks in Architectural Design</a:t>
            </a:r>
            <a:endParaRPr lang="en-US" dirty="0"/>
          </a:p>
        </p:txBody>
      </p:sp>
      <p:sp>
        <p:nvSpPr>
          <p:cNvPr id="3" name="Content Placeholder 2"/>
          <p:cNvSpPr>
            <a:spLocks noGrp="1"/>
          </p:cNvSpPr>
          <p:nvPr>
            <p:ph idx="1"/>
          </p:nvPr>
        </p:nvSpPr>
        <p:spPr/>
        <p:txBody>
          <a:bodyPr>
            <a:normAutofit fontScale="85000" lnSpcReduction="10000"/>
          </a:bodyPr>
          <a:lstStyle/>
          <a:p>
            <a:r>
              <a:rPr lang="en-US" b="1" i="1" dirty="0" smtClean="0">
                <a:solidFill>
                  <a:srgbClr val="FF0000"/>
                </a:solidFill>
              </a:rPr>
              <a:t>Evaluating and Validating </a:t>
            </a:r>
            <a:r>
              <a:rPr lang="en-US" dirty="0" smtClean="0"/>
              <a:t>the Architecture</a:t>
            </a:r>
          </a:p>
          <a:p>
            <a:pPr lvl="1"/>
            <a:r>
              <a:rPr lang="en-US" dirty="0" smtClean="0"/>
              <a:t>Long and iterative process</a:t>
            </a:r>
          </a:p>
          <a:p>
            <a:pPr lvl="1"/>
            <a:r>
              <a:rPr lang="en-US" dirty="0" smtClean="0"/>
              <a:t>Failure to do so can have significant impact in effort and cost incurred to develop the system.</a:t>
            </a:r>
          </a:p>
          <a:p>
            <a:pPr lvl="2"/>
            <a:r>
              <a:rPr lang="en-US" dirty="0" smtClean="0"/>
              <a:t>It is well known that defects found earlier on in the development process take much less effort to correct than if found at later stages.</a:t>
            </a:r>
          </a:p>
          <a:p>
            <a:pPr lvl="1"/>
            <a:r>
              <a:rPr lang="en-US" dirty="0" smtClean="0"/>
              <a:t>The result should determine if the software architecture is </a:t>
            </a:r>
            <a:r>
              <a:rPr lang="en-US" i="1" dirty="0" smtClean="0"/>
              <a:t>sufficiently</a:t>
            </a:r>
            <a:r>
              <a:rPr lang="en-US" dirty="0" smtClean="0"/>
              <a:t> complete to support the development of the system.</a:t>
            </a:r>
          </a:p>
          <a:p>
            <a:pPr lvl="1"/>
            <a:r>
              <a:rPr lang="en-US" dirty="0" smtClean="0"/>
              <a:t>We’ll have more to say about this later on in the course…</a:t>
            </a:r>
          </a:p>
          <a:p>
            <a:endParaRPr lang="en-US" dirty="0" smtClean="0"/>
          </a:p>
          <a:p>
            <a:r>
              <a:rPr lang="en-US" dirty="0" smtClean="0"/>
              <a:t>Introduce </a:t>
            </a:r>
            <a:r>
              <a:rPr lang="en-US" b="1" i="1" dirty="0" smtClean="0">
                <a:solidFill>
                  <a:srgbClr val="FF0000"/>
                </a:solidFill>
              </a:rPr>
              <a:t>Policies for Design Synchronicity</a:t>
            </a:r>
          </a:p>
          <a:p>
            <a:pPr lvl="1"/>
            <a:r>
              <a:rPr lang="en-US" dirty="0" smtClean="0"/>
              <a:t>Design synchronicity is a measurement of the degree of how well the software implementation reflects its design, both in architectural form and detailed design form. </a:t>
            </a:r>
          </a:p>
          <a:p>
            <a:pPr lvl="1"/>
            <a:r>
              <a:rPr lang="en-US" dirty="0" smtClean="0"/>
              <a:t>Obviously, we want high synchronicity, but this is not always the case.</a:t>
            </a:r>
          </a:p>
          <a:p>
            <a:pPr lvl="2"/>
            <a:r>
              <a:rPr lang="en-US" dirty="0" smtClean="0"/>
              <a:t>It is very easy to deviate from design, especially on multi-year efforts.</a:t>
            </a:r>
          </a:p>
          <a:p>
            <a:pPr lvl="1"/>
            <a:r>
              <a:rPr lang="en-US" dirty="0" smtClean="0"/>
              <a:t>For any software architecture effort to result in successful implementation, all subsequent phases and activities must be synchronized with the architecture.</a:t>
            </a:r>
          </a:p>
          <a:p>
            <a:pPr lvl="2"/>
            <a:r>
              <a:rPr lang="en-US" dirty="0" smtClean="0"/>
              <a:t>To do this, a well-defined and understood process must be in place.</a:t>
            </a:r>
          </a:p>
          <a:p>
            <a:pPr lvl="2"/>
            <a:r>
              <a:rPr lang="en-US" dirty="0" smtClean="0"/>
              <a:t>This includes the maintenance phase, which can go on for years after a software has been deployed!</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Solving During Architecture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grpSp>
        <p:nvGrpSpPr>
          <p:cNvPr id="61" name="Group 60"/>
          <p:cNvGrpSpPr/>
          <p:nvPr/>
        </p:nvGrpSpPr>
        <p:grpSpPr>
          <a:xfrm>
            <a:off x="228600" y="1143000"/>
            <a:ext cx="8763000" cy="5145107"/>
            <a:chOff x="228600" y="1219200"/>
            <a:chExt cx="8763000" cy="5145107"/>
          </a:xfrm>
        </p:grpSpPr>
        <p:sp>
          <p:nvSpPr>
            <p:cNvPr id="7" name="Rectangle 6"/>
            <p:cNvSpPr/>
            <p:nvPr/>
          </p:nvSpPr>
          <p:spPr>
            <a:xfrm>
              <a:off x="2743200" y="3048000"/>
              <a:ext cx="3581400" cy="228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4019550" y="3297767"/>
              <a:ext cx="988541" cy="321733"/>
            </a:xfrm>
            <a:prstGeom prst="round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Evaluate Constraints</a:t>
              </a:r>
              <a:endParaRPr lang="en-US" sz="1000" dirty="0">
                <a:solidFill>
                  <a:schemeClr val="tx1"/>
                </a:solidFill>
                <a:latin typeface="Times New Roman" pitchFamily="18" charset="0"/>
                <a:cs typeface="Times New Roman" pitchFamily="18" charset="0"/>
              </a:endParaRPr>
            </a:p>
          </p:txBody>
        </p:sp>
        <p:sp>
          <p:nvSpPr>
            <p:cNvPr id="9" name="Rounded Rectangle 8"/>
            <p:cNvSpPr/>
            <p:nvPr/>
          </p:nvSpPr>
          <p:spPr>
            <a:xfrm>
              <a:off x="4021609" y="4381500"/>
              <a:ext cx="988541" cy="321733"/>
            </a:xfrm>
            <a:prstGeom prst="round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Architectural Design</a:t>
              </a:r>
              <a:endParaRPr lang="en-US" sz="1000" dirty="0">
                <a:solidFill>
                  <a:schemeClr val="tx1"/>
                </a:solidFill>
                <a:latin typeface="Times New Roman" pitchFamily="18" charset="0"/>
                <a:cs typeface="Times New Roman" pitchFamily="18" charset="0"/>
              </a:endParaRPr>
            </a:p>
          </p:txBody>
        </p:sp>
        <p:sp>
          <p:nvSpPr>
            <p:cNvPr id="10" name="Rounded Rectangle 9"/>
            <p:cNvSpPr/>
            <p:nvPr/>
          </p:nvSpPr>
          <p:spPr>
            <a:xfrm>
              <a:off x="2954809" y="3848100"/>
              <a:ext cx="836141" cy="321733"/>
            </a:xfrm>
            <a:prstGeom prst="round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Interpret Problem</a:t>
              </a:r>
              <a:endParaRPr lang="en-US" sz="1000" dirty="0">
                <a:solidFill>
                  <a:schemeClr val="tx1"/>
                </a:solidFill>
                <a:latin typeface="Times New Roman" pitchFamily="18" charset="0"/>
                <a:cs typeface="Times New Roman" pitchFamily="18" charset="0"/>
              </a:endParaRPr>
            </a:p>
          </p:txBody>
        </p:sp>
        <p:sp>
          <p:nvSpPr>
            <p:cNvPr id="11" name="Rounded Rectangle 10"/>
            <p:cNvSpPr/>
            <p:nvPr/>
          </p:nvSpPr>
          <p:spPr>
            <a:xfrm>
              <a:off x="5240808" y="3848100"/>
              <a:ext cx="836141" cy="321733"/>
            </a:xfrm>
            <a:prstGeom prst="round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Evaluate</a:t>
              </a:r>
              <a:endParaRPr lang="en-US" sz="1000" dirty="0">
                <a:solidFill>
                  <a:schemeClr val="tx1"/>
                </a:solidFill>
                <a:latin typeface="Times New Roman" pitchFamily="18" charset="0"/>
                <a:cs typeface="Times New Roman" pitchFamily="18" charset="0"/>
              </a:endParaRPr>
            </a:p>
          </p:txBody>
        </p:sp>
        <p:cxnSp>
          <p:nvCxnSpPr>
            <p:cNvPr id="12" name="Shape 11"/>
            <p:cNvCxnSpPr>
              <a:stCxn id="10" idx="0"/>
              <a:endCxn id="8" idx="1"/>
            </p:cNvCxnSpPr>
            <p:nvPr/>
          </p:nvCxnSpPr>
          <p:spPr>
            <a:xfrm rot="5400000" flipH="1" flipV="1">
              <a:off x="3501482" y="3330032"/>
              <a:ext cx="389466" cy="646670"/>
            </a:xfrm>
            <a:prstGeom prst="bentConnector2">
              <a:avLst/>
            </a:prstGeom>
            <a:ln w="6350">
              <a:solidFill>
                <a:schemeClr val="tx1"/>
              </a:solidFill>
              <a:tailEnd type="stealth"/>
            </a:ln>
            <a:effectLst/>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26" idx="1"/>
              <a:endCxn id="10" idx="3"/>
            </p:cNvCxnSpPr>
            <p:nvPr/>
          </p:nvCxnSpPr>
          <p:spPr>
            <a:xfrm rot="10800000">
              <a:off x="3790950" y="4008967"/>
              <a:ext cx="228600" cy="1588"/>
            </a:xfrm>
            <a:prstGeom prst="straightConnector1">
              <a:avLst/>
            </a:prstGeom>
            <a:ln w="6350">
              <a:solidFill>
                <a:schemeClr val="tx1"/>
              </a:solidFill>
              <a:tailEnd type="stealth"/>
            </a:ln>
            <a:effectLst/>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11" idx="1"/>
              <a:endCxn id="26" idx="3"/>
            </p:cNvCxnSpPr>
            <p:nvPr/>
          </p:nvCxnSpPr>
          <p:spPr>
            <a:xfrm rot="10800000">
              <a:off x="5008092" y="4008967"/>
              <a:ext cx="232717" cy="1588"/>
            </a:xfrm>
            <a:prstGeom prst="bentConnector3">
              <a:avLst>
                <a:gd name="adj1" fmla="val 50000"/>
              </a:avLst>
            </a:prstGeom>
            <a:ln w="6350">
              <a:solidFill>
                <a:schemeClr val="tx1"/>
              </a:solidFill>
              <a:tailEnd type="stealth"/>
            </a:ln>
            <a:effectLst/>
          </p:spPr>
          <p:style>
            <a:lnRef idx="1">
              <a:schemeClr val="accent1"/>
            </a:lnRef>
            <a:fillRef idx="0">
              <a:schemeClr val="accent1"/>
            </a:fillRef>
            <a:effectRef idx="0">
              <a:schemeClr val="accent1"/>
            </a:effectRef>
            <a:fontRef idx="minor">
              <a:schemeClr val="tx1"/>
            </a:fontRef>
          </p:style>
        </p:cxnSp>
        <p:sp>
          <p:nvSpPr>
            <p:cNvPr id="15" name="Folded Corner 14"/>
            <p:cNvSpPr/>
            <p:nvPr/>
          </p:nvSpPr>
          <p:spPr>
            <a:xfrm rot="10800000">
              <a:off x="6553200" y="36957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olded Corner 15"/>
            <p:cNvSpPr/>
            <p:nvPr/>
          </p:nvSpPr>
          <p:spPr>
            <a:xfrm rot="10800000">
              <a:off x="6781800" y="39243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lded Corner 16"/>
            <p:cNvSpPr/>
            <p:nvPr/>
          </p:nvSpPr>
          <p:spPr>
            <a:xfrm rot="10800000">
              <a:off x="6553200" y="41529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hape 17"/>
            <p:cNvCxnSpPr>
              <a:stCxn id="9" idx="3"/>
              <a:endCxn id="11" idx="2"/>
            </p:cNvCxnSpPr>
            <p:nvPr/>
          </p:nvCxnSpPr>
          <p:spPr>
            <a:xfrm flipV="1">
              <a:off x="5010150" y="4169833"/>
              <a:ext cx="648729" cy="372534"/>
            </a:xfrm>
            <a:prstGeom prst="bentConnector2">
              <a:avLst/>
            </a:prstGeom>
            <a:ln w="6350">
              <a:solidFill>
                <a:schemeClr val="tx1"/>
              </a:solidFill>
              <a:tailEnd type="stealth"/>
            </a:ln>
            <a:effectLst/>
          </p:spPr>
          <p:style>
            <a:lnRef idx="1">
              <a:schemeClr val="accent1"/>
            </a:lnRef>
            <a:fillRef idx="0">
              <a:schemeClr val="accent1"/>
            </a:fillRef>
            <a:effectRef idx="0">
              <a:schemeClr val="accent1"/>
            </a:effectRef>
            <a:fontRef idx="minor">
              <a:schemeClr val="tx1"/>
            </a:fontRef>
          </p:style>
        </p:cxnSp>
        <p:sp>
          <p:nvSpPr>
            <p:cNvPr id="19" name="Folded Corner 18"/>
            <p:cNvSpPr/>
            <p:nvPr/>
          </p:nvSpPr>
          <p:spPr>
            <a:xfrm rot="10800000">
              <a:off x="2286000" y="36957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olded Corner 19"/>
            <p:cNvSpPr/>
            <p:nvPr/>
          </p:nvSpPr>
          <p:spPr>
            <a:xfrm rot="10800000">
              <a:off x="2057400" y="39243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olded Corner 20"/>
            <p:cNvSpPr/>
            <p:nvPr/>
          </p:nvSpPr>
          <p:spPr>
            <a:xfrm rot="10800000">
              <a:off x="2286000" y="41529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rot="5400000">
              <a:off x="4248944" y="3009900"/>
              <a:ext cx="532606" cy="794"/>
            </a:xfrm>
            <a:prstGeom prst="straightConnector1">
              <a:avLst/>
            </a:prstGeom>
            <a:ln w="6350">
              <a:solidFill>
                <a:schemeClr val="tx1"/>
              </a:solidFill>
              <a:prstDash val="dash"/>
              <a:headEnd type="oval"/>
              <a:tailEnd type="stealth"/>
            </a:ln>
            <a:effectLst/>
          </p:spPr>
          <p:style>
            <a:lnRef idx="1">
              <a:schemeClr val="accent1"/>
            </a:lnRef>
            <a:fillRef idx="0">
              <a:schemeClr val="accent1"/>
            </a:fillRef>
            <a:effectRef idx="0">
              <a:schemeClr val="accent1"/>
            </a:effectRef>
            <a:fontRef idx="minor">
              <a:schemeClr val="tx1"/>
            </a:fontRef>
          </p:style>
        </p:cxnSp>
        <p:sp>
          <p:nvSpPr>
            <p:cNvPr id="23" name="Folded Corner 22"/>
            <p:cNvSpPr/>
            <p:nvPr/>
          </p:nvSpPr>
          <p:spPr>
            <a:xfrm rot="10800000">
              <a:off x="4648778" y="27432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olded Corner 23"/>
            <p:cNvSpPr/>
            <p:nvPr/>
          </p:nvSpPr>
          <p:spPr>
            <a:xfrm rot="10800000">
              <a:off x="4420178" y="24384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olded Corner 24"/>
            <p:cNvSpPr/>
            <p:nvPr/>
          </p:nvSpPr>
          <p:spPr>
            <a:xfrm rot="10800000">
              <a:off x="4191578" y="2743200"/>
              <a:ext cx="152400" cy="152400"/>
            </a:xfrm>
            <a:prstGeom prst="foldedCorner">
              <a:avLst>
                <a:gd name="adj" fmla="val 50000"/>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p:cNvSpPr/>
            <p:nvPr/>
          </p:nvSpPr>
          <p:spPr>
            <a:xfrm>
              <a:off x="4019550" y="3848100"/>
              <a:ext cx="988541" cy="321733"/>
            </a:xfrm>
            <a:prstGeom prst="round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Collaborative Brainstorming</a:t>
              </a:r>
              <a:endParaRPr lang="en-US" sz="1000" dirty="0">
                <a:solidFill>
                  <a:schemeClr val="tx1"/>
                </a:solidFill>
                <a:latin typeface="Times New Roman" pitchFamily="18" charset="0"/>
                <a:cs typeface="Times New Roman" pitchFamily="18" charset="0"/>
              </a:endParaRPr>
            </a:p>
          </p:txBody>
        </p:sp>
        <p:sp>
          <p:nvSpPr>
            <p:cNvPr id="27" name="Rounded Rectangle 26"/>
            <p:cNvSpPr/>
            <p:nvPr/>
          </p:nvSpPr>
          <p:spPr>
            <a:xfrm>
              <a:off x="5238750" y="3297767"/>
              <a:ext cx="838200" cy="321733"/>
            </a:xfrm>
            <a:prstGeom prst="round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Document</a:t>
              </a:r>
              <a:endParaRPr lang="en-US" sz="1000" dirty="0">
                <a:solidFill>
                  <a:schemeClr val="tx1"/>
                </a:solidFill>
                <a:latin typeface="Times New Roman" pitchFamily="18" charset="0"/>
                <a:cs typeface="Times New Roman" pitchFamily="18" charset="0"/>
              </a:endParaRPr>
            </a:p>
          </p:txBody>
        </p:sp>
        <p:cxnSp>
          <p:nvCxnSpPr>
            <p:cNvPr id="28" name="Straight Arrow Connector 27"/>
            <p:cNvCxnSpPr>
              <a:stCxn id="26" idx="2"/>
              <a:endCxn id="9" idx="0"/>
            </p:cNvCxnSpPr>
            <p:nvPr/>
          </p:nvCxnSpPr>
          <p:spPr>
            <a:xfrm rot="16200000" flipH="1">
              <a:off x="4409017" y="4274636"/>
              <a:ext cx="211667" cy="2059"/>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a:stCxn id="8" idx="2"/>
              <a:endCxn id="26" idx="0"/>
            </p:cNvCxnSpPr>
            <p:nvPr/>
          </p:nvCxnSpPr>
          <p:spPr>
            <a:xfrm rot="5400000">
              <a:off x="4399521" y="3733800"/>
              <a:ext cx="228600" cy="1588"/>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27" idx="2"/>
              <a:endCxn id="11" idx="0"/>
            </p:cNvCxnSpPr>
            <p:nvPr/>
          </p:nvCxnSpPr>
          <p:spPr>
            <a:xfrm rot="16200000" flipH="1">
              <a:off x="5544064" y="3733285"/>
              <a:ext cx="228600" cy="1029"/>
            </a:xfrm>
            <a:prstGeom prst="straightConnector1">
              <a:avLst/>
            </a:prstGeom>
            <a:ln w="6350">
              <a:solidFill>
                <a:schemeClr val="tx1"/>
              </a:solidFill>
              <a:tailEnd type="stealth"/>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2324100" y="4000500"/>
              <a:ext cx="609600" cy="1588"/>
            </a:xfrm>
            <a:prstGeom prst="straightConnector1">
              <a:avLst/>
            </a:prstGeom>
            <a:ln w="6350">
              <a:solidFill>
                <a:schemeClr val="tx1"/>
              </a:solidFill>
              <a:prstDash val="dash"/>
              <a:headEnd type="oval"/>
              <a:tailEnd type="stealth"/>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a:off x="6086475" y="4017962"/>
              <a:ext cx="609600" cy="1588"/>
            </a:xfrm>
            <a:prstGeom prst="straightConnector1">
              <a:avLst/>
            </a:prstGeom>
            <a:ln w="6350">
              <a:solidFill>
                <a:schemeClr val="tx1"/>
              </a:solidFill>
              <a:prstDash val="dash"/>
              <a:headEnd type="none"/>
              <a:tailEnd type="stealth"/>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16200000" flipH="1">
              <a:off x="5753615" y="3733286"/>
              <a:ext cx="228600" cy="1029"/>
            </a:xfrm>
            <a:prstGeom prst="straightConnector1">
              <a:avLst/>
            </a:prstGeom>
            <a:ln w="6350">
              <a:solidFill>
                <a:schemeClr val="tx1"/>
              </a:solidFill>
              <a:headEnd type="stealth"/>
              <a:tailEnd type="none"/>
            </a:ln>
          </p:spPr>
          <p:style>
            <a:lnRef idx="1">
              <a:schemeClr val="accent1"/>
            </a:lnRef>
            <a:fillRef idx="0">
              <a:schemeClr val="accent1"/>
            </a:fillRef>
            <a:effectRef idx="0">
              <a:schemeClr val="accent1"/>
            </a:effectRef>
            <a:fontRef idx="minor">
              <a:schemeClr val="tx1"/>
            </a:fontRef>
          </p:style>
        </p:cxnSp>
        <p:sp>
          <p:nvSpPr>
            <p:cNvPr id="34" name="Rectangle 33"/>
            <p:cNvSpPr/>
            <p:nvPr/>
          </p:nvSpPr>
          <p:spPr>
            <a:xfrm>
              <a:off x="2971800" y="4876800"/>
              <a:ext cx="838200" cy="3048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Resources</a:t>
              </a:r>
              <a:endParaRPr lang="en-US" sz="1000" dirty="0">
                <a:solidFill>
                  <a:schemeClr val="tx1"/>
                </a:solidFill>
                <a:latin typeface="Times New Roman" pitchFamily="18" charset="0"/>
                <a:cs typeface="Times New Roman" pitchFamily="18" charset="0"/>
              </a:endParaRPr>
            </a:p>
          </p:txBody>
        </p:sp>
        <p:sp>
          <p:nvSpPr>
            <p:cNvPr id="35" name="Rectangle 34"/>
            <p:cNvSpPr/>
            <p:nvPr/>
          </p:nvSpPr>
          <p:spPr>
            <a:xfrm>
              <a:off x="4114800" y="4876800"/>
              <a:ext cx="838200" cy="3048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Activities</a:t>
              </a:r>
              <a:endParaRPr lang="en-US" sz="1000" dirty="0">
                <a:solidFill>
                  <a:schemeClr val="tx1"/>
                </a:solidFill>
                <a:latin typeface="Times New Roman" pitchFamily="18" charset="0"/>
                <a:cs typeface="Times New Roman" pitchFamily="18" charset="0"/>
              </a:endParaRPr>
            </a:p>
          </p:txBody>
        </p:sp>
        <p:sp>
          <p:nvSpPr>
            <p:cNvPr id="36" name="Rectangle 35"/>
            <p:cNvSpPr/>
            <p:nvPr/>
          </p:nvSpPr>
          <p:spPr>
            <a:xfrm>
              <a:off x="5257800" y="4876800"/>
              <a:ext cx="838200" cy="3048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solidFill>
                    <a:schemeClr val="tx1"/>
                  </a:solidFill>
                  <a:latin typeface="Times New Roman" pitchFamily="18" charset="0"/>
                  <a:cs typeface="Times New Roman" pitchFamily="18" charset="0"/>
                </a:rPr>
                <a:t>Controls</a:t>
              </a:r>
              <a:endParaRPr lang="en-US" sz="1000" dirty="0">
                <a:solidFill>
                  <a:schemeClr val="tx1"/>
                </a:solidFill>
                <a:latin typeface="Times New Roman" pitchFamily="18" charset="0"/>
                <a:cs typeface="Times New Roman" pitchFamily="18" charset="0"/>
              </a:endParaRPr>
            </a:p>
          </p:txBody>
        </p:sp>
        <p:sp>
          <p:nvSpPr>
            <p:cNvPr id="37" name="TextBox 36"/>
            <p:cNvSpPr txBox="1"/>
            <p:nvPr/>
          </p:nvSpPr>
          <p:spPr>
            <a:xfrm>
              <a:off x="3876675" y="1828800"/>
              <a:ext cx="1303562" cy="553998"/>
            </a:xfrm>
            <a:prstGeom prst="rect">
              <a:avLst/>
            </a:prstGeom>
            <a:noFill/>
            <a:effectLst/>
          </p:spPr>
          <p:txBody>
            <a:bodyPr wrap="none" rtlCol="0">
              <a:spAutoFit/>
            </a:bodyPr>
            <a:lstStyle/>
            <a:p>
              <a:r>
                <a:rPr lang="en-US" sz="1000" dirty="0" smtClean="0">
                  <a:latin typeface="Times New Roman" pitchFamily="18" charset="0"/>
                  <a:cs typeface="Times New Roman" pitchFamily="18" charset="0"/>
                </a:rPr>
                <a:t>Schedule Constraints,</a:t>
              </a:r>
            </a:p>
            <a:p>
              <a:r>
                <a:rPr lang="en-US" sz="1000" dirty="0" smtClean="0">
                  <a:latin typeface="Times New Roman" pitchFamily="18" charset="0"/>
                  <a:cs typeface="Times New Roman" pitchFamily="18" charset="0"/>
                </a:rPr>
                <a:t>Cost Constraints,</a:t>
              </a:r>
            </a:p>
            <a:p>
              <a:r>
                <a:rPr lang="en-US" sz="1000" dirty="0" smtClean="0">
                  <a:latin typeface="Times New Roman" pitchFamily="18" charset="0"/>
                  <a:cs typeface="Times New Roman" pitchFamily="18" charset="0"/>
                </a:rPr>
                <a:t>Quality Constraints</a:t>
              </a:r>
              <a:endParaRPr lang="en-US" sz="1000" dirty="0">
                <a:latin typeface="Times New Roman" pitchFamily="18" charset="0"/>
                <a:cs typeface="Times New Roman" pitchFamily="18" charset="0"/>
              </a:endParaRPr>
            </a:p>
          </p:txBody>
        </p:sp>
        <p:sp>
          <p:nvSpPr>
            <p:cNvPr id="38" name="TextBox 37"/>
            <p:cNvSpPr txBox="1"/>
            <p:nvPr/>
          </p:nvSpPr>
          <p:spPr>
            <a:xfrm>
              <a:off x="1676400" y="3048000"/>
              <a:ext cx="930063" cy="553998"/>
            </a:xfrm>
            <a:prstGeom prst="rect">
              <a:avLst/>
            </a:prstGeom>
            <a:noFill/>
            <a:effectLst/>
          </p:spPr>
          <p:txBody>
            <a:bodyPr wrap="none" rtlCol="0">
              <a:spAutoFit/>
            </a:bodyPr>
            <a:lstStyle/>
            <a:p>
              <a:r>
                <a:rPr lang="en-US" sz="1000" dirty="0" smtClean="0">
                  <a:latin typeface="Times New Roman" pitchFamily="18" charset="0"/>
                  <a:cs typeface="Times New Roman" pitchFamily="18" charset="0"/>
                </a:rPr>
                <a:t>Requirements,</a:t>
              </a:r>
            </a:p>
            <a:p>
              <a:r>
                <a:rPr lang="en-US" sz="1000" dirty="0" smtClean="0">
                  <a:latin typeface="Times New Roman" pitchFamily="18" charset="0"/>
                  <a:cs typeface="Times New Roman" pitchFamily="18" charset="0"/>
                </a:rPr>
                <a:t>System Goals,</a:t>
              </a:r>
            </a:p>
            <a:p>
              <a:r>
                <a:rPr lang="en-US" sz="1000" dirty="0" smtClean="0">
                  <a:latin typeface="Times New Roman" pitchFamily="18" charset="0"/>
                  <a:cs typeface="Times New Roman" pitchFamily="18" charset="0"/>
                </a:rPr>
                <a:t>Scenarios</a:t>
              </a:r>
              <a:endParaRPr lang="en-US" sz="1000" dirty="0">
                <a:latin typeface="Times New Roman" pitchFamily="18" charset="0"/>
                <a:cs typeface="Times New Roman" pitchFamily="18" charset="0"/>
              </a:endParaRPr>
            </a:p>
          </p:txBody>
        </p:sp>
        <p:sp>
          <p:nvSpPr>
            <p:cNvPr id="39" name="TextBox 38"/>
            <p:cNvSpPr txBox="1"/>
            <p:nvPr/>
          </p:nvSpPr>
          <p:spPr>
            <a:xfrm>
              <a:off x="6324600" y="3257490"/>
              <a:ext cx="1371600" cy="400110"/>
            </a:xfrm>
            <a:prstGeom prst="rect">
              <a:avLst/>
            </a:prstGeom>
            <a:noFill/>
            <a:effectLst/>
          </p:spPr>
          <p:txBody>
            <a:bodyPr wrap="square" rtlCol="0">
              <a:spAutoFit/>
            </a:bodyPr>
            <a:lstStyle/>
            <a:p>
              <a:r>
                <a:rPr lang="en-US" sz="1000" dirty="0" smtClean="0">
                  <a:latin typeface="Times New Roman" pitchFamily="18" charset="0"/>
                  <a:cs typeface="Times New Roman" pitchFamily="18" charset="0"/>
                </a:rPr>
                <a:t>Architectural Designs,</a:t>
              </a:r>
            </a:p>
            <a:p>
              <a:r>
                <a:rPr lang="en-US" sz="1000" dirty="0" smtClean="0">
                  <a:latin typeface="Times New Roman" pitchFamily="18" charset="0"/>
                  <a:cs typeface="Times New Roman" pitchFamily="18" charset="0"/>
                </a:rPr>
                <a:t>Documentation</a:t>
              </a:r>
              <a:endParaRPr lang="en-US" sz="1000" dirty="0">
                <a:latin typeface="Times New Roman" pitchFamily="18" charset="0"/>
                <a:cs typeface="Times New Roman" pitchFamily="18" charset="0"/>
              </a:endParaRPr>
            </a:p>
          </p:txBody>
        </p:sp>
        <p:sp>
          <p:nvSpPr>
            <p:cNvPr id="40" name="TextBox 39"/>
            <p:cNvSpPr txBox="1"/>
            <p:nvPr/>
          </p:nvSpPr>
          <p:spPr>
            <a:xfrm>
              <a:off x="381000" y="2133600"/>
              <a:ext cx="2209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These define the problem  and product constraints</a:t>
              </a:r>
              <a:endParaRPr lang="en-US" sz="1400" b="1" dirty="0">
                <a:solidFill>
                  <a:srgbClr val="C00000"/>
                </a:solidFill>
                <a:latin typeface="Bradley Hand ITC" pitchFamily="66" charset="0"/>
              </a:endParaRPr>
            </a:p>
          </p:txBody>
        </p:sp>
        <p:sp>
          <p:nvSpPr>
            <p:cNvPr id="41" name="Freeform 40"/>
            <p:cNvSpPr/>
            <p:nvPr/>
          </p:nvSpPr>
          <p:spPr>
            <a:xfrm rot="12263975">
              <a:off x="1611656" y="2676951"/>
              <a:ext cx="283961" cy="32367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p:cNvSpPr txBox="1"/>
            <p:nvPr/>
          </p:nvSpPr>
          <p:spPr>
            <a:xfrm>
              <a:off x="228600" y="4572000"/>
              <a:ext cx="25146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Unfortunately, these are rarely complete on the first shot!</a:t>
              </a:r>
              <a:endParaRPr lang="en-US" sz="1400" b="1" dirty="0">
                <a:solidFill>
                  <a:srgbClr val="C00000"/>
                </a:solidFill>
                <a:latin typeface="Bradley Hand ITC" pitchFamily="66" charset="0"/>
              </a:endParaRPr>
            </a:p>
          </p:txBody>
        </p:sp>
        <p:sp>
          <p:nvSpPr>
            <p:cNvPr id="43" name="Freeform 42"/>
            <p:cNvSpPr/>
            <p:nvPr/>
          </p:nvSpPr>
          <p:spPr>
            <a:xfrm rot="4832806">
              <a:off x="1869781" y="4271995"/>
              <a:ext cx="283961" cy="32367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TextBox 43"/>
            <p:cNvSpPr txBox="1"/>
            <p:nvPr/>
          </p:nvSpPr>
          <p:spPr>
            <a:xfrm>
              <a:off x="2057400" y="1371600"/>
              <a:ext cx="1981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Other project related constraints</a:t>
              </a:r>
              <a:endParaRPr lang="en-US" sz="1400" b="1" dirty="0">
                <a:solidFill>
                  <a:srgbClr val="C00000"/>
                </a:solidFill>
                <a:latin typeface="Bradley Hand ITC" pitchFamily="66" charset="0"/>
              </a:endParaRPr>
            </a:p>
          </p:txBody>
        </p:sp>
        <p:sp>
          <p:nvSpPr>
            <p:cNvPr id="46" name="TextBox 45"/>
            <p:cNvSpPr txBox="1"/>
            <p:nvPr/>
          </p:nvSpPr>
          <p:spPr>
            <a:xfrm>
              <a:off x="4495800" y="1219200"/>
              <a:ext cx="4191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For example, we will reuse our home-grown class framework to leverage our expertise and develop faster!</a:t>
              </a:r>
              <a:endParaRPr lang="en-US" sz="1400" b="1" dirty="0">
                <a:solidFill>
                  <a:srgbClr val="C00000"/>
                </a:solidFill>
                <a:latin typeface="Bradley Hand ITC" pitchFamily="66" charset="0"/>
              </a:endParaRPr>
            </a:p>
          </p:txBody>
        </p:sp>
        <p:sp>
          <p:nvSpPr>
            <p:cNvPr id="48" name="Freeform 47"/>
            <p:cNvSpPr/>
            <p:nvPr/>
          </p:nvSpPr>
          <p:spPr>
            <a:xfrm rot="10449316">
              <a:off x="3594295" y="1764568"/>
              <a:ext cx="248635" cy="265959"/>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p:cNvSpPr/>
            <p:nvPr/>
          </p:nvSpPr>
          <p:spPr>
            <a:xfrm rot="19179166">
              <a:off x="3425076" y="1341452"/>
              <a:ext cx="1447800" cy="990600"/>
            </a:xfrm>
            <a:prstGeom prst="arc">
              <a:avLst/>
            </a:pr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a:off x="5791200" y="1828800"/>
              <a:ext cx="32004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Another example, we will buy and integrate xyz library into our product instead of developing it ourselves</a:t>
              </a:r>
              <a:endParaRPr lang="en-US" sz="1400" b="1" dirty="0">
                <a:solidFill>
                  <a:srgbClr val="C00000"/>
                </a:solidFill>
                <a:latin typeface="Bradley Hand ITC" pitchFamily="66" charset="0"/>
              </a:endParaRPr>
            </a:p>
          </p:txBody>
        </p:sp>
        <p:sp>
          <p:nvSpPr>
            <p:cNvPr id="52" name="Freeform 51"/>
            <p:cNvSpPr/>
            <p:nvPr/>
          </p:nvSpPr>
          <p:spPr>
            <a:xfrm rot="12263975">
              <a:off x="8436174" y="1415797"/>
              <a:ext cx="283961" cy="32367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p:cNvSpPr txBox="1"/>
            <p:nvPr/>
          </p:nvSpPr>
          <p:spPr>
            <a:xfrm>
              <a:off x="838200" y="5334000"/>
              <a:ext cx="1752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Development team, modeling software, IDEs, hardware, etc.</a:t>
              </a:r>
              <a:endParaRPr lang="en-US" sz="1400" b="1" dirty="0">
                <a:solidFill>
                  <a:srgbClr val="C00000"/>
                </a:solidFill>
                <a:latin typeface="Bradley Hand ITC" pitchFamily="66" charset="0"/>
              </a:endParaRPr>
            </a:p>
          </p:txBody>
        </p:sp>
        <p:sp>
          <p:nvSpPr>
            <p:cNvPr id="54" name="Freeform 53"/>
            <p:cNvSpPr/>
            <p:nvPr/>
          </p:nvSpPr>
          <p:spPr>
            <a:xfrm rot="5689885">
              <a:off x="2555889" y="5014611"/>
              <a:ext cx="283961" cy="507254"/>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5" name="TextBox 54"/>
            <p:cNvSpPr txBox="1"/>
            <p:nvPr/>
          </p:nvSpPr>
          <p:spPr>
            <a:xfrm>
              <a:off x="2514600" y="5410200"/>
              <a:ext cx="2133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Tasks performed to process the requirements</a:t>
              </a:r>
            </a:p>
            <a:p>
              <a:pPr algn="ctr"/>
              <a:r>
                <a:rPr lang="en-US" sz="1400" b="1" dirty="0" smtClean="0">
                  <a:solidFill>
                    <a:srgbClr val="C00000"/>
                  </a:solidFill>
                  <a:latin typeface="Bradley Hand ITC" pitchFamily="66" charset="0"/>
                </a:rPr>
                <a:t>Example: Design Review</a:t>
              </a:r>
              <a:endParaRPr lang="en-US" sz="1400" b="1" dirty="0">
                <a:solidFill>
                  <a:srgbClr val="C00000"/>
                </a:solidFill>
                <a:latin typeface="Bradley Hand ITC" pitchFamily="66" charset="0"/>
              </a:endParaRPr>
            </a:p>
          </p:txBody>
        </p:sp>
        <p:sp>
          <p:nvSpPr>
            <p:cNvPr id="56" name="TextBox 55"/>
            <p:cNvSpPr txBox="1"/>
            <p:nvPr/>
          </p:nvSpPr>
          <p:spPr>
            <a:xfrm>
              <a:off x="4495800" y="5410200"/>
              <a:ext cx="17526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These dictate  how, when, and where activities are performed!</a:t>
              </a:r>
              <a:endParaRPr lang="en-US" sz="1400" b="1" dirty="0">
                <a:solidFill>
                  <a:srgbClr val="C00000"/>
                </a:solidFill>
                <a:latin typeface="Bradley Hand ITC" pitchFamily="66" charset="0"/>
              </a:endParaRPr>
            </a:p>
          </p:txBody>
        </p:sp>
        <p:sp>
          <p:nvSpPr>
            <p:cNvPr id="57" name="Freeform 56"/>
            <p:cNvSpPr/>
            <p:nvPr/>
          </p:nvSpPr>
          <p:spPr>
            <a:xfrm rot="5400000">
              <a:off x="4161561" y="5287238"/>
              <a:ext cx="477235" cy="265959"/>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8" name="Freeform 57"/>
            <p:cNvSpPr/>
            <p:nvPr/>
          </p:nvSpPr>
          <p:spPr>
            <a:xfrm rot="3520803">
              <a:off x="5841745" y="5324515"/>
              <a:ext cx="430911" cy="17137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Freeform 58"/>
            <p:cNvSpPr/>
            <p:nvPr/>
          </p:nvSpPr>
          <p:spPr>
            <a:xfrm rot="8876206">
              <a:off x="5887815" y="6024948"/>
              <a:ext cx="492568" cy="218454"/>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TextBox 59"/>
            <p:cNvSpPr txBox="1"/>
            <p:nvPr/>
          </p:nvSpPr>
          <p:spPr>
            <a:xfrm>
              <a:off x="6400800" y="4495800"/>
              <a:ext cx="2590800" cy="1754326"/>
            </a:xfrm>
            <a:prstGeom prst="rect">
              <a:avLst/>
            </a:prstGeom>
            <a:noFill/>
          </p:spPr>
          <p:txBody>
            <a:bodyPr wrap="square" rtlCol="0">
              <a:spAutoFit/>
            </a:bodyPr>
            <a:lstStyle/>
            <a:p>
              <a:r>
                <a:rPr lang="en-US" sz="1200" b="1" dirty="0" smtClean="0">
                  <a:solidFill>
                    <a:srgbClr val="C00000"/>
                  </a:solidFill>
                  <a:latin typeface="Bradley Hand ITC" pitchFamily="66" charset="0"/>
                </a:rPr>
                <a:t>Controls Examples:</a:t>
              </a:r>
            </a:p>
            <a:p>
              <a:r>
                <a:rPr lang="en-US" sz="1200" b="1" dirty="0" smtClean="0">
                  <a:solidFill>
                    <a:srgbClr val="C00000"/>
                  </a:solidFill>
                  <a:latin typeface="Bradley Hand ITC" pitchFamily="66" charset="0"/>
                </a:rPr>
                <a:t>1. Design reviews must be scheduled with one week of anticipation</a:t>
              </a:r>
            </a:p>
            <a:p>
              <a:r>
                <a:rPr lang="en-US" sz="1200" b="1" dirty="0" smtClean="0">
                  <a:solidFill>
                    <a:srgbClr val="C00000"/>
                  </a:solidFill>
                  <a:latin typeface="Bradley Hand ITC" pitchFamily="66" charset="0"/>
                </a:rPr>
                <a:t>2. Software Quality Assurance personnel must be present during review.</a:t>
              </a:r>
            </a:p>
            <a:p>
              <a:r>
                <a:rPr lang="en-US" sz="1200" b="1" dirty="0" smtClean="0">
                  <a:solidFill>
                    <a:srgbClr val="C00000"/>
                  </a:solidFill>
                  <a:latin typeface="Bradley Hand ITC" pitchFamily="66" charset="0"/>
                </a:rPr>
                <a:t>3. Review of material containing classified information must occur inside a vault</a:t>
              </a: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lstStyle/>
          <a:p>
            <a:r>
              <a:rPr lang="en-US" dirty="0" smtClean="0"/>
              <a:t>In this session, we presented fundamentals concepts of software architecture and key tasks that need to be performed during software architecture, including:</a:t>
            </a:r>
          </a:p>
          <a:p>
            <a:pPr lvl="1"/>
            <a:r>
              <a:rPr lang="en-US" dirty="0" smtClean="0"/>
              <a:t>Identifying stakeholders concerns</a:t>
            </a:r>
          </a:p>
          <a:p>
            <a:pPr lvl="1"/>
            <a:r>
              <a:rPr lang="en-US" dirty="0" smtClean="0"/>
              <a:t>Identify architectural views, styles, and patterns</a:t>
            </a:r>
          </a:p>
          <a:p>
            <a:pPr lvl="1"/>
            <a:r>
              <a:rPr lang="en-US" dirty="0" smtClean="0"/>
              <a:t>Identify major component’s and interfaces</a:t>
            </a:r>
          </a:p>
          <a:p>
            <a:pPr lvl="1"/>
            <a:r>
              <a:rPr lang="en-US" dirty="0" smtClean="0"/>
              <a:t>Evaluating and validating the Architecture</a:t>
            </a:r>
          </a:p>
          <a:p>
            <a:pPr lvl="1"/>
            <a:r>
              <a:rPr lang="en-US" dirty="0" smtClean="0"/>
              <a:t>Introducing policies for design synchronicity</a:t>
            </a:r>
          </a:p>
          <a:p>
            <a:pPr lvl="1"/>
            <a:endParaRPr lang="en-US" dirty="0" smtClean="0"/>
          </a:p>
          <a:p>
            <a:r>
              <a:rPr lang="en-US" dirty="0" smtClean="0"/>
              <a:t>We’ve also mentioned issues with software quality and requirements, but we have not presented the details involved in actually generating good requirements in case that (as architects) we are presented with this problem.</a:t>
            </a:r>
          </a:p>
          <a:p>
            <a:pPr lvl="1"/>
            <a:r>
              <a:rPr lang="en-US" dirty="0" smtClean="0"/>
              <a:t>Next session will focus on requirements engineering, providing enough information to successfully create good requirements.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Bass, Len, Paul Clements, and Rick </a:t>
            </a:r>
            <a:r>
              <a:rPr lang="en-US" dirty="0" err="1" smtClean="0"/>
              <a:t>Kazman</a:t>
            </a:r>
            <a:r>
              <a:rPr lang="en-US" dirty="0" smtClean="0"/>
              <a:t>.  Software Architecture in Practice, 2d ed. Boston: Addison-Wesley, 2003.</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3/2/2016</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9314</TotalTime>
  <Words>2774</Words>
  <Application>Microsoft Office PowerPoint</Application>
  <PresentationFormat>On-screen Show (4:3)</PresentationFormat>
  <Paragraphs>384</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Bradley Hand ITC</vt:lpstr>
      <vt:lpstr>Calibri</vt:lpstr>
      <vt:lpstr>Times New Roman</vt:lpstr>
      <vt:lpstr>Wingdings</vt:lpstr>
      <vt:lpstr>UVa-Wise-Clean-BW</vt:lpstr>
      <vt:lpstr>Chapter 3: Principles of Software Architecture </vt:lpstr>
      <vt:lpstr>Session’s Agenda</vt:lpstr>
      <vt:lpstr>Fundamentals of Software Architecture</vt:lpstr>
      <vt:lpstr>Fundamentals of Software Architecture</vt:lpstr>
      <vt:lpstr>Fundamentals of Software Architecture</vt:lpstr>
      <vt:lpstr>Fundamentals of Software Architecture</vt:lpstr>
      <vt:lpstr>Fundamentals of Software Architecture</vt:lpstr>
      <vt:lpstr>Fundamentals of Software Architecture</vt:lpstr>
      <vt:lpstr>Key Tasks in Architectural Design</vt:lpstr>
      <vt:lpstr>Key Tasks in Architectural Design</vt:lpstr>
      <vt:lpstr>Key Tasks in Architectural Design</vt:lpstr>
      <vt:lpstr>Key Tasks in Architectural Design</vt:lpstr>
      <vt:lpstr>Key Tasks in Architectural Design</vt:lpstr>
      <vt:lpstr>Key Tasks in Architectural Design</vt:lpstr>
      <vt:lpstr>Key Tasks in Architectural Design</vt:lpstr>
      <vt:lpstr>Key Tasks in Architectural Design</vt:lpstr>
      <vt:lpstr>Problem Solving During Architecture</vt:lpstr>
      <vt:lpstr>What’s Next…</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644</cp:revision>
  <dcterms:created xsi:type="dcterms:W3CDTF">2006-08-16T00:00:00Z</dcterms:created>
  <dcterms:modified xsi:type="dcterms:W3CDTF">2016-03-02T14:11:38Z</dcterms:modified>
</cp:coreProperties>
</file>